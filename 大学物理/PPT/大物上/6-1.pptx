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2"/>
  </p:notesMasterIdLst>
  <p:sldIdLst>
    <p:sldId id="758" r:id="rId2"/>
    <p:sldId id="723" r:id="rId3"/>
    <p:sldId id="726" r:id="rId4"/>
    <p:sldId id="728" r:id="rId5"/>
    <p:sldId id="729" r:id="rId6"/>
    <p:sldId id="730" r:id="rId7"/>
    <p:sldId id="731" r:id="rId8"/>
    <p:sldId id="732" r:id="rId9"/>
    <p:sldId id="733" r:id="rId10"/>
    <p:sldId id="734" r:id="rId11"/>
    <p:sldId id="735" r:id="rId12"/>
    <p:sldId id="736" r:id="rId13"/>
    <p:sldId id="737" r:id="rId14"/>
    <p:sldId id="738" r:id="rId15"/>
    <p:sldId id="739" r:id="rId16"/>
    <p:sldId id="740" r:id="rId17"/>
    <p:sldId id="741" r:id="rId18"/>
    <p:sldId id="755" r:id="rId19"/>
    <p:sldId id="756" r:id="rId20"/>
    <p:sldId id="757" r:id="rId21"/>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1pPr>
    <a:lvl2pPr marL="4572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2pPr>
    <a:lvl3pPr marL="9144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3pPr>
    <a:lvl4pPr marL="13716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4pPr>
    <a:lvl5pPr marL="18288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5pPr>
    <a:lvl6pPr marL="2286000" algn="l" defTabSz="914400" rtl="0" eaLnBrk="1" latinLnBrk="0" hangingPunct="1">
      <a:defRPr sz="2400" b="1" kern="1200">
        <a:solidFill>
          <a:schemeClr val="bg1"/>
        </a:solidFill>
        <a:latin typeface="仿宋_GB2312" pitchFamily="49" charset="-122"/>
        <a:ea typeface="仿宋_GB2312" pitchFamily="49" charset="-122"/>
        <a:cs typeface="+mn-cs"/>
      </a:defRPr>
    </a:lvl6pPr>
    <a:lvl7pPr marL="2743200" algn="l" defTabSz="914400" rtl="0" eaLnBrk="1" latinLnBrk="0" hangingPunct="1">
      <a:defRPr sz="2400" b="1" kern="1200">
        <a:solidFill>
          <a:schemeClr val="bg1"/>
        </a:solidFill>
        <a:latin typeface="仿宋_GB2312" pitchFamily="49" charset="-122"/>
        <a:ea typeface="仿宋_GB2312" pitchFamily="49" charset="-122"/>
        <a:cs typeface="+mn-cs"/>
      </a:defRPr>
    </a:lvl7pPr>
    <a:lvl8pPr marL="3200400" algn="l" defTabSz="914400" rtl="0" eaLnBrk="1" latinLnBrk="0" hangingPunct="1">
      <a:defRPr sz="2400" b="1" kern="1200">
        <a:solidFill>
          <a:schemeClr val="bg1"/>
        </a:solidFill>
        <a:latin typeface="仿宋_GB2312" pitchFamily="49" charset="-122"/>
        <a:ea typeface="仿宋_GB2312" pitchFamily="49" charset="-122"/>
        <a:cs typeface="+mn-cs"/>
      </a:defRPr>
    </a:lvl8pPr>
    <a:lvl9pPr marL="3657600" algn="l" defTabSz="914400" rtl="0" eaLnBrk="1" latinLnBrk="0" hangingPunct="1">
      <a:defRPr sz="2400" b="1" kern="1200">
        <a:solidFill>
          <a:schemeClr val="bg1"/>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FF"/>
    <a:srgbClr val="FF66CC"/>
    <a:srgbClr val="FFCC00"/>
    <a:srgbClr val="33CCCC"/>
    <a:srgbClr val="00FFFF"/>
    <a:srgbClr val="FF9900"/>
    <a:srgbClr val="FFFF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93" autoAdjust="0"/>
    <p:restoredTop sz="94683" autoAdjust="0"/>
  </p:normalViewPr>
  <p:slideViewPr>
    <p:cSldViewPr snapToGrid="0" showGuides="1">
      <p:cViewPr varScale="1">
        <p:scale>
          <a:sx n="83" d="100"/>
          <a:sy n="83" d="100"/>
        </p:scale>
        <p:origin x="181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1BCFF84-77B7-4585-2D9F-B379AE2E7D6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buClrTx/>
              <a:buFontTx/>
              <a:buNone/>
              <a:defRPr sz="1200" b="0">
                <a:solidFill>
                  <a:schemeClr val="tx1"/>
                </a:solidFill>
                <a:effectLst/>
                <a:latin typeface="Arial" pitchFamily="34" charset="0"/>
                <a:ea typeface="宋体" pitchFamily="2" charset="-122"/>
              </a:defRPr>
            </a:lvl1pPr>
          </a:lstStyle>
          <a:p>
            <a:pPr>
              <a:defRPr/>
            </a:pPr>
            <a:endParaRPr lang="en-US" altLang="zh-CN"/>
          </a:p>
        </p:txBody>
      </p:sp>
      <p:sp>
        <p:nvSpPr>
          <p:cNvPr id="27651" name="Rectangle 3">
            <a:extLst>
              <a:ext uri="{FF2B5EF4-FFF2-40B4-BE49-F238E27FC236}">
                <a16:creationId xmlns:a16="http://schemas.microsoft.com/office/drawing/2014/main" id="{477FC80D-D9FE-D886-BC61-9E7484A6B3A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buClrTx/>
              <a:buFontTx/>
              <a:buNone/>
              <a:defRPr sz="1200" b="0">
                <a:solidFill>
                  <a:schemeClr val="tx1"/>
                </a:solidFill>
                <a:effectLst/>
                <a:latin typeface="Arial" pitchFamily="34" charset="0"/>
                <a:ea typeface="宋体"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1E3B9DC5-F98F-AA86-4C0D-4A62B80D6DE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B15BC15B-4116-1B30-C5F6-B02523AFF64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AE921796-A79A-187F-7FE5-8DE5A69C7BB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buClrTx/>
              <a:buFontTx/>
              <a:buNone/>
              <a:defRPr sz="1200" b="0">
                <a:solidFill>
                  <a:schemeClr val="tx1"/>
                </a:solidFill>
                <a:effectLst/>
                <a:latin typeface="Arial" pitchFamily="34" charset="0"/>
                <a:ea typeface="宋体" pitchFamily="2" charset="-122"/>
              </a:defRPr>
            </a:lvl1pPr>
          </a:lstStyle>
          <a:p>
            <a:pPr>
              <a:defRPr/>
            </a:pPr>
            <a:endParaRPr lang="en-US" altLang="zh-CN"/>
          </a:p>
        </p:txBody>
      </p:sp>
      <p:sp>
        <p:nvSpPr>
          <p:cNvPr id="27655" name="Rectangle 7">
            <a:extLst>
              <a:ext uri="{FF2B5EF4-FFF2-40B4-BE49-F238E27FC236}">
                <a16:creationId xmlns:a16="http://schemas.microsoft.com/office/drawing/2014/main" id="{7671C1FD-AC78-3BD3-14EA-0D69FB13D4A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buClrTx/>
              <a:buFontTx/>
              <a:buNone/>
              <a:defRPr sz="1200" b="0" smtClean="0">
                <a:solidFill>
                  <a:schemeClr val="tx1"/>
                </a:solidFill>
                <a:latin typeface="Arial" panose="020B0604020202020204" pitchFamily="34" charset="0"/>
                <a:ea typeface="宋体" panose="02010600030101010101" pitchFamily="2" charset="-122"/>
              </a:defRPr>
            </a:lvl1pPr>
          </a:lstStyle>
          <a:p>
            <a:pPr>
              <a:defRPr/>
            </a:pPr>
            <a:fld id="{75D41E4F-B5A2-4D12-B8B5-40EE1D12D2B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66987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06871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17386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41673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33052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49590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641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46328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80260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39451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2343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2033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89164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32878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14623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B"/>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678DE1F-515F-9177-3C7C-F0BD5EAA1C16}"/>
              </a:ext>
            </a:extLst>
          </p:cNvPr>
          <p:cNvSpPr>
            <a:spLocks noChangeArrowheads="1"/>
          </p:cNvSpPr>
          <p:nvPr/>
        </p:nvSpPr>
        <p:spPr bwMode="auto">
          <a:xfrm>
            <a:off x="250825" y="265113"/>
            <a:ext cx="8626475" cy="6272212"/>
          </a:xfrm>
          <a:prstGeom prst="rect">
            <a:avLst/>
          </a:prstGeom>
          <a:noFill/>
          <a:ln w="19050">
            <a:solidFill>
              <a:srgbClr val="006699">
                <a:alpha val="35001"/>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3" name="AutoShape 7">
            <a:hlinkClick r:id="" action="ppaction://hlinkshowjump?jump=previousslide" highlightClick="1"/>
            <a:extLst>
              <a:ext uri="{FF2B5EF4-FFF2-40B4-BE49-F238E27FC236}">
                <a16:creationId xmlns:a16="http://schemas.microsoft.com/office/drawing/2014/main" id="{38ACDDF3-0C72-4FD3-5E1D-A4C52EC1B4CF}"/>
              </a:ext>
            </a:extLst>
          </p:cNvPr>
          <p:cNvSpPr>
            <a:spLocks noChangeArrowheads="1"/>
          </p:cNvSpPr>
          <p:nvPr userDrawn="1"/>
        </p:nvSpPr>
        <p:spPr bwMode="auto">
          <a:xfrm flipH="1">
            <a:off x="7239000" y="6602413"/>
            <a:ext cx="501650" cy="168275"/>
          </a:xfrm>
          <a:prstGeom prst="actionButtonForwardNext">
            <a:avLst/>
          </a:prstGeom>
          <a:solidFill>
            <a:srgbClr val="126072"/>
          </a:soli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4" name="AutoShape 8">
            <a:hlinkClick r:id="" action="ppaction://hlinkshowjump?jump=nextslide" highlightClick="1"/>
            <a:extLst>
              <a:ext uri="{FF2B5EF4-FFF2-40B4-BE49-F238E27FC236}">
                <a16:creationId xmlns:a16="http://schemas.microsoft.com/office/drawing/2014/main" id="{1B6FF6A8-B3ED-6C04-B4E7-D1C8047942DC}"/>
              </a:ext>
            </a:extLst>
          </p:cNvPr>
          <p:cNvSpPr>
            <a:spLocks noChangeArrowheads="1"/>
          </p:cNvSpPr>
          <p:nvPr userDrawn="1"/>
        </p:nvSpPr>
        <p:spPr bwMode="auto">
          <a:xfrm>
            <a:off x="8391525" y="6602413"/>
            <a:ext cx="501650" cy="168275"/>
          </a:xfrm>
          <a:prstGeom prst="actionButtonForwardNext">
            <a:avLst/>
          </a:prstGeom>
          <a:solidFill>
            <a:srgbClr val="126072"/>
          </a:soli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5" name="AutoShape 9">
            <a:hlinkClick r:id="" action="ppaction://hlinkshowjump?jump=firstslide" highlightClick="1"/>
            <a:extLst>
              <a:ext uri="{FF2B5EF4-FFF2-40B4-BE49-F238E27FC236}">
                <a16:creationId xmlns:a16="http://schemas.microsoft.com/office/drawing/2014/main" id="{EA018E4E-A8D5-E0FF-8A00-633332A8AD7D}"/>
              </a:ext>
            </a:extLst>
          </p:cNvPr>
          <p:cNvSpPr>
            <a:spLocks noChangeArrowheads="1"/>
          </p:cNvSpPr>
          <p:nvPr userDrawn="1"/>
        </p:nvSpPr>
        <p:spPr bwMode="auto">
          <a:xfrm>
            <a:off x="7812088" y="6602413"/>
            <a:ext cx="504825" cy="161925"/>
          </a:xfrm>
          <a:prstGeom prst="actionButtonHome">
            <a:avLst/>
          </a:prstGeom>
          <a:solidFill>
            <a:srgbClr val="126072"/>
          </a:solidFill>
          <a:ln w="28575">
            <a:noFill/>
            <a:miter lim="800000"/>
            <a:headEnd/>
            <a:tailEnd type="none" w="med" len="lg"/>
          </a:ln>
          <a:effectLst/>
        </p:spPr>
        <p:txBody>
          <a:bodyPr anchor="ctr">
            <a:spAutoFit/>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4.e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image" Target="../media/image3.emf"/><Relationship Id="rId15" Type="http://schemas.openxmlformats.org/officeDocument/2006/relationships/image" Target="../media/image8.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emf"/><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oleObject" Target="../embeddings/oleObject13.bin"/><Relationship Id="rId18" Type="http://schemas.openxmlformats.org/officeDocument/2006/relationships/image" Target="../media/image16.emf"/><Relationship Id="rId26" Type="http://schemas.openxmlformats.org/officeDocument/2006/relationships/oleObject" Target="../embeddings/oleObject19.bin"/><Relationship Id="rId3" Type="http://schemas.openxmlformats.org/officeDocument/2006/relationships/oleObject" Target="../embeddings/oleObject8.bin"/><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13.emf"/><Relationship Id="rId17" Type="http://schemas.openxmlformats.org/officeDocument/2006/relationships/oleObject" Target="../embeddings/oleObject15.bin"/><Relationship Id="rId25" Type="http://schemas.openxmlformats.org/officeDocument/2006/relationships/image" Target="../media/image20.emf"/><Relationship Id="rId2" Type="http://schemas.openxmlformats.org/officeDocument/2006/relationships/audio" Target="../media/audio1.wav"/><Relationship Id="rId16" Type="http://schemas.openxmlformats.org/officeDocument/2006/relationships/image" Target="../media/image15.emf"/><Relationship Id="rId20" Type="http://schemas.openxmlformats.org/officeDocument/2006/relationships/image" Target="../media/image17.emf"/><Relationship Id="rId29"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image" Target="../media/image10.emf"/><Relationship Id="rId11" Type="http://schemas.openxmlformats.org/officeDocument/2006/relationships/oleObject" Target="../embeddings/oleObject12.bin"/><Relationship Id="rId24" Type="http://schemas.openxmlformats.org/officeDocument/2006/relationships/image" Target="../media/image19.emf"/><Relationship Id="rId32" Type="http://schemas.openxmlformats.org/officeDocument/2006/relationships/image" Target="../media/image24.e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28" Type="http://schemas.openxmlformats.org/officeDocument/2006/relationships/image" Target="../media/image22.emf"/><Relationship Id="rId10" Type="http://schemas.openxmlformats.org/officeDocument/2006/relationships/image" Target="../media/image12.emf"/><Relationship Id="rId19" Type="http://schemas.openxmlformats.org/officeDocument/2006/relationships/oleObject" Target="../embeddings/oleObject16.bin"/><Relationship Id="rId31" Type="http://schemas.openxmlformats.org/officeDocument/2006/relationships/oleObject" Target="../embeddings/oleObject21.bin"/><Relationship Id="rId4" Type="http://schemas.openxmlformats.org/officeDocument/2006/relationships/image" Target="../media/image9.emf"/><Relationship Id="rId9" Type="http://schemas.openxmlformats.org/officeDocument/2006/relationships/oleObject" Target="../embeddings/oleObject11.bin"/><Relationship Id="rId14" Type="http://schemas.openxmlformats.org/officeDocument/2006/relationships/image" Target="../media/image14.emf"/><Relationship Id="rId22" Type="http://schemas.openxmlformats.org/officeDocument/2006/relationships/image" Target="../media/image18.emf"/><Relationship Id="rId27" Type="http://schemas.openxmlformats.org/officeDocument/2006/relationships/image" Target="../media/image21.emf"/><Relationship Id="rId30" Type="http://schemas.openxmlformats.org/officeDocument/2006/relationships/image" Target="../media/image23.e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0.emf"/><Relationship Id="rId18" Type="http://schemas.openxmlformats.org/officeDocument/2006/relationships/oleObject" Target="../embeddings/oleObject29.bin"/><Relationship Id="rId26" Type="http://schemas.openxmlformats.org/officeDocument/2006/relationships/image" Target="../media/image37.emf"/><Relationship Id="rId3" Type="http://schemas.openxmlformats.org/officeDocument/2006/relationships/image" Target="../media/image25.emf"/><Relationship Id="rId21" Type="http://schemas.openxmlformats.org/officeDocument/2006/relationships/image" Target="../media/image34.emf"/><Relationship Id="rId7" Type="http://schemas.openxmlformats.org/officeDocument/2006/relationships/image" Target="../media/image27.emf"/><Relationship Id="rId12" Type="http://schemas.openxmlformats.org/officeDocument/2006/relationships/oleObject" Target="../embeddings/oleObject26.bin"/><Relationship Id="rId17" Type="http://schemas.openxmlformats.org/officeDocument/2006/relationships/image" Target="../media/image32.emf"/><Relationship Id="rId25" Type="http://schemas.openxmlformats.org/officeDocument/2006/relationships/image" Target="../media/image36.emf"/><Relationship Id="rId2" Type="http://schemas.openxmlformats.org/officeDocument/2006/relationships/oleObject" Target="../embeddings/oleObject22.bin"/><Relationship Id="rId16" Type="http://schemas.openxmlformats.org/officeDocument/2006/relationships/oleObject" Target="../embeddings/oleObject28.bin"/><Relationship Id="rId20" Type="http://schemas.openxmlformats.org/officeDocument/2006/relationships/oleObject" Target="../embeddings/oleObject30.bin"/><Relationship Id="rId1" Type="http://schemas.openxmlformats.org/officeDocument/2006/relationships/slideLayout" Target="../slideLayouts/slideLayout7.xml"/><Relationship Id="rId6" Type="http://schemas.openxmlformats.org/officeDocument/2006/relationships/oleObject" Target="../embeddings/oleObject23.bin"/><Relationship Id="rId11" Type="http://schemas.openxmlformats.org/officeDocument/2006/relationships/image" Target="../media/image29.emf"/><Relationship Id="rId24" Type="http://schemas.openxmlformats.org/officeDocument/2006/relationships/oleObject" Target="../embeddings/oleObject32.bin"/><Relationship Id="rId5" Type="http://schemas.openxmlformats.org/officeDocument/2006/relationships/image" Target="../media/image26.emf"/><Relationship Id="rId15" Type="http://schemas.openxmlformats.org/officeDocument/2006/relationships/image" Target="../media/image31.emf"/><Relationship Id="rId23" Type="http://schemas.openxmlformats.org/officeDocument/2006/relationships/image" Target="../media/image35.emf"/><Relationship Id="rId10" Type="http://schemas.openxmlformats.org/officeDocument/2006/relationships/oleObject" Target="../embeddings/oleObject25.bin"/><Relationship Id="rId19" Type="http://schemas.openxmlformats.org/officeDocument/2006/relationships/image" Target="../media/image33.emf"/><Relationship Id="rId4" Type="http://schemas.openxmlformats.org/officeDocument/2006/relationships/oleObject" Target="../embeddings/oleObject19.bin"/><Relationship Id="rId9" Type="http://schemas.openxmlformats.org/officeDocument/2006/relationships/image" Target="../media/image28.emf"/><Relationship Id="rId14" Type="http://schemas.openxmlformats.org/officeDocument/2006/relationships/oleObject" Target="../embeddings/oleObject27.bin"/><Relationship Id="rId22" Type="http://schemas.openxmlformats.org/officeDocument/2006/relationships/oleObject" Target="../embeddings/oleObject31.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3.emf"/><Relationship Id="rId18" Type="http://schemas.openxmlformats.org/officeDocument/2006/relationships/oleObject" Target="../embeddings/oleObject41.bin"/><Relationship Id="rId26" Type="http://schemas.openxmlformats.org/officeDocument/2006/relationships/image" Target="../media/image50.emf"/><Relationship Id="rId3" Type="http://schemas.openxmlformats.org/officeDocument/2006/relationships/image" Target="../media/image38.emf"/><Relationship Id="rId21" Type="http://schemas.openxmlformats.org/officeDocument/2006/relationships/image" Target="../media/image47.emf"/><Relationship Id="rId7" Type="http://schemas.openxmlformats.org/officeDocument/2006/relationships/image" Target="../media/image40.emf"/><Relationship Id="rId12" Type="http://schemas.openxmlformats.org/officeDocument/2006/relationships/oleObject" Target="../embeddings/oleObject38.bin"/><Relationship Id="rId17" Type="http://schemas.openxmlformats.org/officeDocument/2006/relationships/image" Target="../media/image45.emf"/><Relationship Id="rId25" Type="http://schemas.openxmlformats.org/officeDocument/2006/relationships/oleObject" Target="../embeddings/oleObject44.bin"/><Relationship Id="rId2" Type="http://schemas.openxmlformats.org/officeDocument/2006/relationships/oleObject" Target="../embeddings/oleObject33.bin"/><Relationship Id="rId16" Type="http://schemas.openxmlformats.org/officeDocument/2006/relationships/oleObject" Target="../embeddings/oleObject40.bin"/><Relationship Id="rId20" Type="http://schemas.openxmlformats.org/officeDocument/2006/relationships/oleObject" Target="../embeddings/oleObject42.bin"/><Relationship Id="rId29" Type="http://schemas.openxmlformats.org/officeDocument/2006/relationships/oleObject" Target="../embeddings/oleObject46.bin"/><Relationship Id="rId1" Type="http://schemas.openxmlformats.org/officeDocument/2006/relationships/slideLayout" Target="../slideLayouts/slideLayout7.xml"/><Relationship Id="rId6" Type="http://schemas.openxmlformats.org/officeDocument/2006/relationships/oleObject" Target="../embeddings/oleObject35.bin"/><Relationship Id="rId11" Type="http://schemas.openxmlformats.org/officeDocument/2006/relationships/image" Target="../media/image42.emf"/><Relationship Id="rId24" Type="http://schemas.openxmlformats.org/officeDocument/2006/relationships/image" Target="../media/image49.emf"/><Relationship Id="rId5" Type="http://schemas.openxmlformats.org/officeDocument/2006/relationships/image" Target="../media/image39.emf"/><Relationship Id="rId15" Type="http://schemas.openxmlformats.org/officeDocument/2006/relationships/image" Target="../media/image44.emf"/><Relationship Id="rId23" Type="http://schemas.openxmlformats.org/officeDocument/2006/relationships/image" Target="../media/image48.emf"/><Relationship Id="rId28" Type="http://schemas.openxmlformats.org/officeDocument/2006/relationships/image" Target="../media/image51.emf"/><Relationship Id="rId10" Type="http://schemas.openxmlformats.org/officeDocument/2006/relationships/oleObject" Target="../embeddings/oleObject37.bin"/><Relationship Id="rId19" Type="http://schemas.openxmlformats.org/officeDocument/2006/relationships/image" Target="../media/image46.emf"/><Relationship Id="rId4" Type="http://schemas.openxmlformats.org/officeDocument/2006/relationships/oleObject" Target="../embeddings/oleObject34.bin"/><Relationship Id="rId9" Type="http://schemas.openxmlformats.org/officeDocument/2006/relationships/image" Target="../media/image41.emf"/><Relationship Id="rId14" Type="http://schemas.openxmlformats.org/officeDocument/2006/relationships/oleObject" Target="../embeddings/oleObject39.bin"/><Relationship Id="rId22" Type="http://schemas.openxmlformats.org/officeDocument/2006/relationships/oleObject" Target="../embeddings/oleObject43.bin"/><Relationship Id="rId27" Type="http://schemas.openxmlformats.org/officeDocument/2006/relationships/oleObject" Target="../embeddings/oleObject45.bin"/><Relationship Id="rId30" Type="http://schemas.openxmlformats.org/officeDocument/2006/relationships/image" Target="../media/image52.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53.emf"/><Relationship Id="rId7" Type="http://schemas.openxmlformats.org/officeDocument/2006/relationships/image" Target="../media/image55.e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5" Type="http://schemas.openxmlformats.org/officeDocument/2006/relationships/image" Target="../media/image54.emf"/><Relationship Id="rId10" Type="http://schemas.openxmlformats.org/officeDocument/2006/relationships/image" Target="../media/image57.emf"/><Relationship Id="rId4" Type="http://schemas.openxmlformats.org/officeDocument/2006/relationships/oleObject" Target="../embeddings/oleObject48.bin"/><Relationship Id="rId9" Type="http://schemas.openxmlformats.org/officeDocument/2006/relationships/image" Target="../media/image56.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63.emf"/><Relationship Id="rId18" Type="http://schemas.openxmlformats.org/officeDocument/2006/relationships/oleObject" Target="../embeddings/oleObject59.bin"/><Relationship Id="rId26" Type="http://schemas.openxmlformats.org/officeDocument/2006/relationships/oleObject" Target="../embeddings/oleObject63.bin"/><Relationship Id="rId3" Type="http://schemas.openxmlformats.org/officeDocument/2006/relationships/image" Target="../media/image58.emf"/><Relationship Id="rId21" Type="http://schemas.openxmlformats.org/officeDocument/2006/relationships/image" Target="../media/image67.emf"/><Relationship Id="rId34" Type="http://schemas.openxmlformats.org/officeDocument/2006/relationships/oleObject" Target="../embeddings/oleObject67.bin"/><Relationship Id="rId7" Type="http://schemas.openxmlformats.org/officeDocument/2006/relationships/image" Target="../media/image60.emf"/><Relationship Id="rId12" Type="http://schemas.openxmlformats.org/officeDocument/2006/relationships/oleObject" Target="../embeddings/oleObject56.bin"/><Relationship Id="rId17" Type="http://schemas.openxmlformats.org/officeDocument/2006/relationships/image" Target="../media/image65.emf"/><Relationship Id="rId25" Type="http://schemas.openxmlformats.org/officeDocument/2006/relationships/image" Target="../media/image69.emf"/><Relationship Id="rId33" Type="http://schemas.openxmlformats.org/officeDocument/2006/relationships/image" Target="../media/image73.emf"/><Relationship Id="rId2" Type="http://schemas.openxmlformats.org/officeDocument/2006/relationships/oleObject" Target="../embeddings/oleObject51.bin"/><Relationship Id="rId16" Type="http://schemas.openxmlformats.org/officeDocument/2006/relationships/oleObject" Target="../embeddings/oleObject58.bin"/><Relationship Id="rId20" Type="http://schemas.openxmlformats.org/officeDocument/2006/relationships/oleObject" Target="../embeddings/oleObject60.bin"/><Relationship Id="rId29" Type="http://schemas.openxmlformats.org/officeDocument/2006/relationships/image" Target="../media/image71.emf"/><Relationship Id="rId1" Type="http://schemas.openxmlformats.org/officeDocument/2006/relationships/slideLayout" Target="../slideLayouts/slideLayout7.xml"/><Relationship Id="rId6" Type="http://schemas.openxmlformats.org/officeDocument/2006/relationships/oleObject" Target="../embeddings/oleObject53.bin"/><Relationship Id="rId11" Type="http://schemas.openxmlformats.org/officeDocument/2006/relationships/image" Target="../media/image62.emf"/><Relationship Id="rId24" Type="http://schemas.openxmlformats.org/officeDocument/2006/relationships/oleObject" Target="../embeddings/oleObject62.bin"/><Relationship Id="rId32" Type="http://schemas.openxmlformats.org/officeDocument/2006/relationships/oleObject" Target="../embeddings/oleObject66.bin"/><Relationship Id="rId5" Type="http://schemas.openxmlformats.org/officeDocument/2006/relationships/image" Target="../media/image59.emf"/><Relationship Id="rId15" Type="http://schemas.openxmlformats.org/officeDocument/2006/relationships/image" Target="../media/image64.emf"/><Relationship Id="rId23" Type="http://schemas.openxmlformats.org/officeDocument/2006/relationships/image" Target="../media/image68.emf"/><Relationship Id="rId28" Type="http://schemas.openxmlformats.org/officeDocument/2006/relationships/oleObject" Target="../embeddings/oleObject64.bin"/><Relationship Id="rId10" Type="http://schemas.openxmlformats.org/officeDocument/2006/relationships/oleObject" Target="../embeddings/oleObject55.bin"/><Relationship Id="rId19" Type="http://schemas.openxmlformats.org/officeDocument/2006/relationships/image" Target="../media/image66.emf"/><Relationship Id="rId31" Type="http://schemas.openxmlformats.org/officeDocument/2006/relationships/image" Target="../media/image72.emf"/><Relationship Id="rId4" Type="http://schemas.openxmlformats.org/officeDocument/2006/relationships/oleObject" Target="../embeddings/oleObject52.bin"/><Relationship Id="rId9" Type="http://schemas.openxmlformats.org/officeDocument/2006/relationships/image" Target="../media/image61.emf"/><Relationship Id="rId14" Type="http://schemas.openxmlformats.org/officeDocument/2006/relationships/oleObject" Target="../embeddings/oleObject57.bin"/><Relationship Id="rId22" Type="http://schemas.openxmlformats.org/officeDocument/2006/relationships/oleObject" Target="../embeddings/oleObject61.bin"/><Relationship Id="rId27" Type="http://schemas.openxmlformats.org/officeDocument/2006/relationships/image" Target="../media/image70.emf"/><Relationship Id="rId30" Type="http://schemas.openxmlformats.org/officeDocument/2006/relationships/oleObject" Target="../embeddings/oleObject65.bin"/><Relationship Id="rId35" Type="http://schemas.openxmlformats.org/officeDocument/2006/relationships/image" Target="../media/image74.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80.emf"/><Relationship Id="rId18" Type="http://schemas.openxmlformats.org/officeDocument/2006/relationships/oleObject" Target="../embeddings/oleObject76.bin"/><Relationship Id="rId3" Type="http://schemas.openxmlformats.org/officeDocument/2006/relationships/image" Target="../media/image75.emf"/><Relationship Id="rId21" Type="http://schemas.openxmlformats.org/officeDocument/2006/relationships/image" Target="../media/image84.emf"/><Relationship Id="rId7" Type="http://schemas.openxmlformats.org/officeDocument/2006/relationships/image" Target="../media/image77.emf"/><Relationship Id="rId12" Type="http://schemas.openxmlformats.org/officeDocument/2006/relationships/oleObject" Target="../embeddings/oleObject73.bin"/><Relationship Id="rId17" Type="http://schemas.openxmlformats.org/officeDocument/2006/relationships/image" Target="../media/image82.emf"/><Relationship Id="rId25" Type="http://schemas.openxmlformats.org/officeDocument/2006/relationships/image" Target="../media/image86.emf"/><Relationship Id="rId2" Type="http://schemas.openxmlformats.org/officeDocument/2006/relationships/oleObject" Target="../embeddings/oleObject68.bin"/><Relationship Id="rId16" Type="http://schemas.openxmlformats.org/officeDocument/2006/relationships/oleObject" Target="../embeddings/oleObject75.bin"/><Relationship Id="rId20" Type="http://schemas.openxmlformats.org/officeDocument/2006/relationships/oleObject" Target="../embeddings/oleObject77.bin"/><Relationship Id="rId1" Type="http://schemas.openxmlformats.org/officeDocument/2006/relationships/slideLayout" Target="../slideLayouts/slideLayout7.xml"/><Relationship Id="rId6" Type="http://schemas.openxmlformats.org/officeDocument/2006/relationships/oleObject" Target="../embeddings/oleObject70.bin"/><Relationship Id="rId11" Type="http://schemas.openxmlformats.org/officeDocument/2006/relationships/image" Target="../media/image79.emf"/><Relationship Id="rId24" Type="http://schemas.openxmlformats.org/officeDocument/2006/relationships/oleObject" Target="../embeddings/oleObject79.bin"/><Relationship Id="rId5" Type="http://schemas.openxmlformats.org/officeDocument/2006/relationships/image" Target="../media/image76.emf"/><Relationship Id="rId15" Type="http://schemas.openxmlformats.org/officeDocument/2006/relationships/image" Target="../media/image81.emf"/><Relationship Id="rId23" Type="http://schemas.openxmlformats.org/officeDocument/2006/relationships/image" Target="../media/image85.emf"/><Relationship Id="rId10" Type="http://schemas.openxmlformats.org/officeDocument/2006/relationships/oleObject" Target="../embeddings/oleObject72.bin"/><Relationship Id="rId19" Type="http://schemas.openxmlformats.org/officeDocument/2006/relationships/image" Target="../media/image83.emf"/><Relationship Id="rId4" Type="http://schemas.openxmlformats.org/officeDocument/2006/relationships/oleObject" Target="../embeddings/oleObject69.bin"/><Relationship Id="rId9" Type="http://schemas.openxmlformats.org/officeDocument/2006/relationships/image" Target="../media/image78.emf"/><Relationship Id="rId14" Type="http://schemas.openxmlformats.org/officeDocument/2006/relationships/oleObject" Target="../embeddings/oleObject74.bin"/><Relationship Id="rId22" Type="http://schemas.openxmlformats.org/officeDocument/2006/relationships/oleObject" Target="../embeddings/oleObject78.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image" Target="../media/image87.emf"/><Relationship Id="rId7" Type="http://schemas.openxmlformats.org/officeDocument/2006/relationships/image" Target="../media/image89.emf"/><Relationship Id="rId2"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82.bin"/><Relationship Id="rId5" Type="http://schemas.openxmlformats.org/officeDocument/2006/relationships/image" Target="../media/image88.emf"/><Relationship Id="rId4" Type="http://schemas.openxmlformats.org/officeDocument/2006/relationships/oleObject" Target="../embeddings/oleObject81.bin"/><Relationship Id="rId9" Type="http://schemas.openxmlformats.org/officeDocument/2006/relationships/image" Target="../media/image90.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7.bin"/><Relationship Id="rId13" Type="http://schemas.openxmlformats.org/officeDocument/2006/relationships/image" Target="../media/image96.emf"/><Relationship Id="rId18" Type="http://schemas.openxmlformats.org/officeDocument/2006/relationships/oleObject" Target="../embeddings/oleObject92.bin"/><Relationship Id="rId3" Type="http://schemas.openxmlformats.org/officeDocument/2006/relationships/image" Target="../media/image91.emf"/><Relationship Id="rId21" Type="http://schemas.openxmlformats.org/officeDocument/2006/relationships/image" Target="../media/image100.emf"/><Relationship Id="rId7" Type="http://schemas.openxmlformats.org/officeDocument/2006/relationships/image" Target="../media/image93.emf"/><Relationship Id="rId12" Type="http://schemas.openxmlformats.org/officeDocument/2006/relationships/oleObject" Target="../embeddings/oleObject89.bin"/><Relationship Id="rId17" Type="http://schemas.openxmlformats.org/officeDocument/2006/relationships/image" Target="../media/image98.emf"/><Relationship Id="rId2" Type="http://schemas.openxmlformats.org/officeDocument/2006/relationships/oleObject" Target="../embeddings/oleObject84.bin"/><Relationship Id="rId16" Type="http://schemas.openxmlformats.org/officeDocument/2006/relationships/oleObject" Target="../embeddings/oleObject91.bin"/><Relationship Id="rId20" Type="http://schemas.openxmlformats.org/officeDocument/2006/relationships/oleObject" Target="../embeddings/oleObject93.bin"/><Relationship Id="rId1" Type="http://schemas.openxmlformats.org/officeDocument/2006/relationships/slideLayout" Target="../slideLayouts/slideLayout15.xml"/><Relationship Id="rId6" Type="http://schemas.openxmlformats.org/officeDocument/2006/relationships/oleObject" Target="../embeddings/oleObject86.bin"/><Relationship Id="rId11" Type="http://schemas.openxmlformats.org/officeDocument/2006/relationships/image" Target="../media/image95.emf"/><Relationship Id="rId5" Type="http://schemas.openxmlformats.org/officeDocument/2006/relationships/image" Target="../media/image92.emf"/><Relationship Id="rId15" Type="http://schemas.openxmlformats.org/officeDocument/2006/relationships/image" Target="../media/image97.emf"/><Relationship Id="rId10" Type="http://schemas.openxmlformats.org/officeDocument/2006/relationships/oleObject" Target="../embeddings/oleObject88.bin"/><Relationship Id="rId19" Type="http://schemas.openxmlformats.org/officeDocument/2006/relationships/image" Target="../media/image99.emf"/><Relationship Id="rId4" Type="http://schemas.openxmlformats.org/officeDocument/2006/relationships/oleObject" Target="../embeddings/oleObject85.bin"/><Relationship Id="rId9" Type="http://schemas.openxmlformats.org/officeDocument/2006/relationships/image" Target="../media/image94.emf"/><Relationship Id="rId14" Type="http://schemas.openxmlformats.org/officeDocument/2006/relationships/oleObject" Target="../embeddings/oleObject90.bin"/></Relationships>
</file>

<file path=ppt/slides/_rels/slide12.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oleObject" Target="../embeddings/oleObject94.bin"/><Relationship Id="rId1" Type="http://schemas.openxmlformats.org/officeDocument/2006/relationships/slideLayout" Target="../slideLayouts/slideLayout13.xml"/><Relationship Id="rId6" Type="http://schemas.openxmlformats.org/officeDocument/2006/relationships/image" Target="../media/image103.emf"/><Relationship Id="rId5" Type="http://schemas.openxmlformats.org/officeDocument/2006/relationships/image" Target="../media/image102.emf"/><Relationship Id="rId4" Type="http://schemas.openxmlformats.org/officeDocument/2006/relationships/oleObject" Target="../embeddings/oleObject95.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09.emf"/><Relationship Id="rId3" Type="http://schemas.openxmlformats.org/officeDocument/2006/relationships/image" Target="../media/image104.emf"/><Relationship Id="rId7" Type="http://schemas.openxmlformats.org/officeDocument/2006/relationships/image" Target="../media/image106.emf"/><Relationship Id="rId12" Type="http://schemas.openxmlformats.org/officeDocument/2006/relationships/oleObject" Target="../embeddings/oleObject101.bin"/><Relationship Id="rId2" Type="http://schemas.openxmlformats.org/officeDocument/2006/relationships/oleObject" Target="../embeddings/oleObject96.bin"/><Relationship Id="rId16" Type="http://schemas.openxmlformats.org/officeDocument/2006/relationships/image" Target="../media/image111.emf"/><Relationship Id="rId1" Type="http://schemas.openxmlformats.org/officeDocument/2006/relationships/slideLayout" Target="../slideLayouts/slideLayout2.xml"/><Relationship Id="rId6" Type="http://schemas.openxmlformats.org/officeDocument/2006/relationships/oleObject" Target="../embeddings/oleObject98.bin"/><Relationship Id="rId11" Type="http://schemas.openxmlformats.org/officeDocument/2006/relationships/image" Target="../media/image108.emf"/><Relationship Id="rId5" Type="http://schemas.openxmlformats.org/officeDocument/2006/relationships/image" Target="../media/image105.emf"/><Relationship Id="rId15" Type="http://schemas.openxmlformats.org/officeDocument/2006/relationships/image" Target="../media/image110.emf"/><Relationship Id="rId10" Type="http://schemas.openxmlformats.org/officeDocument/2006/relationships/oleObject" Target="../embeddings/oleObject100.bin"/><Relationship Id="rId4" Type="http://schemas.openxmlformats.org/officeDocument/2006/relationships/oleObject" Target="../embeddings/oleObject97.bin"/><Relationship Id="rId9" Type="http://schemas.openxmlformats.org/officeDocument/2006/relationships/image" Target="../media/image107.emf"/><Relationship Id="rId14" Type="http://schemas.openxmlformats.org/officeDocument/2006/relationships/oleObject" Target="../embeddings/oleObject102.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17.emf"/><Relationship Id="rId3" Type="http://schemas.openxmlformats.org/officeDocument/2006/relationships/image" Target="../media/image112.emf"/><Relationship Id="rId7" Type="http://schemas.openxmlformats.org/officeDocument/2006/relationships/image" Target="../media/image114.emf"/><Relationship Id="rId12" Type="http://schemas.openxmlformats.org/officeDocument/2006/relationships/oleObject" Target="../embeddings/oleObject108.bin"/><Relationship Id="rId2"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105.bin"/><Relationship Id="rId11" Type="http://schemas.openxmlformats.org/officeDocument/2006/relationships/image" Target="../media/image116.emf"/><Relationship Id="rId5" Type="http://schemas.openxmlformats.org/officeDocument/2006/relationships/image" Target="../media/image113.emf"/><Relationship Id="rId10" Type="http://schemas.openxmlformats.org/officeDocument/2006/relationships/oleObject" Target="../embeddings/oleObject107.bin"/><Relationship Id="rId4" Type="http://schemas.openxmlformats.org/officeDocument/2006/relationships/oleObject" Target="../embeddings/oleObject104.bin"/><Relationship Id="rId9" Type="http://schemas.openxmlformats.org/officeDocument/2006/relationships/image" Target="../media/image115.emf"/><Relationship Id="rId14" Type="http://schemas.openxmlformats.org/officeDocument/2006/relationships/image" Target="../media/image118.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124.emf"/><Relationship Id="rId18" Type="http://schemas.openxmlformats.org/officeDocument/2006/relationships/image" Target="../media/image127.emf"/><Relationship Id="rId3" Type="http://schemas.openxmlformats.org/officeDocument/2006/relationships/image" Target="../media/image119.emf"/><Relationship Id="rId7" Type="http://schemas.openxmlformats.org/officeDocument/2006/relationships/image" Target="../media/image121.emf"/><Relationship Id="rId12" Type="http://schemas.openxmlformats.org/officeDocument/2006/relationships/oleObject" Target="../embeddings/oleObject112.bin"/><Relationship Id="rId17" Type="http://schemas.openxmlformats.org/officeDocument/2006/relationships/image" Target="../media/image126.emf"/><Relationship Id="rId2" Type="http://schemas.openxmlformats.org/officeDocument/2006/relationships/oleObject" Target="../embeddings/oleObject107.bin"/><Relationship Id="rId16" Type="http://schemas.openxmlformats.org/officeDocument/2006/relationships/oleObject" Target="../embeddings/oleObject114.bin"/><Relationship Id="rId20" Type="http://schemas.openxmlformats.org/officeDocument/2006/relationships/image" Target="../media/image128.emf"/><Relationship Id="rId1" Type="http://schemas.openxmlformats.org/officeDocument/2006/relationships/slideLayout" Target="../slideLayouts/slideLayout7.xml"/><Relationship Id="rId6" Type="http://schemas.openxmlformats.org/officeDocument/2006/relationships/oleObject" Target="../embeddings/oleObject109.bin"/><Relationship Id="rId11" Type="http://schemas.openxmlformats.org/officeDocument/2006/relationships/image" Target="../media/image123.emf"/><Relationship Id="rId5" Type="http://schemas.openxmlformats.org/officeDocument/2006/relationships/image" Target="../media/image120.emf"/><Relationship Id="rId15" Type="http://schemas.openxmlformats.org/officeDocument/2006/relationships/image" Target="../media/image125.emf"/><Relationship Id="rId10" Type="http://schemas.openxmlformats.org/officeDocument/2006/relationships/oleObject" Target="../embeddings/oleObject111.bin"/><Relationship Id="rId19" Type="http://schemas.openxmlformats.org/officeDocument/2006/relationships/oleObject" Target="../embeddings/oleObject115.bin"/><Relationship Id="rId4" Type="http://schemas.openxmlformats.org/officeDocument/2006/relationships/oleObject" Target="../embeddings/oleObject106.bin"/><Relationship Id="rId9" Type="http://schemas.openxmlformats.org/officeDocument/2006/relationships/image" Target="../media/image122.emf"/><Relationship Id="rId14" Type="http://schemas.openxmlformats.org/officeDocument/2006/relationships/oleObject" Target="../embeddings/oleObject113.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34.emf"/><Relationship Id="rId3" Type="http://schemas.openxmlformats.org/officeDocument/2006/relationships/image" Target="../media/image129.emf"/><Relationship Id="rId7" Type="http://schemas.openxmlformats.org/officeDocument/2006/relationships/image" Target="../media/image131.emf"/><Relationship Id="rId12" Type="http://schemas.openxmlformats.org/officeDocument/2006/relationships/oleObject" Target="../embeddings/oleObject121.bin"/><Relationship Id="rId2" Type="http://schemas.openxmlformats.org/officeDocument/2006/relationships/oleObject" Target="../embeddings/oleObject116.bin"/><Relationship Id="rId16" Type="http://schemas.openxmlformats.org/officeDocument/2006/relationships/image" Target="../media/image136.emf"/><Relationship Id="rId1" Type="http://schemas.openxmlformats.org/officeDocument/2006/relationships/slideLayout" Target="../slideLayouts/slideLayout7.xml"/><Relationship Id="rId6" Type="http://schemas.openxmlformats.org/officeDocument/2006/relationships/oleObject" Target="../embeddings/oleObject118.bin"/><Relationship Id="rId11" Type="http://schemas.openxmlformats.org/officeDocument/2006/relationships/image" Target="../media/image133.emf"/><Relationship Id="rId5" Type="http://schemas.openxmlformats.org/officeDocument/2006/relationships/image" Target="../media/image130.emf"/><Relationship Id="rId15" Type="http://schemas.openxmlformats.org/officeDocument/2006/relationships/image" Target="../media/image135.emf"/><Relationship Id="rId10" Type="http://schemas.openxmlformats.org/officeDocument/2006/relationships/oleObject" Target="../embeddings/oleObject120.bin"/><Relationship Id="rId4" Type="http://schemas.openxmlformats.org/officeDocument/2006/relationships/oleObject" Target="../embeddings/oleObject117.bin"/><Relationship Id="rId9" Type="http://schemas.openxmlformats.org/officeDocument/2006/relationships/image" Target="../media/image132.emf"/><Relationship Id="rId14" Type="http://schemas.openxmlformats.org/officeDocument/2006/relationships/oleObject" Target="../embeddings/oleObject122.bin"/></Relationships>
</file>

<file path=ppt/slides/_rels/slide17.xml.rels><?xml version="1.0" encoding="UTF-8" standalone="yes"?>
<Relationships xmlns="http://schemas.openxmlformats.org/package/2006/relationships"><Relationship Id="rId8" Type="http://schemas.openxmlformats.org/officeDocument/2006/relationships/image" Target="../media/image139.emf"/><Relationship Id="rId13" Type="http://schemas.openxmlformats.org/officeDocument/2006/relationships/oleObject" Target="../embeddings/oleObject128.bin"/><Relationship Id="rId18" Type="http://schemas.openxmlformats.org/officeDocument/2006/relationships/image" Target="../media/image144.emf"/><Relationship Id="rId3" Type="http://schemas.openxmlformats.org/officeDocument/2006/relationships/oleObject" Target="../embeddings/oleObject123.bin"/><Relationship Id="rId7" Type="http://schemas.openxmlformats.org/officeDocument/2006/relationships/oleObject" Target="../embeddings/oleObject125.bin"/><Relationship Id="rId12" Type="http://schemas.openxmlformats.org/officeDocument/2006/relationships/image" Target="../media/image141.emf"/><Relationship Id="rId17" Type="http://schemas.openxmlformats.org/officeDocument/2006/relationships/oleObject" Target="../embeddings/oleObject130.bin"/><Relationship Id="rId2" Type="http://schemas.openxmlformats.org/officeDocument/2006/relationships/hyperlink" Target="../zxl/&#32993;&#20854;&#22270;1.0/ZLCAI.EXE" TargetMode="External"/><Relationship Id="rId16" Type="http://schemas.openxmlformats.org/officeDocument/2006/relationships/image" Target="../media/image143.emf"/><Relationship Id="rId20" Type="http://schemas.openxmlformats.org/officeDocument/2006/relationships/image" Target="../media/image145.emf"/><Relationship Id="rId1" Type="http://schemas.openxmlformats.org/officeDocument/2006/relationships/slideLayout" Target="../slideLayouts/slideLayout7.xml"/><Relationship Id="rId6" Type="http://schemas.openxmlformats.org/officeDocument/2006/relationships/image" Target="../media/image138.emf"/><Relationship Id="rId11" Type="http://schemas.openxmlformats.org/officeDocument/2006/relationships/oleObject" Target="../embeddings/oleObject127.bin"/><Relationship Id="rId5" Type="http://schemas.openxmlformats.org/officeDocument/2006/relationships/oleObject" Target="../embeddings/oleObject124.bin"/><Relationship Id="rId15" Type="http://schemas.openxmlformats.org/officeDocument/2006/relationships/oleObject" Target="../embeddings/oleObject129.bin"/><Relationship Id="rId10" Type="http://schemas.openxmlformats.org/officeDocument/2006/relationships/image" Target="../media/image140.emf"/><Relationship Id="rId19" Type="http://schemas.openxmlformats.org/officeDocument/2006/relationships/oleObject" Target="../embeddings/oleObject131.bin"/><Relationship Id="rId4" Type="http://schemas.openxmlformats.org/officeDocument/2006/relationships/image" Target="../media/image137.emf"/><Relationship Id="rId9" Type="http://schemas.openxmlformats.org/officeDocument/2006/relationships/oleObject" Target="../embeddings/oleObject126.bin"/><Relationship Id="rId14" Type="http://schemas.openxmlformats.org/officeDocument/2006/relationships/image" Target="../media/image142.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51.emf"/><Relationship Id="rId18" Type="http://schemas.openxmlformats.org/officeDocument/2006/relationships/image" Target="../media/image154.emf"/><Relationship Id="rId3" Type="http://schemas.openxmlformats.org/officeDocument/2006/relationships/image" Target="../media/image146.emf"/><Relationship Id="rId7" Type="http://schemas.openxmlformats.org/officeDocument/2006/relationships/image" Target="../media/image148.emf"/><Relationship Id="rId12" Type="http://schemas.openxmlformats.org/officeDocument/2006/relationships/oleObject" Target="../embeddings/oleObject137.bin"/><Relationship Id="rId17" Type="http://schemas.openxmlformats.org/officeDocument/2006/relationships/image" Target="../media/image153.emf"/><Relationship Id="rId2" Type="http://schemas.openxmlformats.org/officeDocument/2006/relationships/oleObject" Target="../embeddings/oleObject132.bin"/><Relationship Id="rId16" Type="http://schemas.openxmlformats.org/officeDocument/2006/relationships/oleObject" Target="../embeddings/oleObject139.bin"/><Relationship Id="rId1" Type="http://schemas.openxmlformats.org/officeDocument/2006/relationships/slideLayout" Target="../slideLayouts/slideLayout7.xml"/><Relationship Id="rId6" Type="http://schemas.openxmlformats.org/officeDocument/2006/relationships/oleObject" Target="../embeddings/oleObject134.bin"/><Relationship Id="rId11" Type="http://schemas.openxmlformats.org/officeDocument/2006/relationships/image" Target="../media/image150.emf"/><Relationship Id="rId5" Type="http://schemas.openxmlformats.org/officeDocument/2006/relationships/image" Target="../media/image147.emf"/><Relationship Id="rId15" Type="http://schemas.openxmlformats.org/officeDocument/2006/relationships/image" Target="../media/image152.emf"/><Relationship Id="rId10" Type="http://schemas.openxmlformats.org/officeDocument/2006/relationships/oleObject" Target="../embeddings/oleObject136.bin"/><Relationship Id="rId4" Type="http://schemas.openxmlformats.org/officeDocument/2006/relationships/oleObject" Target="../embeddings/oleObject133.bin"/><Relationship Id="rId9" Type="http://schemas.openxmlformats.org/officeDocument/2006/relationships/image" Target="../media/image149.emf"/><Relationship Id="rId14" Type="http://schemas.openxmlformats.org/officeDocument/2006/relationships/oleObject" Target="../embeddings/oleObject138.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60.emf"/><Relationship Id="rId18" Type="http://schemas.openxmlformats.org/officeDocument/2006/relationships/image" Target="../media/image163.emf"/><Relationship Id="rId3" Type="http://schemas.openxmlformats.org/officeDocument/2006/relationships/image" Target="../media/image155.emf"/><Relationship Id="rId7" Type="http://schemas.openxmlformats.org/officeDocument/2006/relationships/image" Target="../media/image157.emf"/><Relationship Id="rId12" Type="http://schemas.openxmlformats.org/officeDocument/2006/relationships/oleObject" Target="../embeddings/oleObject145.bin"/><Relationship Id="rId17" Type="http://schemas.openxmlformats.org/officeDocument/2006/relationships/image" Target="../media/image162.emf"/><Relationship Id="rId2" Type="http://schemas.openxmlformats.org/officeDocument/2006/relationships/oleObject" Target="../embeddings/oleObject140.bin"/><Relationship Id="rId16" Type="http://schemas.openxmlformats.org/officeDocument/2006/relationships/oleObject" Target="../embeddings/oleObject147.bin"/><Relationship Id="rId1" Type="http://schemas.openxmlformats.org/officeDocument/2006/relationships/slideLayout" Target="../slideLayouts/slideLayout7.xml"/><Relationship Id="rId6" Type="http://schemas.openxmlformats.org/officeDocument/2006/relationships/oleObject" Target="../embeddings/oleObject142.bin"/><Relationship Id="rId11" Type="http://schemas.openxmlformats.org/officeDocument/2006/relationships/image" Target="../media/image159.emf"/><Relationship Id="rId5" Type="http://schemas.openxmlformats.org/officeDocument/2006/relationships/image" Target="../media/image156.emf"/><Relationship Id="rId15" Type="http://schemas.openxmlformats.org/officeDocument/2006/relationships/image" Target="../media/image161.emf"/><Relationship Id="rId10" Type="http://schemas.openxmlformats.org/officeDocument/2006/relationships/oleObject" Target="../embeddings/oleObject144.bin"/><Relationship Id="rId4" Type="http://schemas.openxmlformats.org/officeDocument/2006/relationships/oleObject" Target="../embeddings/oleObject141.bin"/><Relationship Id="rId9" Type="http://schemas.openxmlformats.org/officeDocument/2006/relationships/image" Target="../media/image158.emf"/><Relationship Id="rId14" Type="http://schemas.openxmlformats.org/officeDocument/2006/relationships/oleObject" Target="../embeddings/oleObject146.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51.bin"/><Relationship Id="rId3" Type="http://schemas.openxmlformats.org/officeDocument/2006/relationships/image" Target="../media/image164.emf"/><Relationship Id="rId7" Type="http://schemas.openxmlformats.org/officeDocument/2006/relationships/image" Target="../media/image166.emf"/><Relationship Id="rId12" Type="http://schemas.openxmlformats.org/officeDocument/2006/relationships/image" Target="../media/image169.emf"/><Relationship Id="rId2"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oleObject" Target="../embeddings/oleObject150.bin"/><Relationship Id="rId11" Type="http://schemas.openxmlformats.org/officeDocument/2006/relationships/image" Target="../media/image168.emf"/><Relationship Id="rId5" Type="http://schemas.openxmlformats.org/officeDocument/2006/relationships/image" Target="../media/image165.emf"/><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6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80">
            <a:extLst>
              <a:ext uri="{FF2B5EF4-FFF2-40B4-BE49-F238E27FC236}">
                <a16:creationId xmlns:a16="http://schemas.microsoft.com/office/drawing/2014/main" id="{7A4CCEB0-EA8D-C693-CA6B-9FEF43856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97988" cy="697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WordArt 275">
            <a:extLst>
              <a:ext uri="{FF2B5EF4-FFF2-40B4-BE49-F238E27FC236}">
                <a16:creationId xmlns:a16="http://schemas.microsoft.com/office/drawing/2014/main" id="{49AE26E4-49BD-6324-9C7A-CFEFF8B1CAB5}"/>
              </a:ext>
            </a:extLst>
          </p:cNvPr>
          <p:cNvSpPr>
            <a:spLocks noChangeArrowheads="1" noChangeShapeType="1" noTextEdit="1"/>
          </p:cNvSpPr>
          <p:nvPr/>
        </p:nvSpPr>
        <p:spPr bwMode="auto">
          <a:xfrm>
            <a:off x="533400" y="1143000"/>
            <a:ext cx="8077200" cy="16002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4800" i="1" kern="10">
                <a:solidFill>
                  <a:srgbClr val="FF0000"/>
                </a:solidFill>
                <a:effectLst>
                  <a:outerShdw dist="35921" dir="2700000" algn="ctr" rotWithShape="0">
                    <a:srgbClr val="808080"/>
                  </a:outerShdw>
                </a:effectLst>
                <a:latin typeface="Times New Roman" panose="02020603050405020304" pitchFamily="18" charset="0"/>
                <a:cs typeface="Times New Roman" panose="02020603050405020304" pitchFamily="18" charset="0"/>
              </a:rPr>
              <a:t>University Physics</a:t>
            </a:r>
            <a:endParaRPr lang="zh-CN" altLang="en-US" sz="4800" i="1" kern="10">
              <a:solidFill>
                <a:srgbClr val="FF0000"/>
              </a:solidFill>
              <a:effectLst>
                <a:outerShdw dist="35921" dir="2700000" algn="ctr" rotWithShape="0">
                  <a:srgbClr val="808080"/>
                </a:outerShdw>
              </a:effectLst>
              <a:latin typeface="Times New Roman" panose="02020603050405020304" pitchFamily="18" charset="0"/>
              <a:cs typeface="Times New Roman" panose="02020603050405020304" pitchFamily="18" charset="0"/>
            </a:endParaRPr>
          </a:p>
        </p:txBody>
      </p:sp>
      <p:sp>
        <p:nvSpPr>
          <p:cNvPr id="6" name="Text Box 276">
            <a:extLst>
              <a:ext uri="{FF2B5EF4-FFF2-40B4-BE49-F238E27FC236}">
                <a16:creationId xmlns:a16="http://schemas.microsoft.com/office/drawing/2014/main" id="{64AD1DCD-B1AE-ABE1-FE7B-D09D3B1C5501}"/>
              </a:ext>
            </a:extLst>
          </p:cNvPr>
          <p:cNvSpPr txBox="1">
            <a:spLocks noChangeArrowheads="1"/>
          </p:cNvSpPr>
          <p:nvPr/>
        </p:nvSpPr>
        <p:spPr bwMode="auto">
          <a:xfrm>
            <a:off x="1295400" y="3549650"/>
            <a:ext cx="6705600" cy="2378075"/>
          </a:xfrm>
          <a:prstGeom prst="rect">
            <a:avLst/>
          </a:prstGeom>
          <a:noFill/>
          <a:ln w="9525">
            <a:noFill/>
            <a:miter lim="800000"/>
            <a:headEnd/>
            <a:tailEnd/>
          </a:ln>
          <a:effectLst/>
        </p:spPr>
        <p:txBody>
          <a:bodyPr>
            <a:spAutoFit/>
          </a:bodyPr>
          <a:lstStyle/>
          <a:p>
            <a:pPr algn="ctr" eaLnBrk="1" hangingPunct="1">
              <a:lnSpc>
                <a:spcPct val="75000"/>
              </a:lnSpc>
              <a:defRPr/>
            </a:pPr>
            <a:r>
              <a:rPr kumimoji="1" lang="en-US" altLang="zh-CN" sz="3800" dirty="0">
                <a:solidFill>
                  <a:srgbClr val="FFFF00"/>
                </a:solidFill>
                <a:effectLst>
                  <a:outerShdw blurRad="38100" dist="38100" dir="2700000" algn="tl">
                    <a:srgbClr val="000000"/>
                  </a:outerShdw>
                </a:effectLst>
                <a:latin typeface="Arial" pitchFamily="34" charset="0"/>
                <a:ea typeface="宋体" pitchFamily="2" charset="-122"/>
              </a:rPr>
              <a:t>Xi’an  </a:t>
            </a:r>
            <a:r>
              <a:rPr kumimoji="1" lang="en-US" altLang="zh-CN" sz="3800" dirty="0" err="1">
                <a:solidFill>
                  <a:srgbClr val="FFFF00"/>
                </a:solidFill>
                <a:effectLst>
                  <a:outerShdw blurRad="38100" dist="38100" dir="2700000" algn="tl">
                    <a:srgbClr val="000000"/>
                  </a:outerShdw>
                </a:effectLst>
                <a:latin typeface="Arial" pitchFamily="34" charset="0"/>
                <a:ea typeface="宋体" pitchFamily="2" charset="-122"/>
              </a:rPr>
              <a:t>Jiaotong</a:t>
            </a:r>
            <a:r>
              <a:rPr kumimoji="1" lang="en-US" altLang="zh-CN" sz="3800" dirty="0">
                <a:solidFill>
                  <a:srgbClr val="FFFF00"/>
                </a:solidFill>
                <a:effectLst>
                  <a:outerShdw blurRad="38100" dist="38100" dir="2700000" algn="tl">
                    <a:srgbClr val="000000"/>
                  </a:outerShdw>
                </a:effectLst>
                <a:latin typeface="Arial" pitchFamily="34" charset="0"/>
                <a:ea typeface="宋体" pitchFamily="2" charset="-122"/>
              </a:rPr>
              <a:t>  University</a:t>
            </a:r>
          </a:p>
          <a:p>
            <a:pPr algn="ctr" eaLnBrk="1" hangingPunct="1">
              <a:lnSpc>
                <a:spcPct val="75000"/>
              </a:lnSpc>
              <a:defRPr/>
            </a:pPr>
            <a:endParaRPr kumimoji="1" lang="en-US" altLang="zh-CN" sz="2800" dirty="0">
              <a:solidFill>
                <a:srgbClr val="FFFF00"/>
              </a:solidFill>
              <a:effectLst>
                <a:outerShdw blurRad="38100" dist="38100" dir="2700000" algn="tl">
                  <a:srgbClr val="000000"/>
                </a:outerShdw>
              </a:effectLst>
              <a:latin typeface="Times New Roman" pitchFamily="18" charset="0"/>
              <a:ea typeface="华文仿宋" pitchFamily="2" charset="-122"/>
            </a:endParaRPr>
          </a:p>
          <a:p>
            <a:pPr algn="ctr" eaLnBrk="1" hangingPunct="1">
              <a:lnSpc>
                <a:spcPct val="130000"/>
              </a:lnSpc>
              <a:defRPr/>
            </a:pPr>
            <a:r>
              <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rPr>
              <a:t>Zhao </a:t>
            </a:r>
            <a:r>
              <a:rPr kumimoji="1" lang="en-US" altLang="zh-CN" sz="3000" dirty="0" err="1">
                <a:solidFill>
                  <a:srgbClr val="FFFF00"/>
                </a:solidFill>
                <a:effectLst>
                  <a:outerShdw blurRad="38100" dist="38100" dir="2700000" algn="tl">
                    <a:srgbClr val="000000"/>
                  </a:outerShdw>
                </a:effectLst>
                <a:latin typeface="Arial" pitchFamily="34" charset="0"/>
                <a:ea typeface="楷体_GB2312" pitchFamily="49" charset="-122"/>
              </a:rPr>
              <a:t>ShuMin</a:t>
            </a:r>
            <a:endPar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endParaRPr>
          </a:p>
          <a:p>
            <a:pPr algn="ctr" eaLnBrk="1" hangingPunct="1">
              <a:lnSpc>
                <a:spcPct val="130000"/>
              </a:lnSpc>
              <a:defRPr/>
            </a:pPr>
            <a:endPar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endParaRPr>
          </a:p>
          <a:p>
            <a:pPr algn="ctr" eaLnBrk="1" hangingPunct="1">
              <a:lnSpc>
                <a:spcPct val="75000"/>
              </a:lnSpc>
              <a:defRPr/>
            </a:pPr>
            <a:endParaRPr kumimoji="1" lang="en-US" altLang="zh-CN" sz="2800" dirty="0">
              <a:solidFill>
                <a:srgbClr val="FFFF00"/>
              </a:solidFill>
              <a:effectLst>
                <a:outerShdw blurRad="38100" dist="38100" dir="2700000" algn="tl">
                  <a:srgbClr val="000000"/>
                </a:outerShdw>
              </a:effectLst>
              <a:latin typeface="Arial" pitchFamily="34"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nodeType="afterEffect">
                                  <p:stCondLst>
                                    <p:cond delay="1500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ppt_x</p:attrName>
                                        </p:attrNameLst>
                                      </p:cBhvr>
                                      <p:tavLst>
                                        <p:tav tm="0">
                                          <p:val>
                                            <p:fltVal val="0.5"/>
                                          </p:val>
                                        </p:tav>
                                        <p:tav tm="100000">
                                          <p:val>
                                            <p:strVal val="#ppt_x"/>
                                          </p:val>
                                        </p:tav>
                                      </p:tavLst>
                                    </p:anim>
                                    <p:anim calcmode="lin" valueType="num">
                                      <p:cBhvr>
                                        <p:cTn id="10" dur="500" fill="hold"/>
                                        <p:tgtEl>
                                          <p:spTgt spid="5"/>
                                        </p:tgtEl>
                                        <p:attrNameLst>
                                          <p:attrName>ppt_y</p:attrName>
                                        </p:attrNameLst>
                                      </p:cBhvr>
                                      <p:tavLst>
                                        <p:tav tm="0">
                                          <p:val>
                                            <p:fltVal val="0.5"/>
                                          </p:val>
                                        </p:tav>
                                        <p:tav tm="100000">
                                          <p:val>
                                            <p:strVal val="#ppt_y"/>
                                          </p:val>
                                        </p:tav>
                                      </p:tavLst>
                                    </p:anim>
                                  </p:childTnLst>
                                </p:cTn>
                              </p:par>
                            </p:childTnLst>
                          </p:cTn>
                        </p:par>
                        <p:par>
                          <p:cTn id="11" fill="hold" nodeType="afterGroup">
                            <p:stCondLst>
                              <p:cond delay="15500"/>
                            </p:stCondLst>
                            <p:childTnLst>
                              <p:par>
                                <p:cTn id="12" presetID="16" presetClass="entr" presetSubtype="42" fill="hold" nodeType="afterEffect">
                                  <p:stCondLst>
                                    <p:cond delay="20000"/>
                                  </p:stCondLst>
                                  <p:iterate type="lt">
                                    <p:tmPct val="100000"/>
                                  </p:iterate>
                                  <p:childTnLst>
                                    <p:set>
                                      <p:cBhvr>
                                        <p:cTn id="13" dur="1" fill="hold">
                                          <p:stCondLst>
                                            <p:cond delay="0"/>
                                          </p:stCondLst>
                                        </p:cTn>
                                        <p:tgtEl>
                                          <p:spTgt spid="6"/>
                                        </p:tgtEl>
                                        <p:attrNameLst>
                                          <p:attrName>style.visibility</p:attrName>
                                        </p:attrNameLst>
                                      </p:cBhvr>
                                      <p:to>
                                        <p:strVal val="visible"/>
                                      </p:to>
                                    </p:set>
                                    <p:animEffect transition="in" filter="barn(outHorizontal)">
                                      <p:cBhvr>
                                        <p:cTn id="14" dur="75"/>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B8318B23-A5FE-C82F-7A24-C49FF995ED92}"/>
              </a:ext>
            </a:extLst>
          </p:cNvPr>
          <p:cNvSpPr>
            <a:spLocks noChangeArrowheads="1"/>
          </p:cNvSpPr>
          <p:nvPr/>
        </p:nvSpPr>
        <p:spPr bwMode="auto">
          <a:xfrm>
            <a:off x="280988" y="420688"/>
            <a:ext cx="7208837" cy="457200"/>
          </a:xfrm>
          <a:prstGeom prst="rect">
            <a:avLst/>
          </a:prstGeom>
          <a:noFill/>
          <a:ln w="9525">
            <a:noFill/>
            <a:miter lim="800000"/>
            <a:headEnd/>
            <a:tailEnd/>
          </a:ln>
          <a:effectLst/>
        </p:spPr>
        <p:txBody>
          <a:bodyPr>
            <a:spAutoFit/>
          </a:bodyPr>
          <a:lstStyle/>
          <a:p>
            <a:pPr>
              <a:defRPr/>
            </a:pPr>
            <a:r>
              <a:rPr kumimoji="1" lang="zh-CN" altLang="en-US">
                <a:solidFill>
                  <a:srgbClr val="66FF33"/>
                </a:solidFill>
                <a:effectLst>
                  <a:outerShdw blurRad="38100" dist="38100" dir="2700000" algn="tl">
                    <a:srgbClr val="000000"/>
                  </a:outerShdw>
                </a:effectLst>
                <a:latin typeface="Times New Roman" pitchFamily="18" charset="0"/>
                <a:ea typeface="宋体" pitchFamily="2" charset="-122"/>
              </a:rPr>
              <a:t>三、刚体定轴转动运动学的两类问题</a:t>
            </a:r>
          </a:p>
        </p:txBody>
      </p:sp>
      <p:sp>
        <p:nvSpPr>
          <p:cNvPr id="697347" name="Rectangle 3">
            <a:extLst>
              <a:ext uri="{FF2B5EF4-FFF2-40B4-BE49-F238E27FC236}">
                <a16:creationId xmlns:a16="http://schemas.microsoft.com/office/drawing/2014/main" id="{6772CFE6-91FF-9E18-79E4-36573C979ACE}"/>
              </a:ext>
            </a:extLst>
          </p:cNvPr>
          <p:cNvSpPr>
            <a:spLocks noChangeArrowheads="1"/>
          </p:cNvSpPr>
          <p:nvPr/>
        </p:nvSpPr>
        <p:spPr bwMode="auto">
          <a:xfrm>
            <a:off x="304800" y="903288"/>
            <a:ext cx="2092325" cy="457200"/>
          </a:xfrm>
          <a:prstGeom prst="rect">
            <a:avLst/>
          </a:prstGeom>
          <a:noFill/>
          <a:ln w="9525">
            <a:noFill/>
            <a:miter lim="800000"/>
            <a:headEnd/>
            <a:tailEnd/>
          </a:ln>
          <a:effectLst/>
        </p:spPr>
        <p:txBody>
          <a:bodyPr wrap="none" lIns="92075" tIns="46038" rIns="92075" bIns="46038">
            <a:spAutoFit/>
          </a:bodyPr>
          <a:lstStyle/>
          <a:p>
            <a:pPr>
              <a:buClr>
                <a:srgbClr val="00FFFF"/>
              </a:buClr>
              <a:buFont typeface="Wingdings" pitchFamily="2" charset="2"/>
              <a:buChar char="u"/>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latin typeface="Times New Roman" pitchFamily="18" charset="0"/>
              </a:rPr>
              <a:t>第一类问题</a:t>
            </a:r>
          </a:p>
        </p:txBody>
      </p:sp>
      <p:sp>
        <p:nvSpPr>
          <p:cNvPr id="697348" name="Rectangle 4">
            <a:extLst>
              <a:ext uri="{FF2B5EF4-FFF2-40B4-BE49-F238E27FC236}">
                <a16:creationId xmlns:a16="http://schemas.microsoft.com/office/drawing/2014/main" id="{9F3F55EF-636F-FD18-9344-F5BA5A85F52F}"/>
              </a:ext>
            </a:extLst>
          </p:cNvPr>
          <p:cNvSpPr>
            <a:spLocks noChangeArrowheads="1"/>
          </p:cNvSpPr>
          <p:nvPr/>
        </p:nvSpPr>
        <p:spPr bwMode="auto">
          <a:xfrm>
            <a:off x="685800" y="1439863"/>
            <a:ext cx="7750175" cy="457200"/>
          </a:xfrm>
          <a:prstGeom prst="rect">
            <a:avLst/>
          </a:prstGeom>
          <a:noFill/>
          <a:ln w="9525">
            <a:noFill/>
            <a:miter lim="800000"/>
            <a:headEnd/>
            <a:tailEnd/>
          </a:ln>
          <a:effectLst/>
        </p:spPr>
        <p:txBody>
          <a:bodyPr lIns="92075" tIns="46038" rIns="92075" bIns="46038">
            <a:spAutoFit/>
          </a:bodyPr>
          <a:lstStyle/>
          <a:p>
            <a:pPr>
              <a:buClr>
                <a:schemeClr val="hlink"/>
              </a:buClr>
              <a:buFont typeface="Monotype Sorts" pitchFamily="2" charset="2"/>
              <a:buNone/>
              <a:defRPr/>
            </a:pPr>
            <a:r>
              <a:rPr lang="zh-CN" altLang="en-US">
                <a:effectLst>
                  <a:outerShdw blurRad="38100" dist="38100" dir="2700000" algn="tl">
                    <a:srgbClr val="000000"/>
                  </a:outerShdw>
                </a:effectLst>
              </a:rPr>
              <a:t>已知刚体转动运动方程</a:t>
            </a:r>
            <a:r>
              <a:rPr lang="zh-CN" altLang="en-US" i="1">
                <a:solidFill>
                  <a:srgbClr val="FFCC00"/>
                </a:solidFill>
                <a:effectLst>
                  <a:outerShdw blurRad="38100" dist="38100" dir="2700000" algn="tl">
                    <a:srgbClr val="000000"/>
                  </a:outerShdw>
                </a:effectLst>
                <a:latin typeface="Times New Roman" pitchFamily="18" charset="0"/>
                <a:sym typeface="Symbol" pitchFamily="18" charset="2"/>
              </a:rPr>
              <a:t></a:t>
            </a:r>
            <a:r>
              <a:rPr lang="zh-CN" altLang="en-US">
                <a:solidFill>
                  <a:srgbClr val="FFCC00"/>
                </a:solidFill>
                <a:effectLst>
                  <a:outerShdw blurRad="38100" dist="38100" dir="2700000" algn="tl">
                    <a:srgbClr val="000000"/>
                  </a:outerShdw>
                </a:effectLst>
                <a:latin typeface="Times New Roman" pitchFamily="18" charset="0"/>
                <a:sym typeface="Symbol" pitchFamily="18" charset="2"/>
              </a:rPr>
              <a:t> </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 </a:t>
            </a:r>
            <a:r>
              <a:rPr lang="en-US" altLang="zh-CN" i="1">
                <a:solidFill>
                  <a:srgbClr val="FFCC00"/>
                </a:solidFill>
                <a:effectLst>
                  <a:outerShdw blurRad="38100" dist="38100" dir="2700000" algn="tl">
                    <a:srgbClr val="000000"/>
                  </a:outerShdw>
                </a:effectLst>
                <a:latin typeface="Times New Roman" pitchFamily="18" charset="0"/>
                <a:sym typeface="Symbol" pitchFamily="18" charset="2"/>
              </a:rPr>
              <a:t></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a:t>
            </a:r>
            <a:r>
              <a:rPr lang="en-US" altLang="zh-CN" i="1">
                <a:solidFill>
                  <a:srgbClr val="FFCC00"/>
                </a:solidFill>
                <a:effectLst>
                  <a:outerShdw blurRad="38100" dist="38100" dir="2700000" algn="tl">
                    <a:srgbClr val="000000"/>
                  </a:outerShdw>
                </a:effectLst>
                <a:latin typeface="Times New Roman" pitchFamily="18" charset="0"/>
                <a:sym typeface="Symbol" pitchFamily="18" charset="2"/>
              </a:rPr>
              <a:t>t</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a:t>
            </a:r>
            <a:r>
              <a:rPr lang="zh-CN" altLang="en-US">
                <a:effectLst>
                  <a:outerShdw blurRad="38100" dist="38100" dir="2700000" algn="tl">
                    <a:srgbClr val="000000"/>
                  </a:outerShdw>
                </a:effectLst>
                <a:sym typeface="Symbol" pitchFamily="18" charset="2"/>
              </a:rPr>
              <a:t>，求角速度</a:t>
            </a:r>
            <a:r>
              <a:rPr lang="zh-CN" altLang="en-US" i="1">
                <a:solidFill>
                  <a:srgbClr val="FFCC00"/>
                </a:solidFill>
                <a:effectLst>
                  <a:outerShdw blurRad="38100" dist="38100" dir="2700000" algn="tl">
                    <a:srgbClr val="000000"/>
                  </a:outerShdw>
                </a:effectLst>
                <a:latin typeface="Times New Roman" pitchFamily="18" charset="0"/>
                <a:sym typeface="Symbol" pitchFamily="18" charset="2"/>
              </a:rPr>
              <a:t></a:t>
            </a:r>
            <a:r>
              <a:rPr lang="zh-CN" altLang="en-US">
                <a:effectLst>
                  <a:outerShdw blurRad="38100" dist="38100" dir="2700000" algn="tl">
                    <a:srgbClr val="000000"/>
                  </a:outerShdw>
                </a:effectLst>
                <a:sym typeface="Symbol" pitchFamily="18" charset="2"/>
              </a:rPr>
              <a:t>、角加速度</a:t>
            </a:r>
            <a:r>
              <a:rPr lang="zh-CN" altLang="en-US" i="1">
                <a:solidFill>
                  <a:srgbClr val="FFCC00"/>
                </a:solidFill>
                <a:effectLst>
                  <a:outerShdw blurRad="38100" dist="38100" dir="2700000" algn="tl">
                    <a:srgbClr val="000000"/>
                  </a:outerShdw>
                </a:effectLst>
                <a:latin typeface="Times New Roman" pitchFamily="18" charset="0"/>
                <a:sym typeface="Symbol" pitchFamily="18" charset="2"/>
              </a:rPr>
              <a:t></a:t>
            </a:r>
          </a:p>
        </p:txBody>
      </p:sp>
      <p:sp>
        <p:nvSpPr>
          <p:cNvPr id="697349" name="Text Box 5">
            <a:extLst>
              <a:ext uri="{FF2B5EF4-FFF2-40B4-BE49-F238E27FC236}">
                <a16:creationId xmlns:a16="http://schemas.microsoft.com/office/drawing/2014/main" id="{02B646AF-240C-325D-B934-46B5C325279B}"/>
              </a:ext>
            </a:extLst>
          </p:cNvPr>
          <p:cNvSpPr txBox="1">
            <a:spLocks noChangeArrowheads="1"/>
          </p:cNvSpPr>
          <p:nvPr/>
        </p:nvSpPr>
        <p:spPr bwMode="auto">
          <a:xfrm>
            <a:off x="2382838" y="974725"/>
            <a:ext cx="2514600" cy="396875"/>
          </a:xfrm>
          <a:prstGeom prst="rect">
            <a:avLst/>
          </a:prstGeom>
          <a:noFill/>
          <a:ln w="12700">
            <a:noFill/>
            <a:miter lim="800000"/>
            <a:headEnd type="none" w="sm" len="sm"/>
            <a:tailEnd type="none" w="sm" len="sm"/>
          </a:ln>
          <a:effectLst/>
        </p:spPr>
        <p:txBody>
          <a:bodyPr>
            <a:spAutoFit/>
          </a:bodyPr>
          <a:lstStyle/>
          <a:p>
            <a:pPr>
              <a:defRPr/>
            </a:pPr>
            <a:r>
              <a:rPr lang="en-US" altLang="zh-CN" sz="2000">
                <a:effectLst>
                  <a:outerShdw blurRad="38100" dist="38100" dir="2700000" algn="tl">
                    <a:srgbClr val="000000"/>
                  </a:outerShdw>
                </a:effectLst>
                <a:latin typeface="Times New Roman" pitchFamily="18" charset="0"/>
              </a:rPr>
              <a:t>——</a:t>
            </a:r>
            <a:r>
              <a:rPr lang="en-US" altLang="zh-CN" sz="2000">
                <a:solidFill>
                  <a:srgbClr val="FFCC00"/>
                </a:solidFill>
                <a:effectLst>
                  <a:outerShdw blurRad="38100" dist="38100" dir="2700000" algn="tl">
                    <a:srgbClr val="000000"/>
                  </a:outerShdw>
                </a:effectLst>
                <a:latin typeface="Times New Roman" pitchFamily="18" charset="0"/>
              </a:rPr>
              <a:t> </a:t>
            </a:r>
            <a:r>
              <a:rPr lang="zh-CN" altLang="en-US" sz="2000">
                <a:solidFill>
                  <a:srgbClr val="FFCC00"/>
                </a:solidFill>
                <a:effectLst>
                  <a:outerShdw blurRad="38100" dist="38100" dir="2700000" algn="tl">
                    <a:srgbClr val="000000"/>
                  </a:outerShdw>
                </a:effectLst>
              </a:rPr>
              <a:t>微分问题</a:t>
            </a:r>
          </a:p>
        </p:txBody>
      </p:sp>
      <p:sp>
        <p:nvSpPr>
          <p:cNvPr id="697350" name="Rectangle 6">
            <a:extLst>
              <a:ext uri="{FF2B5EF4-FFF2-40B4-BE49-F238E27FC236}">
                <a16:creationId xmlns:a16="http://schemas.microsoft.com/office/drawing/2014/main" id="{55E03466-F336-AA27-11AF-5D8294813227}"/>
              </a:ext>
            </a:extLst>
          </p:cNvPr>
          <p:cNvSpPr>
            <a:spLocks noChangeArrowheads="1"/>
          </p:cNvSpPr>
          <p:nvPr/>
        </p:nvSpPr>
        <p:spPr bwMode="auto">
          <a:xfrm>
            <a:off x="304800" y="2911475"/>
            <a:ext cx="2092325" cy="457200"/>
          </a:xfrm>
          <a:prstGeom prst="rect">
            <a:avLst/>
          </a:prstGeom>
          <a:noFill/>
          <a:ln w="9525">
            <a:noFill/>
            <a:miter lim="800000"/>
            <a:headEnd/>
            <a:tailEnd/>
          </a:ln>
          <a:effectLst/>
        </p:spPr>
        <p:txBody>
          <a:bodyPr wrap="none" lIns="92075" tIns="46038" rIns="92075" bIns="46038">
            <a:spAutoFit/>
          </a:bodyPr>
          <a:lstStyle/>
          <a:p>
            <a:pPr>
              <a:buClr>
                <a:srgbClr val="00FFFF"/>
              </a:buClr>
              <a:buFont typeface="Wingdings" pitchFamily="2" charset="2"/>
              <a:buChar char="u"/>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latin typeface="Times New Roman" pitchFamily="18" charset="0"/>
              </a:rPr>
              <a:t>第二类问题</a:t>
            </a:r>
          </a:p>
        </p:txBody>
      </p:sp>
      <p:sp>
        <p:nvSpPr>
          <p:cNvPr id="697351" name="Rectangle 7">
            <a:extLst>
              <a:ext uri="{FF2B5EF4-FFF2-40B4-BE49-F238E27FC236}">
                <a16:creationId xmlns:a16="http://schemas.microsoft.com/office/drawing/2014/main" id="{D8712146-0CEF-B7B4-BB0F-5C6D6FC95275}"/>
              </a:ext>
            </a:extLst>
          </p:cNvPr>
          <p:cNvSpPr>
            <a:spLocks noChangeArrowheads="1"/>
          </p:cNvSpPr>
          <p:nvPr/>
        </p:nvSpPr>
        <p:spPr bwMode="auto">
          <a:xfrm>
            <a:off x="687388" y="3524250"/>
            <a:ext cx="8291512" cy="457200"/>
          </a:xfrm>
          <a:prstGeom prst="rect">
            <a:avLst/>
          </a:prstGeom>
          <a:noFill/>
          <a:ln w="9525">
            <a:noFill/>
            <a:miter lim="800000"/>
            <a:headEnd/>
            <a:tailEnd/>
          </a:ln>
          <a:effectLst/>
        </p:spPr>
        <p:txBody>
          <a:bodyPr lIns="92075" tIns="46038" rIns="92075" bIns="46038">
            <a:spAutoFit/>
          </a:bodyPr>
          <a:lstStyle/>
          <a:p>
            <a:pPr>
              <a:buClr>
                <a:schemeClr val="hlink"/>
              </a:buClr>
              <a:buFont typeface="Monotype Sorts" pitchFamily="2" charset="2"/>
              <a:buNone/>
              <a:defRPr/>
            </a:pPr>
            <a:r>
              <a:rPr lang="zh-CN" altLang="en-US">
                <a:effectLst>
                  <a:outerShdw blurRad="38100" dist="38100" dir="2700000" algn="tl">
                    <a:srgbClr val="000000"/>
                  </a:outerShdw>
                </a:effectLst>
              </a:rPr>
              <a:t>已知</a:t>
            </a:r>
            <a:r>
              <a:rPr lang="zh-CN" altLang="en-US">
                <a:solidFill>
                  <a:srgbClr val="FFCC00"/>
                </a:solidFill>
                <a:effectLst>
                  <a:outerShdw blurRad="38100" dist="38100" dir="2700000" algn="tl">
                    <a:srgbClr val="000000"/>
                  </a:outerShdw>
                </a:effectLst>
                <a:sym typeface="Symbol" pitchFamily="18" charset="2"/>
              </a:rPr>
              <a:t>角速度</a:t>
            </a:r>
            <a:r>
              <a:rPr lang="zh-CN" altLang="en-US">
                <a:effectLst>
                  <a:outerShdw blurRad="38100" dist="38100" dir="2700000" algn="tl">
                    <a:srgbClr val="000000"/>
                  </a:outerShdw>
                </a:effectLst>
                <a:sym typeface="Symbol" pitchFamily="18" charset="2"/>
              </a:rPr>
              <a:t>或</a:t>
            </a:r>
            <a:r>
              <a:rPr lang="zh-CN" altLang="en-US">
                <a:solidFill>
                  <a:srgbClr val="FFCC00"/>
                </a:solidFill>
                <a:effectLst>
                  <a:outerShdw blurRad="38100" dist="38100" dir="2700000" algn="tl">
                    <a:srgbClr val="000000"/>
                  </a:outerShdw>
                </a:effectLst>
                <a:sym typeface="Symbol" pitchFamily="18" charset="2"/>
              </a:rPr>
              <a:t>角加速度</a:t>
            </a:r>
            <a:r>
              <a:rPr lang="zh-CN" altLang="en-US">
                <a:effectLst>
                  <a:outerShdw blurRad="38100" dist="38100" dir="2700000" algn="tl">
                    <a:srgbClr val="000000"/>
                  </a:outerShdw>
                </a:effectLst>
                <a:sym typeface="Symbol" pitchFamily="18" charset="2"/>
              </a:rPr>
              <a:t>及初始条件，求</a:t>
            </a:r>
            <a:r>
              <a:rPr lang="zh-CN" altLang="en-US">
                <a:effectLst>
                  <a:outerShdw blurRad="38100" dist="38100" dir="2700000" algn="tl">
                    <a:srgbClr val="000000"/>
                  </a:outerShdw>
                </a:effectLst>
              </a:rPr>
              <a:t>转动运动方程</a:t>
            </a:r>
            <a:r>
              <a:rPr lang="zh-CN" altLang="en-US" i="1">
                <a:solidFill>
                  <a:srgbClr val="FFCC00"/>
                </a:solidFill>
                <a:effectLst>
                  <a:outerShdw blurRad="38100" dist="38100" dir="2700000" algn="tl">
                    <a:srgbClr val="000000"/>
                  </a:outerShdw>
                </a:effectLst>
                <a:latin typeface="Times New Roman" pitchFamily="18" charset="0"/>
                <a:sym typeface="Symbol" pitchFamily="18" charset="2"/>
              </a:rPr>
              <a:t> </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a:t>
            </a:r>
            <a:r>
              <a:rPr lang="en-US" altLang="zh-CN" i="1">
                <a:solidFill>
                  <a:srgbClr val="FFCC00"/>
                </a:solidFill>
                <a:effectLst>
                  <a:outerShdw blurRad="38100" dist="38100" dir="2700000" algn="tl">
                    <a:srgbClr val="000000"/>
                  </a:outerShdw>
                </a:effectLst>
                <a:latin typeface="Times New Roman" pitchFamily="18" charset="0"/>
                <a:sym typeface="Symbol" pitchFamily="18" charset="2"/>
              </a:rPr>
              <a:t> </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a:t>
            </a:r>
            <a:r>
              <a:rPr lang="en-US" altLang="zh-CN" i="1">
                <a:solidFill>
                  <a:srgbClr val="FFCC00"/>
                </a:solidFill>
                <a:effectLst>
                  <a:outerShdw blurRad="38100" dist="38100" dir="2700000" algn="tl">
                    <a:srgbClr val="000000"/>
                  </a:outerShdw>
                </a:effectLst>
                <a:latin typeface="Times New Roman" pitchFamily="18" charset="0"/>
                <a:sym typeface="Symbol" pitchFamily="18" charset="2"/>
              </a:rPr>
              <a:t>t</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a:t>
            </a:r>
          </a:p>
        </p:txBody>
      </p:sp>
      <p:sp>
        <p:nvSpPr>
          <p:cNvPr id="697352" name="Text Box 8">
            <a:extLst>
              <a:ext uri="{FF2B5EF4-FFF2-40B4-BE49-F238E27FC236}">
                <a16:creationId xmlns:a16="http://schemas.microsoft.com/office/drawing/2014/main" id="{94F3F5C4-157F-BA89-E718-45A813A64820}"/>
              </a:ext>
            </a:extLst>
          </p:cNvPr>
          <p:cNvSpPr txBox="1">
            <a:spLocks noChangeArrowheads="1"/>
          </p:cNvSpPr>
          <p:nvPr/>
        </p:nvSpPr>
        <p:spPr bwMode="auto">
          <a:xfrm>
            <a:off x="2373313" y="2995613"/>
            <a:ext cx="2514600" cy="396875"/>
          </a:xfrm>
          <a:prstGeom prst="rect">
            <a:avLst/>
          </a:prstGeom>
          <a:noFill/>
          <a:ln w="12700">
            <a:noFill/>
            <a:miter lim="800000"/>
            <a:headEnd type="none" w="sm" len="sm"/>
            <a:tailEnd type="none" w="sm" len="sm"/>
          </a:ln>
          <a:effectLst/>
        </p:spPr>
        <p:txBody>
          <a:bodyPr>
            <a:spAutoFit/>
          </a:bodyPr>
          <a:lstStyle/>
          <a:p>
            <a:pPr>
              <a:defRPr/>
            </a:pPr>
            <a:r>
              <a:rPr lang="en-US" altLang="zh-CN" sz="2000">
                <a:effectLst>
                  <a:outerShdw blurRad="38100" dist="38100" dir="2700000" algn="tl">
                    <a:srgbClr val="000000"/>
                  </a:outerShdw>
                </a:effectLst>
                <a:latin typeface="Times New Roman" pitchFamily="18" charset="0"/>
              </a:rPr>
              <a:t>—— </a:t>
            </a:r>
            <a:r>
              <a:rPr lang="zh-CN" altLang="en-US" sz="2000">
                <a:solidFill>
                  <a:srgbClr val="FFCC00"/>
                </a:solidFill>
                <a:effectLst>
                  <a:outerShdw blurRad="38100" dist="38100" dir="2700000" algn="tl">
                    <a:srgbClr val="000000"/>
                  </a:outerShdw>
                </a:effectLst>
              </a:rPr>
              <a:t>积分问题</a:t>
            </a:r>
          </a:p>
        </p:txBody>
      </p:sp>
      <p:sp>
        <p:nvSpPr>
          <p:cNvPr id="697353" name="Text Box 9">
            <a:extLst>
              <a:ext uri="{FF2B5EF4-FFF2-40B4-BE49-F238E27FC236}">
                <a16:creationId xmlns:a16="http://schemas.microsoft.com/office/drawing/2014/main" id="{B22607F1-628E-7785-2371-D7C882DBBD39}"/>
              </a:ext>
            </a:extLst>
          </p:cNvPr>
          <p:cNvSpPr txBox="1">
            <a:spLocks noChangeArrowheads="1"/>
          </p:cNvSpPr>
          <p:nvPr/>
        </p:nvSpPr>
        <p:spPr bwMode="auto">
          <a:xfrm>
            <a:off x="468313" y="5054600"/>
            <a:ext cx="8069262" cy="457200"/>
          </a:xfrm>
          <a:prstGeom prst="rect">
            <a:avLst/>
          </a:prstGeom>
          <a:noFill/>
          <a:ln w="9525">
            <a:noFill/>
            <a:miter lim="800000"/>
            <a:headEnd/>
            <a:tailEnd/>
          </a:ln>
        </p:spPr>
        <p:txBody>
          <a:bodyPr>
            <a:spAutoFit/>
          </a:bodyPr>
          <a:lstStyle/>
          <a:p>
            <a:pPr eaLnBrk="1" hangingPunct="1">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对于刚体绕定轴匀变速转动，</a:t>
            </a:r>
            <a:r>
              <a:rPr lang="zh-CN" altLang="en-US">
                <a:effectLst>
                  <a:outerShdw blurRad="38100" dist="38100" dir="2700000" algn="tl">
                    <a:srgbClr val="000000"/>
                  </a:outerShdw>
                </a:effectLst>
                <a:latin typeface="Times New Roman" pitchFamily="18" charset="0"/>
                <a:sym typeface="Symbol" pitchFamily="18" charset="2"/>
              </a:rPr>
              <a:t>角加速度</a:t>
            </a:r>
            <a:r>
              <a:rPr lang="zh-CN" altLang="en-US" i="1">
                <a:solidFill>
                  <a:srgbClr val="FFCC00"/>
                </a:solidFill>
                <a:effectLst>
                  <a:outerShdw blurRad="38100" dist="38100" dir="2700000" algn="tl">
                    <a:srgbClr val="000000"/>
                  </a:outerShdw>
                </a:effectLst>
                <a:latin typeface="Times New Roman" pitchFamily="18" charset="0"/>
                <a:sym typeface="Symbol" pitchFamily="18" charset="2"/>
              </a:rPr>
              <a:t></a:t>
            </a:r>
            <a:r>
              <a:rPr lang="zh-CN" altLang="en-US">
                <a:solidFill>
                  <a:srgbClr val="FFCC00"/>
                </a:solidFill>
                <a:effectLst>
                  <a:outerShdw blurRad="38100" dist="38100" dir="2700000" algn="tl">
                    <a:srgbClr val="000000"/>
                  </a:outerShdw>
                </a:effectLst>
                <a:latin typeface="Times New Roman" pitchFamily="18" charset="0"/>
                <a:sym typeface="Symbol" pitchFamily="18" charset="2"/>
              </a:rPr>
              <a:t> </a:t>
            </a:r>
            <a:r>
              <a:rPr lang="en-US" altLang="zh-CN">
                <a:solidFill>
                  <a:srgbClr val="FFCC00"/>
                </a:solidFill>
                <a:effectLst>
                  <a:outerShdw blurRad="38100" dist="38100" dir="2700000" algn="tl">
                    <a:srgbClr val="000000"/>
                  </a:outerShdw>
                </a:effectLst>
                <a:latin typeface="Times New Roman" pitchFamily="18" charset="0"/>
                <a:sym typeface="Symbol" pitchFamily="18" charset="2"/>
              </a:rPr>
              <a:t>=</a:t>
            </a:r>
            <a:r>
              <a:rPr lang="en-US" altLang="zh-CN">
                <a:effectLst>
                  <a:outerShdw blurRad="38100" dist="38100" dir="2700000" algn="tl">
                    <a:srgbClr val="000000"/>
                  </a:outerShdw>
                </a:effectLst>
                <a:latin typeface="Times New Roman" pitchFamily="18" charset="0"/>
                <a:sym typeface="Symbol" pitchFamily="18" charset="2"/>
              </a:rPr>
              <a:t> </a:t>
            </a:r>
            <a:r>
              <a:rPr lang="zh-CN" altLang="en-US">
                <a:solidFill>
                  <a:srgbClr val="FFCC00"/>
                </a:solidFill>
                <a:effectLst>
                  <a:outerShdw blurRad="38100" dist="38100" dir="2700000" algn="tl">
                    <a:srgbClr val="000000"/>
                  </a:outerShdw>
                </a:effectLst>
                <a:latin typeface="Times New Roman" pitchFamily="18" charset="0"/>
                <a:sym typeface="Symbol" pitchFamily="18" charset="2"/>
              </a:rPr>
              <a:t>常量</a:t>
            </a:r>
            <a:r>
              <a:rPr kumimoji="1" lang="zh-CN" altLang="en-US">
                <a:effectLst>
                  <a:outerShdw blurRad="38100" dist="38100" dir="2700000" algn="tl">
                    <a:srgbClr val="000000"/>
                  </a:outerShdw>
                </a:effectLst>
                <a:latin typeface="Times New Roman" pitchFamily="18" charset="0"/>
                <a:sym typeface="Symbol" pitchFamily="18" charset="2"/>
              </a:rPr>
              <a:t>，有</a:t>
            </a:r>
            <a:endParaRPr kumimoji="1" lang="zh-CN" altLang="en-US">
              <a:effectLst>
                <a:outerShdw blurRad="38100" dist="38100" dir="2700000" algn="tl">
                  <a:srgbClr val="000000"/>
                </a:outerShdw>
              </a:effectLst>
              <a:latin typeface="Times New Roman" pitchFamily="18" charset="0"/>
            </a:endParaRPr>
          </a:p>
        </p:txBody>
      </p:sp>
      <p:graphicFrame>
        <p:nvGraphicFramePr>
          <p:cNvPr id="697354" name="Object 2">
            <a:extLst>
              <a:ext uri="{FF2B5EF4-FFF2-40B4-BE49-F238E27FC236}">
                <a16:creationId xmlns:a16="http://schemas.microsoft.com/office/drawing/2014/main" id="{E7D89DB3-FABB-D57A-A0CA-9C0427E6E17A}"/>
              </a:ext>
            </a:extLst>
          </p:cNvPr>
          <p:cNvGraphicFramePr>
            <a:graphicFrameLocks noChangeAspect="1"/>
          </p:cNvGraphicFramePr>
          <p:nvPr/>
        </p:nvGraphicFramePr>
        <p:xfrm>
          <a:off x="2647950" y="2005013"/>
          <a:ext cx="927100" cy="723900"/>
        </p:xfrm>
        <a:graphic>
          <a:graphicData uri="http://schemas.openxmlformats.org/presentationml/2006/ole">
            <mc:AlternateContent xmlns:mc="http://schemas.openxmlformats.org/markup-compatibility/2006">
              <mc:Choice xmlns:v="urn:schemas-microsoft-com:vml" Requires="v">
                <p:oleObj name="公式" r:id="rId2" imgW="922113" imgH="716225" progId="Equation.3">
                  <p:embed/>
                </p:oleObj>
              </mc:Choice>
              <mc:Fallback>
                <p:oleObj name="公式" r:id="rId2" imgW="922113" imgH="716225"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950" y="2005013"/>
                        <a:ext cx="927100" cy="723900"/>
                      </a:xfrm>
                      <a:prstGeom prst="rect">
                        <a:avLst/>
                      </a:prstGeom>
                      <a:noFill/>
                      <a:ln>
                        <a:noFill/>
                      </a:ln>
                      <a:effectLst/>
                      <a:extLst>
                        <a:ext uri="{909E8E84-426E-40DD-AFC4-6F175D3DCCD1}">
                          <a14:hiddenFill xmlns:a14="http://schemas.microsoft.com/office/drawing/2010/main">
                            <a:solidFill>
                              <a:srgbClr val="00FFFF">
                                <a:alpha val="2196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7355" name="Object 3">
            <a:extLst>
              <a:ext uri="{FF2B5EF4-FFF2-40B4-BE49-F238E27FC236}">
                <a16:creationId xmlns:a16="http://schemas.microsoft.com/office/drawing/2014/main" id="{4DD0ED62-D721-3863-7834-AF3D5BB1CB48}"/>
              </a:ext>
            </a:extLst>
          </p:cNvPr>
          <p:cNvGraphicFramePr>
            <a:graphicFrameLocks noChangeAspect="1"/>
          </p:cNvGraphicFramePr>
          <p:nvPr/>
        </p:nvGraphicFramePr>
        <p:xfrm>
          <a:off x="4775200" y="2011363"/>
          <a:ext cx="1727200" cy="762000"/>
        </p:xfrm>
        <a:graphic>
          <a:graphicData uri="http://schemas.openxmlformats.org/presentationml/2006/ole">
            <mc:AlternateContent xmlns:mc="http://schemas.openxmlformats.org/markup-compatibility/2006">
              <mc:Choice xmlns:v="urn:schemas-microsoft-com:vml" Requires="v">
                <p:oleObj name="公式" r:id="rId4" imgW="1722307" imgH="754629" progId="Equation.3">
                  <p:embed/>
                </p:oleObj>
              </mc:Choice>
              <mc:Fallback>
                <p:oleObj name="公式" r:id="rId4" imgW="1722307" imgH="75462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5200" y="2011363"/>
                        <a:ext cx="1727200" cy="7620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7356" name="Object 4">
            <a:extLst>
              <a:ext uri="{FF2B5EF4-FFF2-40B4-BE49-F238E27FC236}">
                <a16:creationId xmlns:a16="http://schemas.microsoft.com/office/drawing/2014/main" id="{DB0A902F-1A58-1E5B-8CDB-1094009DF664}"/>
              </a:ext>
            </a:extLst>
          </p:cNvPr>
          <p:cNvGraphicFramePr>
            <a:graphicFrameLocks noChangeAspect="1"/>
          </p:cNvGraphicFramePr>
          <p:nvPr/>
        </p:nvGraphicFramePr>
        <p:xfrm>
          <a:off x="5391150" y="4213225"/>
          <a:ext cx="1739900" cy="596900"/>
        </p:xfrm>
        <a:graphic>
          <a:graphicData uri="http://schemas.openxmlformats.org/presentationml/2006/ole">
            <mc:AlternateContent xmlns:mc="http://schemas.openxmlformats.org/markup-compatibility/2006">
              <mc:Choice xmlns:v="urn:schemas-microsoft-com:vml" Requires="v">
                <p:oleObj name="公式" r:id="rId6" imgW="1729771" imgH="586546" progId="Equation.3">
                  <p:embed/>
                </p:oleObj>
              </mc:Choice>
              <mc:Fallback>
                <p:oleObj name="公式" r:id="rId6" imgW="1729771" imgH="586546"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1150" y="4213225"/>
                        <a:ext cx="1739900" cy="596900"/>
                      </a:xfrm>
                      <a:prstGeom prst="rect">
                        <a:avLst/>
                      </a:prstGeom>
                      <a:noFill/>
                      <a:ln>
                        <a:noFill/>
                      </a:ln>
                      <a:effectLst/>
                      <a:extLst>
                        <a:ext uri="{909E8E84-426E-40DD-AFC4-6F175D3DCCD1}">
                          <a14:hiddenFill xmlns:a14="http://schemas.microsoft.com/office/drawing/2010/main">
                            <a:solidFill>
                              <a:srgbClr val="00CCFF">
                                <a:alpha val="25882"/>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7357" name="Object 5">
            <a:extLst>
              <a:ext uri="{FF2B5EF4-FFF2-40B4-BE49-F238E27FC236}">
                <a16:creationId xmlns:a16="http://schemas.microsoft.com/office/drawing/2014/main" id="{7D6FEC06-AD4A-74B8-04B6-5250112B5E24}"/>
              </a:ext>
            </a:extLst>
          </p:cNvPr>
          <p:cNvGraphicFramePr>
            <a:graphicFrameLocks noChangeAspect="1"/>
          </p:cNvGraphicFramePr>
          <p:nvPr/>
        </p:nvGraphicFramePr>
        <p:xfrm>
          <a:off x="1962150" y="4200525"/>
          <a:ext cx="1816100" cy="596900"/>
        </p:xfrm>
        <a:graphic>
          <a:graphicData uri="http://schemas.openxmlformats.org/presentationml/2006/ole">
            <mc:AlternateContent xmlns:mc="http://schemas.openxmlformats.org/markup-compatibility/2006">
              <mc:Choice xmlns:v="urn:schemas-microsoft-com:vml" Requires="v">
                <p:oleObj name="公式" r:id="rId8" imgW="1805909" imgH="586546" progId="Equation.3">
                  <p:embed/>
                </p:oleObj>
              </mc:Choice>
              <mc:Fallback>
                <p:oleObj name="公式" r:id="rId8" imgW="1805909" imgH="586546"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2150" y="4200525"/>
                        <a:ext cx="1816100" cy="5969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7358" name="Object 6">
            <a:extLst>
              <a:ext uri="{FF2B5EF4-FFF2-40B4-BE49-F238E27FC236}">
                <a16:creationId xmlns:a16="http://schemas.microsoft.com/office/drawing/2014/main" id="{112938FA-5342-B52A-0D54-C912C633056D}"/>
              </a:ext>
            </a:extLst>
          </p:cNvPr>
          <p:cNvGraphicFramePr>
            <a:graphicFrameLocks noChangeAspect="1"/>
          </p:cNvGraphicFramePr>
          <p:nvPr/>
        </p:nvGraphicFramePr>
        <p:xfrm>
          <a:off x="1173163" y="5848350"/>
          <a:ext cx="1279525" cy="342900"/>
        </p:xfrm>
        <a:graphic>
          <a:graphicData uri="http://schemas.openxmlformats.org/presentationml/2006/ole">
            <mc:AlternateContent xmlns:mc="http://schemas.openxmlformats.org/markup-compatibility/2006">
              <mc:Choice xmlns:v="urn:schemas-microsoft-com:vml" Requires="v">
                <p:oleObj name="公式" r:id="rId10" imgW="1417258" imgH="373574" progId="Equation.3">
                  <p:embed/>
                </p:oleObj>
              </mc:Choice>
              <mc:Fallback>
                <p:oleObj name="公式" r:id="rId10" imgW="1417258" imgH="373574"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73163" y="5848350"/>
                        <a:ext cx="1279525" cy="3429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7359" name="Object 7">
            <a:extLst>
              <a:ext uri="{FF2B5EF4-FFF2-40B4-BE49-F238E27FC236}">
                <a16:creationId xmlns:a16="http://schemas.microsoft.com/office/drawing/2014/main" id="{AC330A6F-69F8-1E79-8902-59C9BD94CDCF}"/>
              </a:ext>
            </a:extLst>
          </p:cNvPr>
          <p:cNvGraphicFramePr>
            <a:graphicFrameLocks noChangeAspect="1"/>
          </p:cNvGraphicFramePr>
          <p:nvPr/>
        </p:nvGraphicFramePr>
        <p:xfrm>
          <a:off x="3186113" y="5692775"/>
          <a:ext cx="2090737" cy="650875"/>
        </p:xfrm>
        <a:graphic>
          <a:graphicData uri="http://schemas.openxmlformats.org/presentationml/2006/ole">
            <mc:AlternateContent xmlns:mc="http://schemas.openxmlformats.org/markup-compatibility/2006">
              <mc:Choice xmlns:v="urn:schemas-microsoft-com:vml" Requires="v">
                <p:oleObj name="公式" r:id="rId12" imgW="2316480" imgH="716225" progId="Equation.3">
                  <p:embed/>
                </p:oleObj>
              </mc:Choice>
              <mc:Fallback>
                <p:oleObj name="公式" r:id="rId12" imgW="2316480" imgH="716225"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6113" y="5692775"/>
                        <a:ext cx="2090737" cy="650875"/>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7360" name="Object 8">
            <a:extLst>
              <a:ext uri="{FF2B5EF4-FFF2-40B4-BE49-F238E27FC236}">
                <a16:creationId xmlns:a16="http://schemas.microsoft.com/office/drawing/2014/main" id="{6752E1B0-166E-3ECD-3A66-E9CC1736E11F}"/>
              </a:ext>
            </a:extLst>
          </p:cNvPr>
          <p:cNvGraphicFramePr>
            <a:graphicFrameLocks noChangeAspect="1"/>
          </p:cNvGraphicFramePr>
          <p:nvPr/>
        </p:nvGraphicFramePr>
        <p:xfrm>
          <a:off x="6048375" y="5775325"/>
          <a:ext cx="2387600" cy="400050"/>
        </p:xfrm>
        <a:graphic>
          <a:graphicData uri="http://schemas.openxmlformats.org/presentationml/2006/ole">
            <mc:AlternateContent xmlns:mc="http://schemas.openxmlformats.org/markup-compatibility/2006">
              <mc:Choice xmlns:v="urn:schemas-microsoft-com:vml" Requires="v">
                <p:oleObj name="公式" r:id="rId14" imgW="2643922" imgH="434423" progId="Equation.3">
                  <p:embed/>
                </p:oleObj>
              </mc:Choice>
              <mc:Fallback>
                <p:oleObj name="公式" r:id="rId14" imgW="2643922" imgH="434423"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48375" y="5775325"/>
                        <a:ext cx="2387600" cy="400050"/>
                      </a:xfrm>
                      <a:prstGeom prst="rect">
                        <a:avLst/>
                      </a:prstGeom>
                      <a:noFill/>
                      <a:ln>
                        <a:noFill/>
                      </a:ln>
                      <a:effectLst/>
                      <a:extLst>
                        <a:ext uri="{909E8E84-426E-40DD-AFC4-6F175D3DCCD1}">
                          <a14:hiddenFill xmlns:a14="http://schemas.microsoft.com/office/drawing/2010/main">
                            <a:solidFill>
                              <a:srgbClr val="00FFFF">
                                <a:alpha val="20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7346"/>
                                        </p:tgtEl>
                                        <p:attrNameLst>
                                          <p:attrName>style.visibility</p:attrName>
                                        </p:attrNameLst>
                                      </p:cBhvr>
                                      <p:to>
                                        <p:strVal val="visible"/>
                                      </p:to>
                                    </p:set>
                                    <p:animEffect transition="in" filter="wipe(left)">
                                      <p:cBhvr>
                                        <p:cTn id="7" dur="500"/>
                                        <p:tgtEl>
                                          <p:spTgt spid="69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7347"/>
                                        </p:tgtEl>
                                        <p:attrNameLst>
                                          <p:attrName>style.visibility</p:attrName>
                                        </p:attrNameLst>
                                      </p:cBhvr>
                                      <p:to>
                                        <p:strVal val="visible"/>
                                      </p:to>
                                    </p:set>
                                    <p:animEffect transition="in" filter="wipe(left)">
                                      <p:cBhvr>
                                        <p:cTn id="12" dur="500"/>
                                        <p:tgtEl>
                                          <p:spTgt spid="6973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97348"/>
                                        </p:tgtEl>
                                        <p:attrNameLst>
                                          <p:attrName>style.visibility</p:attrName>
                                        </p:attrNameLst>
                                      </p:cBhvr>
                                      <p:to>
                                        <p:strVal val="visible"/>
                                      </p:to>
                                    </p:set>
                                    <p:animEffect transition="in" filter="wipe(left)">
                                      <p:cBhvr>
                                        <p:cTn id="17" dur="500"/>
                                        <p:tgtEl>
                                          <p:spTgt spid="6973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97354"/>
                                        </p:tgtEl>
                                        <p:attrNameLst>
                                          <p:attrName>style.visibility</p:attrName>
                                        </p:attrNameLst>
                                      </p:cBhvr>
                                      <p:to>
                                        <p:strVal val="visible"/>
                                      </p:to>
                                    </p:set>
                                    <p:animEffect transition="in" filter="wipe(left)">
                                      <p:cBhvr>
                                        <p:cTn id="22" dur="500"/>
                                        <p:tgtEl>
                                          <p:spTgt spid="6973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97355"/>
                                        </p:tgtEl>
                                        <p:attrNameLst>
                                          <p:attrName>style.visibility</p:attrName>
                                        </p:attrNameLst>
                                      </p:cBhvr>
                                      <p:to>
                                        <p:strVal val="visible"/>
                                      </p:to>
                                    </p:set>
                                    <p:animEffect transition="in" filter="wipe(left)">
                                      <p:cBhvr>
                                        <p:cTn id="27" dur="500"/>
                                        <p:tgtEl>
                                          <p:spTgt spid="6973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97349"/>
                                        </p:tgtEl>
                                        <p:attrNameLst>
                                          <p:attrName>style.visibility</p:attrName>
                                        </p:attrNameLst>
                                      </p:cBhvr>
                                      <p:to>
                                        <p:strVal val="visible"/>
                                      </p:to>
                                    </p:set>
                                    <p:animEffect transition="in" filter="wipe(left)">
                                      <p:cBhvr>
                                        <p:cTn id="32" dur="500"/>
                                        <p:tgtEl>
                                          <p:spTgt spid="6973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97350"/>
                                        </p:tgtEl>
                                        <p:attrNameLst>
                                          <p:attrName>style.visibility</p:attrName>
                                        </p:attrNameLst>
                                      </p:cBhvr>
                                      <p:to>
                                        <p:strVal val="visible"/>
                                      </p:to>
                                    </p:set>
                                    <p:animEffect transition="in" filter="wipe(left)">
                                      <p:cBhvr>
                                        <p:cTn id="37" dur="500"/>
                                        <p:tgtEl>
                                          <p:spTgt spid="6973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97351"/>
                                        </p:tgtEl>
                                        <p:attrNameLst>
                                          <p:attrName>style.visibility</p:attrName>
                                        </p:attrNameLst>
                                      </p:cBhvr>
                                      <p:to>
                                        <p:strVal val="visible"/>
                                      </p:to>
                                    </p:set>
                                    <p:animEffect transition="in" filter="wipe(left)">
                                      <p:cBhvr>
                                        <p:cTn id="42" dur="500"/>
                                        <p:tgtEl>
                                          <p:spTgt spid="6973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97357"/>
                                        </p:tgtEl>
                                        <p:attrNameLst>
                                          <p:attrName>style.visibility</p:attrName>
                                        </p:attrNameLst>
                                      </p:cBhvr>
                                      <p:to>
                                        <p:strVal val="visible"/>
                                      </p:to>
                                    </p:set>
                                    <p:animEffect transition="in" filter="wipe(left)">
                                      <p:cBhvr>
                                        <p:cTn id="47" dur="500"/>
                                        <p:tgtEl>
                                          <p:spTgt spid="6973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97356"/>
                                        </p:tgtEl>
                                        <p:attrNameLst>
                                          <p:attrName>style.visibility</p:attrName>
                                        </p:attrNameLst>
                                      </p:cBhvr>
                                      <p:to>
                                        <p:strVal val="visible"/>
                                      </p:to>
                                    </p:set>
                                    <p:animEffect transition="in" filter="wipe(left)">
                                      <p:cBhvr>
                                        <p:cTn id="52" dur="500"/>
                                        <p:tgtEl>
                                          <p:spTgt spid="6973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97352"/>
                                        </p:tgtEl>
                                        <p:attrNameLst>
                                          <p:attrName>style.visibility</p:attrName>
                                        </p:attrNameLst>
                                      </p:cBhvr>
                                      <p:to>
                                        <p:strVal val="visible"/>
                                      </p:to>
                                    </p:set>
                                    <p:animEffect transition="in" filter="wipe(left)">
                                      <p:cBhvr>
                                        <p:cTn id="57" dur="500"/>
                                        <p:tgtEl>
                                          <p:spTgt spid="69735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97353"/>
                                        </p:tgtEl>
                                        <p:attrNameLst>
                                          <p:attrName>style.visibility</p:attrName>
                                        </p:attrNameLst>
                                      </p:cBhvr>
                                      <p:to>
                                        <p:strVal val="visible"/>
                                      </p:to>
                                    </p:set>
                                    <p:animEffect transition="in" filter="wipe(left)">
                                      <p:cBhvr>
                                        <p:cTn id="62" dur="500"/>
                                        <p:tgtEl>
                                          <p:spTgt spid="69735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97358"/>
                                        </p:tgtEl>
                                        <p:attrNameLst>
                                          <p:attrName>style.visibility</p:attrName>
                                        </p:attrNameLst>
                                      </p:cBhvr>
                                      <p:to>
                                        <p:strVal val="visible"/>
                                      </p:to>
                                    </p:set>
                                    <p:animEffect transition="in" filter="wipe(left)">
                                      <p:cBhvr>
                                        <p:cTn id="67" dur="500"/>
                                        <p:tgtEl>
                                          <p:spTgt spid="69735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97359"/>
                                        </p:tgtEl>
                                        <p:attrNameLst>
                                          <p:attrName>style.visibility</p:attrName>
                                        </p:attrNameLst>
                                      </p:cBhvr>
                                      <p:to>
                                        <p:strVal val="visible"/>
                                      </p:to>
                                    </p:set>
                                    <p:animEffect transition="in" filter="wipe(left)">
                                      <p:cBhvr>
                                        <p:cTn id="72" dur="500"/>
                                        <p:tgtEl>
                                          <p:spTgt spid="69735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97360"/>
                                        </p:tgtEl>
                                        <p:attrNameLst>
                                          <p:attrName>style.visibility</p:attrName>
                                        </p:attrNameLst>
                                      </p:cBhvr>
                                      <p:to>
                                        <p:strVal val="visible"/>
                                      </p:to>
                                    </p:set>
                                    <p:animEffect transition="in" filter="wipe(left)">
                                      <p:cBhvr>
                                        <p:cTn id="77" dur="500"/>
                                        <p:tgtEl>
                                          <p:spTgt spid="697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6" grpId="0" autoUpdateAnimBg="0"/>
      <p:bldP spid="697347" grpId="0" autoUpdateAnimBg="0"/>
      <p:bldP spid="697348" grpId="0"/>
      <p:bldP spid="697349" grpId="0" autoUpdateAnimBg="0"/>
      <p:bldP spid="697350" grpId="0" autoUpdateAnimBg="0"/>
      <p:bldP spid="697351" grpId="0"/>
      <p:bldP spid="697352" grpId="0" autoUpdateAnimBg="0"/>
      <p:bldP spid="69735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Text Box 2">
            <a:extLst>
              <a:ext uri="{FF2B5EF4-FFF2-40B4-BE49-F238E27FC236}">
                <a16:creationId xmlns:a16="http://schemas.microsoft.com/office/drawing/2014/main" id="{5172B4FF-97E9-E90A-6ADD-3AC61F5C8E36}"/>
              </a:ext>
            </a:extLst>
          </p:cNvPr>
          <p:cNvSpPr txBox="1">
            <a:spLocks noChangeArrowheads="1"/>
          </p:cNvSpPr>
          <p:nvPr/>
        </p:nvSpPr>
        <p:spPr bwMode="auto">
          <a:xfrm>
            <a:off x="1366838" y="1595438"/>
            <a:ext cx="6410325" cy="854075"/>
          </a:xfrm>
          <a:prstGeom prst="rect">
            <a:avLst/>
          </a:prstGeom>
          <a:noFill/>
          <a:ln w="9525">
            <a:noFill/>
            <a:miter lim="800000"/>
            <a:headEnd/>
            <a:tailEnd/>
          </a:ln>
          <a:effectLst/>
        </p:spPr>
        <p:txBody>
          <a:bodyPr>
            <a:spAutoFit/>
          </a:bodyPr>
          <a:lstStyle/>
          <a:p>
            <a:pPr algn="ctr" eaLnBrk="1" hangingPunct="1">
              <a:spcBef>
                <a:spcPct val="50000"/>
              </a:spcBef>
              <a:defRPr/>
            </a:pPr>
            <a:r>
              <a:rPr kumimoji="1" lang="zh-CN" altLang="en-US" sz="5000" dirty="0">
                <a:solidFill>
                  <a:srgbClr val="FF3300"/>
                </a:solidFill>
                <a:effectLst>
                  <a:outerShdw blurRad="38100" dist="38100" dir="2700000" algn="tl">
                    <a:srgbClr val="000000"/>
                  </a:outerShdw>
                </a:effectLst>
                <a:latin typeface="隶书" pitchFamily="49" charset="-122"/>
                <a:ea typeface="隶书" pitchFamily="49" charset="-122"/>
              </a:rPr>
              <a:t>第</a:t>
            </a:r>
            <a:r>
              <a:rPr kumimoji="1" lang="en-US" altLang="zh-CN" sz="5000" dirty="0">
                <a:solidFill>
                  <a:srgbClr val="FF3300"/>
                </a:solidFill>
                <a:effectLst>
                  <a:outerShdw blurRad="38100" dist="38100" dir="2700000" algn="tl">
                    <a:srgbClr val="000000"/>
                  </a:outerShdw>
                </a:effectLst>
                <a:latin typeface="隶书" pitchFamily="49" charset="-122"/>
                <a:ea typeface="隶书" pitchFamily="49" charset="-122"/>
              </a:rPr>
              <a:t>6</a:t>
            </a:r>
            <a:r>
              <a:rPr kumimoji="1" lang="zh-CN" altLang="en-US" sz="5000" dirty="0">
                <a:solidFill>
                  <a:srgbClr val="FF3300"/>
                </a:solidFill>
                <a:effectLst>
                  <a:outerShdw blurRad="38100" dist="38100" dir="2700000" algn="tl">
                    <a:srgbClr val="000000"/>
                  </a:outerShdw>
                </a:effectLst>
                <a:latin typeface="隶书" pitchFamily="49" charset="-122"/>
                <a:ea typeface="隶书" pitchFamily="49" charset="-122"/>
              </a:rPr>
              <a:t>章 刚体动力学</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a:extLst>
              <a:ext uri="{FF2B5EF4-FFF2-40B4-BE49-F238E27FC236}">
                <a16:creationId xmlns:a16="http://schemas.microsoft.com/office/drawing/2014/main" id="{A82F08AD-E00A-783B-ECD5-76C5E4E0044F}"/>
              </a:ext>
            </a:extLst>
          </p:cNvPr>
          <p:cNvSpPr>
            <a:spLocks noChangeArrowheads="1"/>
          </p:cNvSpPr>
          <p:nvPr/>
        </p:nvSpPr>
        <p:spPr bwMode="auto">
          <a:xfrm>
            <a:off x="1679575" y="265113"/>
            <a:ext cx="5895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en-US" altLang="zh-CN" sz="2800">
                <a:solidFill>
                  <a:srgbClr val="66FF33"/>
                </a:solidFill>
                <a:latin typeface="Times New Roman" panose="02020603050405020304" pitchFamily="18" charset="0"/>
                <a:ea typeface="黑体" panose="02010609060101010101" pitchFamily="49" charset="-122"/>
              </a:rPr>
              <a:t>§6.1 </a:t>
            </a:r>
            <a:r>
              <a:rPr lang="zh-CN" altLang="en-US" sz="2800">
                <a:solidFill>
                  <a:srgbClr val="66FF33"/>
                </a:solidFill>
                <a:latin typeface="Times New Roman" panose="02020603050405020304" pitchFamily="18" charset="0"/>
                <a:ea typeface="黑体" panose="02010609060101010101" pitchFamily="49" charset="-122"/>
              </a:rPr>
              <a:t>力矩  刚体绕定轴转动微分方程</a:t>
            </a:r>
          </a:p>
        </p:txBody>
      </p:sp>
      <p:sp>
        <p:nvSpPr>
          <p:cNvPr id="672771" name="Text Box 3">
            <a:extLst>
              <a:ext uri="{FF2B5EF4-FFF2-40B4-BE49-F238E27FC236}">
                <a16:creationId xmlns:a16="http://schemas.microsoft.com/office/drawing/2014/main" id="{83BD4098-F9DA-CC71-B872-793E71CC691D}"/>
              </a:ext>
            </a:extLst>
          </p:cNvPr>
          <p:cNvSpPr txBox="1">
            <a:spLocks noChangeArrowheads="1"/>
          </p:cNvSpPr>
          <p:nvPr/>
        </p:nvSpPr>
        <p:spPr bwMode="auto">
          <a:xfrm>
            <a:off x="142875" y="455613"/>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一</a:t>
            </a:r>
            <a:r>
              <a:rPr lang="en-US" altLang="zh-CN">
                <a:solidFill>
                  <a:srgbClr val="FFFF00"/>
                </a:solidFill>
                <a:latin typeface="Times New Roman" panose="02020603050405020304" pitchFamily="18" charset="0"/>
                <a:ea typeface="宋体" panose="02010600030101010101" pitchFamily="2" charset="-122"/>
              </a:rPr>
              <a:t>. </a:t>
            </a:r>
            <a:r>
              <a:rPr lang="zh-CN" altLang="en-US">
                <a:solidFill>
                  <a:srgbClr val="FFFF00"/>
                </a:solidFill>
                <a:latin typeface="Times New Roman" panose="02020603050405020304" pitchFamily="18" charset="0"/>
                <a:ea typeface="宋体" panose="02010600030101010101" pitchFamily="2" charset="-122"/>
              </a:rPr>
              <a:t>力矩</a:t>
            </a:r>
          </a:p>
        </p:txBody>
      </p:sp>
      <p:sp>
        <p:nvSpPr>
          <p:cNvPr id="672772" name="Text Box 4">
            <a:extLst>
              <a:ext uri="{FF2B5EF4-FFF2-40B4-BE49-F238E27FC236}">
                <a16:creationId xmlns:a16="http://schemas.microsoft.com/office/drawing/2014/main" id="{4C2FEE82-78AE-B39C-2DDA-35072EE72690}"/>
              </a:ext>
            </a:extLst>
          </p:cNvPr>
          <p:cNvSpPr txBox="1">
            <a:spLocks noChangeArrowheads="1"/>
          </p:cNvSpPr>
          <p:nvPr/>
        </p:nvSpPr>
        <p:spPr bwMode="auto">
          <a:xfrm>
            <a:off x="1133475" y="88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力</a:t>
            </a:r>
          </a:p>
        </p:txBody>
      </p:sp>
      <p:sp>
        <p:nvSpPr>
          <p:cNvPr id="672773" name="Text Box 5">
            <a:extLst>
              <a:ext uri="{FF2B5EF4-FFF2-40B4-BE49-F238E27FC236}">
                <a16:creationId xmlns:a16="http://schemas.microsoft.com/office/drawing/2014/main" id="{99973DB5-60E6-215B-CF97-5BF7AD348646}"/>
              </a:ext>
            </a:extLst>
          </p:cNvPr>
          <p:cNvSpPr txBox="1">
            <a:spLocks noChangeArrowheads="1"/>
          </p:cNvSpPr>
          <p:nvPr/>
        </p:nvSpPr>
        <p:spPr bwMode="auto">
          <a:xfrm>
            <a:off x="2179638" y="1452563"/>
            <a:ext cx="3017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FF"/>
                </a:solidFill>
                <a:latin typeface="Times New Roman" panose="02020603050405020304" pitchFamily="18" charset="0"/>
                <a:ea typeface="宋体" panose="02010600030101010101" pitchFamily="2" charset="-122"/>
              </a:rPr>
              <a:t>改变刚体的转动状态</a:t>
            </a:r>
            <a:r>
              <a:rPr lang="zh-CN" altLang="en-US">
                <a:solidFill>
                  <a:schemeClr val="hlink"/>
                </a:solidFill>
                <a:latin typeface="Times New Roman" panose="02020603050405020304" pitchFamily="18" charset="0"/>
                <a:ea typeface="宋体" panose="02010600030101010101" pitchFamily="2" charset="-122"/>
              </a:rPr>
              <a:t> </a:t>
            </a:r>
          </a:p>
        </p:txBody>
      </p:sp>
      <p:sp>
        <p:nvSpPr>
          <p:cNvPr id="672774" name="Text Box 6">
            <a:extLst>
              <a:ext uri="{FF2B5EF4-FFF2-40B4-BE49-F238E27FC236}">
                <a16:creationId xmlns:a16="http://schemas.microsoft.com/office/drawing/2014/main" id="{B3CD9DA6-DB42-3B9A-D1D0-8B1394FDD034}"/>
              </a:ext>
            </a:extLst>
          </p:cNvPr>
          <p:cNvSpPr txBox="1">
            <a:spLocks noChangeArrowheads="1"/>
          </p:cNvSpPr>
          <p:nvPr/>
        </p:nvSpPr>
        <p:spPr bwMode="auto">
          <a:xfrm>
            <a:off x="5672138" y="1406525"/>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刚体获得角加速度</a:t>
            </a:r>
          </a:p>
        </p:txBody>
      </p:sp>
      <p:sp>
        <p:nvSpPr>
          <p:cNvPr id="672775" name="Text Box 7">
            <a:extLst>
              <a:ext uri="{FF2B5EF4-FFF2-40B4-BE49-F238E27FC236}">
                <a16:creationId xmlns:a16="http://schemas.microsoft.com/office/drawing/2014/main" id="{42FEEC55-651F-C6E8-18AE-355BD0A4F85E}"/>
              </a:ext>
            </a:extLst>
          </p:cNvPr>
          <p:cNvSpPr txBox="1">
            <a:spLocks noChangeArrowheads="1"/>
          </p:cNvSpPr>
          <p:nvPr/>
        </p:nvSpPr>
        <p:spPr bwMode="auto">
          <a:xfrm>
            <a:off x="430213" y="1984375"/>
            <a:ext cx="5259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力 </a:t>
            </a:r>
            <a:r>
              <a:rPr lang="en-US" altLang="zh-CN" i="1">
                <a:solidFill>
                  <a:srgbClr val="66FFFF"/>
                </a:solidFill>
                <a:latin typeface="Times New Roman" panose="02020603050405020304" pitchFamily="18" charset="0"/>
                <a:ea typeface="宋体" panose="02010600030101010101" pitchFamily="2" charset="-122"/>
              </a:rPr>
              <a:t>F</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对</a:t>
            </a:r>
            <a:r>
              <a:rPr lang="en-US" altLang="zh-CN" i="1">
                <a:solidFill>
                  <a:srgbClr val="66FFFF"/>
                </a:solidFill>
                <a:latin typeface="Times New Roman" panose="02020603050405020304" pitchFamily="18" charset="0"/>
                <a:ea typeface="宋体" panose="02010600030101010101" pitchFamily="2" charset="-122"/>
              </a:rPr>
              <a:t>z</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轴的力矩</a:t>
            </a:r>
            <a:r>
              <a:rPr lang="en-US" altLang="zh-CN" sz="1800">
                <a:solidFill>
                  <a:srgbClr val="FF3300"/>
                </a:solidFill>
                <a:latin typeface="楷体_GB2312" pitchFamily="49" charset="-122"/>
                <a:ea typeface="楷体_GB2312" pitchFamily="49" charset="-122"/>
              </a:rPr>
              <a:t>(</a:t>
            </a:r>
            <a:r>
              <a:rPr lang="zh-CN" altLang="en-US" sz="1800">
                <a:solidFill>
                  <a:srgbClr val="FF3300"/>
                </a:solidFill>
                <a:latin typeface="楷体_GB2312" pitchFamily="49" charset="-122"/>
                <a:ea typeface="楷体_GB2312" pitchFamily="49" charset="-122"/>
              </a:rPr>
              <a:t>力在垂直于轴的平面内</a:t>
            </a:r>
            <a:r>
              <a:rPr lang="en-US" altLang="zh-CN" sz="1800">
                <a:solidFill>
                  <a:srgbClr val="FF3300"/>
                </a:solidFill>
                <a:latin typeface="楷体_GB2312" pitchFamily="49" charset="-122"/>
                <a:ea typeface="楷体_GB2312" pitchFamily="49" charset="-122"/>
              </a:rPr>
              <a:t>)</a:t>
            </a:r>
            <a:endParaRPr lang="en-US" altLang="zh-CN" sz="1800" i="1">
              <a:solidFill>
                <a:srgbClr val="FF3300"/>
              </a:solidFill>
              <a:latin typeface="楷体_GB2312" pitchFamily="49" charset="-122"/>
              <a:ea typeface="楷体_GB2312" pitchFamily="49" charset="-122"/>
            </a:endParaRPr>
          </a:p>
        </p:txBody>
      </p:sp>
      <p:graphicFrame>
        <p:nvGraphicFramePr>
          <p:cNvPr id="672776" name="Object 2">
            <a:extLst>
              <a:ext uri="{FF2B5EF4-FFF2-40B4-BE49-F238E27FC236}">
                <a16:creationId xmlns:a16="http://schemas.microsoft.com/office/drawing/2014/main" id="{9CCD9D38-3768-130C-76E3-AC5527DE2CA3}"/>
              </a:ext>
            </a:extLst>
          </p:cNvPr>
          <p:cNvGraphicFramePr>
            <a:graphicFrameLocks/>
          </p:cNvGraphicFramePr>
          <p:nvPr/>
        </p:nvGraphicFramePr>
        <p:xfrm>
          <a:off x="719138" y="2514600"/>
          <a:ext cx="2481262" cy="514350"/>
        </p:xfrm>
        <a:graphic>
          <a:graphicData uri="http://schemas.openxmlformats.org/presentationml/2006/ole">
            <mc:AlternateContent xmlns:mc="http://schemas.openxmlformats.org/markup-compatibility/2006">
              <mc:Choice xmlns:v="urn:schemas-microsoft-com:vml" Requires="v">
                <p:oleObj name="公式" r:id="rId3" imgW="1097280" imgH="205989" progId="Equation.3">
                  <p:embed/>
                </p:oleObj>
              </mc:Choice>
              <mc:Fallback>
                <p:oleObj name="公式" r:id="rId3" imgW="1097280" imgH="205989" progId="Equation.3">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138" y="2514600"/>
                        <a:ext cx="2481262"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777" name="Rectangle 9">
            <a:extLst>
              <a:ext uri="{FF2B5EF4-FFF2-40B4-BE49-F238E27FC236}">
                <a16:creationId xmlns:a16="http://schemas.microsoft.com/office/drawing/2014/main" id="{D4BC562B-7078-0C3A-E27E-448622D2E72E}"/>
              </a:ext>
            </a:extLst>
          </p:cNvPr>
          <p:cNvSpPr>
            <a:spLocks noChangeArrowheads="1"/>
          </p:cNvSpPr>
          <p:nvPr/>
        </p:nvSpPr>
        <p:spPr bwMode="auto">
          <a:xfrm>
            <a:off x="720725" y="815975"/>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sp>
        <p:nvSpPr>
          <p:cNvPr id="672778" name="Rectangle 10">
            <a:extLst>
              <a:ext uri="{FF2B5EF4-FFF2-40B4-BE49-F238E27FC236}">
                <a16:creationId xmlns:a16="http://schemas.microsoft.com/office/drawing/2014/main" id="{9736332F-C126-FD28-3260-3FE393B472FA}"/>
              </a:ext>
            </a:extLst>
          </p:cNvPr>
          <p:cNvSpPr>
            <a:spLocks noChangeArrowheads="1"/>
          </p:cNvSpPr>
          <p:nvPr/>
        </p:nvSpPr>
        <p:spPr bwMode="auto">
          <a:xfrm>
            <a:off x="703263" y="1308100"/>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sp>
        <p:nvSpPr>
          <p:cNvPr id="672779" name="Text Box 11">
            <a:extLst>
              <a:ext uri="{FF2B5EF4-FFF2-40B4-BE49-F238E27FC236}">
                <a16:creationId xmlns:a16="http://schemas.microsoft.com/office/drawing/2014/main" id="{4FD4CACF-C58A-849D-5F5F-357719D56BB0}"/>
              </a:ext>
            </a:extLst>
          </p:cNvPr>
          <p:cNvSpPr txBox="1">
            <a:spLocks noChangeArrowheads="1"/>
          </p:cNvSpPr>
          <p:nvPr/>
        </p:nvSpPr>
        <p:spPr bwMode="auto">
          <a:xfrm>
            <a:off x="5688013" y="904875"/>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质点获得加速度</a:t>
            </a:r>
          </a:p>
        </p:txBody>
      </p:sp>
      <p:sp>
        <p:nvSpPr>
          <p:cNvPr id="672780" name="Text Box 12">
            <a:extLst>
              <a:ext uri="{FF2B5EF4-FFF2-40B4-BE49-F238E27FC236}">
                <a16:creationId xmlns:a16="http://schemas.microsoft.com/office/drawing/2014/main" id="{ED996DB4-9BBE-B00C-63E8-47E76AF2FCE9}"/>
              </a:ext>
            </a:extLst>
          </p:cNvPr>
          <p:cNvSpPr txBox="1">
            <a:spLocks noChangeArrowheads="1"/>
          </p:cNvSpPr>
          <p:nvPr/>
        </p:nvSpPr>
        <p:spPr bwMode="auto">
          <a:xfrm>
            <a:off x="2159000" y="901700"/>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改变质点的运动状态</a:t>
            </a:r>
            <a:endParaRPr lang="zh-CN" altLang="en-US">
              <a:solidFill>
                <a:srgbClr val="66FFFF"/>
              </a:solidFill>
              <a:latin typeface="Times New Roman" panose="02020603050405020304" pitchFamily="18" charset="0"/>
              <a:ea typeface="宋体" panose="02010600030101010101" pitchFamily="2" charset="-122"/>
            </a:endParaRPr>
          </a:p>
        </p:txBody>
      </p:sp>
      <p:sp>
        <p:nvSpPr>
          <p:cNvPr id="672781" name="AutoShape 13">
            <a:extLst>
              <a:ext uri="{FF2B5EF4-FFF2-40B4-BE49-F238E27FC236}">
                <a16:creationId xmlns:a16="http://schemas.microsoft.com/office/drawing/2014/main" id="{3251250D-87EB-EE2E-DB43-1E50C35F6DD6}"/>
              </a:ext>
            </a:extLst>
          </p:cNvPr>
          <p:cNvSpPr>
            <a:spLocks noChangeArrowheads="1"/>
          </p:cNvSpPr>
          <p:nvPr/>
        </p:nvSpPr>
        <p:spPr bwMode="auto">
          <a:xfrm>
            <a:off x="1727200" y="1052513"/>
            <a:ext cx="504825" cy="215900"/>
          </a:xfrm>
          <a:prstGeom prst="rightArrow">
            <a:avLst>
              <a:gd name="adj1" fmla="val 50000"/>
              <a:gd name="adj2" fmla="val 5845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82" name="WordArt 14">
            <a:extLst>
              <a:ext uri="{FF2B5EF4-FFF2-40B4-BE49-F238E27FC236}">
                <a16:creationId xmlns:a16="http://schemas.microsoft.com/office/drawing/2014/main" id="{F99ABC7E-84C1-D672-60BC-6F0AD0E73ECE}"/>
              </a:ext>
            </a:extLst>
          </p:cNvPr>
          <p:cNvSpPr>
            <a:spLocks noChangeArrowheads="1" noChangeShapeType="1" noTextEdit="1"/>
          </p:cNvSpPr>
          <p:nvPr/>
        </p:nvSpPr>
        <p:spPr bwMode="auto">
          <a:xfrm rot="5400000">
            <a:off x="1208088" y="1508125"/>
            <a:ext cx="387350" cy="276225"/>
          </a:xfrm>
          <a:prstGeom prst="rect">
            <a:avLst/>
          </a:prstGeom>
        </p:spPr>
        <p:txBody>
          <a:bodyPr vert="eaVert" wrap="none" fromWordArt="1">
            <a:prstTxWarp prst="textPlain">
              <a:avLst>
                <a:gd name="adj" fmla="val 50000"/>
              </a:avLst>
            </a:prstTxWarp>
          </a:bodyPr>
          <a:lstStyle/>
          <a:p>
            <a:pPr algn="ctr" fontAlgn="auto"/>
            <a:r>
              <a:rPr lang="zh-CN" altLang="en-US" sz="3600" i="1" kern="10">
                <a:ln w="9525">
                  <a:solidFill>
                    <a:srgbClr val="66FFFF"/>
                  </a:solidFill>
                  <a:round/>
                  <a:headEnd/>
                  <a:tailEnd/>
                </a:ln>
                <a:solidFill>
                  <a:srgbClr val="66FFFF"/>
                </a:solidFill>
                <a:effectLst>
                  <a:outerShdw dist="35921" dir="2700000" algn="ctr" rotWithShape="0">
                    <a:srgbClr val="B2B2B2">
                      <a:alpha val="79999"/>
                    </a:srgbClr>
                  </a:outerShdw>
                </a:effectLst>
                <a:latin typeface="宋体" panose="02010600030101010101" pitchFamily="2" charset="-122"/>
                <a:ea typeface="宋体" panose="02010600030101010101" pitchFamily="2" charset="-122"/>
              </a:rPr>
              <a:t>？</a:t>
            </a:r>
          </a:p>
        </p:txBody>
      </p:sp>
      <p:sp>
        <p:nvSpPr>
          <p:cNvPr id="672783" name="Line 15">
            <a:extLst>
              <a:ext uri="{FF2B5EF4-FFF2-40B4-BE49-F238E27FC236}">
                <a16:creationId xmlns:a16="http://schemas.microsoft.com/office/drawing/2014/main" id="{82E6D13E-23EA-0B54-FEB5-9BC8F98897A2}"/>
              </a:ext>
            </a:extLst>
          </p:cNvPr>
          <p:cNvSpPr>
            <a:spLocks noChangeShapeType="1"/>
          </p:cNvSpPr>
          <p:nvPr/>
        </p:nvSpPr>
        <p:spPr bwMode="auto">
          <a:xfrm flipH="1">
            <a:off x="6677025" y="4914900"/>
            <a:ext cx="1588" cy="695325"/>
          </a:xfrm>
          <a:prstGeom prst="line">
            <a:avLst/>
          </a:prstGeom>
          <a:noFill/>
          <a:ln w="50800">
            <a:solidFill>
              <a:schemeClr val="folHlink"/>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84" name="Freeform 16">
            <a:extLst>
              <a:ext uri="{FF2B5EF4-FFF2-40B4-BE49-F238E27FC236}">
                <a16:creationId xmlns:a16="http://schemas.microsoft.com/office/drawing/2014/main" id="{AFE4B030-2F06-463D-9773-FF7D732D2223}"/>
              </a:ext>
            </a:extLst>
          </p:cNvPr>
          <p:cNvSpPr>
            <a:spLocks/>
          </p:cNvSpPr>
          <p:nvPr/>
        </p:nvSpPr>
        <p:spPr bwMode="auto">
          <a:xfrm>
            <a:off x="4930775" y="2657475"/>
            <a:ext cx="3744913" cy="2663825"/>
          </a:xfrm>
          <a:custGeom>
            <a:avLst/>
            <a:gdLst/>
            <a:ahLst/>
            <a:cxnLst>
              <a:cxn ang="0">
                <a:pos x="1013" y="8"/>
              </a:cxn>
              <a:cxn ang="0">
                <a:pos x="333" y="99"/>
              </a:cxn>
              <a:cxn ang="0">
                <a:pos x="15" y="416"/>
              </a:cxn>
              <a:cxn ang="0">
                <a:pos x="242" y="825"/>
              </a:cxn>
              <a:cxn ang="0">
                <a:pos x="696" y="1006"/>
              </a:cxn>
              <a:cxn ang="0">
                <a:pos x="1058" y="961"/>
              </a:cxn>
              <a:cxn ang="0">
                <a:pos x="1421" y="1051"/>
              </a:cxn>
              <a:cxn ang="0">
                <a:pos x="1693" y="825"/>
              </a:cxn>
              <a:cxn ang="0">
                <a:pos x="1648" y="144"/>
              </a:cxn>
              <a:cxn ang="0">
                <a:pos x="1013" y="8"/>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cap="flat" cmpd="sng">
            <a:prstDash val="solid"/>
            <a:round/>
            <a:headEnd/>
            <a:tailEnd/>
          </a:ln>
          <a:effectLst/>
          <a:scene3d>
            <a:camera prst="legacyPerspectiveFront">
              <a:rot lat="18000000" lon="0" rev="0"/>
            </a:camera>
            <a:lightRig rig="legacyFlat2" dir="t"/>
          </a:scene3d>
          <a:sp3d extrusionH="430200" prstMaterial="legacyMatte">
            <a:bevelT w="13500" h="13500" prst="angle"/>
            <a:bevelB w="13500" h="13500" prst="angle"/>
            <a:extrusionClr>
              <a:srgbClr val="339966"/>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85" name="Oval 17">
            <a:extLst>
              <a:ext uri="{FF2B5EF4-FFF2-40B4-BE49-F238E27FC236}">
                <a16:creationId xmlns:a16="http://schemas.microsoft.com/office/drawing/2014/main" id="{411B5C4B-079F-D463-0301-EAC93D816FD0}"/>
              </a:ext>
            </a:extLst>
          </p:cNvPr>
          <p:cNvSpPr>
            <a:spLocks noChangeArrowheads="1"/>
          </p:cNvSpPr>
          <p:nvPr/>
        </p:nvSpPr>
        <p:spPr bwMode="auto">
          <a:xfrm>
            <a:off x="6605588" y="3932238"/>
            <a:ext cx="142875" cy="71437"/>
          </a:xfrm>
          <a:prstGeom prst="ellipse">
            <a:avLst/>
          </a:prstGeom>
          <a:solidFill>
            <a:schemeClr val="tx2"/>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72786" name="Object 3">
            <a:extLst>
              <a:ext uri="{FF2B5EF4-FFF2-40B4-BE49-F238E27FC236}">
                <a16:creationId xmlns:a16="http://schemas.microsoft.com/office/drawing/2014/main" id="{6FE1E744-B7FC-E2B9-9DB7-1D852EDE0F7A}"/>
              </a:ext>
            </a:extLst>
          </p:cNvPr>
          <p:cNvGraphicFramePr>
            <a:graphicFrameLocks/>
          </p:cNvGraphicFramePr>
          <p:nvPr/>
        </p:nvGraphicFramePr>
        <p:xfrm>
          <a:off x="7005638" y="3813175"/>
          <a:ext cx="212725" cy="293688"/>
        </p:xfrm>
        <a:graphic>
          <a:graphicData uri="http://schemas.openxmlformats.org/presentationml/2006/ole">
            <mc:AlternateContent xmlns:mc="http://schemas.openxmlformats.org/markup-compatibility/2006">
              <mc:Choice xmlns:v="urn:schemas-microsoft-com:vml" Requires="v">
                <p:oleObj name="公式" r:id="rId5" imgW="205522" imgH="281801" progId="Equation.3">
                  <p:embed/>
                </p:oleObj>
              </mc:Choice>
              <mc:Fallback>
                <p:oleObj name="公式" r:id="rId5" imgW="205522" imgH="281801"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5638" y="3813175"/>
                        <a:ext cx="212725"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787" name="Line 19">
            <a:extLst>
              <a:ext uri="{FF2B5EF4-FFF2-40B4-BE49-F238E27FC236}">
                <a16:creationId xmlns:a16="http://schemas.microsoft.com/office/drawing/2014/main" id="{D11197ED-7C1D-B52D-34FD-74CCBE2EE5FB}"/>
              </a:ext>
            </a:extLst>
          </p:cNvPr>
          <p:cNvSpPr>
            <a:spLocks noChangeShapeType="1"/>
          </p:cNvSpPr>
          <p:nvPr/>
        </p:nvSpPr>
        <p:spPr bwMode="auto">
          <a:xfrm flipV="1">
            <a:off x="7397750" y="3041650"/>
            <a:ext cx="1060450" cy="1293813"/>
          </a:xfrm>
          <a:prstGeom prst="line">
            <a:avLst/>
          </a:prstGeom>
          <a:noFill/>
          <a:ln w="57150">
            <a:solidFill>
              <a:schemeClr val="hlink"/>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88" name="Oval 20">
            <a:extLst>
              <a:ext uri="{FF2B5EF4-FFF2-40B4-BE49-F238E27FC236}">
                <a16:creationId xmlns:a16="http://schemas.microsoft.com/office/drawing/2014/main" id="{2E801967-790F-4915-DD16-414546428A09}"/>
              </a:ext>
            </a:extLst>
          </p:cNvPr>
          <p:cNvSpPr>
            <a:spLocks noChangeArrowheads="1"/>
          </p:cNvSpPr>
          <p:nvPr/>
        </p:nvSpPr>
        <p:spPr bwMode="auto">
          <a:xfrm>
            <a:off x="5454650" y="3544888"/>
            <a:ext cx="2447925" cy="865187"/>
          </a:xfrm>
          <a:prstGeom prst="ellipse">
            <a:avLst/>
          </a:prstGeom>
          <a:noFill/>
          <a:ln w="9525">
            <a:solidFill>
              <a:schemeClr val="tx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89" name="Line 21">
            <a:extLst>
              <a:ext uri="{FF2B5EF4-FFF2-40B4-BE49-F238E27FC236}">
                <a16:creationId xmlns:a16="http://schemas.microsoft.com/office/drawing/2014/main" id="{EFF85A5C-044F-5DC3-BECD-831C72B8113C}"/>
              </a:ext>
            </a:extLst>
          </p:cNvPr>
          <p:cNvSpPr>
            <a:spLocks noChangeShapeType="1"/>
          </p:cNvSpPr>
          <p:nvPr/>
        </p:nvSpPr>
        <p:spPr bwMode="auto">
          <a:xfrm>
            <a:off x="6657975" y="2897188"/>
            <a:ext cx="20638" cy="1082675"/>
          </a:xfrm>
          <a:prstGeom prst="line">
            <a:avLst/>
          </a:prstGeom>
          <a:noFill/>
          <a:ln w="50800">
            <a:solidFill>
              <a:schemeClr val="folHlink"/>
            </a:solidFill>
            <a:round/>
            <a:headEnd type="triangle" w="med" len="me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90" name="Line 22">
            <a:extLst>
              <a:ext uri="{FF2B5EF4-FFF2-40B4-BE49-F238E27FC236}">
                <a16:creationId xmlns:a16="http://schemas.microsoft.com/office/drawing/2014/main" id="{4642014B-F4F0-4344-69F9-10E1A7E75486}"/>
              </a:ext>
            </a:extLst>
          </p:cNvPr>
          <p:cNvSpPr>
            <a:spLocks noChangeShapeType="1"/>
          </p:cNvSpPr>
          <p:nvPr/>
        </p:nvSpPr>
        <p:spPr bwMode="auto">
          <a:xfrm>
            <a:off x="8458200" y="3041650"/>
            <a:ext cx="19050" cy="1439863"/>
          </a:xfrm>
          <a:prstGeom prst="line">
            <a:avLst/>
          </a:prstGeom>
          <a:noFill/>
          <a:ln w="28575">
            <a:solidFill>
              <a:schemeClr val="hlink"/>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91" name="Line 23">
            <a:extLst>
              <a:ext uri="{FF2B5EF4-FFF2-40B4-BE49-F238E27FC236}">
                <a16:creationId xmlns:a16="http://schemas.microsoft.com/office/drawing/2014/main" id="{1D674942-12D0-226B-848C-038357ED3847}"/>
              </a:ext>
            </a:extLst>
          </p:cNvPr>
          <p:cNvSpPr>
            <a:spLocks noChangeShapeType="1"/>
          </p:cNvSpPr>
          <p:nvPr/>
        </p:nvSpPr>
        <p:spPr bwMode="auto">
          <a:xfrm flipV="1">
            <a:off x="7397750" y="2887663"/>
            <a:ext cx="0" cy="1403350"/>
          </a:xfrm>
          <a:prstGeom prst="line">
            <a:avLst/>
          </a:prstGeom>
          <a:noFill/>
          <a:ln w="38100">
            <a:solidFill>
              <a:schemeClr val="hlink"/>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92" name="Line 24">
            <a:extLst>
              <a:ext uri="{FF2B5EF4-FFF2-40B4-BE49-F238E27FC236}">
                <a16:creationId xmlns:a16="http://schemas.microsoft.com/office/drawing/2014/main" id="{6B475159-C997-E88E-2446-28638FCEB330}"/>
              </a:ext>
            </a:extLst>
          </p:cNvPr>
          <p:cNvSpPr>
            <a:spLocks noChangeShapeType="1"/>
          </p:cNvSpPr>
          <p:nvPr/>
        </p:nvSpPr>
        <p:spPr bwMode="auto">
          <a:xfrm>
            <a:off x="6677025" y="3976688"/>
            <a:ext cx="1098550" cy="554037"/>
          </a:xfrm>
          <a:prstGeom prst="line">
            <a:avLst/>
          </a:pr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72793" name="Object 4">
            <a:extLst>
              <a:ext uri="{FF2B5EF4-FFF2-40B4-BE49-F238E27FC236}">
                <a16:creationId xmlns:a16="http://schemas.microsoft.com/office/drawing/2014/main" id="{38A44D41-7448-2B98-12B1-3A0A585F6873}"/>
              </a:ext>
            </a:extLst>
          </p:cNvPr>
          <p:cNvGraphicFramePr>
            <a:graphicFrameLocks/>
          </p:cNvGraphicFramePr>
          <p:nvPr/>
        </p:nvGraphicFramePr>
        <p:xfrm>
          <a:off x="8477250" y="4265613"/>
          <a:ext cx="341313" cy="409575"/>
        </p:xfrm>
        <a:graphic>
          <a:graphicData uri="http://schemas.openxmlformats.org/presentationml/2006/ole">
            <mc:AlternateContent xmlns:mc="http://schemas.openxmlformats.org/markup-compatibility/2006">
              <mc:Choice xmlns:v="urn:schemas-microsoft-com:vml" Requires="v">
                <p:oleObj name="公式" r:id="rId7" imgW="373224" imgH="449386" progId="Equation.3">
                  <p:embed/>
                </p:oleObj>
              </mc:Choice>
              <mc:Fallback>
                <p:oleObj name="公式" r:id="rId7" imgW="373224" imgH="449386" progId="Equation.3">
                  <p:embed/>
                  <p:pic>
                    <p:nvPicPr>
                      <p:cNvPr id="0" name="Object 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77250" y="4265613"/>
                        <a:ext cx="341313"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2794" name="Object 5">
            <a:extLst>
              <a:ext uri="{FF2B5EF4-FFF2-40B4-BE49-F238E27FC236}">
                <a16:creationId xmlns:a16="http://schemas.microsoft.com/office/drawing/2014/main" id="{3797033B-D152-D504-54F6-7C90A7D9971D}"/>
              </a:ext>
            </a:extLst>
          </p:cNvPr>
          <p:cNvGraphicFramePr>
            <a:graphicFrameLocks/>
          </p:cNvGraphicFramePr>
          <p:nvPr/>
        </p:nvGraphicFramePr>
        <p:xfrm>
          <a:off x="7307263" y="2393950"/>
          <a:ext cx="341312" cy="420688"/>
        </p:xfrm>
        <a:graphic>
          <a:graphicData uri="http://schemas.openxmlformats.org/presentationml/2006/ole">
            <mc:AlternateContent xmlns:mc="http://schemas.openxmlformats.org/markup-compatibility/2006">
              <mc:Choice xmlns:v="urn:schemas-microsoft-com:vml" Requires="v">
                <p:oleObj name="公式" r:id="rId9" imgW="373224" imgH="464848" progId="Equation.3">
                  <p:embed/>
                </p:oleObj>
              </mc:Choice>
              <mc:Fallback>
                <p:oleObj name="公式" r:id="rId9" imgW="373224" imgH="464848" progId="Equation.3">
                  <p:embed/>
                  <p:pic>
                    <p:nvPicPr>
                      <p:cNvPr id="0" name="Object 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07263" y="2393950"/>
                        <a:ext cx="341312"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2795" name="Object 6">
            <a:extLst>
              <a:ext uri="{FF2B5EF4-FFF2-40B4-BE49-F238E27FC236}">
                <a16:creationId xmlns:a16="http://schemas.microsoft.com/office/drawing/2014/main" id="{63BEC454-53CA-B40B-37C1-E7D210FDFA3F}"/>
              </a:ext>
            </a:extLst>
          </p:cNvPr>
          <p:cNvGraphicFramePr>
            <a:graphicFrameLocks/>
          </p:cNvGraphicFramePr>
          <p:nvPr/>
        </p:nvGraphicFramePr>
        <p:xfrm>
          <a:off x="7810500" y="4625975"/>
          <a:ext cx="319088" cy="420688"/>
        </p:xfrm>
        <a:graphic>
          <a:graphicData uri="http://schemas.openxmlformats.org/presentationml/2006/ole">
            <mc:AlternateContent xmlns:mc="http://schemas.openxmlformats.org/markup-compatibility/2006">
              <mc:Choice xmlns:v="urn:schemas-microsoft-com:vml" Requires="v">
                <p:oleObj name="公式" r:id="rId11" imgW="350333" imgH="464848" progId="Equation.3">
                  <p:embed/>
                </p:oleObj>
              </mc:Choice>
              <mc:Fallback>
                <p:oleObj name="公式" r:id="rId11" imgW="350333" imgH="464848" progId="Equation.3">
                  <p:embed/>
                  <p:pic>
                    <p:nvPicPr>
                      <p:cNvPr id="0" name="Object 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10500" y="4625975"/>
                        <a:ext cx="319088"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2796" name="Object 7">
            <a:extLst>
              <a:ext uri="{FF2B5EF4-FFF2-40B4-BE49-F238E27FC236}">
                <a16:creationId xmlns:a16="http://schemas.microsoft.com/office/drawing/2014/main" id="{733B3DB8-13B8-496E-AA49-026D934CDEE6}"/>
              </a:ext>
            </a:extLst>
          </p:cNvPr>
          <p:cNvGraphicFramePr>
            <a:graphicFrameLocks/>
          </p:cNvGraphicFramePr>
          <p:nvPr/>
        </p:nvGraphicFramePr>
        <p:xfrm>
          <a:off x="7954963" y="3844925"/>
          <a:ext cx="306387" cy="420688"/>
        </p:xfrm>
        <a:graphic>
          <a:graphicData uri="http://schemas.openxmlformats.org/presentationml/2006/ole">
            <mc:AlternateContent xmlns:mc="http://schemas.openxmlformats.org/markup-compatibility/2006">
              <mc:Choice xmlns:v="urn:schemas-microsoft-com:vml" Requires="v">
                <p:oleObj name="公式" r:id="rId13" imgW="335404" imgH="464848" progId="Equation.3">
                  <p:embed/>
                </p:oleObj>
              </mc:Choice>
              <mc:Fallback>
                <p:oleObj name="公式" r:id="rId13" imgW="335404" imgH="464848" progId="Equation.3">
                  <p:embed/>
                  <p:pic>
                    <p:nvPicPr>
                      <p:cNvPr id="0" name="Object 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54963" y="3844925"/>
                        <a:ext cx="3063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797" name="Line 29">
            <a:extLst>
              <a:ext uri="{FF2B5EF4-FFF2-40B4-BE49-F238E27FC236}">
                <a16:creationId xmlns:a16="http://schemas.microsoft.com/office/drawing/2014/main" id="{6E147A18-32EA-9520-87EF-FC01859298EC}"/>
              </a:ext>
            </a:extLst>
          </p:cNvPr>
          <p:cNvSpPr>
            <a:spLocks noChangeShapeType="1"/>
          </p:cNvSpPr>
          <p:nvPr/>
        </p:nvSpPr>
        <p:spPr bwMode="auto">
          <a:xfrm>
            <a:off x="7397750" y="2895600"/>
            <a:ext cx="1079500" cy="146050"/>
          </a:xfrm>
          <a:prstGeom prst="line">
            <a:avLst/>
          </a:prstGeom>
          <a:noFill/>
          <a:ln w="28575">
            <a:solidFill>
              <a:schemeClr val="hlink"/>
            </a:solidFill>
            <a:prstDash val="sysDot"/>
            <a:round/>
            <a:headEnd/>
            <a:tailEnd type="non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98" name="Line 30">
            <a:extLst>
              <a:ext uri="{FF2B5EF4-FFF2-40B4-BE49-F238E27FC236}">
                <a16:creationId xmlns:a16="http://schemas.microsoft.com/office/drawing/2014/main" id="{2906F5B8-2764-033E-1DED-11A79BC2557C}"/>
              </a:ext>
            </a:extLst>
          </p:cNvPr>
          <p:cNvSpPr>
            <a:spLocks noChangeShapeType="1"/>
          </p:cNvSpPr>
          <p:nvPr/>
        </p:nvSpPr>
        <p:spPr bwMode="auto">
          <a:xfrm>
            <a:off x="7902575" y="4192588"/>
            <a:ext cx="431800" cy="219075"/>
          </a:xfrm>
          <a:prstGeom prst="line">
            <a:avLst/>
          </a:prstGeom>
          <a:noFill/>
          <a:ln w="28575" cap="rnd">
            <a:solidFill>
              <a:srgbClr val="FFCC00"/>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799" name="Line 31">
            <a:extLst>
              <a:ext uri="{FF2B5EF4-FFF2-40B4-BE49-F238E27FC236}">
                <a16:creationId xmlns:a16="http://schemas.microsoft.com/office/drawing/2014/main" id="{6C456C05-0314-366E-3310-A87B866F7327}"/>
              </a:ext>
            </a:extLst>
          </p:cNvPr>
          <p:cNvSpPr>
            <a:spLocks noChangeShapeType="1"/>
          </p:cNvSpPr>
          <p:nvPr/>
        </p:nvSpPr>
        <p:spPr bwMode="auto">
          <a:xfrm flipV="1">
            <a:off x="7902575" y="4483100"/>
            <a:ext cx="503238" cy="142875"/>
          </a:xfrm>
          <a:prstGeom prst="line">
            <a:avLst/>
          </a:prstGeom>
          <a:noFill/>
          <a:ln w="28575" cap="rnd">
            <a:solidFill>
              <a:srgbClr val="FFCC00"/>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0" name="Line 32">
            <a:extLst>
              <a:ext uri="{FF2B5EF4-FFF2-40B4-BE49-F238E27FC236}">
                <a16:creationId xmlns:a16="http://schemas.microsoft.com/office/drawing/2014/main" id="{E0E60892-E4D2-D5DA-45AD-91AED87F7A8F}"/>
              </a:ext>
            </a:extLst>
          </p:cNvPr>
          <p:cNvSpPr>
            <a:spLocks noChangeShapeType="1"/>
          </p:cNvSpPr>
          <p:nvPr/>
        </p:nvSpPr>
        <p:spPr bwMode="auto">
          <a:xfrm>
            <a:off x="7397750" y="4322763"/>
            <a:ext cx="1079500" cy="146050"/>
          </a:xfrm>
          <a:prstGeom prst="line">
            <a:avLst/>
          </a:prstGeom>
          <a:noFill/>
          <a:ln w="38100">
            <a:solidFill>
              <a:schemeClr val="hlink"/>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1" name="Line 33">
            <a:extLst>
              <a:ext uri="{FF2B5EF4-FFF2-40B4-BE49-F238E27FC236}">
                <a16:creationId xmlns:a16="http://schemas.microsoft.com/office/drawing/2014/main" id="{12562513-A1B8-D56A-284F-657748B151FF}"/>
              </a:ext>
            </a:extLst>
          </p:cNvPr>
          <p:cNvSpPr>
            <a:spLocks noChangeShapeType="1"/>
          </p:cNvSpPr>
          <p:nvPr/>
        </p:nvSpPr>
        <p:spPr bwMode="auto">
          <a:xfrm>
            <a:off x="7397750" y="4335463"/>
            <a:ext cx="576263" cy="290512"/>
          </a:xfrm>
          <a:prstGeom prst="line">
            <a:avLst/>
          </a:prstGeom>
          <a:noFill/>
          <a:ln w="38100">
            <a:solidFill>
              <a:srgbClr val="FFCC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2" name="Line 34">
            <a:extLst>
              <a:ext uri="{FF2B5EF4-FFF2-40B4-BE49-F238E27FC236}">
                <a16:creationId xmlns:a16="http://schemas.microsoft.com/office/drawing/2014/main" id="{DB399D4F-2D04-145F-EBF1-50B3FBE91354}"/>
              </a:ext>
            </a:extLst>
          </p:cNvPr>
          <p:cNvSpPr>
            <a:spLocks noChangeShapeType="1"/>
          </p:cNvSpPr>
          <p:nvPr/>
        </p:nvSpPr>
        <p:spPr bwMode="auto">
          <a:xfrm flipV="1">
            <a:off x="7397750" y="4192588"/>
            <a:ext cx="504825" cy="142875"/>
          </a:xfrm>
          <a:prstGeom prst="line">
            <a:avLst/>
          </a:prstGeom>
          <a:noFill/>
          <a:ln w="38100">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3" name="Line 35">
            <a:extLst>
              <a:ext uri="{FF2B5EF4-FFF2-40B4-BE49-F238E27FC236}">
                <a16:creationId xmlns:a16="http://schemas.microsoft.com/office/drawing/2014/main" id="{3F3F481B-3D61-982A-F311-204ABC432702}"/>
              </a:ext>
            </a:extLst>
          </p:cNvPr>
          <p:cNvSpPr>
            <a:spLocks noChangeShapeType="1"/>
          </p:cNvSpPr>
          <p:nvPr/>
        </p:nvSpPr>
        <p:spPr bwMode="auto">
          <a:xfrm flipH="1">
            <a:off x="6515100" y="3976688"/>
            <a:ext cx="142875" cy="215900"/>
          </a:xfrm>
          <a:prstGeom prst="line">
            <a:avLst/>
          </a:pr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4" name="Text Box 36">
            <a:extLst>
              <a:ext uri="{FF2B5EF4-FFF2-40B4-BE49-F238E27FC236}">
                <a16:creationId xmlns:a16="http://schemas.microsoft.com/office/drawing/2014/main" id="{8BBCC6A6-3CD4-6271-4D87-2C4249D4003B}"/>
              </a:ext>
            </a:extLst>
          </p:cNvPr>
          <p:cNvSpPr txBox="1">
            <a:spLocks noChangeArrowheads="1"/>
          </p:cNvSpPr>
          <p:nvPr/>
        </p:nvSpPr>
        <p:spPr bwMode="auto">
          <a:xfrm>
            <a:off x="6161088" y="3760788"/>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h</a:t>
            </a:r>
          </a:p>
        </p:txBody>
      </p:sp>
      <p:grpSp>
        <p:nvGrpSpPr>
          <p:cNvPr id="2" name="Group 37">
            <a:extLst>
              <a:ext uri="{FF2B5EF4-FFF2-40B4-BE49-F238E27FC236}">
                <a16:creationId xmlns:a16="http://schemas.microsoft.com/office/drawing/2014/main" id="{CF47B440-18A5-6574-349C-304BAD97EEBB}"/>
              </a:ext>
            </a:extLst>
          </p:cNvPr>
          <p:cNvGrpSpPr>
            <a:grpSpLocks/>
          </p:cNvGrpSpPr>
          <p:nvPr/>
        </p:nvGrpSpPr>
        <p:grpSpPr bwMode="auto">
          <a:xfrm>
            <a:off x="6577013" y="4106863"/>
            <a:ext cx="71437" cy="107950"/>
            <a:chOff x="4014" y="2296"/>
            <a:chExt cx="45" cy="45"/>
          </a:xfrm>
        </p:grpSpPr>
        <p:sp>
          <p:nvSpPr>
            <p:cNvPr id="672806" name="Line 38">
              <a:extLst>
                <a:ext uri="{FF2B5EF4-FFF2-40B4-BE49-F238E27FC236}">
                  <a16:creationId xmlns:a16="http://schemas.microsoft.com/office/drawing/2014/main" id="{42319110-3A16-AF91-9F60-8FE627FD23DA}"/>
                </a:ext>
              </a:extLst>
            </p:cNvPr>
            <p:cNvSpPr>
              <a:spLocks noChangeShapeType="1"/>
            </p:cNvSpPr>
            <p:nvPr/>
          </p:nvSpPr>
          <p:spPr bwMode="auto">
            <a:xfrm>
              <a:off x="4014" y="2296"/>
              <a:ext cx="45" cy="0"/>
            </a:xfrm>
            <a:prstGeom prst="line">
              <a:avLst/>
            </a:pr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7" name="Line 39">
              <a:extLst>
                <a:ext uri="{FF2B5EF4-FFF2-40B4-BE49-F238E27FC236}">
                  <a16:creationId xmlns:a16="http://schemas.microsoft.com/office/drawing/2014/main" id="{57B84ED3-053A-163E-A04A-E32E877D7F39}"/>
                </a:ext>
              </a:extLst>
            </p:cNvPr>
            <p:cNvSpPr>
              <a:spLocks noChangeShapeType="1"/>
            </p:cNvSpPr>
            <p:nvPr/>
          </p:nvSpPr>
          <p:spPr bwMode="auto">
            <a:xfrm flipH="1">
              <a:off x="4014" y="2296"/>
              <a:ext cx="45" cy="45"/>
            </a:xfrm>
            <a:prstGeom prst="line">
              <a:avLst/>
            </a:pr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672808" name="Line 40">
            <a:extLst>
              <a:ext uri="{FF2B5EF4-FFF2-40B4-BE49-F238E27FC236}">
                <a16:creationId xmlns:a16="http://schemas.microsoft.com/office/drawing/2014/main" id="{3FE2DB7A-3BA3-7007-7D22-AC0D67B53E20}"/>
              </a:ext>
            </a:extLst>
          </p:cNvPr>
          <p:cNvSpPr>
            <a:spLocks noChangeShapeType="1"/>
          </p:cNvSpPr>
          <p:nvPr/>
        </p:nvSpPr>
        <p:spPr bwMode="auto">
          <a:xfrm>
            <a:off x="6370638" y="4191000"/>
            <a:ext cx="1079500" cy="146050"/>
          </a:xfrm>
          <a:prstGeom prst="line">
            <a:avLst/>
          </a:prstGeom>
          <a:noFill/>
          <a:ln w="28575">
            <a:solidFill>
              <a:schemeClr val="hlink"/>
            </a:solidFill>
            <a:prstDash val="dash"/>
            <a:round/>
            <a:headEnd/>
            <a:tailEnd type="non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09" name="Oval 41">
            <a:extLst>
              <a:ext uri="{FF2B5EF4-FFF2-40B4-BE49-F238E27FC236}">
                <a16:creationId xmlns:a16="http://schemas.microsoft.com/office/drawing/2014/main" id="{4ACABA67-E674-B360-C818-CA3B3042C2E2}"/>
              </a:ext>
            </a:extLst>
          </p:cNvPr>
          <p:cNvSpPr>
            <a:spLocks noChangeArrowheads="1"/>
          </p:cNvSpPr>
          <p:nvPr/>
        </p:nvSpPr>
        <p:spPr bwMode="auto">
          <a:xfrm>
            <a:off x="7361238" y="4289425"/>
            <a:ext cx="73025" cy="71438"/>
          </a:xfrm>
          <a:prstGeom prst="ellipse">
            <a:avLst/>
          </a:prstGeom>
          <a:solidFill>
            <a:srgbClr val="FF7C80"/>
          </a:solidFill>
          <a:ln w="38100">
            <a:solidFill>
              <a:srgbClr val="FF7C80"/>
            </a:solidFill>
            <a:round/>
            <a:headEnd/>
            <a:tailEnd/>
          </a:ln>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kumimoji="1" lang="zh-CN" altLang="zh-CN">
              <a:solidFill>
                <a:srgbClr val="FFFFFF"/>
              </a:solidFill>
              <a:latin typeface="Times New Roman" panose="02020603050405020304" pitchFamily="18" charset="0"/>
              <a:ea typeface="宋体" panose="02010600030101010101" pitchFamily="2" charset="-122"/>
            </a:endParaRPr>
          </a:p>
        </p:txBody>
      </p:sp>
      <p:graphicFrame>
        <p:nvGraphicFramePr>
          <p:cNvPr id="672810" name="Object 8">
            <a:extLst>
              <a:ext uri="{FF2B5EF4-FFF2-40B4-BE49-F238E27FC236}">
                <a16:creationId xmlns:a16="http://schemas.microsoft.com/office/drawing/2014/main" id="{063D97D4-0AD0-D71D-F86F-C0C9F39D368D}"/>
              </a:ext>
            </a:extLst>
          </p:cNvPr>
          <p:cNvGraphicFramePr>
            <a:graphicFrameLocks/>
          </p:cNvGraphicFramePr>
          <p:nvPr/>
        </p:nvGraphicFramePr>
        <p:xfrm>
          <a:off x="8496300" y="4271963"/>
          <a:ext cx="273050" cy="330200"/>
        </p:xfrm>
        <a:graphic>
          <a:graphicData uri="http://schemas.openxmlformats.org/presentationml/2006/ole">
            <mc:AlternateContent xmlns:mc="http://schemas.openxmlformats.org/markup-compatibility/2006">
              <mc:Choice xmlns:v="urn:schemas-microsoft-com:vml" Requires="v">
                <p:oleObj name="公式" r:id="rId15" imgW="297087" imgH="358112" progId="Equation.3">
                  <p:embed/>
                </p:oleObj>
              </mc:Choice>
              <mc:Fallback>
                <p:oleObj name="公式" r:id="rId15" imgW="297087" imgH="358112" progId="Equation.3">
                  <p:embed/>
                  <p:pic>
                    <p:nvPicPr>
                      <p:cNvPr id="0" name="Object 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96300" y="4271963"/>
                        <a:ext cx="27305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811" name="Text Box 43">
            <a:extLst>
              <a:ext uri="{FF2B5EF4-FFF2-40B4-BE49-F238E27FC236}">
                <a16:creationId xmlns:a16="http://schemas.microsoft.com/office/drawing/2014/main" id="{482D3B3B-76CC-801E-6EFD-0E6426FBDA39}"/>
              </a:ext>
            </a:extLst>
          </p:cNvPr>
          <p:cNvSpPr txBox="1">
            <a:spLocks noChangeArrowheads="1"/>
          </p:cNvSpPr>
          <p:nvPr/>
        </p:nvSpPr>
        <p:spPr bwMode="auto">
          <a:xfrm>
            <a:off x="7134225" y="433705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A</a:t>
            </a:r>
          </a:p>
        </p:txBody>
      </p:sp>
      <p:graphicFrame>
        <p:nvGraphicFramePr>
          <p:cNvPr id="672812" name="Object 9">
            <a:extLst>
              <a:ext uri="{FF2B5EF4-FFF2-40B4-BE49-F238E27FC236}">
                <a16:creationId xmlns:a16="http://schemas.microsoft.com/office/drawing/2014/main" id="{F7D50035-EDAC-ADCC-7465-D73D1517C38C}"/>
              </a:ext>
            </a:extLst>
          </p:cNvPr>
          <p:cNvGraphicFramePr>
            <a:graphicFrameLocks/>
          </p:cNvGraphicFramePr>
          <p:nvPr/>
        </p:nvGraphicFramePr>
        <p:xfrm>
          <a:off x="6586538" y="2586038"/>
          <a:ext cx="201612" cy="215900"/>
        </p:xfrm>
        <a:graphic>
          <a:graphicData uri="http://schemas.openxmlformats.org/presentationml/2006/ole">
            <mc:AlternateContent xmlns:mc="http://schemas.openxmlformats.org/markup-compatibility/2006">
              <mc:Choice xmlns:v="urn:schemas-microsoft-com:vml" Requires="v">
                <p:oleObj name="公式" r:id="rId17" imgW="198058" imgH="205989" progId="Equation.3">
                  <p:embed/>
                </p:oleObj>
              </mc:Choice>
              <mc:Fallback>
                <p:oleObj name="公式" r:id="rId17" imgW="198058" imgH="205989" progId="Equation.3">
                  <p:embed/>
                  <p:pic>
                    <p:nvPicPr>
                      <p:cNvPr id="0" name="Object 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86538" y="2586038"/>
                        <a:ext cx="201612"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813" name="AutoShape 45">
            <a:extLst>
              <a:ext uri="{FF2B5EF4-FFF2-40B4-BE49-F238E27FC236}">
                <a16:creationId xmlns:a16="http://schemas.microsoft.com/office/drawing/2014/main" id="{2EF2EE90-8190-DB25-EB95-EDD485A951CB}"/>
              </a:ext>
            </a:extLst>
          </p:cNvPr>
          <p:cNvSpPr>
            <a:spLocks noChangeArrowheads="1"/>
          </p:cNvSpPr>
          <p:nvPr/>
        </p:nvSpPr>
        <p:spPr bwMode="auto">
          <a:xfrm>
            <a:off x="1727200" y="1565275"/>
            <a:ext cx="504825" cy="215900"/>
          </a:xfrm>
          <a:prstGeom prst="rightArrow">
            <a:avLst>
              <a:gd name="adj1" fmla="val 50000"/>
              <a:gd name="adj2" fmla="val 5845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14" name="AutoShape 46">
            <a:extLst>
              <a:ext uri="{FF2B5EF4-FFF2-40B4-BE49-F238E27FC236}">
                <a16:creationId xmlns:a16="http://schemas.microsoft.com/office/drawing/2014/main" id="{621D839D-35E1-1C32-5312-949EC6D9ECD9}"/>
              </a:ext>
            </a:extLst>
          </p:cNvPr>
          <p:cNvSpPr>
            <a:spLocks noChangeArrowheads="1"/>
          </p:cNvSpPr>
          <p:nvPr/>
        </p:nvSpPr>
        <p:spPr bwMode="auto">
          <a:xfrm>
            <a:off x="5135563" y="1552575"/>
            <a:ext cx="504825" cy="215900"/>
          </a:xfrm>
          <a:prstGeom prst="rightArrow">
            <a:avLst>
              <a:gd name="adj1" fmla="val 50000"/>
              <a:gd name="adj2" fmla="val 5845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2815" name="AutoShape 47">
            <a:extLst>
              <a:ext uri="{FF2B5EF4-FFF2-40B4-BE49-F238E27FC236}">
                <a16:creationId xmlns:a16="http://schemas.microsoft.com/office/drawing/2014/main" id="{35151874-15DB-F638-C778-5AD5237DBA00}"/>
              </a:ext>
            </a:extLst>
          </p:cNvPr>
          <p:cNvSpPr>
            <a:spLocks noChangeArrowheads="1"/>
          </p:cNvSpPr>
          <p:nvPr/>
        </p:nvSpPr>
        <p:spPr bwMode="auto">
          <a:xfrm>
            <a:off x="5135563" y="1065213"/>
            <a:ext cx="504825" cy="215900"/>
          </a:xfrm>
          <a:prstGeom prst="rightArrow">
            <a:avLst>
              <a:gd name="adj1" fmla="val 50000"/>
              <a:gd name="adj2" fmla="val 5845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3" name="Group 48">
            <a:extLst>
              <a:ext uri="{FF2B5EF4-FFF2-40B4-BE49-F238E27FC236}">
                <a16:creationId xmlns:a16="http://schemas.microsoft.com/office/drawing/2014/main" id="{5ECAE649-779A-D3A7-6B12-AE524A0B1A3C}"/>
              </a:ext>
            </a:extLst>
          </p:cNvPr>
          <p:cNvGrpSpPr>
            <a:grpSpLocks/>
          </p:cNvGrpSpPr>
          <p:nvPr/>
        </p:nvGrpSpPr>
        <p:grpSpPr bwMode="auto">
          <a:xfrm>
            <a:off x="6805613" y="4216400"/>
            <a:ext cx="612775" cy="457200"/>
            <a:chOff x="4016" y="2870"/>
            <a:chExt cx="386" cy="288"/>
          </a:xfrm>
        </p:grpSpPr>
        <p:sp>
          <p:nvSpPr>
            <p:cNvPr id="6206" name="Text Box 49">
              <a:extLst>
                <a:ext uri="{FF2B5EF4-FFF2-40B4-BE49-F238E27FC236}">
                  <a16:creationId xmlns:a16="http://schemas.microsoft.com/office/drawing/2014/main" id="{3CEA925A-64E5-8373-A410-AAE153F50E1F}"/>
                </a:ext>
              </a:extLst>
            </p:cNvPr>
            <p:cNvSpPr txBox="1">
              <a:spLocks noChangeArrowheads="1"/>
            </p:cNvSpPr>
            <p:nvPr/>
          </p:nvSpPr>
          <p:spPr bwMode="auto">
            <a:xfrm>
              <a:off x="4016" y="2870"/>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a:solidFill>
                    <a:srgbClr val="66FFFF"/>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672818" name="Arc 50">
              <a:extLst>
                <a:ext uri="{FF2B5EF4-FFF2-40B4-BE49-F238E27FC236}">
                  <a16:creationId xmlns:a16="http://schemas.microsoft.com/office/drawing/2014/main" id="{5811F9D4-DEB8-F4C1-DE15-DE140C4B3BE0}"/>
                </a:ext>
              </a:extLst>
            </p:cNvPr>
            <p:cNvSpPr>
              <a:spLocks/>
            </p:cNvSpPr>
            <p:nvPr/>
          </p:nvSpPr>
          <p:spPr bwMode="auto">
            <a:xfrm rot="7529080">
              <a:off x="4240" y="2821"/>
              <a:ext cx="100" cy="224"/>
            </a:xfrm>
            <a:custGeom>
              <a:avLst/>
              <a:gdLst>
                <a:gd name="G0" fmla="+- 0 0 0"/>
                <a:gd name="G1" fmla="+- 0 0 0"/>
                <a:gd name="G2" fmla="+- 21600 0 0"/>
                <a:gd name="T0" fmla="*/ 9420 w 9420"/>
                <a:gd name="T1" fmla="*/ 19438 h 21344"/>
                <a:gd name="T2" fmla="*/ 3318 w 9420"/>
                <a:gd name="T3" fmla="*/ 21344 h 21344"/>
                <a:gd name="T4" fmla="*/ 0 w 9420"/>
                <a:gd name="T5" fmla="*/ 0 h 21344"/>
              </a:gdLst>
              <a:ahLst/>
              <a:cxnLst>
                <a:cxn ang="0">
                  <a:pos x="T0" y="T1"/>
                </a:cxn>
                <a:cxn ang="0">
                  <a:pos x="T2" y="T3"/>
                </a:cxn>
                <a:cxn ang="0">
                  <a:pos x="T4" y="T5"/>
                </a:cxn>
              </a:cxnLst>
              <a:rect l="0" t="0" r="r" b="b"/>
              <a:pathLst>
                <a:path w="9420" h="21344" fill="none" extrusionOk="0">
                  <a:moveTo>
                    <a:pt x="9419" y="19437"/>
                  </a:moveTo>
                  <a:cubicBezTo>
                    <a:pt x="7491" y="20372"/>
                    <a:pt x="5435" y="21014"/>
                    <a:pt x="3317" y="21343"/>
                  </a:cubicBezTo>
                </a:path>
                <a:path w="9420" h="21344" stroke="0" extrusionOk="0">
                  <a:moveTo>
                    <a:pt x="9419" y="19437"/>
                  </a:moveTo>
                  <a:cubicBezTo>
                    <a:pt x="7491" y="20372"/>
                    <a:pt x="5435" y="21014"/>
                    <a:pt x="3317" y="21343"/>
                  </a:cubicBezTo>
                  <a:lnTo>
                    <a:pt x="0" y="0"/>
                  </a:lnTo>
                  <a:close/>
                </a:path>
              </a:pathLst>
            </a:cu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aphicFrame>
        <p:nvGraphicFramePr>
          <p:cNvPr id="672819" name="Object 10">
            <a:extLst>
              <a:ext uri="{FF2B5EF4-FFF2-40B4-BE49-F238E27FC236}">
                <a16:creationId xmlns:a16="http://schemas.microsoft.com/office/drawing/2014/main" id="{875E22BA-7A24-E4BE-40A1-EA75B10B9026}"/>
              </a:ext>
            </a:extLst>
          </p:cNvPr>
          <p:cNvGraphicFramePr>
            <a:graphicFrameLocks/>
          </p:cNvGraphicFramePr>
          <p:nvPr/>
        </p:nvGraphicFramePr>
        <p:xfrm>
          <a:off x="3200400" y="2514600"/>
          <a:ext cx="857250" cy="576263"/>
        </p:xfrm>
        <a:graphic>
          <a:graphicData uri="http://schemas.openxmlformats.org/presentationml/2006/ole">
            <mc:AlternateContent xmlns:mc="http://schemas.openxmlformats.org/markup-compatibility/2006">
              <mc:Choice xmlns:v="urn:schemas-microsoft-com:vml" Requires="v">
                <p:oleObj name="公式" r:id="rId19" imgW="373224" imgH="236414" progId="Equation.3">
                  <p:embed/>
                </p:oleObj>
              </mc:Choice>
              <mc:Fallback>
                <p:oleObj name="公式" r:id="rId19" imgW="373224" imgH="236414" progId="Equation.3">
                  <p:embed/>
                  <p:pic>
                    <p:nvPicPr>
                      <p:cNvPr id="0" name="Object 1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0400" y="2514600"/>
                        <a:ext cx="85725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2820" name="Object 11">
            <a:extLst>
              <a:ext uri="{FF2B5EF4-FFF2-40B4-BE49-F238E27FC236}">
                <a16:creationId xmlns:a16="http://schemas.microsoft.com/office/drawing/2014/main" id="{1995F621-33A9-5202-BFD1-DBDFEC02C274}"/>
              </a:ext>
            </a:extLst>
          </p:cNvPr>
          <p:cNvGraphicFramePr>
            <a:graphicFrameLocks/>
          </p:cNvGraphicFramePr>
          <p:nvPr/>
        </p:nvGraphicFramePr>
        <p:xfrm>
          <a:off x="555625" y="4286250"/>
          <a:ext cx="4279900" cy="544513"/>
        </p:xfrm>
        <a:graphic>
          <a:graphicData uri="http://schemas.openxmlformats.org/presentationml/2006/ole">
            <mc:AlternateContent xmlns:mc="http://schemas.openxmlformats.org/markup-compatibility/2006">
              <mc:Choice xmlns:v="urn:schemas-microsoft-com:vml" Requires="v">
                <p:oleObj name="公式" r:id="rId21" imgW="1897473" imgH="220952" progId="Equation.3">
                  <p:embed/>
                </p:oleObj>
              </mc:Choice>
              <mc:Fallback>
                <p:oleObj name="公式" r:id="rId21" imgW="1897473" imgH="220952" progId="Equation.3">
                  <p:embed/>
                  <p:pic>
                    <p:nvPicPr>
                      <p:cNvPr id="0" name="Object 11"/>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5625" y="4286250"/>
                        <a:ext cx="427990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2821" name="Object 12">
            <a:extLst>
              <a:ext uri="{FF2B5EF4-FFF2-40B4-BE49-F238E27FC236}">
                <a16:creationId xmlns:a16="http://schemas.microsoft.com/office/drawing/2014/main" id="{95B7D227-DF60-F164-62AC-76E5919C529A}"/>
              </a:ext>
            </a:extLst>
          </p:cNvPr>
          <p:cNvGraphicFramePr>
            <a:graphicFrameLocks/>
          </p:cNvGraphicFramePr>
          <p:nvPr/>
        </p:nvGraphicFramePr>
        <p:xfrm>
          <a:off x="4065588" y="2514600"/>
          <a:ext cx="827087" cy="546100"/>
        </p:xfrm>
        <a:graphic>
          <a:graphicData uri="http://schemas.openxmlformats.org/presentationml/2006/ole">
            <mc:AlternateContent xmlns:mc="http://schemas.openxmlformats.org/markup-compatibility/2006">
              <mc:Choice xmlns:v="urn:schemas-microsoft-com:vml" Requires="v">
                <p:oleObj name="公式" r:id="rId23" imgW="358296" imgH="220952" progId="Equation.3">
                  <p:embed/>
                </p:oleObj>
              </mc:Choice>
              <mc:Fallback>
                <p:oleObj name="公式" r:id="rId23" imgW="358296" imgH="220952" progId="Equation.3">
                  <p:embed/>
                  <p:pic>
                    <p:nvPicPr>
                      <p:cNvPr id="0" name="Object 12"/>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65588" y="2514600"/>
                        <a:ext cx="827087"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822" name="Text Box 54">
            <a:extLst>
              <a:ext uri="{FF2B5EF4-FFF2-40B4-BE49-F238E27FC236}">
                <a16:creationId xmlns:a16="http://schemas.microsoft.com/office/drawing/2014/main" id="{65C03B61-1C66-B2CE-8191-2DE4F39DAF44}"/>
              </a:ext>
            </a:extLst>
          </p:cNvPr>
          <p:cNvSpPr txBox="1">
            <a:spLocks noChangeArrowheads="1"/>
          </p:cNvSpPr>
          <p:nvPr/>
        </p:nvSpPr>
        <p:spPr bwMode="auto">
          <a:xfrm>
            <a:off x="358775" y="2994025"/>
            <a:ext cx="5489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力 </a:t>
            </a:r>
            <a:r>
              <a:rPr lang="en-US" altLang="zh-CN" i="1">
                <a:solidFill>
                  <a:srgbClr val="66FFFF"/>
                </a:solidFill>
                <a:latin typeface="Times New Roman" panose="02020603050405020304" pitchFamily="18" charset="0"/>
                <a:ea typeface="宋体" panose="02010600030101010101" pitchFamily="2" charset="-122"/>
              </a:rPr>
              <a:t>F</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对</a:t>
            </a:r>
            <a:r>
              <a:rPr lang="en-US" altLang="zh-CN" i="1">
                <a:solidFill>
                  <a:srgbClr val="66FFFF"/>
                </a:solidFill>
                <a:latin typeface="Times New Roman" panose="02020603050405020304" pitchFamily="18" charset="0"/>
                <a:ea typeface="宋体" panose="02010600030101010101" pitchFamily="2" charset="-122"/>
              </a:rPr>
              <a:t>z</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轴的力矩</a:t>
            </a:r>
            <a:r>
              <a:rPr lang="en-US" altLang="zh-CN" sz="1800">
                <a:solidFill>
                  <a:srgbClr val="FF3300"/>
                </a:solidFill>
                <a:latin typeface="楷体_GB2312" pitchFamily="49" charset="-122"/>
                <a:ea typeface="楷体_GB2312" pitchFamily="49" charset="-122"/>
              </a:rPr>
              <a:t>(</a:t>
            </a:r>
            <a:r>
              <a:rPr lang="zh-CN" altLang="en-US" sz="1800">
                <a:solidFill>
                  <a:srgbClr val="FF3300"/>
                </a:solidFill>
                <a:latin typeface="楷体_GB2312" pitchFamily="49" charset="-122"/>
                <a:ea typeface="楷体_GB2312" pitchFamily="49" charset="-122"/>
              </a:rPr>
              <a:t>力不在垂直于轴的平面内</a:t>
            </a:r>
            <a:r>
              <a:rPr lang="en-US" altLang="zh-CN" sz="1800">
                <a:solidFill>
                  <a:srgbClr val="FF3300"/>
                </a:solidFill>
                <a:latin typeface="楷体_GB2312" pitchFamily="49" charset="-122"/>
                <a:ea typeface="楷体_GB2312" pitchFamily="49" charset="-122"/>
              </a:rPr>
              <a:t>)</a:t>
            </a:r>
            <a:endParaRPr lang="en-US" altLang="zh-CN" sz="1800" i="1">
              <a:solidFill>
                <a:srgbClr val="FF3300"/>
              </a:solidFill>
              <a:latin typeface="楷体_GB2312" pitchFamily="49" charset="-122"/>
              <a:ea typeface="楷体_GB2312" pitchFamily="49" charset="-122"/>
            </a:endParaRPr>
          </a:p>
        </p:txBody>
      </p:sp>
      <p:graphicFrame>
        <p:nvGraphicFramePr>
          <p:cNvPr id="672823" name="Object 13">
            <a:extLst>
              <a:ext uri="{FF2B5EF4-FFF2-40B4-BE49-F238E27FC236}">
                <a16:creationId xmlns:a16="http://schemas.microsoft.com/office/drawing/2014/main" id="{8E839F7C-6240-D7B6-6A5C-F3C6370B49A9}"/>
              </a:ext>
            </a:extLst>
          </p:cNvPr>
          <p:cNvGraphicFramePr>
            <a:graphicFrameLocks/>
          </p:cNvGraphicFramePr>
          <p:nvPr/>
        </p:nvGraphicFramePr>
        <p:xfrm>
          <a:off x="8601075" y="2854325"/>
          <a:ext cx="273050" cy="330200"/>
        </p:xfrm>
        <a:graphic>
          <a:graphicData uri="http://schemas.openxmlformats.org/presentationml/2006/ole">
            <mc:AlternateContent xmlns:mc="http://schemas.openxmlformats.org/markup-compatibility/2006">
              <mc:Choice xmlns:v="urn:schemas-microsoft-com:vml" Requires="v">
                <p:oleObj name="公式" r:id="rId15" imgW="297087" imgH="358112" progId="Equation.3">
                  <p:embed/>
                </p:oleObj>
              </mc:Choice>
              <mc:Fallback>
                <p:oleObj name="公式" r:id="rId15" imgW="297087" imgH="358112" progId="Equation.3">
                  <p:embed/>
                  <p:pic>
                    <p:nvPicPr>
                      <p:cNvPr id="0" name="Object 13"/>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601075" y="2854325"/>
                        <a:ext cx="27305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2824" name="Text Box 56">
            <a:extLst>
              <a:ext uri="{FF2B5EF4-FFF2-40B4-BE49-F238E27FC236}">
                <a16:creationId xmlns:a16="http://schemas.microsoft.com/office/drawing/2014/main" id="{CB37B5A1-709B-0EDE-1EC2-6E4420681C6B}"/>
              </a:ext>
            </a:extLst>
          </p:cNvPr>
          <p:cNvSpPr txBox="1">
            <a:spLocks noChangeArrowheads="1"/>
          </p:cNvSpPr>
          <p:nvPr/>
        </p:nvSpPr>
        <p:spPr bwMode="auto">
          <a:xfrm>
            <a:off x="615950" y="4762500"/>
            <a:ext cx="46545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a:solidFill>
                  <a:srgbClr val="66FFFF"/>
                </a:solidFill>
                <a:latin typeface="Times New Roman" panose="02020603050405020304" pitchFamily="18" charset="0"/>
                <a:ea typeface="宋体" panose="02010600030101010101" pitchFamily="2" charset="-122"/>
              </a:rPr>
              <a:t>力矩取决于力的大小、方向和作用点</a:t>
            </a:r>
          </a:p>
        </p:txBody>
      </p:sp>
      <p:sp>
        <p:nvSpPr>
          <p:cNvPr id="672825" name="Text Box 57">
            <a:extLst>
              <a:ext uri="{FF2B5EF4-FFF2-40B4-BE49-F238E27FC236}">
                <a16:creationId xmlns:a16="http://schemas.microsoft.com/office/drawing/2014/main" id="{770DBED0-08A2-6F2E-81FF-6E19F9E11C3F}"/>
              </a:ext>
            </a:extLst>
          </p:cNvPr>
          <p:cNvSpPr txBox="1">
            <a:spLocks noChangeArrowheads="1"/>
          </p:cNvSpPr>
          <p:nvPr/>
        </p:nvSpPr>
        <p:spPr bwMode="auto">
          <a:xfrm>
            <a:off x="623888" y="5657850"/>
            <a:ext cx="43402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在刚体的定轴转动中，力矩只有两个指向</a:t>
            </a:r>
            <a:r>
              <a:rPr lang="zh-CN" altLang="en-US">
                <a:solidFill>
                  <a:srgbClr val="FF3300"/>
                </a:solidFill>
                <a:latin typeface="Times New Roman" panose="02020603050405020304" pitchFamily="18" charset="0"/>
                <a:ea typeface="宋体" panose="02010600030101010101" pitchFamily="2" charset="-122"/>
              </a:rPr>
              <a:t>（</a:t>
            </a:r>
            <a:r>
              <a:rPr lang="en-US" altLang="zh-CN" i="1">
                <a:solidFill>
                  <a:srgbClr val="FF3300"/>
                </a:solidFill>
                <a:latin typeface="Times New Roman" panose="02020603050405020304" pitchFamily="18" charset="0"/>
                <a:ea typeface="宋体" panose="02010600030101010101" pitchFamily="2" charset="-122"/>
              </a:rPr>
              <a:t>r</a:t>
            </a:r>
            <a:r>
              <a:rPr lang="en-US" altLang="zh-CN">
                <a:solidFill>
                  <a:srgbClr val="FF3300"/>
                </a:solidFill>
                <a:latin typeface="Times New Roman" panose="02020603050405020304" pitchFamily="18" charset="0"/>
                <a:ea typeface="宋体" panose="02010600030101010101" pitchFamily="2" charset="-122"/>
              </a:rPr>
              <a:t> </a:t>
            </a:r>
            <a:r>
              <a:rPr lang="en-US" altLang="zh-CN">
                <a:solidFill>
                  <a:srgbClr val="FF33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a:solidFill>
                  <a:srgbClr val="FF3300"/>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000">
                <a:solidFill>
                  <a:srgbClr val="FF3300"/>
                </a:solidFill>
                <a:latin typeface="Times New Roman" panose="02020603050405020304" pitchFamily="18" charset="0"/>
                <a:ea typeface="楷体_GB2312" pitchFamily="49" charset="-122"/>
                <a:cs typeface="Times New Roman" panose="02020603050405020304" pitchFamily="18" charset="0"/>
              </a:rPr>
              <a:t>右手螺旋</a:t>
            </a:r>
            <a:r>
              <a:rPr lang="zh-CN" altLang="en-US">
                <a:solidFill>
                  <a:srgbClr val="FF3300"/>
                </a:solidFill>
                <a:latin typeface="Times New Roman" panose="02020603050405020304" pitchFamily="18" charset="0"/>
                <a:ea typeface="宋体" panose="02010600030101010101" pitchFamily="2" charset="-122"/>
              </a:rPr>
              <a:t>）</a:t>
            </a:r>
          </a:p>
        </p:txBody>
      </p:sp>
      <p:sp>
        <p:nvSpPr>
          <p:cNvPr id="672826" name="Rectangle 58">
            <a:extLst>
              <a:ext uri="{FF2B5EF4-FFF2-40B4-BE49-F238E27FC236}">
                <a16:creationId xmlns:a16="http://schemas.microsoft.com/office/drawing/2014/main" id="{92104AA6-025F-FFDE-AB33-83A728A98970}"/>
              </a:ext>
            </a:extLst>
          </p:cNvPr>
          <p:cNvSpPr>
            <a:spLocks noChangeArrowheads="1"/>
          </p:cNvSpPr>
          <p:nvPr/>
        </p:nvSpPr>
        <p:spPr bwMode="auto">
          <a:xfrm>
            <a:off x="214313" y="4765675"/>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sp>
        <p:nvSpPr>
          <p:cNvPr id="672827" name="Rectangle 59">
            <a:extLst>
              <a:ext uri="{FF2B5EF4-FFF2-40B4-BE49-F238E27FC236}">
                <a16:creationId xmlns:a16="http://schemas.microsoft.com/office/drawing/2014/main" id="{2375068C-2792-2785-6A4D-9C6D86F0A5C1}"/>
              </a:ext>
            </a:extLst>
          </p:cNvPr>
          <p:cNvSpPr>
            <a:spLocks noChangeArrowheads="1"/>
          </p:cNvSpPr>
          <p:nvPr/>
        </p:nvSpPr>
        <p:spPr bwMode="auto">
          <a:xfrm>
            <a:off x="209550" y="5561013"/>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graphicFrame>
        <p:nvGraphicFramePr>
          <p:cNvPr id="672828" name="Object 14">
            <a:extLst>
              <a:ext uri="{FF2B5EF4-FFF2-40B4-BE49-F238E27FC236}">
                <a16:creationId xmlns:a16="http://schemas.microsoft.com/office/drawing/2014/main" id="{136A4BDB-C00A-692B-A3C1-0771FBEAB866}"/>
              </a:ext>
            </a:extLst>
          </p:cNvPr>
          <p:cNvGraphicFramePr>
            <a:graphicFrameLocks/>
          </p:cNvGraphicFramePr>
          <p:nvPr/>
        </p:nvGraphicFramePr>
        <p:xfrm>
          <a:off x="5810250" y="5759450"/>
          <a:ext cx="1749425" cy="457200"/>
        </p:xfrm>
        <a:graphic>
          <a:graphicData uri="http://schemas.openxmlformats.org/presentationml/2006/ole">
            <mc:AlternateContent xmlns:mc="http://schemas.openxmlformats.org/markup-compatibility/2006">
              <mc:Choice xmlns:v="urn:schemas-microsoft-com:vml" Requires="v">
                <p:oleObj name="公式" r:id="rId26" imgW="1745198" imgH="449386" progId="Equation.3">
                  <p:embed/>
                </p:oleObj>
              </mc:Choice>
              <mc:Fallback>
                <p:oleObj name="公式" r:id="rId26" imgW="1745198" imgH="449386" progId="Equation.3">
                  <p:embed/>
                  <p:pic>
                    <p:nvPicPr>
                      <p:cNvPr id="0" name="Object 14"/>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10250" y="5759450"/>
                        <a:ext cx="17494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72829" name="Picture 61" descr="j0293240">
            <a:extLst>
              <a:ext uri="{FF2B5EF4-FFF2-40B4-BE49-F238E27FC236}">
                <a16:creationId xmlns:a16="http://schemas.microsoft.com/office/drawing/2014/main" id="{0DA27E7F-57AE-1B93-A0E6-230F0E8E7B6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532813" y="614521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2830" name="Text Box 62">
            <a:extLst>
              <a:ext uri="{FF2B5EF4-FFF2-40B4-BE49-F238E27FC236}">
                <a16:creationId xmlns:a16="http://schemas.microsoft.com/office/drawing/2014/main" id="{FC1A2138-5B5F-7803-46C6-533025962AB8}"/>
              </a:ext>
            </a:extLst>
          </p:cNvPr>
          <p:cNvSpPr txBox="1">
            <a:spLocks noChangeArrowheads="1"/>
          </p:cNvSpPr>
          <p:nvPr/>
        </p:nvSpPr>
        <p:spPr bwMode="auto">
          <a:xfrm>
            <a:off x="449263" y="3930650"/>
            <a:ext cx="5489575" cy="39687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sz="2000">
                <a:solidFill>
                  <a:srgbClr val="00FFFF"/>
                </a:solidFill>
                <a:effectLst>
                  <a:outerShdw blurRad="38100" dist="38100" dir="2700000" algn="tl">
                    <a:srgbClr val="000000"/>
                  </a:outerShdw>
                </a:effectLst>
                <a:latin typeface="Times New Roman" pitchFamily="18" charset="0"/>
              </a:rPr>
              <a:t>在定轴转动中，只有    起作用</a:t>
            </a:r>
            <a:endParaRPr kumimoji="1" lang="zh-CN" altLang="en-US" sz="2000">
              <a:solidFill>
                <a:srgbClr val="00FFFF"/>
              </a:solidFill>
              <a:latin typeface="Times New Roman" pitchFamily="18" charset="0"/>
            </a:endParaRPr>
          </a:p>
        </p:txBody>
      </p:sp>
      <p:sp>
        <p:nvSpPr>
          <p:cNvPr id="672831" name="Rectangle 63">
            <a:extLst>
              <a:ext uri="{FF2B5EF4-FFF2-40B4-BE49-F238E27FC236}">
                <a16:creationId xmlns:a16="http://schemas.microsoft.com/office/drawing/2014/main" id="{0A068C6A-2571-8D16-4DBD-1B2EABE3F26A}"/>
              </a:ext>
            </a:extLst>
          </p:cNvPr>
          <p:cNvSpPr>
            <a:spLocks noChangeArrowheads="1"/>
          </p:cNvSpPr>
          <p:nvPr/>
        </p:nvSpPr>
        <p:spPr bwMode="auto">
          <a:xfrm>
            <a:off x="430213" y="3473450"/>
            <a:ext cx="4591050" cy="396875"/>
          </a:xfrm>
          <a:prstGeom prst="rect">
            <a:avLst/>
          </a:prstGeom>
          <a:noFill/>
          <a:ln w="12700">
            <a:noFill/>
            <a:miter lim="800000"/>
            <a:headEnd type="none" w="sm" len="sm"/>
            <a:tailEnd type="none" w="sm" len="sm"/>
          </a:ln>
          <a:effectLst/>
        </p:spPr>
        <p:txBody>
          <a:bodyPr wrap="none">
            <a:spAutoFit/>
          </a:bodyPr>
          <a:lstStyle/>
          <a:p>
            <a:pPr>
              <a:defRPr/>
            </a:pPr>
            <a:r>
              <a:rPr kumimoji="1" lang="zh-CN" altLang="en-US" sz="2000">
                <a:solidFill>
                  <a:srgbClr val="00FFFF"/>
                </a:solidFill>
                <a:effectLst>
                  <a:outerShdw blurRad="38100" dist="38100" dir="2700000" algn="tl">
                    <a:srgbClr val="000000"/>
                  </a:outerShdw>
                </a:effectLst>
                <a:latin typeface="Times New Roman" pitchFamily="18" charset="0"/>
              </a:rPr>
              <a:t>平行于转轴     分量不能使刚体发生转动</a:t>
            </a:r>
          </a:p>
        </p:txBody>
      </p:sp>
      <p:graphicFrame>
        <p:nvGraphicFramePr>
          <p:cNvPr id="672832" name="Object 15">
            <a:extLst>
              <a:ext uri="{FF2B5EF4-FFF2-40B4-BE49-F238E27FC236}">
                <a16:creationId xmlns:a16="http://schemas.microsoft.com/office/drawing/2014/main" id="{D40321FE-4D83-705F-4565-4C5FCB11710B}"/>
              </a:ext>
            </a:extLst>
          </p:cNvPr>
          <p:cNvGraphicFramePr>
            <a:graphicFrameLocks noChangeAspect="1"/>
          </p:cNvGraphicFramePr>
          <p:nvPr/>
        </p:nvGraphicFramePr>
        <p:xfrm>
          <a:off x="2795588" y="3973513"/>
          <a:ext cx="306387" cy="346075"/>
        </p:xfrm>
        <a:graphic>
          <a:graphicData uri="http://schemas.openxmlformats.org/presentationml/2006/ole">
            <mc:AlternateContent xmlns:mc="http://schemas.openxmlformats.org/markup-compatibility/2006">
              <mc:Choice xmlns:v="urn:schemas-microsoft-com:vml" Requires="v">
                <p:oleObj name="公式" r:id="rId29" imgW="396116" imgH="449386" progId="Equation.3">
                  <p:embed/>
                </p:oleObj>
              </mc:Choice>
              <mc:Fallback>
                <p:oleObj name="公式" r:id="rId29" imgW="396116" imgH="449386" progId="Equation.3">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795588" y="3973513"/>
                        <a:ext cx="306387"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2833" name="Object 16">
            <a:extLst>
              <a:ext uri="{FF2B5EF4-FFF2-40B4-BE49-F238E27FC236}">
                <a16:creationId xmlns:a16="http://schemas.microsoft.com/office/drawing/2014/main" id="{8C2110E4-23A2-518C-6D3F-6E697E5F4D67}"/>
              </a:ext>
            </a:extLst>
          </p:cNvPr>
          <p:cNvGraphicFramePr>
            <a:graphicFrameLocks noChangeAspect="1"/>
          </p:cNvGraphicFramePr>
          <p:nvPr/>
        </p:nvGraphicFramePr>
        <p:xfrm>
          <a:off x="1824038" y="3500438"/>
          <a:ext cx="336550" cy="346075"/>
        </p:xfrm>
        <a:graphic>
          <a:graphicData uri="http://schemas.openxmlformats.org/presentationml/2006/ole">
            <mc:AlternateContent xmlns:mc="http://schemas.openxmlformats.org/markup-compatibility/2006">
              <mc:Choice xmlns:v="urn:schemas-microsoft-com:vml" Requires="v">
                <p:oleObj name="公式" r:id="rId31" imgW="434433" imgH="449386" progId="Equation.3">
                  <p:embed/>
                </p:oleObj>
              </mc:Choice>
              <mc:Fallback>
                <p:oleObj name="公式" r:id="rId31" imgW="434433" imgH="449386" progId="Equation.3">
                  <p:embed/>
                  <p:pic>
                    <p:nvPicPr>
                      <p:cNvPr id="0" name="Object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824038" y="3500438"/>
                        <a:ext cx="3365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2770"/>
                                        </p:tgtEl>
                                        <p:attrNameLst>
                                          <p:attrName>style.visibility</p:attrName>
                                        </p:attrNameLst>
                                      </p:cBhvr>
                                      <p:to>
                                        <p:strVal val="visible"/>
                                      </p:to>
                                    </p:set>
                                    <p:animEffect transition="in" filter="wipe(left)">
                                      <p:cBhvr>
                                        <p:cTn id="7" dur="500"/>
                                        <p:tgtEl>
                                          <p:spTgt spid="672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2771"/>
                                        </p:tgtEl>
                                        <p:attrNameLst>
                                          <p:attrName>style.visibility</p:attrName>
                                        </p:attrNameLst>
                                      </p:cBhvr>
                                      <p:to>
                                        <p:strVal val="visible"/>
                                      </p:to>
                                    </p:set>
                                    <p:animEffect transition="in" filter="wipe(left)">
                                      <p:cBhvr>
                                        <p:cTn id="12" dur="500"/>
                                        <p:tgtEl>
                                          <p:spTgt spid="6727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72777"/>
                                        </p:tgtEl>
                                        <p:attrNameLst>
                                          <p:attrName>style.visibility</p:attrName>
                                        </p:attrNameLst>
                                      </p:cBhvr>
                                      <p:to>
                                        <p:strVal val="visible"/>
                                      </p:to>
                                    </p:set>
                                    <p:animEffect transition="in" filter="wipe(left)">
                                      <p:cBhvr>
                                        <p:cTn id="17" dur="500"/>
                                        <p:tgtEl>
                                          <p:spTgt spid="6727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72772"/>
                                        </p:tgtEl>
                                        <p:attrNameLst>
                                          <p:attrName>style.visibility</p:attrName>
                                        </p:attrNameLst>
                                      </p:cBhvr>
                                      <p:to>
                                        <p:strVal val="visible"/>
                                      </p:to>
                                    </p:set>
                                    <p:animEffect transition="in" filter="wipe(left)">
                                      <p:cBhvr>
                                        <p:cTn id="22" dur="500"/>
                                        <p:tgtEl>
                                          <p:spTgt spid="6727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72781"/>
                                        </p:tgtEl>
                                        <p:attrNameLst>
                                          <p:attrName>style.visibility</p:attrName>
                                        </p:attrNameLst>
                                      </p:cBhvr>
                                      <p:to>
                                        <p:strVal val="visible"/>
                                      </p:to>
                                    </p:set>
                                    <p:animEffect transition="in" filter="wipe(left)">
                                      <p:cBhvr>
                                        <p:cTn id="27" dur="500"/>
                                        <p:tgtEl>
                                          <p:spTgt spid="6727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72780"/>
                                        </p:tgtEl>
                                        <p:attrNameLst>
                                          <p:attrName>style.visibility</p:attrName>
                                        </p:attrNameLst>
                                      </p:cBhvr>
                                      <p:to>
                                        <p:strVal val="visible"/>
                                      </p:to>
                                    </p:set>
                                    <p:animEffect transition="in" filter="wipe(left)">
                                      <p:cBhvr>
                                        <p:cTn id="32" dur="500"/>
                                        <p:tgtEl>
                                          <p:spTgt spid="6727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72815"/>
                                        </p:tgtEl>
                                        <p:attrNameLst>
                                          <p:attrName>style.visibility</p:attrName>
                                        </p:attrNameLst>
                                      </p:cBhvr>
                                      <p:to>
                                        <p:strVal val="visible"/>
                                      </p:to>
                                    </p:set>
                                    <p:animEffect transition="in" filter="wipe(left)">
                                      <p:cBhvr>
                                        <p:cTn id="37" dur="500"/>
                                        <p:tgtEl>
                                          <p:spTgt spid="6728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72779"/>
                                        </p:tgtEl>
                                        <p:attrNameLst>
                                          <p:attrName>style.visibility</p:attrName>
                                        </p:attrNameLst>
                                      </p:cBhvr>
                                      <p:to>
                                        <p:strVal val="visible"/>
                                      </p:to>
                                    </p:set>
                                    <p:animEffect transition="in" filter="wipe(left)">
                                      <p:cBhvr>
                                        <p:cTn id="42" dur="500"/>
                                        <p:tgtEl>
                                          <p:spTgt spid="6727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72778"/>
                                        </p:tgtEl>
                                        <p:attrNameLst>
                                          <p:attrName>style.visibility</p:attrName>
                                        </p:attrNameLst>
                                      </p:cBhvr>
                                      <p:to>
                                        <p:strVal val="visible"/>
                                      </p:to>
                                    </p:set>
                                    <p:animEffect transition="in" filter="wipe(left)">
                                      <p:cBhvr>
                                        <p:cTn id="47" dur="500"/>
                                        <p:tgtEl>
                                          <p:spTgt spid="67277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72773"/>
                                        </p:tgtEl>
                                        <p:attrNameLst>
                                          <p:attrName>style.visibility</p:attrName>
                                        </p:attrNameLst>
                                      </p:cBhvr>
                                      <p:to>
                                        <p:strVal val="visible"/>
                                      </p:to>
                                    </p:set>
                                    <p:animEffect transition="in" filter="wipe(left)">
                                      <p:cBhvr>
                                        <p:cTn id="52" dur="500"/>
                                        <p:tgtEl>
                                          <p:spTgt spid="67277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72814"/>
                                        </p:tgtEl>
                                        <p:attrNameLst>
                                          <p:attrName>style.visibility</p:attrName>
                                        </p:attrNameLst>
                                      </p:cBhvr>
                                      <p:to>
                                        <p:strVal val="visible"/>
                                      </p:to>
                                    </p:set>
                                    <p:animEffect transition="in" filter="wipe(left)">
                                      <p:cBhvr>
                                        <p:cTn id="57" dur="500"/>
                                        <p:tgtEl>
                                          <p:spTgt spid="67281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72774"/>
                                        </p:tgtEl>
                                        <p:attrNameLst>
                                          <p:attrName>style.visibility</p:attrName>
                                        </p:attrNameLst>
                                      </p:cBhvr>
                                      <p:to>
                                        <p:strVal val="visible"/>
                                      </p:to>
                                    </p:set>
                                    <p:animEffect transition="in" filter="wipe(left)">
                                      <p:cBhvr>
                                        <p:cTn id="62" dur="500"/>
                                        <p:tgtEl>
                                          <p:spTgt spid="67277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72813"/>
                                        </p:tgtEl>
                                        <p:attrNameLst>
                                          <p:attrName>style.visibility</p:attrName>
                                        </p:attrNameLst>
                                      </p:cBhvr>
                                      <p:to>
                                        <p:strVal val="visible"/>
                                      </p:to>
                                    </p:set>
                                    <p:animEffect transition="in" filter="wipe(left)">
                                      <p:cBhvr>
                                        <p:cTn id="67" dur="500"/>
                                        <p:tgtEl>
                                          <p:spTgt spid="67281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9" presetClass="entr" presetSubtype="10" fill="hold" nodeType="clickEffect">
                                  <p:stCondLst>
                                    <p:cond delay="0"/>
                                  </p:stCondLst>
                                  <p:childTnLst>
                                    <p:set>
                                      <p:cBhvr>
                                        <p:cTn id="71" dur="1" fill="hold">
                                          <p:stCondLst>
                                            <p:cond delay="0"/>
                                          </p:stCondLst>
                                        </p:cTn>
                                        <p:tgtEl>
                                          <p:spTgt spid="672782"/>
                                        </p:tgtEl>
                                        <p:attrNameLst>
                                          <p:attrName>style.visibility</p:attrName>
                                        </p:attrNameLst>
                                      </p:cBhvr>
                                      <p:to>
                                        <p:strVal val="visible"/>
                                      </p:to>
                                    </p:set>
                                    <p:anim calcmode="lin" valueType="num">
                                      <p:cBhvr>
                                        <p:cTn id="72" dur="5000" fill="hold"/>
                                        <p:tgtEl>
                                          <p:spTgt spid="672782"/>
                                        </p:tgtEl>
                                        <p:attrNameLst>
                                          <p:attrName>ppt_w</p:attrName>
                                        </p:attrNameLst>
                                      </p:cBhvr>
                                      <p:tavLst>
                                        <p:tav tm="0" fmla="#ppt_w*sin(2.5*pi*$)">
                                          <p:val>
                                            <p:fltVal val="0"/>
                                          </p:val>
                                        </p:tav>
                                        <p:tav tm="100000">
                                          <p:val>
                                            <p:fltVal val="1"/>
                                          </p:val>
                                        </p:tav>
                                      </p:tavLst>
                                    </p:anim>
                                    <p:anim calcmode="lin" valueType="num">
                                      <p:cBhvr>
                                        <p:cTn id="73" dur="5000" fill="hold"/>
                                        <p:tgtEl>
                                          <p:spTgt spid="672782"/>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3" presetClass="entr" presetSubtype="16" fill="hold" nodeType="clickEffect">
                                  <p:stCondLst>
                                    <p:cond delay="0"/>
                                  </p:stCondLst>
                                  <p:childTnLst>
                                    <p:set>
                                      <p:cBhvr>
                                        <p:cTn id="77" dur="1" fill="hold">
                                          <p:stCondLst>
                                            <p:cond delay="0"/>
                                          </p:stCondLst>
                                        </p:cTn>
                                        <p:tgtEl>
                                          <p:spTgt spid="672784"/>
                                        </p:tgtEl>
                                        <p:attrNameLst>
                                          <p:attrName>style.visibility</p:attrName>
                                        </p:attrNameLst>
                                      </p:cBhvr>
                                      <p:to>
                                        <p:strVal val="visible"/>
                                      </p:to>
                                    </p:set>
                                    <p:anim calcmode="lin" valueType="num">
                                      <p:cBhvr>
                                        <p:cTn id="78" dur="500" fill="hold"/>
                                        <p:tgtEl>
                                          <p:spTgt spid="672784"/>
                                        </p:tgtEl>
                                        <p:attrNameLst>
                                          <p:attrName>ppt_w</p:attrName>
                                        </p:attrNameLst>
                                      </p:cBhvr>
                                      <p:tavLst>
                                        <p:tav tm="0">
                                          <p:val>
                                            <p:fltVal val="0"/>
                                          </p:val>
                                        </p:tav>
                                        <p:tav tm="100000">
                                          <p:val>
                                            <p:strVal val="#ppt_w"/>
                                          </p:val>
                                        </p:tav>
                                      </p:tavLst>
                                    </p:anim>
                                    <p:anim calcmode="lin" valueType="num">
                                      <p:cBhvr>
                                        <p:cTn id="79" dur="500" fill="hold"/>
                                        <p:tgtEl>
                                          <p:spTgt spid="672784"/>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3" presetClass="entr" presetSubtype="16" fill="hold" nodeType="clickEffect">
                                  <p:stCondLst>
                                    <p:cond delay="0"/>
                                  </p:stCondLst>
                                  <p:childTnLst>
                                    <p:set>
                                      <p:cBhvr>
                                        <p:cTn id="83" dur="1" fill="hold">
                                          <p:stCondLst>
                                            <p:cond delay="0"/>
                                          </p:stCondLst>
                                        </p:cTn>
                                        <p:tgtEl>
                                          <p:spTgt spid="672785"/>
                                        </p:tgtEl>
                                        <p:attrNameLst>
                                          <p:attrName>style.visibility</p:attrName>
                                        </p:attrNameLst>
                                      </p:cBhvr>
                                      <p:to>
                                        <p:strVal val="visible"/>
                                      </p:to>
                                    </p:set>
                                    <p:anim calcmode="lin" valueType="num">
                                      <p:cBhvr>
                                        <p:cTn id="84" dur="500" fill="hold"/>
                                        <p:tgtEl>
                                          <p:spTgt spid="672785"/>
                                        </p:tgtEl>
                                        <p:attrNameLst>
                                          <p:attrName>ppt_w</p:attrName>
                                        </p:attrNameLst>
                                      </p:cBhvr>
                                      <p:tavLst>
                                        <p:tav tm="0">
                                          <p:val>
                                            <p:fltVal val="0"/>
                                          </p:val>
                                        </p:tav>
                                        <p:tav tm="100000">
                                          <p:val>
                                            <p:strVal val="#ppt_w"/>
                                          </p:val>
                                        </p:tav>
                                      </p:tavLst>
                                    </p:anim>
                                    <p:anim calcmode="lin" valueType="num">
                                      <p:cBhvr>
                                        <p:cTn id="85" dur="500" fill="hold"/>
                                        <p:tgtEl>
                                          <p:spTgt spid="672785"/>
                                        </p:tgtEl>
                                        <p:attrNameLst>
                                          <p:attrName>ppt_h</p:attrName>
                                        </p:attrNameLst>
                                      </p:cBhvr>
                                      <p:tavLst>
                                        <p:tav tm="0">
                                          <p:val>
                                            <p:fltVal val="0"/>
                                          </p:val>
                                        </p:tav>
                                        <p:tav tm="100000">
                                          <p:val>
                                            <p:strVal val="#ppt_h"/>
                                          </p:val>
                                        </p:tav>
                                      </p:tavLst>
                                    </p:anim>
                                  </p:childTnLst>
                                </p:cTn>
                              </p:par>
                            </p:childTnLst>
                          </p:cTn>
                        </p:par>
                        <p:par>
                          <p:cTn id="86" fill="hold" nodeType="afterGroup">
                            <p:stCondLst>
                              <p:cond delay="500"/>
                            </p:stCondLst>
                            <p:childTnLst>
                              <p:par>
                                <p:cTn id="87" presetID="22" presetClass="entr" presetSubtype="4" fill="hold" nodeType="afterEffect">
                                  <p:stCondLst>
                                    <p:cond delay="0"/>
                                  </p:stCondLst>
                                  <p:childTnLst>
                                    <p:set>
                                      <p:cBhvr>
                                        <p:cTn id="88" dur="1" fill="hold">
                                          <p:stCondLst>
                                            <p:cond delay="0"/>
                                          </p:stCondLst>
                                        </p:cTn>
                                        <p:tgtEl>
                                          <p:spTgt spid="672783"/>
                                        </p:tgtEl>
                                        <p:attrNameLst>
                                          <p:attrName>style.visibility</p:attrName>
                                        </p:attrNameLst>
                                      </p:cBhvr>
                                      <p:to>
                                        <p:strVal val="visible"/>
                                      </p:to>
                                    </p:set>
                                    <p:animEffect transition="in" filter="wipe(down)">
                                      <p:cBhvr>
                                        <p:cTn id="89" dur="500"/>
                                        <p:tgtEl>
                                          <p:spTgt spid="672783"/>
                                        </p:tgtEl>
                                      </p:cBhvr>
                                    </p:animEffect>
                                  </p:childTnLst>
                                </p:cTn>
                              </p:par>
                            </p:childTnLst>
                          </p:cTn>
                        </p:par>
                        <p:par>
                          <p:cTn id="90" fill="hold" nodeType="afterGroup">
                            <p:stCondLst>
                              <p:cond delay="1000"/>
                            </p:stCondLst>
                            <p:childTnLst>
                              <p:par>
                                <p:cTn id="91" presetID="22" presetClass="entr" presetSubtype="4" fill="hold" nodeType="afterEffect">
                                  <p:stCondLst>
                                    <p:cond delay="0"/>
                                  </p:stCondLst>
                                  <p:childTnLst>
                                    <p:set>
                                      <p:cBhvr>
                                        <p:cTn id="92" dur="1" fill="hold">
                                          <p:stCondLst>
                                            <p:cond delay="0"/>
                                          </p:stCondLst>
                                        </p:cTn>
                                        <p:tgtEl>
                                          <p:spTgt spid="672789"/>
                                        </p:tgtEl>
                                        <p:attrNameLst>
                                          <p:attrName>style.visibility</p:attrName>
                                        </p:attrNameLst>
                                      </p:cBhvr>
                                      <p:to>
                                        <p:strVal val="visible"/>
                                      </p:to>
                                    </p:set>
                                    <p:animEffect transition="in" filter="wipe(down)">
                                      <p:cBhvr>
                                        <p:cTn id="93" dur="500"/>
                                        <p:tgtEl>
                                          <p:spTgt spid="672789"/>
                                        </p:tgtEl>
                                      </p:cBhvr>
                                    </p:animEffect>
                                  </p:childTnLst>
                                </p:cTn>
                              </p:par>
                            </p:childTnLst>
                          </p:cTn>
                        </p:par>
                        <p:par>
                          <p:cTn id="94" fill="hold" nodeType="afterGroup">
                            <p:stCondLst>
                              <p:cond delay="1500"/>
                            </p:stCondLst>
                            <p:childTnLst>
                              <p:par>
                                <p:cTn id="95" presetID="22" presetClass="entr" presetSubtype="4" fill="hold" nodeType="afterEffect">
                                  <p:stCondLst>
                                    <p:cond delay="0"/>
                                  </p:stCondLst>
                                  <p:childTnLst>
                                    <p:set>
                                      <p:cBhvr>
                                        <p:cTn id="96" dur="1" fill="hold">
                                          <p:stCondLst>
                                            <p:cond delay="0"/>
                                          </p:stCondLst>
                                        </p:cTn>
                                        <p:tgtEl>
                                          <p:spTgt spid="672812"/>
                                        </p:tgtEl>
                                        <p:attrNameLst>
                                          <p:attrName>style.visibility</p:attrName>
                                        </p:attrNameLst>
                                      </p:cBhvr>
                                      <p:to>
                                        <p:strVal val="visible"/>
                                      </p:to>
                                    </p:set>
                                    <p:animEffect transition="in" filter="wipe(down)">
                                      <p:cBhvr>
                                        <p:cTn id="97" dur="500"/>
                                        <p:tgtEl>
                                          <p:spTgt spid="672812"/>
                                        </p:tgtEl>
                                      </p:cBhvr>
                                    </p:animEffect>
                                  </p:childTnLst>
                                </p:cTn>
                              </p:par>
                            </p:childTnLst>
                          </p:cTn>
                        </p:par>
                        <p:par>
                          <p:cTn id="98" fill="hold" nodeType="afterGroup">
                            <p:stCondLst>
                              <p:cond delay="2000"/>
                            </p:stCondLst>
                            <p:childTnLst>
                              <p:par>
                                <p:cTn id="99" presetID="23" presetClass="entr" presetSubtype="16" fill="hold" nodeType="afterEffect">
                                  <p:stCondLst>
                                    <p:cond delay="0"/>
                                  </p:stCondLst>
                                  <p:childTnLst>
                                    <p:set>
                                      <p:cBhvr>
                                        <p:cTn id="100" dur="1" fill="hold">
                                          <p:stCondLst>
                                            <p:cond delay="0"/>
                                          </p:stCondLst>
                                        </p:cTn>
                                        <p:tgtEl>
                                          <p:spTgt spid="672809"/>
                                        </p:tgtEl>
                                        <p:attrNameLst>
                                          <p:attrName>style.visibility</p:attrName>
                                        </p:attrNameLst>
                                      </p:cBhvr>
                                      <p:to>
                                        <p:strVal val="visible"/>
                                      </p:to>
                                    </p:set>
                                    <p:anim calcmode="lin" valueType="num">
                                      <p:cBhvr>
                                        <p:cTn id="101" dur="500" fill="hold"/>
                                        <p:tgtEl>
                                          <p:spTgt spid="672809"/>
                                        </p:tgtEl>
                                        <p:attrNameLst>
                                          <p:attrName>ppt_w</p:attrName>
                                        </p:attrNameLst>
                                      </p:cBhvr>
                                      <p:tavLst>
                                        <p:tav tm="0">
                                          <p:val>
                                            <p:fltVal val="0"/>
                                          </p:val>
                                        </p:tav>
                                        <p:tav tm="100000">
                                          <p:val>
                                            <p:strVal val="#ppt_w"/>
                                          </p:val>
                                        </p:tav>
                                      </p:tavLst>
                                    </p:anim>
                                    <p:anim calcmode="lin" valueType="num">
                                      <p:cBhvr>
                                        <p:cTn id="102" dur="500" fill="hold"/>
                                        <p:tgtEl>
                                          <p:spTgt spid="672809"/>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2500"/>
                            </p:stCondLst>
                            <p:childTnLst>
                              <p:par>
                                <p:cTn id="104" presetID="23" presetClass="entr" presetSubtype="16" fill="hold" nodeType="afterEffect">
                                  <p:stCondLst>
                                    <p:cond delay="0"/>
                                  </p:stCondLst>
                                  <p:childTnLst>
                                    <p:set>
                                      <p:cBhvr>
                                        <p:cTn id="105" dur="1" fill="hold">
                                          <p:stCondLst>
                                            <p:cond delay="0"/>
                                          </p:stCondLst>
                                        </p:cTn>
                                        <p:tgtEl>
                                          <p:spTgt spid="672811"/>
                                        </p:tgtEl>
                                        <p:attrNameLst>
                                          <p:attrName>style.visibility</p:attrName>
                                        </p:attrNameLst>
                                      </p:cBhvr>
                                      <p:to>
                                        <p:strVal val="visible"/>
                                      </p:to>
                                    </p:set>
                                    <p:anim calcmode="lin" valueType="num">
                                      <p:cBhvr>
                                        <p:cTn id="106" dur="500" fill="hold"/>
                                        <p:tgtEl>
                                          <p:spTgt spid="672811"/>
                                        </p:tgtEl>
                                        <p:attrNameLst>
                                          <p:attrName>ppt_w</p:attrName>
                                        </p:attrNameLst>
                                      </p:cBhvr>
                                      <p:tavLst>
                                        <p:tav tm="0">
                                          <p:val>
                                            <p:fltVal val="0"/>
                                          </p:val>
                                        </p:tav>
                                        <p:tav tm="100000">
                                          <p:val>
                                            <p:strVal val="#ppt_w"/>
                                          </p:val>
                                        </p:tav>
                                      </p:tavLst>
                                    </p:anim>
                                    <p:anim calcmode="lin" valueType="num">
                                      <p:cBhvr>
                                        <p:cTn id="107" dur="500" fill="hold"/>
                                        <p:tgtEl>
                                          <p:spTgt spid="672811"/>
                                        </p:tgtEl>
                                        <p:attrNameLst>
                                          <p:attrName>ppt_h</p:attrName>
                                        </p:attrNameLst>
                                      </p:cBhvr>
                                      <p:tavLst>
                                        <p:tav tm="0">
                                          <p:val>
                                            <p:fltVal val="0"/>
                                          </p:val>
                                        </p:tav>
                                        <p:tav tm="100000">
                                          <p:val>
                                            <p:strVal val="#ppt_h"/>
                                          </p:val>
                                        </p:tav>
                                      </p:tavLst>
                                    </p:anim>
                                  </p:childTnLst>
                                </p:cTn>
                              </p:par>
                            </p:childTnLst>
                          </p:cTn>
                        </p:par>
                        <p:par>
                          <p:cTn id="108" fill="hold" nodeType="afterGroup">
                            <p:stCondLst>
                              <p:cond delay="3000"/>
                            </p:stCondLst>
                            <p:childTnLst>
                              <p:par>
                                <p:cTn id="109" presetID="22" presetClass="entr" presetSubtype="8" fill="hold" nodeType="afterEffect">
                                  <p:stCondLst>
                                    <p:cond delay="0"/>
                                  </p:stCondLst>
                                  <p:childTnLst>
                                    <p:set>
                                      <p:cBhvr>
                                        <p:cTn id="110" dur="1" fill="hold">
                                          <p:stCondLst>
                                            <p:cond delay="0"/>
                                          </p:stCondLst>
                                        </p:cTn>
                                        <p:tgtEl>
                                          <p:spTgt spid="672792"/>
                                        </p:tgtEl>
                                        <p:attrNameLst>
                                          <p:attrName>style.visibility</p:attrName>
                                        </p:attrNameLst>
                                      </p:cBhvr>
                                      <p:to>
                                        <p:strVal val="visible"/>
                                      </p:to>
                                    </p:set>
                                    <p:animEffect transition="in" filter="wipe(left)">
                                      <p:cBhvr>
                                        <p:cTn id="111" dur="500"/>
                                        <p:tgtEl>
                                          <p:spTgt spid="672792"/>
                                        </p:tgtEl>
                                      </p:cBhvr>
                                    </p:animEffect>
                                  </p:childTnLst>
                                </p:cTn>
                              </p:par>
                            </p:childTnLst>
                          </p:cTn>
                        </p:par>
                        <p:par>
                          <p:cTn id="112" fill="hold" nodeType="afterGroup">
                            <p:stCondLst>
                              <p:cond delay="3500"/>
                            </p:stCondLst>
                            <p:childTnLst>
                              <p:par>
                                <p:cTn id="113" presetID="22" presetClass="entr" presetSubtype="4" fill="hold" nodeType="afterEffect">
                                  <p:stCondLst>
                                    <p:cond delay="0"/>
                                  </p:stCondLst>
                                  <p:childTnLst>
                                    <p:set>
                                      <p:cBhvr>
                                        <p:cTn id="114" dur="1" fill="hold">
                                          <p:stCondLst>
                                            <p:cond delay="0"/>
                                          </p:stCondLst>
                                        </p:cTn>
                                        <p:tgtEl>
                                          <p:spTgt spid="672786"/>
                                        </p:tgtEl>
                                        <p:attrNameLst>
                                          <p:attrName>style.visibility</p:attrName>
                                        </p:attrNameLst>
                                      </p:cBhvr>
                                      <p:to>
                                        <p:strVal val="visible"/>
                                      </p:to>
                                    </p:set>
                                    <p:animEffect transition="in" filter="wipe(down)">
                                      <p:cBhvr>
                                        <p:cTn id="115" dur="500"/>
                                        <p:tgtEl>
                                          <p:spTgt spid="672786"/>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672775"/>
                                        </p:tgtEl>
                                        <p:attrNameLst>
                                          <p:attrName>style.visibility</p:attrName>
                                        </p:attrNameLst>
                                      </p:cBhvr>
                                      <p:to>
                                        <p:strVal val="visible"/>
                                      </p:to>
                                    </p:set>
                                    <p:animEffect transition="in" filter="wipe(left)">
                                      <p:cBhvr>
                                        <p:cTn id="120" dur="500"/>
                                        <p:tgtEl>
                                          <p:spTgt spid="672775"/>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3" presetClass="entr" presetSubtype="16" fill="hold" nodeType="clickEffect">
                                  <p:stCondLst>
                                    <p:cond delay="0"/>
                                  </p:stCondLst>
                                  <p:childTnLst>
                                    <p:set>
                                      <p:cBhvr>
                                        <p:cTn id="124" dur="1" fill="hold">
                                          <p:stCondLst>
                                            <p:cond delay="0"/>
                                          </p:stCondLst>
                                        </p:cTn>
                                        <p:tgtEl>
                                          <p:spTgt spid="672788"/>
                                        </p:tgtEl>
                                        <p:attrNameLst>
                                          <p:attrName>style.visibility</p:attrName>
                                        </p:attrNameLst>
                                      </p:cBhvr>
                                      <p:to>
                                        <p:strVal val="visible"/>
                                      </p:to>
                                    </p:set>
                                    <p:anim calcmode="lin" valueType="num">
                                      <p:cBhvr>
                                        <p:cTn id="125" dur="500" fill="hold"/>
                                        <p:tgtEl>
                                          <p:spTgt spid="672788"/>
                                        </p:tgtEl>
                                        <p:attrNameLst>
                                          <p:attrName>ppt_w</p:attrName>
                                        </p:attrNameLst>
                                      </p:cBhvr>
                                      <p:tavLst>
                                        <p:tav tm="0">
                                          <p:val>
                                            <p:fltVal val="0"/>
                                          </p:val>
                                        </p:tav>
                                        <p:tav tm="100000">
                                          <p:val>
                                            <p:strVal val="#ppt_w"/>
                                          </p:val>
                                        </p:tav>
                                      </p:tavLst>
                                    </p:anim>
                                    <p:anim calcmode="lin" valueType="num">
                                      <p:cBhvr>
                                        <p:cTn id="126" dur="500" fill="hold"/>
                                        <p:tgtEl>
                                          <p:spTgt spid="672788"/>
                                        </p:tgtEl>
                                        <p:attrNameLst>
                                          <p:attrName>ppt_h</p:attrName>
                                        </p:attrNameLst>
                                      </p:cBhvr>
                                      <p:tavLst>
                                        <p:tav tm="0">
                                          <p:val>
                                            <p:fltVal val="0"/>
                                          </p:val>
                                        </p:tav>
                                        <p:tav tm="100000">
                                          <p:val>
                                            <p:strVal val="#ppt_h"/>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672800"/>
                                        </p:tgtEl>
                                        <p:attrNameLst>
                                          <p:attrName>style.visibility</p:attrName>
                                        </p:attrNameLst>
                                      </p:cBhvr>
                                      <p:to>
                                        <p:strVal val="visible"/>
                                      </p:to>
                                    </p:set>
                                    <p:animEffect transition="in" filter="wipe(left)">
                                      <p:cBhvr>
                                        <p:cTn id="131" dur="500"/>
                                        <p:tgtEl>
                                          <p:spTgt spid="672800"/>
                                        </p:tgtEl>
                                      </p:cBhvr>
                                    </p:animEffect>
                                  </p:childTnLst>
                                </p:cTn>
                              </p:par>
                            </p:childTnLst>
                          </p:cTn>
                        </p:par>
                        <p:par>
                          <p:cTn id="132" fill="hold" nodeType="afterGroup">
                            <p:stCondLst>
                              <p:cond delay="500"/>
                            </p:stCondLst>
                            <p:childTnLst>
                              <p:par>
                                <p:cTn id="133" presetID="1" presetClass="entr" presetSubtype="0" fill="hold" nodeType="afterEffect">
                                  <p:stCondLst>
                                    <p:cond delay="0"/>
                                  </p:stCondLst>
                                  <p:childTnLst>
                                    <p:set>
                                      <p:cBhvr>
                                        <p:cTn id="134" dur="1" fill="hold">
                                          <p:stCondLst>
                                            <p:cond delay="0"/>
                                          </p:stCondLst>
                                        </p:cTn>
                                        <p:tgtEl>
                                          <p:spTgt spid="672810"/>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2" fill="hold" nodeType="clickEffect">
                                  <p:stCondLst>
                                    <p:cond delay="0"/>
                                  </p:stCondLst>
                                  <p:childTnLst>
                                    <p:set>
                                      <p:cBhvr>
                                        <p:cTn id="138" dur="1" fill="hold">
                                          <p:stCondLst>
                                            <p:cond delay="0"/>
                                          </p:stCondLst>
                                        </p:cTn>
                                        <p:tgtEl>
                                          <p:spTgt spid="672803"/>
                                        </p:tgtEl>
                                        <p:attrNameLst>
                                          <p:attrName>style.visibility</p:attrName>
                                        </p:attrNameLst>
                                      </p:cBhvr>
                                      <p:to>
                                        <p:strVal val="visible"/>
                                      </p:to>
                                    </p:set>
                                    <p:animEffect transition="in" filter="wipe(right)">
                                      <p:cBhvr>
                                        <p:cTn id="139" dur="500"/>
                                        <p:tgtEl>
                                          <p:spTgt spid="672803"/>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672776"/>
                                        </p:tgtEl>
                                        <p:attrNameLst>
                                          <p:attrName>style.visibility</p:attrName>
                                        </p:attrNameLst>
                                      </p:cBhvr>
                                      <p:to>
                                        <p:strVal val="visible"/>
                                      </p:to>
                                    </p:set>
                                    <p:animEffect transition="in" filter="wipe(left)">
                                      <p:cBhvr>
                                        <p:cTn id="144" dur="500"/>
                                        <p:tgtEl>
                                          <p:spTgt spid="672776"/>
                                        </p:tgtEl>
                                      </p:cBhvr>
                                    </p:animEffect>
                                  </p:childTnLst>
                                </p:cTn>
                              </p:par>
                              <p:par>
                                <p:cTn id="145" presetID="22" presetClass="entr" presetSubtype="2" fill="hold" nodeType="withEffect">
                                  <p:stCondLst>
                                    <p:cond delay="0"/>
                                  </p:stCondLst>
                                  <p:childTnLst>
                                    <p:set>
                                      <p:cBhvr>
                                        <p:cTn id="146" dur="1" fill="hold">
                                          <p:stCondLst>
                                            <p:cond delay="0"/>
                                          </p:stCondLst>
                                        </p:cTn>
                                        <p:tgtEl>
                                          <p:spTgt spid="2"/>
                                        </p:tgtEl>
                                        <p:attrNameLst>
                                          <p:attrName>style.visibility</p:attrName>
                                        </p:attrNameLst>
                                      </p:cBhvr>
                                      <p:to>
                                        <p:strVal val="visible"/>
                                      </p:to>
                                    </p:set>
                                    <p:animEffect transition="in" filter="wipe(right)">
                                      <p:cBhvr>
                                        <p:cTn id="147" dur="500"/>
                                        <p:tgtEl>
                                          <p:spTgt spid="2"/>
                                        </p:tgtEl>
                                      </p:cBhvr>
                                    </p:animEffect>
                                  </p:childTnLst>
                                </p:cTn>
                              </p:par>
                              <p:par>
                                <p:cTn id="148" presetID="22" presetClass="entr" presetSubtype="2" fill="hold" nodeType="withEffect">
                                  <p:stCondLst>
                                    <p:cond delay="0"/>
                                  </p:stCondLst>
                                  <p:childTnLst>
                                    <p:set>
                                      <p:cBhvr>
                                        <p:cTn id="149" dur="1" fill="hold">
                                          <p:stCondLst>
                                            <p:cond delay="0"/>
                                          </p:stCondLst>
                                        </p:cTn>
                                        <p:tgtEl>
                                          <p:spTgt spid="672808"/>
                                        </p:tgtEl>
                                        <p:attrNameLst>
                                          <p:attrName>style.visibility</p:attrName>
                                        </p:attrNameLst>
                                      </p:cBhvr>
                                      <p:to>
                                        <p:strVal val="visible"/>
                                      </p:to>
                                    </p:set>
                                    <p:animEffect transition="in" filter="wipe(right)">
                                      <p:cBhvr>
                                        <p:cTn id="150" dur="500"/>
                                        <p:tgtEl>
                                          <p:spTgt spid="672808"/>
                                        </p:tgtEl>
                                      </p:cBhvr>
                                    </p:animEffect>
                                  </p:childTnLst>
                                </p:cTn>
                              </p:par>
                            </p:childTnLst>
                          </p:cTn>
                        </p:par>
                        <p:par>
                          <p:cTn id="151" fill="hold" nodeType="afterGroup">
                            <p:stCondLst>
                              <p:cond delay="500"/>
                            </p:stCondLst>
                            <p:childTnLst>
                              <p:par>
                                <p:cTn id="152" presetID="9" presetClass="entr" presetSubtype="0" fill="hold" nodeType="afterEffect">
                                  <p:stCondLst>
                                    <p:cond delay="0"/>
                                  </p:stCondLst>
                                  <p:childTnLst>
                                    <p:set>
                                      <p:cBhvr>
                                        <p:cTn id="153" dur="1" fill="hold">
                                          <p:stCondLst>
                                            <p:cond delay="0"/>
                                          </p:stCondLst>
                                        </p:cTn>
                                        <p:tgtEl>
                                          <p:spTgt spid="672804"/>
                                        </p:tgtEl>
                                        <p:attrNameLst>
                                          <p:attrName>style.visibility</p:attrName>
                                        </p:attrNameLst>
                                      </p:cBhvr>
                                      <p:to>
                                        <p:strVal val="visible"/>
                                      </p:to>
                                    </p:set>
                                    <p:animEffect transition="in" filter="dissolve">
                                      <p:cBhvr>
                                        <p:cTn id="154" dur="500"/>
                                        <p:tgtEl>
                                          <p:spTgt spid="672804"/>
                                        </p:tgtEl>
                                      </p:cBhvr>
                                    </p:animEffect>
                                  </p:childTnLst>
                                </p:cTn>
                              </p:par>
                            </p:childTnLst>
                          </p:cTn>
                        </p:par>
                        <p:par>
                          <p:cTn id="155" fill="hold" nodeType="afterGroup">
                            <p:stCondLst>
                              <p:cond delay="1000"/>
                            </p:stCondLst>
                            <p:childTnLst>
                              <p:par>
                                <p:cTn id="156" presetID="9" presetClass="entr" presetSubtype="0" fill="hold" nodeType="afterEffect">
                                  <p:stCondLst>
                                    <p:cond delay="0"/>
                                  </p:stCondLst>
                                  <p:childTnLst>
                                    <p:set>
                                      <p:cBhvr>
                                        <p:cTn id="157" dur="1" fill="hold">
                                          <p:stCondLst>
                                            <p:cond delay="0"/>
                                          </p:stCondLst>
                                        </p:cTn>
                                        <p:tgtEl>
                                          <p:spTgt spid="3"/>
                                        </p:tgtEl>
                                        <p:attrNameLst>
                                          <p:attrName>style.visibility</p:attrName>
                                        </p:attrNameLst>
                                      </p:cBhvr>
                                      <p:to>
                                        <p:strVal val="visible"/>
                                      </p:to>
                                    </p:set>
                                    <p:animEffect transition="in" filter="dissolve">
                                      <p:cBhvr>
                                        <p:cTn id="158" dur="500"/>
                                        <p:tgtEl>
                                          <p:spTgt spid="3"/>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nodeType="clickEffect">
                                  <p:stCondLst>
                                    <p:cond delay="0"/>
                                  </p:stCondLst>
                                  <p:childTnLst>
                                    <p:set>
                                      <p:cBhvr>
                                        <p:cTn id="162" dur="1" fill="hold">
                                          <p:stCondLst>
                                            <p:cond delay="0"/>
                                          </p:stCondLst>
                                        </p:cTn>
                                        <p:tgtEl>
                                          <p:spTgt spid="672819"/>
                                        </p:tgtEl>
                                        <p:attrNameLst>
                                          <p:attrName>style.visibility</p:attrName>
                                        </p:attrNameLst>
                                      </p:cBhvr>
                                      <p:to>
                                        <p:strVal val="visible"/>
                                      </p:to>
                                    </p:set>
                                    <p:animEffect transition="in" filter="wipe(left)">
                                      <p:cBhvr>
                                        <p:cTn id="163" dur="500"/>
                                        <p:tgtEl>
                                          <p:spTgt spid="672819"/>
                                        </p:tgtEl>
                                      </p:cBhvr>
                                    </p:animEffect>
                                  </p:childTnLst>
                                </p:cTn>
                              </p:par>
                              <p:par>
                                <p:cTn id="164" presetID="18" presetClass="entr" presetSubtype="6" fill="hold" nodeType="withEffect">
                                  <p:stCondLst>
                                    <p:cond delay="0"/>
                                  </p:stCondLst>
                                  <p:childTnLst>
                                    <p:set>
                                      <p:cBhvr>
                                        <p:cTn id="165" dur="1" fill="hold">
                                          <p:stCondLst>
                                            <p:cond delay="0"/>
                                          </p:stCondLst>
                                        </p:cTn>
                                        <p:tgtEl>
                                          <p:spTgt spid="672801"/>
                                        </p:tgtEl>
                                        <p:attrNameLst>
                                          <p:attrName>style.visibility</p:attrName>
                                        </p:attrNameLst>
                                      </p:cBhvr>
                                      <p:to>
                                        <p:strVal val="visible"/>
                                      </p:to>
                                    </p:set>
                                    <p:animEffect transition="in" filter="strips(downRight)">
                                      <p:cBhvr>
                                        <p:cTn id="166" dur="500"/>
                                        <p:tgtEl>
                                          <p:spTgt spid="672801"/>
                                        </p:tgtEl>
                                      </p:cBhvr>
                                    </p:animEffect>
                                  </p:childTnLst>
                                </p:cTn>
                              </p:par>
                            </p:childTnLst>
                          </p:cTn>
                        </p:par>
                        <p:par>
                          <p:cTn id="167" fill="hold" nodeType="afterGroup">
                            <p:stCondLst>
                              <p:cond delay="500"/>
                            </p:stCondLst>
                            <p:childTnLst>
                              <p:par>
                                <p:cTn id="168" presetID="9" presetClass="entr" presetSubtype="0" fill="hold" nodeType="afterEffect">
                                  <p:stCondLst>
                                    <p:cond delay="0"/>
                                  </p:stCondLst>
                                  <p:childTnLst>
                                    <p:set>
                                      <p:cBhvr>
                                        <p:cTn id="169" dur="1" fill="hold">
                                          <p:stCondLst>
                                            <p:cond delay="0"/>
                                          </p:stCondLst>
                                        </p:cTn>
                                        <p:tgtEl>
                                          <p:spTgt spid="672798"/>
                                        </p:tgtEl>
                                        <p:attrNameLst>
                                          <p:attrName>style.visibility</p:attrName>
                                        </p:attrNameLst>
                                      </p:cBhvr>
                                      <p:to>
                                        <p:strVal val="visible"/>
                                      </p:to>
                                    </p:set>
                                    <p:animEffect transition="in" filter="dissolve">
                                      <p:cBhvr>
                                        <p:cTn id="170" dur="500"/>
                                        <p:tgtEl>
                                          <p:spTgt spid="672798"/>
                                        </p:tgtEl>
                                      </p:cBhvr>
                                    </p:animEffect>
                                  </p:childTnLst>
                                </p:cTn>
                              </p:par>
                              <p:par>
                                <p:cTn id="171" presetID="9" presetClass="entr" presetSubtype="0" fill="hold" nodeType="withEffect">
                                  <p:stCondLst>
                                    <p:cond delay="0"/>
                                  </p:stCondLst>
                                  <p:childTnLst>
                                    <p:set>
                                      <p:cBhvr>
                                        <p:cTn id="172" dur="1" fill="hold">
                                          <p:stCondLst>
                                            <p:cond delay="0"/>
                                          </p:stCondLst>
                                        </p:cTn>
                                        <p:tgtEl>
                                          <p:spTgt spid="672799"/>
                                        </p:tgtEl>
                                        <p:attrNameLst>
                                          <p:attrName>style.visibility</p:attrName>
                                        </p:attrNameLst>
                                      </p:cBhvr>
                                      <p:to>
                                        <p:strVal val="visible"/>
                                      </p:to>
                                    </p:set>
                                    <p:animEffect transition="in" filter="dissolve">
                                      <p:cBhvr>
                                        <p:cTn id="173" dur="500"/>
                                        <p:tgtEl>
                                          <p:spTgt spid="672799"/>
                                        </p:tgtEl>
                                      </p:cBhvr>
                                    </p:animEffect>
                                  </p:childTnLst>
                                </p:cTn>
                              </p:par>
                            </p:childTnLst>
                          </p:cTn>
                        </p:par>
                        <p:par>
                          <p:cTn id="174" fill="hold" nodeType="afterGroup">
                            <p:stCondLst>
                              <p:cond delay="1000"/>
                            </p:stCondLst>
                            <p:childTnLst>
                              <p:par>
                                <p:cTn id="175" presetID="1" presetClass="entr" presetSubtype="0" fill="hold" nodeType="afterEffect">
                                  <p:stCondLst>
                                    <p:cond delay="0"/>
                                  </p:stCondLst>
                                  <p:childTnLst>
                                    <p:set>
                                      <p:cBhvr>
                                        <p:cTn id="176" dur="1" fill="hold">
                                          <p:stCondLst>
                                            <p:cond delay="0"/>
                                          </p:stCondLst>
                                        </p:cTn>
                                        <p:tgtEl>
                                          <p:spTgt spid="672795"/>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672796"/>
                                        </p:tgtEl>
                                        <p:attrNameLst>
                                          <p:attrName>style.visibility</p:attrName>
                                        </p:attrNameLst>
                                      </p:cBhvr>
                                      <p:to>
                                        <p:strVal val="visible"/>
                                      </p:to>
                                    </p:se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18" presetClass="entr" presetSubtype="3" fill="hold" nodeType="clickEffect">
                                  <p:stCondLst>
                                    <p:cond delay="0"/>
                                  </p:stCondLst>
                                  <p:childTnLst>
                                    <p:set>
                                      <p:cBhvr>
                                        <p:cTn id="182" dur="1" fill="hold">
                                          <p:stCondLst>
                                            <p:cond delay="0"/>
                                          </p:stCondLst>
                                        </p:cTn>
                                        <p:tgtEl>
                                          <p:spTgt spid="672802"/>
                                        </p:tgtEl>
                                        <p:attrNameLst>
                                          <p:attrName>style.visibility</p:attrName>
                                        </p:attrNameLst>
                                      </p:cBhvr>
                                      <p:to>
                                        <p:strVal val="visible"/>
                                      </p:to>
                                    </p:set>
                                    <p:animEffect transition="in" filter="strips(upRight)">
                                      <p:cBhvr>
                                        <p:cTn id="183" dur="500"/>
                                        <p:tgtEl>
                                          <p:spTgt spid="672802"/>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8" fill="hold" nodeType="clickEffect">
                                  <p:stCondLst>
                                    <p:cond delay="0"/>
                                  </p:stCondLst>
                                  <p:childTnLst>
                                    <p:set>
                                      <p:cBhvr>
                                        <p:cTn id="187" dur="1" fill="hold">
                                          <p:stCondLst>
                                            <p:cond delay="0"/>
                                          </p:stCondLst>
                                        </p:cTn>
                                        <p:tgtEl>
                                          <p:spTgt spid="672821"/>
                                        </p:tgtEl>
                                        <p:attrNameLst>
                                          <p:attrName>style.visibility</p:attrName>
                                        </p:attrNameLst>
                                      </p:cBhvr>
                                      <p:to>
                                        <p:strVal val="visible"/>
                                      </p:to>
                                    </p:set>
                                    <p:animEffect transition="in" filter="wipe(left)">
                                      <p:cBhvr>
                                        <p:cTn id="188" dur="500"/>
                                        <p:tgtEl>
                                          <p:spTgt spid="672821"/>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8" fill="hold" nodeType="clickEffect">
                                  <p:stCondLst>
                                    <p:cond delay="0"/>
                                  </p:stCondLst>
                                  <p:childTnLst>
                                    <p:set>
                                      <p:cBhvr>
                                        <p:cTn id="192" dur="1" fill="hold">
                                          <p:stCondLst>
                                            <p:cond delay="0"/>
                                          </p:stCondLst>
                                        </p:cTn>
                                        <p:tgtEl>
                                          <p:spTgt spid="672822"/>
                                        </p:tgtEl>
                                        <p:attrNameLst>
                                          <p:attrName>style.visibility</p:attrName>
                                        </p:attrNameLst>
                                      </p:cBhvr>
                                      <p:to>
                                        <p:strVal val="visible"/>
                                      </p:to>
                                    </p:set>
                                    <p:animEffect transition="in" filter="wipe(left)">
                                      <p:cBhvr>
                                        <p:cTn id="193" dur="500"/>
                                        <p:tgtEl>
                                          <p:spTgt spid="67282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18" presetClass="entr" presetSubtype="3" fill="hold" nodeType="clickEffect">
                                  <p:stCondLst>
                                    <p:cond delay="0"/>
                                  </p:stCondLst>
                                  <p:childTnLst>
                                    <p:set>
                                      <p:cBhvr>
                                        <p:cTn id="197" dur="1" fill="hold">
                                          <p:stCondLst>
                                            <p:cond delay="0"/>
                                          </p:stCondLst>
                                        </p:cTn>
                                        <p:tgtEl>
                                          <p:spTgt spid="672787"/>
                                        </p:tgtEl>
                                        <p:attrNameLst>
                                          <p:attrName>style.visibility</p:attrName>
                                        </p:attrNameLst>
                                      </p:cBhvr>
                                      <p:to>
                                        <p:strVal val="visible"/>
                                      </p:to>
                                    </p:set>
                                    <p:animEffect transition="in" filter="strips(upRight)">
                                      <p:cBhvr>
                                        <p:cTn id="198" dur="500"/>
                                        <p:tgtEl>
                                          <p:spTgt spid="672787"/>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4" fill="hold" nodeType="clickEffect">
                                  <p:stCondLst>
                                    <p:cond delay="0"/>
                                  </p:stCondLst>
                                  <p:childTnLst>
                                    <p:set>
                                      <p:cBhvr>
                                        <p:cTn id="202" dur="1" fill="hold">
                                          <p:stCondLst>
                                            <p:cond delay="0"/>
                                          </p:stCondLst>
                                        </p:cTn>
                                        <p:tgtEl>
                                          <p:spTgt spid="672791"/>
                                        </p:tgtEl>
                                        <p:attrNameLst>
                                          <p:attrName>style.visibility</p:attrName>
                                        </p:attrNameLst>
                                      </p:cBhvr>
                                      <p:to>
                                        <p:strVal val="visible"/>
                                      </p:to>
                                    </p:set>
                                    <p:animEffect transition="in" filter="wipe(down)">
                                      <p:cBhvr>
                                        <p:cTn id="203" dur="500"/>
                                        <p:tgtEl>
                                          <p:spTgt spid="672791"/>
                                        </p:tgtEl>
                                      </p:cBhvr>
                                    </p:animEffect>
                                  </p:childTnLst>
                                </p:cTn>
                              </p:par>
                              <p:par>
                                <p:cTn id="204" presetID="9" presetClass="entr" presetSubtype="0" fill="hold" nodeType="withEffect">
                                  <p:stCondLst>
                                    <p:cond delay="0"/>
                                  </p:stCondLst>
                                  <p:childTnLst>
                                    <p:set>
                                      <p:cBhvr>
                                        <p:cTn id="205" dur="1" fill="hold">
                                          <p:stCondLst>
                                            <p:cond delay="0"/>
                                          </p:stCondLst>
                                        </p:cTn>
                                        <p:tgtEl>
                                          <p:spTgt spid="672797"/>
                                        </p:tgtEl>
                                        <p:attrNameLst>
                                          <p:attrName>style.visibility</p:attrName>
                                        </p:attrNameLst>
                                      </p:cBhvr>
                                      <p:to>
                                        <p:strVal val="visible"/>
                                      </p:to>
                                    </p:set>
                                    <p:animEffect transition="in" filter="dissolve">
                                      <p:cBhvr>
                                        <p:cTn id="206" dur="500"/>
                                        <p:tgtEl>
                                          <p:spTgt spid="672797"/>
                                        </p:tgtEl>
                                      </p:cBhvr>
                                    </p:animEffect>
                                  </p:childTnLst>
                                </p:cTn>
                              </p:par>
                              <p:par>
                                <p:cTn id="207" presetID="9" presetClass="entr" presetSubtype="0" fill="hold" nodeType="withEffect">
                                  <p:stCondLst>
                                    <p:cond delay="0"/>
                                  </p:stCondLst>
                                  <p:childTnLst>
                                    <p:set>
                                      <p:cBhvr>
                                        <p:cTn id="208" dur="1" fill="hold">
                                          <p:stCondLst>
                                            <p:cond delay="0"/>
                                          </p:stCondLst>
                                        </p:cTn>
                                        <p:tgtEl>
                                          <p:spTgt spid="672790"/>
                                        </p:tgtEl>
                                        <p:attrNameLst>
                                          <p:attrName>style.visibility</p:attrName>
                                        </p:attrNameLst>
                                      </p:cBhvr>
                                      <p:to>
                                        <p:strVal val="visible"/>
                                      </p:to>
                                    </p:set>
                                    <p:animEffect transition="in" filter="dissolve">
                                      <p:cBhvr>
                                        <p:cTn id="209" dur="500"/>
                                        <p:tgtEl>
                                          <p:spTgt spid="672790"/>
                                        </p:tgtEl>
                                      </p:cBhvr>
                                    </p:animEffect>
                                  </p:childTnLst>
                                </p:cTn>
                              </p:par>
                            </p:childTnLst>
                          </p:cTn>
                        </p:par>
                        <p:par>
                          <p:cTn id="210" fill="hold" nodeType="afterGroup">
                            <p:stCondLst>
                              <p:cond delay="500"/>
                            </p:stCondLst>
                            <p:childTnLst>
                              <p:par>
                                <p:cTn id="211" presetID="22" presetClass="entr" presetSubtype="8" fill="hold" nodeType="afterEffect">
                                  <p:stCondLst>
                                    <p:cond delay="0"/>
                                  </p:stCondLst>
                                  <p:childTnLst>
                                    <p:set>
                                      <p:cBhvr>
                                        <p:cTn id="212" dur="1" fill="hold">
                                          <p:stCondLst>
                                            <p:cond delay="0"/>
                                          </p:stCondLst>
                                        </p:cTn>
                                        <p:tgtEl>
                                          <p:spTgt spid="672794"/>
                                        </p:tgtEl>
                                        <p:attrNameLst>
                                          <p:attrName>style.visibility</p:attrName>
                                        </p:attrNameLst>
                                      </p:cBhvr>
                                      <p:to>
                                        <p:strVal val="visible"/>
                                      </p:to>
                                    </p:set>
                                    <p:animEffect transition="in" filter="wipe(left)">
                                      <p:cBhvr>
                                        <p:cTn id="213" dur="500"/>
                                        <p:tgtEl>
                                          <p:spTgt spid="672794"/>
                                        </p:tgtEl>
                                      </p:cBhvr>
                                    </p:animEffect>
                                  </p:childTnLst>
                                </p:cTn>
                              </p:par>
                              <p:par>
                                <p:cTn id="214" presetID="22" presetClass="entr" presetSubtype="8" fill="hold" nodeType="withEffect">
                                  <p:stCondLst>
                                    <p:cond delay="0"/>
                                  </p:stCondLst>
                                  <p:childTnLst>
                                    <p:set>
                                      <p:cBhvr>
                                        <p:cTn id="215" dur="1" fill="hold">
                                          <p:stCondLst>
                                            <p:cond delay="0"/>
                                          </p:stCondLst>
                                        </p:cTn>
                                        <p:tgtEl>
                                          <p:spTgt spid="672793"/>
                                        </p:tgtEl>
                                        <p:attrNameLst>
                                          <p:attrName>style.visibility</p:attrName>
                                        </p:attrNameLst>
                                      </p:cBhvr>
                                      <p:to>
                                        <p:strVal val="visible"/>
                                      </p:to>
                                    </p:set>
                                    <p:animEffect transition="in" filter="wipe(left)">
                                      <p:cBhvr>
                                        <p:cTn id="216" dur="500"/>
                                        <p:tgtEl>
                                          <p:spTgt spid="672793"/>
                                        </p:tgtEl>
                                      </p:cBhvr>
                                    </p:animEffect>
                                  </p:childTnLst>
                                </p:cTn>
                              </p:par>
                            </p:childTnLst>
                          </p:cTn>
                        </p:par>
                        <p:par>
                          <p:cTn id="217" fill="hold" nodeType="afterGroup">
                            <p:stCondLst>
                              <p:cond delay="1000"/>
                            </p:stCondLst>
                            <p:childTnLst>
                              <p:par>
                                <p:cTn id="218" presetID="22" presetClass="entr" presetSubtype="8" fill="hold" nodeType="afterEffect">
                                  <p:stCondLst>
                                    <p:cond delay="0"/>
                                  </p:stCondLst>
                                  <p:childTnLst>
                                    <p:set>
                                      <p:cBhvr>
                                        <p:cTn id="219" dur="1" fill="hold">
                                          <p:stCondLst>
                                            <p:cond delay="0"/>
                                          </p:stCondLst>
                                        </p:cTn>
                                        <p:tgtEl>
                                          <p:spTgt spid="672812"/>
                                        </p:tgtEl>
                                        <p:attrNameLst>
                                          <p:attrName>style.visibility</p:attrName>
                                        </p:attrNameLst>
                                      </p:cBhvr>
                                      <p:to>
                                        <p:strVal val="visible"/>
                                      </p:to>
                                    </p:set>
                                    <p:animEffect transition="in" filter="wipe(left)">
                                      <p:cBhvr>
                                        <p:cTn id="220" dur="500"/>
                                        <p:tgtEl>
                                          <p:spTgt spid="672812"/>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2" presetClass="entr" presetSubtype="8" fill="hold" nodeType="clickEffect">
                                  <p:stCondLst>
                                    <p:cond delay="0"/>
                                  </p:stCondLst>
                                  <p:childTnLst>
                                    <p:set>
                                      <p:cBhvr>
                                        <p:cTn id="224" dur="1" fill="hold">
                                          <p:stCondLst>
                                            <p:cond delay="0"/>
                                          </p:stCondLst>
                                        </p:cTn>
                                        <p:tgtEl>
                                          <p:spTgt spid="672831"/>
                                        </p:tgtEl>
                                        <p:attrNameLst>
                                          <p:attrName>style.visibility</p:attrName>
                                        </p:attrNameLst>
                                      </p:cBhvr>
                                      <p:to>
                                        <p:strVal val="visible"/>
                                      </p:to>
                                    </p:set>
                                    <p:animEffect transition="in" filter="wipe(left)">
                                      <p:cBhvr>
                                        <p:cTn id="225" dur="500"/>
                                        <p:tgtEl>
                                          <p:spTgt spid="672831"/>
                                        </p:tgtEl>
                                      </p:cBhvr>
                                    </p:animEffect>
                                  </p:childTnLst>
                                </p:cTn>
                              </p:par>
                            </p:childTnLst>
                          </p:cTn>
                        </p:par>
                        <p:par>
                          <p:cTn id="226" fill="hold" nodeType="afterGroup">
                            <p:stCondLst>
                              <p:cond delay="500"/>
                            </p:stCondLst>
                            <p:childTnLst>
                              <p:par>
                                <p:cTn id="227" presetID="22" presetClass="entr" presetSubtype="8" fill="hold" nodeType="afterEffect">
                                  <p:stCondLst>
                                    <p:cond delay="0"/>
                                  </p:stCondLst>
                                  <p:childTnLst>
                                    <p:set>
                                      <p:cBhvr>
                                        <p:cTn id="228" dur="1" fill="hold">
                                          <p:stCondLst>
                                            <p:cond delay="0"/>
                                          </p:stCondLst>
                                        </p:cTn>
                                        <p:tgtEl>
                                          <p:spTgt spid="672833"/>
                                        </p:tgtEl>
                                        <p:attrNameLst>
                                          <p:attrName>style.visibility</p:attrName>
                                        </p:attrNameLst>
                                      </p:cBhvr>
                                      <p:to>
                                        <p:strVal val="visible"/>
                                      </p:to>
                                    </p:set>
                                    <p:animEffect transition="in" filter="wipe(left)">
                                      <p:cBhvr>
                                        <p:cTn id="229" dur="500"/>
                                        <p:tgtEl>
                                          <p:spTgt spid="672833"/>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2" presetClass="entr" presetSubtype="8" fill="hold" nodeType="clickEffect">
                                  <p:stCondLst>
                                    <p:cond delay="0"/>
                                  </p:stCondLst>
                                  <p:childTnLst>
                                    <p:set>
                                      <p:cBhvr>
                                        <p:cTn id="233" dur="1" fill="hold">
                                          <p:stCondLst>
                                            <p:cond delay="0"/>
                                          </p:stCondLst>
                                        </p:cTn>
                                        <p:tgtEl>
                                          <p:spTgt spid="672830"/>
                                        </p:tgtEl>
                                        <p:attrNameLst>
                                          <p:attrName>style.visibility</p:attrName>
                                        </p:attrNameLst>
                                      </p:cBhvr>
                                      <p:to>
                                        <p:strVal val="visible"/>
                                      </p:to>
                                    </p:set>
                                    <p:animEffect transition="in" filter="wipe(left)">
                                      <p:cBhvr>
                                        <p:cTn id="234" dur="500"/>
                                        <p:tgtEl>
                                          <p:spTgt spid="672830"/>
                                        </p:tgtEl>
                                      </p:cBhvr>
                                    </p:animEffect>
                                  </p:childTnLst>
                                </p:cTn>
                              </p:par>
                            </p:childTnLst>
                          </p:cTn>
                        </p:par>
                        <p:par>
                          <p:cTn id="235" fill="hold" nodeType="afterGroup">
                            <p:stCondLst>
                              <p:cond delay="500"/>
                            </p:stCondLst>
                            <p:childTnLst>
                              <p:par>
                                <p:cTn id="236" presetID="22" presetClass="entr" presetSubtype="8" fill="hold" nodeType="afterEffect">
                                  <p:stCondLst>
                                    <p:cond delay="0"/>
                                  </p:stCondLst>
                                  <p:childTnLst>
                                    <p:set>
                                      <p:cBhvr>
                                        <p:cTn id="237" dur="1" fill="hold">
                                          <p:stCondLst>
                                            <p:cond delay="0"/>
                                          </p:stCondLst>
                                        </p:cTn>
                                        <p:tgtEl>
                                          <p:spTgt spid="672832"/>
                                        </p:tgtEl>
                                        <p:attrNameLst>
                                          <p:attrName>style.visibility</p:attrName>
                                        </p:attrNameLst>
                                      </p:cBhvr>
                                      <p:to>
                                        <p:strVal val="visible"/>
                                      </p:to>
                                    </p:set>
                                    <p:animEffect transition="in" filter="wipe(left)">
                                      <p:cBhvr>
                                        <p:cTn id="238" dur="500"/>
                                        <p:tgtEl>
                                          <p:spTgt spid="672832"/>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2" presetClass="entr" presetSubtype="8" fill="hold" nodeType="clickEffect">
                                  <p:stCondLst>
                                    <p:cond delay="0"/>
                                  </p:stCondLst>
                                  <p:childTnLst>
                                    <p:set>
                                      <p:cBhvr>
                                        <p:cTn id="242" dur="1" fill="hold">
                                          <p:stCondLst>
                                            <p:cond delay="0"/>
                                          </p:stCondLst>
                                        </p:cTn>
                                        <p:tgtEl>
                                          <p:spTgt spid="672820"/>
                                        </p:tgtEl>
                                        <p:attrNameLst>
                                          <p:attrName>style.visibility</p:attrName>
                                        </p:attrNameLst>
                                      </p:cBhvr>
                                      <p:to>
                                        <p:strVal val="visible"/>
                                      </p:to>
                                    </p:set>
                                    <p:animEffect transition="in" filter="wipe(left)">
                                      <p:cBhvr>
                                        <p:cTn id="243" dur="500"/>
                                        <p:tgtEl>
                                          <p:spTgt spid="672820"/>
                                        </p:tgtEl>
                                      </p:cBhvr>
                                    </p:animEffect>
                                  </p:childTnLst>
                                </p:cTn>
                              </p:par>
                            </p:childTnLst>
                          </p:cTn>
                        </p:par>
                        <p:par>
                          <p:cTn id="244" fill="hold" nodeType="afterGroup">
                            <p:stCondLst>
                              <p:cond delay="500"/>
                            </p:stCondLst>
                            <p:childTnLst>
                              <p:par>
                                <p:cTn id="245" presetID="1" presetClass="entr" presetSubtype="0" fill="hold" nodeType="afterEffect">
                                  <p:stCondLst>
                                    <p:cond delay="0"/>
                                  </p:stCondLst>
                                  <p:childTnLst>
                                    <p:set>
                                      <p:cBhvr>
                                        <p:cTn id="246" dur="1" fill="hold">
                                          <p:stCondLst>
                                            <p:cond delay="0"/>
                                          </p:stCondLst>
                                        </p:cTn>
                                        <p:tgtEl>
                                          <p:spTgt spid="672823"/>
                                        </p:tgtEl>
                                        <p:attrNameLst>
                                          <p:attrName>style.visibility</p:attrName>
                                        </p:attrNameLst>
                                      </p:cBhvr>
                                      <p:to>
                                        <p:strVal val="visible"/>
                                      </p:to>
                                    </p:se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22" presetClass="entr" presetSubtype="8" fill="hold" nodeType="clickEffect">
                                  <p:stCondLst>
                                    <p:cond delay="0"/>
                                  </p:stCondLst>
                                  <p:childTnLst>
                                    <p:set>
                                      <p:cBhvr>
                                        <p:cTn id="250" dur="1" fill="hold">
                                          <p:stCondLst>
                                            <p:cond delay="0"/>
                                          </p:stCondLst>
                                        </p:cTn>
                                        <p:tgtEl>
                                          <p:spTgt spid="672826"/>
                                        </p:tgtEl>
                                        <p:attrNameLst>
                                          <p:attrName>style.visibility</p:attrName>
                                        </p:attrNameLst>
                                      </p:cBhvr>
                                      <p:to>
                                        <p:strVal val="visible"/>
                                      </p:to>
                                    </p:set>
                                    <p:animEffect transition="in" filter="wipe(left)">
                                      <p:cBhvr>
                                        <p:cTn id="251" dur="500"/>
                                        <p:tgtEl>
                                          <p:spTgt spid="672826"/>
                                        </p:tgtEl>
                                      </p:cBhvr>
                                    </p:animEffect>
                                  </p:childTnLst>
                                </p:cTn>
                              </p:par>
                            </p:childTnLst>
                          </p:cTn>
                        </p:par>
                        <p:par>
                          <p:cTn id="252" fill="hold" nodeType="afterGroup">
                            <p:stCondLst>
                              <p:cond delay="500"/>
                            </p:stCondLst>
                            <p:childTnLst>
                              <p:par>
                                <p:cTn id="253" presetID="22" presetClass="entr" presetSubtype="8" fill="hold" nodeType="afterEffect">
                                  <p:stCondLst>
                                    <p:cond delay="0"/>
                                  </p:stCondLst>
                                  <p:childTnLst>
                                    <p:set>
                                      <p:cBhvr>
                                        <p:cTn id="254" dur="1" fill="hold">
                                          <p:stCondLst>
                                            <p:cond delay="0"/>
                                          </p:stCondLst>
                                        </p:cTn>
                                        <p:tgtEl>
                                          <p:spTgt spid="672824"/>
                                        </p:tgtEl>
                                        <p:attrNameLst>
                                          <p:attrName>style.visibility</p:attrName>
                                        </p:attrNameLst>
                                      </p:cBhvr>
                                      <p:to>
                                        <p:strVal val="visible"/>
                                      </p:to>
                                    </p:set>
                                    <p:animEffect transition="in" filter="wipe(left)">
                                      <p:cBhvr>
                                        <p:cTn id="255" dur="500"/>
                                        <p:tgtEl>
                                          <p:spTgt spid="672824"/>
                                        </p:tgtEl>
                                      </p:cBhvr>
                                    </p:animEffect>
                                  </p:childTnLst>
                                </p:cTn>
                              </p:par>
                            </p:childTnLst>
                          </p:cTn>
                        </p:par>
                      </p:childTnLst>
                    </p:cTn>
                  </p:par>
                  <p:par>
                    <p:cTn id="256" fill="hold" nodeType="clickPar">
                      <p:stCondLst>
                        <p:cond delay="indefinite"/>
                      </p:stCondLst>
                      <p:childTnLst>
                        <p:par>
                          <p:cTn id="257" fill="hold" nodeType="withGroup">
                            <p:stCondLst>
                              <p:cond delay="0"/>
                            </p:stCondLst>
                            <p:childTnLst>
                              <p:par>
                                <p:cTn id="258" presetID="22" presetClass="entr" presetSubtype="8" fill="hold" nodeType="clickEffect">
                                  <p:stCondLst>
                                    <p:cond delay="0"/>
                                  </p:stCondLst>
                                  <p:childTnLst>
                                    <p:set>
                                      <p:cBhvr>
                                        <p:cTn id="259" dur="1" fill="hold">
                                          <p:stCondLst>
                                            <p:cond delay="0"/>
                                          </p:stCondLst>
                                        </p:cTn>
                                        <p:tgtEl>
                                          <p:spTgt spid="672827"/>
                                        </p:tgtEl>
                                        <p:attrNameLst>
                                          <p:attrName>style.visibility</p:attrName>
                                        </p:attrNameLst>
                                      </p:cBhvr>
                                      <p:to>
                                        <p:strVal val="visible"/>
                                      </p:to>
                                    </p:set>
                                    <p:animEffect transition="in" filter="wipe(left)">
                                      <p:cBhvr>
                                        <p:cTn id="260" dur="500"/>
                                        <p:tgtEl>
                                          <p:spTgt spid="672827"/>
                                        </p:tgtEl>
                                      </p:cBhvr>
                                    </p:animEffect>
                                  </p:childTnLst>
                                </p:cTn>
                              </p:par>
                            </p:childTnLst>
                          </p:cTn>
                        </p:par>
                        <p:par>
                          <p:cTn id="261" fill="hold" nodeType="afterGroup">
                            <p:stCondLst>
                              <p:cond delay="500"/>
                            </p:stCondLst>
                            <p:childTnLst>
                              <p:par>
                                <p:cTn id="262" presetID="22" presetClass="entr" presetSubtype="8" fill="hold" nodeType="afterEffect">
                                  <p:stCondLst>
                                    <p:cond delay="0"/>
                                  </p:stCondLst>
                                  <p:childTnLst>
                                    <p:set>
                                      <p:cBhvr>
                                        <p:cTn id="263" dur="1" fill="hold">
                                          <p:stCondLst>
                                            <p:cond delay="0"/>
                                          </p:stCondLst>
                                        </p:cTn>
                                        <p:tgtEl>
                                          <p:spTgt spid="672825"/>
                                        </p:tgtEl>
                                        <p:attrNameLst>
                                          <p:attrName>style.visibility</p:attrName>
                                        </p:attrNameLst>
                                      </p:cBhvr>
                                      <p:to>
                                        <p:strVal val="visible"/>
                                      </p:to>
                                    </p:set>
                                    <p:animEffect transition="in" filter="wipe(left)">
                                      <p:cBhvr>
                                        <p:cTn id="264" dur="500"/>
                                        <p:tgtEl>
                                          <p:spTgt spid="672825"/>
                                        </p:tgtEl>
                                      </p:cBhvr>
                                    </p:animEffect>
                                  </p:childTnLst>
                                  <p:subTnLst>
                                    <p:audio>
                                      <p:cMediaNode>
                                        <p:cTn display="0" masterRel="sameClick">
                                          <p:stCondLst>
                                            <p:cond evt="begin" delay="0">
                                              <p:tn val="262"/>
                                            </p:cond>
                                          </p:stCondLst>
                                          <p:endCondLst>
                                            <p:cond evt="onStopAudio" delay="0">
                                              <p:tgtEl>
                                                <p:sldTgt/>
                                              </p:tgtEl>
                                            </p:cond>
                                          </p:endCondLst>
                                        </p:cTn>
                                        <p:tgtEl>
                                          <p:sndTgt r:embed="rId2" name="TYPE.WAV"/>
                                        </p:tgtEl>
                                      </p:cMediaNode>
                                    </p:audio>
                                  </p:subTnLst>
                                </p:cTn>
                              </p:par>
                            </p:childTnLst>
                          </p:cTn>
                        </p:par>
                        <p:par>
                          <p:cTn id="265" fill="hold" nodeType="afterGroup">
                            <p:stCondLst>
                              <p:cond delay="1000"/>
                            </p:stCondLst>
                            <p:childTnLst>
                              <p:par>
                                <p:cTn id="266" presetID="22" presetClass="entr" presetSubtype="8" fill="hold" nodeType="afterEffect">
                                  <p:stCondLst>
                                    <p:cond delay="0"/>
                                  </p:stCondLst>
                                  <p:childTnLst>
                                    <p:set>
                                      <p:cBhvr>
                                        <p:cTn id="267" dur="1" fill="hold">
                                          <p:stCondLst>
                                            <p:cond delay="0"/>
                                          </p:stCondLst>
                                        </p:cTn>
                                        <p:tgtEl>
                                          <p:spTgt spid="672828"/>
                                        </p:tgtEl>
                                        <p:attrNameLst>
                                          <p:attrName>style.visibility</p:attrName>
                                        </p:attrNameLst>
                                      </p:cBhvr>
                                      <p:to>
                                        <p:strVal val="visible"/>
                                      </p:to>
                                    </p:set>
                                    <p:animEffect transition="in" filter="wipe(left)">
                                      <p:cBhvr>
                                        <p:cTn id="268" dur="500"/>
                                        <p:tgtEl>
                                          <p:spTgt spid="672828"/>
                                        </p:tgtEl>
                                      </p:cBhvr>
                                    </p:animEffec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 presetClass="entr" presetSubtype="2" fill="hold" nodeType="clickEffect">
                                  <p:stCondLst>
                                    <p:cond delay="0"/>
                                  </p:stCondLst>
                                  <p:childTnLst>
                                    <p:set>
                                      <p:cBhvr>
                                        <p:cTn id="272" dur="1" fill="hold">
                                          <p:stCondLst>
                                            <p:cond delay="0"/>
                                          </p:stCondLst>
                                        </p:cTn>
                                        <p:tgtEl>
                                          <p:spTgt spid="672829"/>
                                        </p:tgtEl>
                                        <p:attrNameLst>
                                          <p:attrName>style.visibility</p:attrName>
                                        </p:attrNameLst>
                                      </p:cBhvr>
                                      <p:to>
                                        <p:strVal val="visible"/>
                                      </p:to>
                                    </p:set>
                                    <p:anim calcmode="lin" valueType="num">
                                      <p:cBhvr additive="base">
                                        <p:cTn id="273" dur="500" fill="hold"/>
                                        <p:tgtEl>
                                          <p:spTgt spid="672829"/>
                                        </p:tgtEl>
                                        <p:attrNameLst>
                                          <p:attrName>ppt_x</p:attrName>
                                        </p:attrNameLst>
                                      </p:cBhvr>
                                      <p:tavLst>
                                        <p:tav tm="0">
                                          <p:val>
                                            <p:strVal val="1+#ppt_w/2"/>
                                          </p:val>
                                        </p:tav>
                                        <p:tav tm="100000">
                                          <p:val>
                                            <p:strVal val="#ppt_x"/>
                                          </p:val>
                                        </p:tav>
                                      </p:tavLst>
                                    </p:anim>
                                    <p:anim calcmode="lin" valueType="num">
                                      <p:cBhvr additive="base">
                                        <p:cTn id="274" dur="500" fill="hold"/>
                                        <p:tgtEl>
                                          <p:spTgt spid="6728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0" grpId="0" autoUpdateAnimBg="0"/>
      <p:bldP spid="672771" grpId="0" autoUpdateAnimBg="0"/>
      <p:bldP spid="672772" grpId="0" autoUpdateAnimBg="0"/>
      <p:bldP spid="672773" grpId="0" autoUpdateAnimBg="0"/>
      <p:bldP spid="672774" grpId="0" autoUpdateAnimBg="0"/>
      <p:bldP spid="672775" grpId="0" autoUpdateAnimBg="0"/>
      <p:bldP spid="672777" grpId="0"/>
      <p:bldP spid="672778" grpId="0"/>
      <p:bldP spid="672779" grpId="0" autoUpdateAnimBg="0"/>
      <p:bldP spid="672780" grpId="0"/>
      <p:bldP spid="672781" grpId="0" animBg="1"/>
      <p:bldP spid="672785" grpId="0" animBg="1"/>
      <p:bldP spid="672788" grpId="0" animBg="1"/>
      <p:bldP spid="672804" grpId="0"/>
      <p:bldP spid="672809" grpId="0" animBg="1"/>
      <p:bldP spid="672811" grpId="0"/>
      <p:bldP spid="672813" grpId="0" animBg="1"/>
      <p:bldP spid="672814" grpId="0" animBg="1"/>
      <p:bldP spid="672815" grpId="0" animBg="1"/>
      <p:bldP spid="672822" grpId="0" autoUpdateAnimBg="0"/>
      <p:bldP spid="672824" grpId="0" autoUpdateAnimBg="0"/>
      <p:bldP spid="672825" grpId="0" autoUpdateAnimBg="0"/>
      <p:bldP spid="672826" grpId="0"/>
      <p:bldP spid="672827" grpId="0"/>
      <p:bldP spid="672830" grpId="0"/>
      <p:bldP spid="6728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Text Box 2">
            <a:extLst>
              <a:ext uri="{FF2B5EF4-FFF2-40B4-BE49-F238E27FC236}">
                <a16:creationId xmlns:a16="http://schemas.microsoft.com/office/drawing/2014/main" id="{4C840733-C8A6-D357-280B-F99749B29014}"/>
              </a:ext>
            </a:extLst>
          </p:cNvPr>
          <p:cNvSpPr txBox="1">
            <a:spLocks noChangeArrowheads="1"/>
          </p:cNvSpPr>
          <p:nvPr/>
        </p:nvSpPr>
        <p:spPr bwMode="auto">
          <a:xfrm>
            <a:off x="714375" y="1171575"/>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楷体_GB2312" pitchFamily="49" charset="-122"/>
                <a:ea typeface="楷体_GB2312" pitchFamily="49" charset="-122"/>
              </a:rPr>
              <a:t>(1)</a:t>
            </a:r>
            <a:r>
              <a:rPr lang="en-US" altLang="zh-CN">
                <a:latin typeface="Times New Roman" panose="02020603050405020304" pitchFamily="18" charset="0"/>
                <a:ea typeface="楷体_GB2312" pitchFamily="49" charset="-122"/>
              </a:rPr>
              <a:t> </a:t>
            </a:r>
            <a:r>
              <a:rPr lang="zh-CN" altLang="en-US">
                <a:latin typeface="楷体_GB2312" pitchFamily="49" charset="-122"/>
                <a:ea typeface="楷体_GB2312" pitchFamily="49" charset="-122"/>
              </a:rPr>
              <a:t>力对点的力矩</a:t>
            </a:r>
            <a:endParaRPr lang="zh-CN" altLang="en-US" i="1">
              <a:latin typeface="楷体_GB2312" pitchFamily="49" charset="-122"/>
              <a:ea typeface="楷体_GB2312" pitchFamily="49" charset="-122"/>
            </a:endParaRPr>
          </a:p>
        </p:txBody>
      </p:sp>
      <p:sp>
        <p:nvSpPr>
          <p:cNvPr id="673795" name="Line 3">
            <a:extLst>
              <a:ext uri="{FF2B5EF4-FFF2-40B4-BE49-F238E27FC236}">
                <a16:creationId xmlns:a16="http://schemas.microsoft.com/office/drawing/2014/main" id="{A739F107-5A74-42AC-76B4-E5652075A444}"/>
              </a:ext>
            </a:extLst>
          </p:cNvPr>
          <p:cNvSpPr>
            <a:spLocks noChangeShapeType="1"/>
          </p:cNvSpPr>
          <p:nvPr/>
        </p:nvSpPr>
        <p:spPr bwMode="auto">
          <a:xfrm>
            <a:off x="5707063" y="2319338"/>
            <a:ext cx="1219200" cy="457200"/>
          </a:xfrm>
          <a:prstGeom prst="line">
            <a:avLst/>
          </a:prstGeom>
          <a:noFill/>
          <a:ln w="38100">
            <a:solidFill>
              <a:srgbClr val="FFFF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796" name="Line 4">
            <a:extLst>
              <a:ext uri="{FF2B5EF4-FFF2-40B4-BE49-F238E27FC236}">
                <a16:creationId xmlns:a16="http://schemas.microsoft.com/office/drawing/2014/main" id="{7E48FC2B-980E-2B37-3CE5-64017D92D476}"/>
              </a:ext>
            </a:extLst>
          </p:cNvPr>
          <p:cNvSpPr>
            <a:spLocks noChangeShapeType="1"/>
          </p:cNvSpPr>
          <p:nvPr/>
        </p:nvSpPr>
        <p:spPr bwMode="auto">
          <a:xfrm flipV="1">
            <a:off x="6926263" y="1709738"/>
            <a:ext cx="1447800" cy="1066800"/>
          </a:xfrm>
          <a:prstGeom prst="line">
            <a:avLst/>
          </a:prstGeom>
          <a:noFill/>
          <a:ln w="38100">
            <a:solidFill>
              <a:srgbClr val="FF00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797" name="Line 5">
            <a:extLst>
              <a:ext uri="{FF2B5EF4-FFF2-40B4-BE49-F238E27FC236}">
                <a16:creationId xmlns:a16="http://schemas.microsoft.com/office/drawing/2014/main" id="{14D6EC04-B730-ABA4-F393-E58AF4606C72}"/>
              </a:ext>
            </a:extLst>
          </p:cNvPr>
          <p:cNvSpPr>
            <a:spLocks noChangeShapeType="1"/>
          </p:cNvSpPr>
          <p:nvPr/>
        </p:nvSpPr>
        <p:spPr bwMode="auto">
          <a:xfrm flipV="1">
            <a:off x="5707063" y="1709738"/>
            <a:ext cx="2667000" cy="609600"/>
          </a:xfrm>
          <a:prstGeom prst="line">
            <a:avLst/>
          </a:prstGeom>
          <a:noFill/>
          <a:ln w="22225">
            <a:solidFill>
              <a:schemeClr val="bg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798" name="Line 6">
            <a:extLst>
              <a:ext uri="{FF2B5EF4-FFF2-40B4-BE49-F238E27FC236}">
                <a16:creationId xmlns:a16="http://schemas.microsoft.com/office/drawing/2014/main" id="{CE94D372-B09F-C41E-2F9E-408DB5167DAA}"/>
              </a:ext>
            </a:extLst>
          </p:cNvPr>
          <p:cNvSpPr>
            <a:spLocks noChangeShapeType="1"/>
          </p:cNvSpPr>
          <p:nvPr/>
        </p:nvSpPr>
        <p:spPr bwMode="auto">
          <a:xfrm flipH="1" flipV="1">
            <a:off x="5326063" y="871538"/>
            <a:ext cx="381000" cy="1447800"/>
          </a:xfrm>
          <a:prstGeom prst="line">
            <a:avLst/>
          </a:prstGeom>
          <a:noFill/>
          <a:ln w="38100">
            <a:solidFill>
              <a:srgbClr val="FF99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799" name="Line 7">
            <a:extLst>
              <a:ext uri="{FF2B5EF4-FFF2-40B4-BE49-F238E27FC236}">
                <a16:creationId xmlns:a16="http://schemas.microsoft.com/office/drawing/2014/main" id="{6A11AB28-5598-BF2B-0817-CB9D0564BE48}"/>
              </a:ext>
            </a:extLst>
          </p:cNvPr>
          <p:cNvSpPr>
            <a:spLocks noChangeShapeType="1"/>
          </p:cNvSpPr>
          <p:nvPr/>
        </p:nvSpPr>
        <p:spPr bwMode="auto">
          <a:xfrm flipV="1">
            <a:off x="5707063" y="871538"/>
            <a:ext cx="0" cy="1439862"/>
          </a:xfrm>
          <a:prstGeom prst="line">
            <a:avLst/>
          </a:prstGeom>
          <a:noFill/>
          <a:ln w="19050">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00" name="Line 8">
            <a:extLst>
              <a:ext uri="{FF2B5EF4-FFF2-40B4-BE49-F238E27FC236}">
                <a16:creationId xmlns:a16="http://schemas.microsoft.com/office/drawing/2014/main" id="{4BB3A452-AEE9-CE06-F5F1-D833834C778B}"/>
              </a:ext>
            </a:extLst>
          </p:cNvPr>
          <p:cNvSpPr>
            <a:spLocks noChangeShapeType="1"/>
          </p:cNvSpPr>
          <p:nvPr/>
        </p:nvSpPr>
        <p:spPr bwMode="auto">
          <a:xfrm flipH="1">
            <a:off x="5021263" y="2319338"/>
            <a:ext cx="685800" cy="533400"/>
          </a:xfrm>
          <a:prstGeom prst="line">
            <a:avLst/>
          </a:prstGeom>
          <a:noFill/>
          <a:ln w="19050">
            <a:solidFill>
              <a:schemeClr val="bg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01" name="Line 9">
            <a:extLst>
              <a:ext uri="{FF2B5EF4-FFF2-40B4-BE49-F238E27FC236}">
                <a16:creationId xmlns:a16="http://schemas.microsoft.com/office/drawing/2014/main" id="{E295F506-DA40-AFBF-B51D-327FAFB09D87}"/>
              </a:ext>
            </a:extLst>
          </p:cNvPr>
          <p:cNvSpPr>
            <a:spLocks noChangeShapeType="1"/>
          </p:cNvSpPr>
          <p:nvPr/>
        </p:nvSpPr>
        <p:spPr bwMode="auto">
          <a:xfrm>
            <a:off x="5707063" y="2319338"/>
            <a:ext cx="2673350" cy="1587"/>
          </a:xfrm>
          <a:prstGeom prst="line">
            <a:avLst/>
          </a:prstGeom>
          <a:noFill/>
          <a:ln w="19050">
            <a:solidFill>
              <a:schemeClr val="bg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02" name="Text Box 10">
            <a:extLst>
              <a:ext uri="{FF2B5EF4-FFF2-40B4-BE49-F238E27FC236}">
                <a16:creationId xmlns:a16="http://schemas.microsoft.com/office/drawing/2014/main" id="{83776508-694C-137E-FF89-0E410BB53E28}"/>
              </a:ext>
            </a:extLst>
          </p:cNvPr>
          <p:cNvSpPr txBox="1">
            <a:spLocks noChangeArrowheads="1"/>
          </p:cNvSpPr>
          <p:nvPr/>
        </p:nvSpPr>
        <p:spPr bwMode="auto">
          <a:xfrm>
            <a:off x="5260975" y="2014538"/>
            <a:ext cx="938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r>
              <a:rPr lang="en-US" altLang="zh-CN">
                <a:solidFill>
                  <a:srgbClr val="FFFF00"/>
                </a:solidFill>
                <a:latin typeface="Times New Roman" panose="02020603050405020304" pitchFamily="18" charset="0"/>
                <a:ea typeface="宋体" panose="02010600030101010101" pitchFamily="2" charset="-122"/>
              </a:rPr>
              <a:t>  .</a:t>
            </a:r>
            <a:endParaRPr lang="en-US" altLang="zh-CN">
              <a:solidFill>
                <a:schemeClr val="accent2"/>
              </a:solidFill>
              <a:latin typeface="Times New Roman" panose="02020603050405020304" pitchFamily="18" charset="0"/>
              <a:ea typeface="宋体" panose="02010600030101010101" pitchFamily="2" charset="-122"/>
            </a:endParaRPr>
          </a:p>
        </p:txBody>
      </p:sp>
      <p:graphicFrame>
        <p:nvGraphicFramePr>
          <p:cNvPr id="673803" name="Object 2">
            <a:extLst>
              <a:ext uri="{FF2B5EF4-FFF2-40B4-BE49-F238E27FC236}">
                <a16:creationId xmlns:a16="http://schemas.microsoft.com/office/drawing/2014/main" id="{07343C2E-3FAA-C113-C868-363077AF793E}"/>
              </a:ext>
            </a:extLst>
          </p:cNvPr>
          <p:cNvGraphicFramePr>
            <a:graphicFrameLocks/>
          </p:cNvGraphicFramePr>
          <p:nvPr/>
        </p:nvGraphicFramePr>
        <p:xfrm>
          <a:off x="1592263" y="1844675"/>
          <a:ext cx="1668462" cy="468313"/>
        </p:xfrm>
        <a:graphic>
          <a:graphicData uri="http://schemas.openxmlformats.org/presentationml/2006/ole">
            <mc:AlternateContent xmlns:mc="http://schemas.openxmlformats.org/markup-compatibility/2006">
              <mc:Choice xmlns:v="urn:schemas-microsoft-com:vml" Requires="v">
                <p:oleObj name="公式" r:id="rId2" imgW="1668562" imgH="464848" progId="Equation.3">
                  <p:embed/>
                </p:oleObj>
              </mc:Choice>
              <mc:Fallback>
                <p:oleObj name="公式" r:id="rId2" imgW="1668562" imgH="464848"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2263" y="1844675"/>
                        <a:ext cx="1668462"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04" name="Text Box 12">
            <a:extLst>
              <a:ext uri="{FF2B5EF4-FFF2-40B4-BE49-F238E27FC236}">
                <a16:creationId xmlns:a16="http://schemas.microsoft.com/office/drawing/2014/main" id="{38829742-AF50-C911-6110-5E1A8AA2AA43}"/>
              </a:ext>
            </a:extLst>
          </p:cNvPr>
          <p:cNvSpPr txBox="1">
            <a:spLocks noChangeArrowheads="1"/>
          </p:cNvSpPr>
          <p:nvPr/>
        </p:nvSpPr>
        <p:spPr bwMode="auto">
          <a:xfrm>
            <a:off x="684213" y="2492375"/>
            <a:ext cx="532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楷体_GB2312" pitchFamily="49" charset="-122"/>
                <a:ea typeface="楷体_GB2312" pitchFamily="49" charset="-122"/>
              </a:rPr>
              <a:t>   </a:t>
            </a:r>
            <a:r>
              <a:rPr lang="en-US" altLang="zh-CN">
                <a:latin typeface="Times New Roman" panose="02020603050405020304" pitchFamily="18" charset="0"/>
                <a:ea typeface="楷体_GB2312" pitchFamily="49" charset="-122"/>
              </a:rPr>
              <a:t> </a:t>
            </a:r>
            <a:r>
              <a:rPr lang="zh-CN" altLang="en-US">
                <a:latin typeface="楷体_GB2312" pitchFamily="49" charset="-122"/>
                <a:ea typeface="楷体_GB2312" pitchFamily="49" charset="-122"/>
              </a:rPr>
              <a:t>力对定轴力矩的矢量形式</a:t>
            </a:r>
          </a:p>
        </p:txBody>
      </p:sp>
      <p:sp>
        <p:nvSpPr>
          <p:cNvPr id="673805" name="Rectangle 13">
            <a:extLst>
              <a:ext uri="{FF2B5EF4-FFF2-40B4-BE49-F238E27FC236}">
                <a16:creationId xmlns:a16="http://schemas.microsoft.com/office/drawing/2014/main" id="{A035664D-59A9-278D-0634-03FA58A92581}"/>
              </a:ext>
            </a:extLst>
          </p:cNvPr>
          <p:cNvSpPr>
            <a:spLocks noChangeArrowheads="1"/>
          </p:cNvSpPr>
          <p:nvPr/>
        </p:nvSpPr>
        <p:spPr bwMode="auto">
          <a:xfrm>
            <a:off x="1160463" y="3692525"/>
            <a:ext cx="4779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楷体_GB2312" pitchFamily="49" charset="-122"/>
              </a:rPr>
              <a:t>力矩的方向由</a:t>
            </a:r>
            <a:r>
              <a:rPr lang="zh-CN" altLang="en-US">
                <a:solidFill>
                  <a:srgbClr val="66FFFF"/>
                </a:solidFill>
                <a:latin typeface="Times New Roman" panose="02020603050405020304" pitchFamily="18" charset="0"/>
                <a:ea typeface="楷体_GB2312" pitchFamily="49" charset="-122"/>
              </a:rPr>
              <a:t>右螺旋法则</a:t>
            </a:r>
            <a:r>
              <a:rPr lang="zh-CN" altLang="en-US">
                <a:latin typeface="Times New Roman" panose="02020603050405020304" pitchFamily="18" charset="0"/>
                <a:ea typeface="楷体_GB2312" pitchFamily="49" charset="-122"/>
              </a:rPr>
              <a:t>确定</a:t>
            </a:r>
            <a:endParaRPr lang="zh-CN" altLang="en-US" b="0">
              <a:latin typeface="Times New Roman" panose="02020603050405020304" pitchFamily="18" charset="0"/>
              <a:ea typeface="楷体_GB2312" pitchFamily="49" charset="-122"/>
            </a:endParaRPr>
          </a:p>
        </p:txBody>
      </p:sp>
      <p:graphicFrame>
        <p:nvGraphicFramePr>
          <p:cNvPr id="673806" name="Object 3">
            <a:extLst>
              <a:ext uri="{FF2B5EF4-FFF2-40B4-BE49-F238E27FC236}">
                <a16:creationId xmlns:a16="http://schemas.microsoft.com/office/drawing/2014/main" id="{5B0C3B11-FFB7-1B36-F249-9F80E93D0917}"/>
              </a:ext>
            </a:extLst>
          </p:cNvPr>
          <p:cNvGraphicFramePr>
            <a:graphicFrameLocks/>
          </p:cNvGraphicFramePr>
          <p:nvPr/>
        </p:nvGraphicFramePr>
        <p:xfrm>
          <a:off x="1619250" y="3141663"/>
          <a:ext cx="1749425" cy="457200"/>
        </p:xfrm>
        <a:graphic>
          <a:graphicData uri="http://schemas.openxmlformats.org/presentationml/2006/ole">
            <mc:AlternateContent xmlns:mc="http://schemas.openxmlformats.org/markup-compatibility/2006">
              <mc:Choice xmlns:v="urn:schemas-microsoft-com:vml" Requires="v">
                <p:oleObj name="公式" r:id="rId4" imgW="1745198" imgH="449386" progId="Equation.3">
                  <p:embed/>
                </p:oleObj>
              </mc:Choice>
              <mc:Fallback>
                <p:oleObj name="公式" r:id="rId4" imgW="1745198" imgH="449386"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3141663"/>
                        <a:ext cx="17494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07" name="Text Box 15">
            <a:extLst>
              <a:ext uri="{FF2B5EF4-FFF2-40B4-BE49-F238E27FC236}">
                <a16:creationId xmlns:a16="http://schemas.microsoft.com/office/drawing/2014/main" id="{2AE378ED-8687-3ED7-AC9F-135EA910C5C2}"/>
              </a:ext>
            </a:extLst>
          </p:cNvPr>
          <p:cNvSpPr txBox="1">
            <a:spLocks noChangeArrowheads="1"/>
          </p:cNvSpPr>
          <p:nvPr/>
        </p:nvSpPr>
        <p:spPr bwMode="auto">
          <a:xfrm>
            <a:off x="698500" y="4292600"/>
            <a:ext cx="38735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4988" indent="-534988"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en-US" altLang="zh-CN">
                <a:latin typeface="楷体_GB2312" pitchFamily="49" charset="-122"/>
                <a:ea typeface="楷体_GB2312" pitchFamily="49" charset="-122"/>
              </a:rPr>
              <a:t>(2)</a:t>
            </a:r>
            <a:r>
              <a:rPr lang="zh-CN" altLang="en-US">
                <a:latin typeface="Times New Roman" panose="02020603050405020304" pitchFamily="18" charset="0"/>
                <a:ea typeface="楷体_GB2312" pitchFamily="49" charset="-122"/>
              </a:rPr>
              <a:t>力对任意点的力矩，在通过该点的任一轴上的投影，等于该力对该轴   的力矩</a:t>
            </a:r>
          </a:p>
        </p:txBody>
      </p:sp>
      <p:sp>
        <p:nvSpPr>
          <p:cNvPr id="673808" name="Text Box 16">
            <a:extLst>
              <a:ext uri="{FF2B5EF4-FFF2-40B4-BE49-F238E27FC236}">
                <a16:creationId xmlns:a16="http://schemas.microsoft.com/office/drawing/2014/main" id="{5F097B63-DCE4-2129-E29F-BFDE11B76356}"/>
              </a:ext>
            </a:extLst>
          </p:cNvPr>
          <p:cNvSpPr txBox="1">
            <a:spLocks noChangeArrowheads="1"/>
          </p:cNvSpPr>
          <p:nvPr/>
        </p:nvSpPr>
        <p:spPr bwMode="auto">
          <a:xfrm>
            <a:off x="611188" y="47625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讨论</a:t>
            </a:r>
          </a:p>
        </p:txBody>
      </p:sp>
      <p:graphicFrame>
        <p:nvGraphicFramePr>
          <p:cNvPr id="673809" name="Object 4">
            <a:extLst>
              <a:ext uri="{FF2B5EF4-FFF2-40B4-BE49-F238E27FC236}">
                <a16:creationId xmlns:a16="http://schemas.microsoft.com/office/drawing/2014/main" id="{C288A820-BEF8-016B-7D07-1EC6C602600B}"/>
              </a:ext>
            </a:extLst>
          </p:cNvPr>
          <p:cNvGraphicFramePr>
            <a:graphicFrameLocks/>
          </p:cNvGraphicFramePr>
          <p:nvPr/>
        </p:nvGraphicFramePr>
        <p:xfrm>
          <a:off x="7980363" y="1296988"/>
          <a:ext cx="306387" cy="366712"/>
        </p:xfrm>
        <a:graphic>
          <a:graphicData uri="http://schemas.openxmlformats.org/presentationml/2006/ole">
            <mc:AlternateContent xmlns:mc="http://schemas.openxmlformats.org/markup-compatibility/2006">
              <mc:Choice xmlns:v="urn:schemas-microsoft-com:vml" Requires="v">
                <p:oleObj name="公式" r:id="rId6" imgW="297087" imgH="358112" progId="Equation.3">
                  <p:embed/>
                </p:oleObj>
              </mc:Choice>
              <mc:Fallback>
                <p:oleObj name="公式" r:id="rId6" imgW="297087" imgH="358112"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80363" y="1296988"/>
                        <a:ext cx="3063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3810" name="Object 5">
            <a:extLst>
              <a:ext uri="{FF2B5EF4-FFF2-40B4-BE49-F238E27FC236}">
                <a16:creationId xmlns:a16="http://schemas.microsoft.com/office/drawing/2014/main" id="{F2DCABB3-E272-0E55-72DD-EF37D2FB18AD}"/>
              </a:ext>
            </a:extLst>
          </p:cNvPr>
          <p:cNvGraphicFramePr>
            <a:graphicFrameLocks/>
          </p:cNvGraphicFramePr>
          <p:nvPr/>
        </p:nvGraphicFramePr>
        <p:xfrm>
          <a:off x="5983288" y="2520950"/>
          <a:ext cx="215900" cy="292100"/>
        </p:xfrm>
        <a:graphic>
          <a:graphicData uri="http://schemas.openxmlformats.org/presentationml/2006/ole">
            <mc:AlternateContent xmlns:mc="http://schemas.openxmlformats.org/markup-compatibility/2006">
              <mc:Choice xmlns:v="urn:schemas-microsoft-com:vml" Requires="v">
                <p:oleObj name="公式" r:id="rId8" imgW="205522" imgH="281801" progId="Equation.3">
                  <p:embed/>
                </p:oleObj>
              </mc:Choice>
              <mc:Fallback>
                <p:oleObj name="公式" r:id="rId8" imgW="205522" imgH="281801"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83288" y="2520950"/>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3811" name="Object 6">
            <a:extLst>
              <a:ext uri="{FF2B5EF4-FFF2-40B4-BE49-F238E27FC236}">
                <a16:creationId xmlns:a16="http://schemas.microsoft.com/office/drawing/2014/main" id="{C7C923D9-BEE3-AE31-CBEE-6FE6ACF3B820}"/>
              </a:ext>
            </a:extLst>
          </p:cNvPr>
          <p:cNvGraphicFramePr>
            <a:graphicFrameLocks/>
          </p:cNvGraphicFramePr>
          <p:nvPr/>
        </p:nvGraphicFramePr>
        <p:xfrm>
          <a:off x="4859338" y="814388"/>
          <a:ext cx="484187" cy="468312"/>
        </p:xfrm>
        <a:graphic>
          <a:graphicData uri="http://schemas.openxmlformats.org/presentationml/2006/ole">
            <mc:AlternateContent xmlns:mc="http://schemas.openxmlformats.org/markup-compatibility/2006">
              <mc:Choice xmlns:v="urn:schemas-microsoft-com:vml" Requires="v">
                <p:oleObj name="公式" r:id="rId10" imgW="472253" imgH="464848" progId="Equation.3">
                  <p:embed/>
                </p:oleObj>
              </mc:Choice>
              <mc:Fallback>
                <p:oleObj name="公式" r:id="rId10" imgW="472253" imgH="464848"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338" y="814388"/>
                        <a:ext cx="484187"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12" name="Line 20">
            <a:extLst>
              <a:ext uri="{FF2B5EF4-FFF2-40B4-BE49-F238E27FC236}">
                <a16:creationId xmlns:a16="http://schemas.microsoft.com/office/drawing/2014/main" id="{DE6ACB4D-E967-8291-8923-44C62AD5AF80}"/>
              </a:ext>
            </a:extLst>
          </p:cNvPr>
          <p:cNvSpPr>
            <a:spLocks noChangeShapeType="1"/>
          </p:cNvSpPr>
          <p:nvPr/>
        </p:nvSpPr>
        <p:spPr bwMode="auto">
          <a:xfrm flipH="1">
            <a:off x="6659563" y="1825625"/>
            <a:ext cx="1228725" cy="863600"/>
          </a:xfrm>
          <a:prstGeom prst="line">
            <a:avLst/>
          </a:prstGeom>
          <a:noFill/>
          <a:ln w="9525">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13" name="Line 21">
            <a:extLst>
              <a:ext uri="{FF2B5EF4-FFF2-40B4-BE49-F238E27FC236}">
                <a16:creationId xmlns:a16="http://schemas.microsoft.com/office/drawing/2014/main" id="{85468A2A-E5AD-32F5-4237-5EC1458FAA15}"/>
              </a:ext>
            </a:extLst>
          </p:cNvPr>
          <p:cNvSpPr>
            <a:spLocks noChangeShapeType="1"/>
          </p:cNvSpPr>
          <p:nvPr/>
        </p:nvSpPr>
        <p:spPr bwMode="auto">
          <a:xfrm flipH="1">
            <a:off x="6429375" y="1989138"/>
            <a:ext cx="863600" cy="576262"/>
          </a:xfrm>
          <a:prstGeom prst="line">
            <a:avLst/>
          </a:prstGeom>
          <a:noFill/>
          <a:ln w="9525">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14" name="Line 22">
            <a:extLst>
              <a:ext uri="{FF2B5EF4-FFF2-40B4-BE49-F238E27FC236}">
                <a16:creationId xmlns:a16="http://schemas.microsoft.com/office/drawing/2014/main" id="{3E999386-A0BA-3F7B-357D-FEF08F19B6CA}"/>
              </a:ext>
            </a:extLst>
          </p:cNvPr>
          <p:cNvSpPr>
            <a:spLocks noChangeShapeType="1"/>
          </p:cNvSpPr>
          <p:nvPr/>
        </p:nvSpPr>
        <p:spPr bwMode="auto">
          <a:xfrm flipH="1">
            <a:off x="6186488" y="2060575"/>
            <a:ext cx="617537" cy="431800"/>
          </a:xfrm>
          <a:prstGeom prst="line">
            <a:avLst/>
          </a:prstGeom>
          <a:noFill/>
          <a:ln w="9525">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15" name="Line 23">
            <a:extLst>
              <a:ext uri="{FF2B5EF4-FFF2-40B4-BE49-F238E27FC236}">
                <a16:creationId xmlns:a16="http://schemas.microsoft.com/office/drawing/2014/main" id="{2E9A8F9A-D67D-2021-37C7-BA243E2BBCCC}"/>
              </a:ext>
            </a:extLst>
          </p:cNvPr>
          <p:cNvSpPr>
            <a:spLocks noChangeShapeType="1"/>
          </p:cNvSpPr>
          <p:nvPr/>
        </p:nvSpPr>
        <p:spPr bwMode="auto">
          <a:xfrm flipH="1">
            <a:off x="5940425" y="2205038"/>
            <a:ext cx="287338" cy="215900"/>
          </a:xfrm>
          <a:prstGeom prst="line">
            <a:avLst/>
          </a:prstGeom>
          <a:noFill/>
          <a:ln w="9525">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16" name="AutoShape 24">
            <a:extLst>
              <a:ext uri="{FF2B5EF4-FFF2-40B4-BE49-F238E27FC236}">
                <a16:creationId xmlns:a16="http://schemas.microsoft.com/office/drawing/2014/main" id="{9DADA1F6-2F8A-CDCD-9D78-E7B5BA85D383}"/>
              </a:ext>
            </a:extLst>
          </p:cNvPr>
          <p:cNvSpPr>
            <a:spLocks noChangeArrowheads="1"/>
          </p:cNvSpPr>
          <p:nvPr/>
        </p:nvSpPr>
        <p:spPr bwMode="auto">
          <a:xfrm>
            <a:off x="449263" y="419100"/>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17" name="Arc 25">
            <a:extLst>
              <a:ext uri="{FF2B5EF4-FFF2-40B4-BE49-F238E27FC236}">
                <a16:creationId xmlns:a16="http://schemas.microsoft.com/office/drawing/2014/main" id="{531EA4FC-95F6-2B27-1B60-9B8F78D70543}"/>
              </a:ext>
            </a:extLst>
          </p:cNvPr>
          <p:cNvSpPr>
            <a:spLocks/>
          </p:cNvSpPr>
          <p:nvPr/>
        </p:nvSpPr>
        <p:spPr bwMode="auto">
          <a:xfrm rot="20973885" flipH="1">
            <a:off x="5262563" y="1260475"/>
            <a:ext cx="387350" cy="258763"/>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2" name="Group 26">
            <a:extLst>
              <a:ext uri="{FF2B5EF4-FFF2-40B4-BE49-F238E27FC236}">
                <a16:creationId xmlns:a16="http://schemas.microsoft.com/office/drawing/2014/main" id="{406F722F-0E82-A3DA-2A10-65DAD58B7290}"/>
              </a:ext>
            </a:extLst>
          </p:cNvPr>
          <p:cNvGrpSpPr>
            <a:grpSpLocks/>
          </p:cNvGrpSpPr>
          <p:nvPr/>
        </p:nvGrpSpPr>
        <p:grpSpPr bwMode="auto">
          <a:xfrm>
            <a:off x="4716463" y="3192463"/>
            <a:ext cx="3887787" cy="3216275"/>
            <a:chOff x="3153" y="2011"/>
            <a:chExt cx="2449" cy="2026"/>
          </a:xfrm>
        </p:grpSpPr>
        <p:sp>
          <p:nvSpPr>
            <p:cNvPr id="673819" name="Line 27">
              <a:extLst>
                <a:ext uri="{FF2B5EF4-FFF2-40B4-BE49-F238E27FC236}">
                  <a16:creationId xmlns:a16="http://schemas.microsoft.com/office/drawing/2014/main" id="{E723AEFD-94F8-0E69-231B-B72DBCE6CEB0}"/>
                </a:ext>
              </a:extLst>
            </p:cNvPr>
            <p:cNvSpPr>
              <a:spLocks noChangeShapeType="1"/>
            </p:cNvSpPr>
            <p:nvPr/>
          </p:nvSpPr>
          <p:spPr bwMode="auto">
            <a:xfrm flipH="1">
              <a:off x="4253" y="3599"/>
              <a:ext cx="1" cy="438"/>
            </a:xfrm>
            <a:prstGeom prst="line">
              <a:avLst/>
            </a:prstGeom>
            <a:noFill/>
            <a:ln w="50800">
              <a:solidFill>
                <a:schemeClr val="folHlink"/>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0" name="Freeform 28">
              <a:extLst>
                <a:ext uri="{FF2B5EF4-FFF2-40B4-BE49-F238E27FC236}">
                  <a16:creationId xmlns:a16="http://schemas.microsoft.com/office/drawing/2014/main" id="{FBE6CE04-34C4-0520-B479-9DB46D3E8B4F}"/>
                </a:ext>
              </a:extLst>
            </p:cNvPr>
            <p:cNvSpPr>
              <a:spLocks/>
            </p:cNvSpPr>
            <p:nvPr/>
          </p:nvSpPr>
          <p:spPr bwMode="auto">
            <a:xfrm>
              <a:off x="3153" y="2177"/>
              <a:ext cx="2359" cy="1678"/>
            </a:xfrm>
            <a:custGeom>
              <a:avLst/>
              <a:gdLst/>
              <a:ahLst/>
              <a:cxnLst>
                <a:cxn ang="0">
                  <a:pos x="1013" y="8"/>
                </a:cxn>
                <a:cxn ang="0">
                  <a:pos x="333" y="99"/>
                </a:cxn>
                <a:cxn ang="0">
                  <a:pos x="15" y="416"/>
                </a:cxn>
                <a:cxn ang="0">
                  <a:pos x="242" y="825"/>
                </a:cxn>
                <a:cxn ang="0">
                  <a:pos x="696" y="1006"/>
                </a:cxn>
                <a:cxn ang="0">
                  <a:pos x="1058" y="961"/>
                </a:cxn>
                <a:cxn ang="0">
                  <a:pos x="1421" y="1051"/>
                </a:cxn>
                <a:cxn ang="0">
                  <a:pos x="1693" y="825"/>
                </a:cxn>
                <a:cxn ang="0">
                  <a:pos x="1648" y="144"/>
                </a:cxn>
                <a:cxn ang="0">
                  <a:pos x="1013" y="8"/>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cap="flat" cmpd="sng">
              <a:prstDash val="solid"/>
              <a:round/>
              <a:headEnd/>
              <a:tailEnd/>
            </a:ln>
            <a:effectLst/>
            <a:scene3d>
              <a:camera prst="legacyPerspectiveFront">
                <a:rot lat="18000000" lon="0" rev="0"/>
              </a:camera>
              <a:lightRig rig="legacyFlat2" dir="t"/>
            </a:scene3d>
            <a:sp3d extrusionH="430200" prstMaterial="legacyMatte">
              <a:bevelT w="13500" h="13500" prst="angle"/>
              <a:bevelB w="13500" h="13500" prst="angle"/>
              <a:extrusionClr>
                <a:srgbClr val="339966"/>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1" name="Oval 29">
              <a:extLst>
                <a:ext uri="{FF2B5EF4-FFF2-40B4-BE49-F238E27FC236}">
                  <a16:creationId xmlns:a16="http://schemas.microsoft.com/office/drawing/2014/main" id="{B9CE54EB-E168-36C7-9085-EE365A225733}"/>
                </a:ext>
              </a:extLst>
            </p:cNvPr>
            <p:cNvSpPr>
              <a:spLocks noChangeArrowheads="1"/>
            </p:cNvSpPr>
            <p:nvPr/>
          </p:nvSpPr>
          <p:spPr bwMode="auto">
            <a:xfrm>
              <a:off x="4208" y="2980"/>
              <a:ext cx="90" cy="45"/>
            </a:xfrm>
            <a:prstGeom prst="ellipse">
              <a:avLst/>
            </a:prstGeom>
            <a:solidFill>
              <a:schemeClr val="tx2"/>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199" name="Object 7">
              <a:extLst>
                <a:ext uri="{FF2B5EF4-FFF2-40B4-BE49-F238E27FC236}">
                  <a16:creationId xmlns:a16="http://schemas.microsoft.com/office/drawing/2014/main" id="{1CFF2128-78BE-24CC-6513-3BC0269D6D9A}"/>
                </a:ext>
              </a:extLst>
            </p:cNvPr>
            <p:cNvGraphicFramePr>
              <a:graphicFrameLocks/>
            </p:cNvGraphicFramePr>
            <p:nvPr/>
          </p:nvGraphicFramePr>
          <p:xfrm>
            <a:off x="4460" y="2905"/>
            <a:ext cx="134" cy="185"/>
          </p:xfrm>
          <a:graphic>
            <a:graphicData uri="http://schemas.openxmlformats.org/presentationml/2006/ole">
              <mc:AlternateContent xmlns:mc="http://schemas.openxmlformats.org/markup-compatibility/2006">
                <mc:Choice xmlns:v="urn:schemas-microsoft-com:vml" Requires="v">
                  <p:oleObj name="公式" r:id="rId12" imgW="205522" imgH="281801" progId="Equation.3">
                    <p:embed/>
                  </p:oleObj>
                </mc:Choice>
                <mc:Fallback>
                  <p:oleObj name="公式" r:id="rId12" imgW="205522" imgH="281801"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0" y="2905"/>
                          <a:ext cx="13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23" name="Line 31">
              <a:extLst>
                <a:ext uri="{FF2B5EF4-FFF2-40B4-BE49-F238E27FC236}">
                  <a16:creationId xmlns:a16="http://schemas.microsoft.com/office/drawing/2014/main" id="{32995DC6-666B-BD1D-CAAC-3D61F73D5975}"/>
                </a:ext>
              </a:extLst>
            </p:cNvPr>
            <p:cNvSpPr>
              <a:spLocks noChangeShapeType="1"/>
            </p:cNvSpPr>
            <p:nvPr/>
          </p:nvSpPr>
          <p:spPr bwMode="auto">
            <a:xfrm flipV="1">
              <a:off x="4707" y="2419"/>
              <a:ext cx="668" cy="815"/>
            </a:xfrm>
            <a:prstGeom prst="line">
              <a:avLst/>
            </a:prstGeom>
            <a:noFill/>
            <a:ln w="57150">
              <a:solidFill>
                <a:schemeClr val="hlink"/>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4" name="Oval 32">
              <a:extLst>
                <a:ext uri="{FF2B5EF4-FFF2-40B4-BE49-F238E27FC236}">
                  <a16:creationId xmlns:a16="http://schemas.microsoft.com/office/drawing/2014/main" id="{1B563372-9BF6-2F13-E583-BDFE34B4EE07}"/>
                </a:ext>
              </a:extLst>
            </p:cNvPr>
            <p:cNvSpPr>
              <a:spLocks noChangeArrowheads="1"/>
            </p:cNvSpPr>
            <p:nvPr/>
          </p:nvSpPr>
          <p:spPr bwMode="auto">
            <a:xfrm>
              <a:off x="3483" y="2736"/>
              <a:ext cx="1542" cy="545"/>
            </a:xfrm>
            <a:prstGeom prst="ellipse">
              <a:avLst/>
            </a:prstGeom>
            <a:noFill/>
            <a:ln w="19050">
              <a:solidFill>
                <a:schemeClr val="tx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5" name="Line 33">
              <a:extLst>
                <a:ext uri="{FF2B5EF4-FFF2-40B4-BE49-F238E27FC236}">
                  <a16:creationId xmlns:a16="http://schemas.microsoft.com/office/drawing/2014/main" id="{F1F9075D-4F36-D18A-D704-2C3EC902DF23}"/>
                </a:ext>
              </a:extLst>
            </p:cNvPr>
            <p:cNvSpPr>
              <a:spLocks noChangeShapeType="1"/>
            </p:cNvSpPr>
            <p:nvPr/>
          </p:nvSpPr>
          <p:spPr bwMode="auto">
            <a:xfrm>
              <a:off x="4241" y="2328"/>
              <a:ext cx="13" cy="682"/>
            </a:xfrm>
            <a:prstGeom prst="line">
              <a:avLst/>
            </a:prstGeom>
            <a:noFill/>
            <a:ln w="50800">
              <a:solidFill>
                <a:schemeClr val="folHlink"/>
              </a:solidFill>
              <a:round/>
              <a:headEnd type="triangle" w="med" len="me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6" name="Line 34">
              <a:extLst>
                <a:ext uri="{FF2B5EF4-FFF2-40B4-BE49-F238E27FC236}">
                  <a16:creationId xmlns:a16="http://schemas.microsoft.com/office/drawing/2014/main" id="{5AE68DE2-BA87-258A-1C97-ACD32D569ADE}"/>
                </a:ext>
              </a:extLst>
            </p:cNvPr>
            <p:cNvSpPr>
              <a:spLocks noChangeShapeType="1"/>
            </p:cNvSpPr>
            <p:nvPr/>
          </p:nvSpPr>
          <p:spPr bwMode="auto">
            <a:xfrm>
              <a:off x="5375" y="2419"/>
              <a:ext cx="12" cy="907"/>
            </a:xfrm>
            <a:prstGeom prst="line">
              <a:avLst/>
            </a:prstGeom>
            <a:noFill/>
            <a:ln w="28575">
              <a:solidFill>
                <a:schemeClr val="hlink"/>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7" name="Line 35">
              <a:extLst>
                <a:ext uri="{FF2B5EF4-FFF2-40B4-BE49-F238E27FC236}">
                  <a16:creationId xmlns:a16="http://schemas.microsoft.com/office/drawing/2014/main" id="{0F9A64DA-02F7-7D91-2725-14426F4ADE9E}"/>
                </a:ext>
              </a:extLst>
            </p:cNvPr>
            <p:cNvSpPr>
              <a:spLocks noChangeShapeType="1"/>
            </p:cNvSpPr>
            <p:nvPr/>
          </p:nvSpPr>
          <p:spPr bwMode="auto">
            <a:xfrm flipV="1">
              <a:off x="4707" y="2322"/>
              <a:ext cx="0" cy="884"/>
            </a:xfrm>
            <a:prstGeom prst="line">
              <a:avLst/>
            </a:prstGeom>
            <a:noFill/>
            <a:ln w="38100">
              <a:solidFill>
                <a:schemeClr val="hlink"/>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28" name="Line 36">
              <a:extLst>
                <a:ext uri="{FF2B5EF4-FFF2-40B4-BE49-F238E27FC236}">
                  <a16:creationId xmlns:a16="http://schemas.microsoft.com/office/drawing/2014/main" id="{4EF25B38-8A3C-E47B-EDBD-902D7C23C5A9}"/>
                </a:ext>
              </a:extLst>
            </p:cNvPr>
            <p:cNvSpPr>
              <a:spLocks noChangeShapeType="1"/>
            </p:cNvSpPr>
            <p:nvPr/>
          </p:nvSpPr>
          <p:spPr bwMode="auto">
            <a:xfrm>
              <a:off x="4253" y="3008"/>
              <a:ext cx="454" cy="227"/>
            </a:xfrm>
            <a:prstGeom prst="line">
              <a:avLst/>
            </a:prstGeom>
            <a:noFill/>
            <a:ln w="2857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06" name="Object 8">
              <a:extLst>
                <a:ext uri="{FF2B5EF4-FFF2-40B4-BE49-F238E27FC236}">
                  <a16:creationId xmlns:a16="http://schemas.microsoft.com/office/drawing/2014/main" id="{9A8ECBB9-DD89-E316-2781-3C8B8C412733}"/>
                </a:ext>
              </a:extLst>
            </p:cNvPr>
            <p:cNvGraphicFramePr>
              <a:graphicFrameLocks/>
            </p:cNvGraphicFramePr>
            <p:nvPr/>
          </p:nvGraphicFramePr>
          <p:xfrm>
            <a:off x="5387" y="3190"/>
            <a:ext cx="215" cy="258"/>
          </p:xfrm>
          <a:graphic>
            <a:graphicData uri="http://schemas.openxmlformats.org/presentationml/2006/ole">
              <mc:AlternateContent xmlns:mc="http://schemas.openxmlformats.org/markup-compatibility/2006">
                <mc:Choice xmlns:v="urn:schemas-microsoft-com:vml" Requires="v">
                  <p:oleObj name="公式" r:id="rId14" imgW="373224" imgH="449386" progId="Equation.3">
                    <p:embed/>
                  </p:oleObj>
                </mc:Choice>
                <mc:Fallback>
                  <p:oleObj name="公式" r:id="rId14" imgW="373224" imgH="449386"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87" y="3190"/>
                          <a:ext cx="215"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7" name="Object 9">
              <a:extLst>
                <a:ext uri="{FF2B5EF4-FFF2-40B4-BE49-F238E27FC236}">
                  <a16:creationId xmlns:a16="http://schemas.microsoft.com/office/drawing/2014/main" id="{7A76C9DA-F8CE-927A-3830-76A4F3BA249F}"/>
                </a:ext>
              </a:extLst>
            </p:cNvPr>
            <p:cNvGraphicFramePr>
              <a:graphicFrameLocks/>
            </p:cNvGraphicFramePr>
            <p:nvPr/>
          </p:nvGraphicFramePr>
          <p:xfrm>
            <a:off x="4650" y="2011"/>
            <a:ext cx="215" cy="265"/>
          </p:xfrm>
          <a:graphic>
            <a:graphicData uri="http://schemas.openxmlformats.org/presentationml/2006/ole">
              <mc:AlternateContent xmlns:mc="http://schemas.openxmlformats.org/markup-compatibility/2006">
                <mc:Choice xmlns:v="urn:schemas-microsoft-com:vml" Requires="v">
                  <p:oleObj name="公式" r:id="rId16" imgW="373224" imgH="464848" progId="Equation.3">
                    <p:embed/>
                  </p:oleObj>
                </mc:Choice>
                <mc:Fallback>
                  <p:oleObj name="公式" r:id="rId16" imgW="373224" imgH="464848"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50" y="2011"/>
                          <a:ext cx="215"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8" name="Object 10">
              <a:extLst>
                <a:ext uri="{FF2B5EF4-FFF2-40B4-BE49-F238E27FC236}">
                  <a16:creationId xmlns:a16="http://schemas.microsoft.com/office/drawing/2014/main" id="{2ECC1CA3-B4AC-E0D0-E8FC-9AEB387B630D}"/>
                </a:ext>
              </a:extLst>
            </p:cNvPr>
            <p:cNvGraphicFramePr>
              <a:graphicFrameLocks/>
            </p:cNvGraphicFramePr>
            <p:nvPr/>
          </p:nvGraphicFramePr>
          <p:xfrm>
            <a:off x="4967" y="3417"/>
            <a:ext cx="201" cy="265"/>
          </p:xfrm>
          <a:graphic>
            <a:graphicData uri="http://schemas.openxmlformats.org/presentationml/2006/ole">
              <mc:AlternateContent xmlns:mc="http://schemas.openxmlformats.org/markup-compatibility/2006">
                <mc:Choice xmlns:v="urn:schemas-microsoft-com:vml" Requires="v">
                  <p:oleObj name="公式" r:id="rId18" imgW="350333" imgH="464848" progId="Equation.3">
                    <p:embed/>
                  </p:oleObj>
                </mc:Choice>
                <mc:Fallback>
                  <p:oleObj name="公式" r:id="rId18" imgW="350333" imgH="464848" progId="Equation.3">
                    <p:embed/>
                    <p:pic>
                      <p:nvPicPr>
                        <p:cNvPr id="0" name="Object 1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67" y="3417"/>
                          <a:ext cx="201"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9" name="Object 11">
              <a:extLst>
                <a:ext uri="{FF2B5EF4-FFF2-40B4-BE49-F238E27FC236}">
                  <a16:creationId xmlns:a16="http://schemas.microsoft.com/office/drawing/2014/main" id="{25DE49E8-B6D8-3428-7956-E7B80F189415}"/>
                </a:ext>
              </a:extLst>
            </p:cNvPr>
            <p:cNvGraphicFramePr>
              <a:graphicFrameLocks/>
            </p:cNvGraphicFramePr>
            <p:nvPr/>
          </p:nvGraphicFramePr>
          <p:xfrm>
            <a:off x="5058" y="2925"/>
            <a:ext cx="193" cy="265"/>
          </p:xfrm>
          <a:graphic>
            <a:graphicData uri="http://schemas.openxmlformats.org/presentationml/2006/ole">
              <mc:AlternateContent xmlns:mc="http://schemas.openxmlformats.org/markup-compatibility/2006">
                <mc:Choice xmlns:v="urn:schemas-microsoft-com:vml" Requires="v">
                  <p:oleObj name="公式" r:id="rId20" imgW="335404" imgH="464848" progId="Equation.3">
                    <p:embed/>
                  </p:oleObj>
                </mc:Choice>
                <mc:Fallback>
                  <p:oleObj name="公式" r:id="rId20" imgW="335404" imgH="464848" progId="Equation.3">
                    <p:embed/>
                    <p:pic>
                      <p:nvPicPr>
                        <p:cNvPr id="0" name="Object 1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58" y="2925"/>
                          <a:ext cx="193"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33" name="Line 41">
              <a:extLst>
                <a:ext uri="{FF2B5EF4-FFF2-40B4-BE49-F238E27FC236}">
                  <a16:creationId xmlns:a16="http://schemas.microsoft.com/office/drawing/2014/main" id="{E5602852-F3DC-0BAD-0211-750C82AA8CEE}"/>
                </a:ext>
              </a:extLst>
            </p:cNvPr>
            <p:cNvSpPr>
              <a:spLocks noChangeShapeType="1"/>
            </p:cNvSpPr>
            <p:nvPr/>
          </p:nvSpPr>
          <p:spPr bwMode="auto">
            <a:xfrm>
              <a:off x="4707" y="2327"/>
              <a:ext cx="680" cy="92"/>
            </a:xfrm>
            <a:prstGeom prst="line">
              <a:avLst/>
            </a:prstGeom>
            <a:noFill/>
            <a:ln w="28575">
              <a:solidFill>
                <a:schemeClr val="hlink"/>
              </a:solidFill>
              <a:prstDash val="sysDot"/>
              <a:round/>
              <a:headEnd/>
              <a:tailEnd type="non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34" name="Line 42">
              <a:extLst>
                <a:ext uri="{FF2B5EF4-FFF2-40B4-BE49-F238E27FC236}">
                  <a16:creationId xmlns:a16="http://schemas.microsoft.com/office/drawing/2014/main" id="{F2D42A91-4061-3B70-CDB6-74F3BD358F8C}"/>
                </a:ext>
              </a:extLst>
            </p:cNvPr>
            <p:cNvSpPr>
              <a:spLocks noChangeShapeType="1"/>
            </p:cNvSpPr>
            <p:nvPr/>
          </p:nvSpPr>
          <p:spPr bwMode="auto">
            <a:xfrm>
              <a:off x="5025" y="3144"/>
              <a:ext cx="272" cy="138"/>
            </a:xfrm>
            <a:prstGeom prst="line">
              <a:avLst/>
            </a:prstGeom>
            <a:noFill/>
            <a:ln w="28575" cap="rnd">
              <a:solidFill>
                <a:srgbClr val="FFCC00"/>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35" name="Line 43">
              <a:extLst>
                <a:ext uri="{FF2B5EF4-FFF2-40B4-BE49-F238E27FC236}">
                  <a16:creationId xmlns:a16="http://schemas.microsoft.com/office/drawing/2014/main" id="{666598DB-D9CB-7269-C5EF-CCB0EA252CFD}"/>
                </a:ext>
              </a:extLst>
            </p:cNvPr>
            <p:cNvSpPr>
              <a:spLocks noChangeShapeType="1"/>
            </p:cNvSpPr>
            <p:nvPr/>
          </p:nvSpPr>
          <p:spPr bwMode="auto">
            <a:xfrm flipV="1">
              <a:off x="5025" y="3327"/>
              <a:ext cx="317" cy="90"/>
            </a:xfrm>
            <a:prstGeom prst="line">
              <a:avLst/>
            </a:prstGeom>
            <a:noFill/>
            <a:ln w="28575" cap="rnd">
              <a:solidFill>
                <a:srgbClr val="FFCC00"/>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36" name="Line 44">
              <a:extLst>
                <a:ext uri="{FF2B5EF4-FFF2-40B4-BE49-F238E27FC236}">
                  <a16:creationId xmlns:a16="http://schemas.microsoft.com/office/drawing/2014/main" id="{EC024F07-3035-7597-BAA1-4FFBD5BE286F}"/>
                </a:ext>
              </a:extLst>
            </p:cNvPr>
            <p:cNvSpPr>
              <a:spLocks noChangeShapeType="1"/>
            </p:cNvSpPr>
            <p:nvPr/>
          </p:nvSpPr>
          <p:spPr bwMode="auto">
            <a:xfrm>
              <a:off x="4707" y="3226"/>
              <a:ext cx="680" cy="92"/>
            </a:xfrm>
            <a:prstGeom prst="line">
              <a:avLst/>
            </a:prstGeom>
            <a:noFill/>
            <a:ln w="38100">
              <a:solidFill>
                <a:srgbClr val="0000CC"/>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37" name="Line 45">
              <a:extLst>
                <a:ext uri="{FF2B5EF4-FFF2-40B4-BE49-F238E27FC236}">
                  <a16:creationId xmlns:a16="http://schemas.microsoft.com/office/drawing/2014/main" id="{CF0605B3-47F9-0784-A7D1-D607983D59AF}"/>
                </a:ext>
              </a:extLst>
            </p:cNvPr>
            <p:cNvSpPr>
              <a:spLocks noChangeShapeType="1"/>
            </p:cNvSpPr>
            <p:nvPr/>
          </p:nvSpPr>
          <p:spPr bwMode="auto">
            <a:xfrm>
              <a:off x="4707" y="3234"/>
              <a:ext cx="363" cy="183"/>
            </a:xfrm>
            <a:prstGeom prst="line">
              <a:avLst/>
            </a:prstGeom>
            <a:noFill/>
            <a:ln w="38100">
              <a:solidFill>
                <a:srgbClr val="FFCC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38" name="Line 46">
              <a:extLst>
                <a:ext uri="{FF2B5EF4-FFF2-40B4-BE49-F238E27FC236}">
                  <a16:creationId xmlns:a16="http://schemas.microsoft.com/office/drawing/2014/main" id="{6E861669-2A19-6B35-8351-912A860E1685}"/>
                </a:ext>
              </a:extLst>
            </p:cNvPr>
            <p:cNvSpPr>
              <a:spLocks noChangeShapeType="1"/>
            </p:cNvSpPr>
            <p:nvPr/>
          </p:nvSpPr>
          <p:spPr bwMode="auto">
            <a:xfrm flipV="1">
              <a:off x="4707" y="3144"/>
              <a:ext cx="318" cy="90"/>
            </a:xfrm>
            <a:prstGeom prst="line">
              <a:avLst/>
            </a:prstGeom>
            <a:noFill/>
            <a:ln w="38100">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39" name="Line 47">
              <a:extLst>
                <a:ext uri="{FF2B5EF4-FFF2-40B4-BE49-F238E27FC236}">
                  <a16:creationId xmlns:a16="http://schemas.microsoft.com/office/drawing/2014/main" id="{C8712B49-3FFE-DEDA-D25E-6E4D8062F5C4}"/>
                </a:ext>
              </a:extLst>
            </p:cNvPr>
            <p:cNvSpPr>
              <a:spLocks noChangeShapeType="1"/>
            </p:cNvSpPr>
            <p:nvPr/>
          </p:nvSpPr>
          <p:spPr bwMode="auto">
            <a:xfrm flipH="1">
              <a:off x="4151" y="3008"/>
              <a:ext cx="90" cy="136"/>
            </a:xfrm>
            <a:prstGeom prst="line">
              <a:avLst/>
            </a:prstGeom>
            <a:noFill/>
            <a:ln w="2857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217" name="Text Box 48">
              <a:extLst>
                <a:ext uri="{FF2B5EF4-FFF2-40B4-BE49-F238E27FC236}">
                  <a16:creationId xmlns:a16="http://schemas.microsoft.com/office/drawing/2014/main" id="{306D1301-EF98-7E12-D1F2-A4EB8667D903}"/>
                </a:ext>
              </a:extLst>
            </p:cNvPr>
            <p:cNvSpPr txBox="1">
              <a:spLocks noChangeArrowheads="1"/>
            </p:cNvSpPr>
            <p:nvPr/>
          </p:nvSpPr>
          <p:spPr bwMode="auto">
            <a:xfrm>
              <a:off x="3928" y="287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FF3300"/>
                  </a:solidFill>
                  <a:latin typeface="Times New Roman" panose="02020603050405020304" pitchFamily="18" charset="0"/>
                  <a:ea typeface="宋体" panose="02010600030101010101" pitchFamily="2" charset="-122"/>
                </a:rPr>
                <a:t>h</a:t>
              </a:r>
            </a:p>
          </p:txBody>
        </p:sp>
        <p:grpSp>
          <p:nvGrpSpPr>
            <p:cNvPr id="7218" name="Group 49">
              <a:extLst>
                <a:ext uri="{FF2B5EF4-FFF2-40B4-BE49-F238E27FC236}">
                  <a16:creationId xmlns:a16="http://schemas.microsoft.com/office/drawing/2014/main" id="{AB444350-C04D-EC83-9C28-BAD12DE479C3}"/>
                </a:ext>
              </a:extLst>
            </p:cNvPr>
            <p:cNvGrpSpPr>
              <a:grpSpLocks/>
            </p:cNvGrpSpPr>
            <p:nvPr/>
          </p:nvGrpSpPr>
          <p:grpSpPr bwMode="auto">
            <a:xfrm>
              <a:off x="4190" y="3090"/>
              <a:ext cx="45" cy="68"/>
              <a:chOff x="4014" y="2296"/>
              <a:chExt cx="45" cy="45"/>
            </a:xfrm>
          </p:grpSpPr>
          <p:sp>
            <p:nvSpPr>
              <p:cNvPr id="673842" name="Line 50">
                <a:extLst>
                  <a:ext uri="{FF2B5EF4-FFF2-40B4-BE49-F238E27FC236}">
                    <a16:creationId xmlns:a16="http://schemas.microsoft.com/office/drawing/2014/main" id="{2DB9A16B-7103-CEF9-AEB4-5A9AF44378A6}"/>
                  </a:ext>
                </a:extLst>
              </p:cNvPr>
              <p:cNvSpPr>
                <a:spLocks noChangeShapeType="1"/>
              </p:cNvSpPr>
              <p:nvPr/>
            </p:nvSpPr>
            <p:spPr bwMode="auto">
              <a:xfrm>
                <a:off x="4014" y="2296"/>
                <a:ext cx="45" cy="0"/>
              </a:xfrm>
              <a:prstGeom prst="line">
                <a:avLst/>
              </a:pr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3843" name="Line 51">
                <a:extLst>
                  <a:ext uri="{FF2B5EF4-FFF2-40B4-BE49-F238E27FC236}">
                    <a16:creationId xmlns:a16="http://schemas.microsoft.com/office/drawing/2014/main" id="{72DC206E-DE79-C3F1-397A-69B3D97A67B8}"/>
                  </a:ext>
                </a:extLst>
              </p:cNvPr>
              <p:cNvSpPr>
                <a:spLocks noChangeShapeType="1"/>
              </p:cNvSpPr>
              <p:nvPr/>
            </p:nvSpPr>
            <p:spPr bwMode="auto">
              <a:xfrm flipH="1">
                <a:off x="4014" y="2296"/>
                <a:ext cx="45" cy="45"/>
              </a:xfrm>
              <a:prstGeom prst="line">
                <a:avLst/>
              </a:prstGeom>
              <a:noFill/>
              <a:ln w="12700">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673844" name="Line 52">
              <a:extLst>
                <a:ext uri="{FF2B5EF4-FFF2-40B4-BE49-F238E27FC236}">
                  <a16:creationId xmlns:a16="http://schemas.microsoft.com/office/drawing/2014/main" id="{E88DEB77-976E-05AD-7E40-CC4E0DF0C058}"/>
                </a:ext>
              </a:extLst>
            </p:cNvPr>
            <p:cNvSpPr>
              <a:spLocks noChangeShapeType="1"/>
            </p:cNvSpPr>
            <p:nvPr/>
          </p:nvSpPr>
          <p:spPr bwMode="auto">
            <a:xfrm>
              <a:off x="4060" y="3143"/>
              <a:ext cx="680" cy="92"/>
            </a:xfrm>
            <a:prstGeom prst="line">
              <a:avLst/>
            </a:prstGeom>
            <a:noFill/>
            <a:ln w="38100">
              <a:solidFill>
                <a:srgbClr val="0000CC"/>
              </a:solidFill>
              <a:prstDash val="dash"/>
              <a:round/>
              <a:headEnd/>
              <a:tailEnd type="non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220" name="Oval 53">
              <a:extLst>
                <a:ext uri="{FF2B5EF4-FFF2-40B4-BE49-F238E27FC236}">
                  <a16:creationId xmlns:a16="http://schemas.microsoft.com/office/drawing/2014/main" id="{CBC5206B-05BF-5090-EA8E-EC93CD1E2B42}"/>
                </a:ext>
              </a:extLst>
            </p:cNvPr>
            <p:cNvSpPr>
              <a:spLocks noChangeArrowheads="1"/>
            </p:cNvSpPr>
            <p:nvPr/>
          </p:nvSpPr>
          <p:spPr bwMode="auto">
            <a:xfrm>
              <a:off x="4684" y="3205"/>
              <a:ext cx="46" cy="45"/>
            </a:xfrm>
            <a:prstGeom prst="ellipse">
              <a:avLst/>
            </a:prstGeom>
            <a:solidFill>
              <a:srgbClr val="FF7C80"/>
            </a:solidFill>
            <a:ln w="38100">
              <a:solidFill>
                <a:srgbClr val="FF7C80"/>
              </a:solidFill>
              <a:round/>
              <a:headEnd/>
              <a:tailEnd/>
            </a:ln>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kumimoji="1" lang="zh-CN" altLang="zh-CN">
                <a:solidFill>
                  <a:srgbClr val="FFFFFF"/>
                </a:solidFill>
                <a:latin typeface="Times New Roman" panose="02020603050405020304" pitchFamily="18" charset="0"/>
                <a:ea typeface="宋体" panose="02010600030101010101" pitchFamily="2" charset="-122"/>
              </a:endParaRPr>
            </a:p>
          </p:txBody>
        </p:sp>
        <p:graphicFrame>
          <p:nvGraphicFramePr>
            <p:cNvPr id="7221" name="Object 12">
              <a:extLst>
                <a:ext uri="{FF2B5EF4-FFF2-40B4-BE49-F238E27FC236}">
                  <a16:creationId xmlns:a16="http://schemas.microsoft.com/office/drawing/2014/main" id="{37FD62BB-EBB2-50E6-5983-2287010A7D28}"/>
                </a:ext>
              </a:extLst>
            </p:cNvPr>
            <p:cNvGraphicFramePr>
              <a:graphicFrameLocks/>
            </p:cNvGraphicFramePr>
            <p:nvPr/>
          </p:nvGraphicFramePr>
          <p:xfrm>
            <a:off x="5329" y="2165"/>
            <a:ext cx="172" cy="208"/>
          </p:xfrm>
          <a:graphic>
            <a:graphicData uri="http://schemas.openxmlformats.org/presentationml/2006/ole">
              <mc:AlternateContent xmlns:mc="http://schemas.openxmlformats.org/markup-compatibility/2006">
                <mc:Choice xmlns:v="urn:schemas-microsoft-com:vml" Requires="v">
                  <p:oleObj name="公式" r:id="rId22" imgW="297087" imgH="358112" progId="Equation.3">
                    <p:embed/>
                  </p:oleObj>
                </mc:Choice>
                <mc:Fallback>
                  <p:oleObj name="公式" r:id="rId22" imgW="297087" imgH="358112" progId="Equation.3">
                    <p:embed/>
                    <p:pic>
                      <p:nvPicPr>
                        <p:cNvPr id="0" name="Object 1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29" y="2165"/>
                          <a:ext cx="172"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22" name="Text Box 55">
              <a:extLst>
                <a:ext uri="{FF2B5EF4-FFF2-40B4-BE49-F238E27FC236}">
                  <a16:creationId xmlns:a16="http://schemas.microsoft.com/office/drawing/2014/main" id="{A8E0915C-5B87-B9B0-B4F9-0C8F71FDE388}"/>
                </a:ext>
              </a:extLst>
            </p:cNvPr>
            <p:cNvSpPr txBox="1">
              <a:spLocks noChangeArrowheads="1"/>
            </p:cNvSpPr>
            <p:nvPr/>
          </p:nvSpPr>
          <p:spPr bwMode="auto">
            <a:xfrm>
              <a:off x="4493" y="3235"/>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  A</a:t>
              </a:r>
            </a:p>
          </p:txBody>
        </p:sp>
        <p:graphicFrame>
          <p:nvGraphicFramePr>
            <p:cNvPr id="7223" name="Object 13">
              <a:extLst>
                <a:ext uri="{FF2B5EF4-FFF2-40B4-BE49-F238E27FC236}">
                  <a16:creationId xmlns:a16="http://schemas.microsoft.com/office/drawing/2014/main" id="{3C241E6B-4186-7A43-3CB0-89F5512C4EC7}"/>
                </a:ext>
              </a:extLst>
            </p:cNvPr>
            <p:cNvGraphicFramePr>
              <a:graphicFrameLocks/>
            </p:cNvGraphicFramePr>
            <p:nvPr/>
          </p:nvGraphicFramePr>
          <p:xfrm>
            <a:off x="4196" y="2132"/>
            <a:ext cx="127" cy="136"/>
          </p:xfrm>
          <a:graphic>
            <a:graphicData uri="http://schemas.openxmlformats.org/presentationml/2006/ole">
              <mc:AlternateContent xmlns:mc="http://schemas.openxmlformats.org/markup-compatibility/2006">
                <mc:Choice xmlns:v="urn:schemas-microsoft-com:vml" Requires="v">
                  <p:oleObj name="公式" r:id="rId24" imgW="198058" imgH="205989" progId="Equation.3">
                    <p:embed/>
                  </p:oleObj>
                </mc:Choice>
                <mc:Fallback>
                  <p:oleObj name="公式" r:id="rId24" imgW="198058" imgH="205989" progId="Equation.3">
                    <p:embed/>
                    <p:pic>
                      <p:nvPicPr>
                        <p:cNvPr id="0" name="Object 13"/>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196" y="2132"/>
                          <a:ext cx="127"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224" name="Group 57">
              <a:extLst>
                <a:ext uri="{FF2B5EF4-FFF2-40B4-BE49-F238E27FC236}">
                  <a16:creationId xmlns:a16="http://schemas.microsoft.com/office/drawing/2014/main" id="{FFA5C82F-A43A-E495-1ADE-10DA87F47F0E}"/>
                </a:ext>
              </a:extLst>
            </p:cNvPr>
            <p:cNvGrpSpPr>
              <a:grpSpLocks/>
            </p:cNvGrpSpPr>
            <p:nvPr/>
          </p:nvGrpSpPr>
          <p:grpSpPr bwMode="auto">
            <a:xfrm>
              <a:off x="4334" y="3159"/>
              <a:ext cx="386" cy="288"/>
              <a:chOff x="4016" y="2870"/>
              <a:chExt cx="386" cy="288"/>
            </a:xfrm>
          </p:grpSpPr>
          <p:sp>
            <p:nvSpPr>
              <p:cNvPr id="7225" name="Text Box 58">
                <a:extLst>
                  <a:ext uri="{FF2B5EF4-FFF2-40B4-BE49-F238E27FC236}">
                    <a16:creationId xmlns:a16="http://schemas.microsoft.com/office/drawing/2014/main" id="{4AF717D0-71C7-6967-01AE-1EAD2056CD66}"/>
                  </a:ext>
                </a:extLst>
              </p:cNvPr>
              <p:cNvSpPr txBox="1">
                <a:spLocks noChangeArrowheads="1"/>
              </p:cNvSpPr>
              <p:nvPr/>
            </p:nvSpPr>
            <p:spPr bwMode="auto">
              <a:xfrm>
                <a:off x="4016" y="2870"/>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a:solidFill>
                      <a:srgbClr val="FF3300"/>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673851" name="Arc 59">
                <a:extLst>
                  <a:ext uri="{FF2B5EF4-FFF2-40B4-BE49-F238E27FC236}">
                    <a16:creationId xmlns:a16="http://schemas.microsoft.com/office/drawing/2014/main" id="{C8553A1B-0681-5F1B-96A9-DD0A5FAFBFD3}"/>
                  </a:ext>
                </a:extLst>
              </p:cNvPr>
              <p:cNvSpPr>
                <a:spLocks/>
              </p:cNvSpPr>
              <p:nvPr/>
            </p:nvSpPr>
            <p:spPr bwMode="auto">
              <a:xfrm rot="7529080">
                <a:off x="4240" y="2821"/>
                <a:ext cx="100" cy="224"/>
              </a:xfrm>
              <a:custGeom>
                <a:avLst/>
                <a:gdLst>
                  <a:gd name="G0" fmla="+- 0 0 0"/>
                  <a:gd name="G1" fmla="+- 0 0 0"/>
                  <a:gd name="G2" fmla="+- 21600 0 0"/>
                  <a:gd name="T0" fmla="*/ 9420 w 9420"/>
                  <a:gd name="T1" fmla="*/ 19438 h 21344"/>
                  <a:gd name="T2" fmla="*/ 3318 w 9420"/>
                  <a:gd name="T3" fmla="*/ 21344 h 21344"/>
                  <a:gd name="T4" fmla="*/ 0 w 9420"/>
                  <a:gd name="T5" fmla="*/ 0 h 21344"/>
                </a:gdLst>
                <a:ahLst/>
                <a:cxnLst>
                  <a:cxn ang="0">
                    <a:pos x="T0" y="T1"/>
                  </a:cxn>
                  <a:cxn ang="0">
                    <a:pos x="T2" y="T3"/>
                  </a:cxn>
                  <a:cxn ang="0">
                    <a:pos x="T4" y="T5"/>
                  </a:cxn>
                </a:cxnLst>
                <a:rect l="0" t="0" r="r" b="b"/>
                <a:pathLst>
                  <a:path w="9420" h="21344" fill="none" extrusionOk="0">
                    <a:moveTo>
                      <a:pt x="9419" y="19437"/>
                    </a:moveTo>
                    <a:cubicBezTo>
                      <a:pt x="7491" y="20372"/>
                      <a:pt x="5435" y="21014"/>
                      <a:pt x="3317" y="21343"/>
                    </a:cubicBezTo>
                  </a:path>
                  <a:path w="9420" h="21344" stroke="0" extrusionOk="0">
                    <a:moveTo>
                      <a:pt x="9419" y="19437"/>
                    </a:moveTo>
                    <a:cubicBezTo>
                      <a:pt x="7491" y="20372"/>
                      <a:pt x="5435" y="21014"/>
                      <a:pt x="3317" y="21343"/>
                    </a:cubicBezTo>
                    <a:lnTo>
                      <a:pt x="0" y="0"/>
                    </a:lnTo>
                    <a:close/>
                  </a:path>
                </a:pathLst>
              </a:custGeom>
              <a:noFill/>
              <a:ln w="19050">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pic>
        <p:nvPicPr>
          <p:cNvPr id="673854" name="Picture 62" descr="j0293240">
            <a:extLst>
              <a:ext uri="{FF2B5EF4-FFF2-40B4-BE49-F238E27FC236}">
                <a16:creationId xmlns:a16="http://schemas.microsoft.com/office/drawing/2014/main" id="{E2F10112-B33F-8F1C-76F7-DBDE0CE4AAA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673816"/>
                                        </p:tgtEl>
                                        <p:attrNameLst>
                                          <p:attrName>style.visibility</p:attrName>
                                        </p:attrNameLst>
                                      </p:cBhvr>
                                      <p:to>
                                        <p:strVal val="visible"/>
                                      </p:to>
                                    </p:set>
                                    <p:anim calcmode="lin" valueType="num">
                                      <p:cBhvr>
                                        <p:cTn id="7" dur="1000" fill="hold"/>
                                        <p:tgtEl>
                                          <p:spTgt spid="673816"/>
                                        </p:tgtEl>
                                        <p:attrNameLst>
                                          <p:attrName>ppt_w</p:attrName>
                                        </p:attrNameLst>
                                      </p:cBhvr>
                                      <p:tavLst>
                                        <p:tav tm="0">
                                          <p:val>
                                            <p:strVal val="#ppt_w+.3"/>
                                          </p:val>
                                        </p:tav>
                                        <p:tav tm="100000">
                                          <p:val>
                                            <p:strVal val="#ppt_w"/>
                                          </p:val>
                                        </p:tav>
                                      </p:tavLst>
                                    </p:anim>
                                    <p:anim calcmode="lin" valueType="num">
                                      <p:cBhvr>
                                        <p:cTn id="8" dur="1000" fill="hold"/>
                                        <p:tgtEl>
                                          <p:spTgt spid="673816"/>
                                        </p:tgtEl>
                                        <p:attrNameLst>
                                          <p:attrName>ppt_h</p:attrName>
                                        </p:attrNameLst>
                                      </p:cBhvr>
                                      <p:tavLst>
                                        <p:tav tm="0">
                                          <p:val>
                                            <p:strVal val="#ppt_h"/>
                                          </p:val>
                                        </p:tav>
                                        <p:tav tm="100000">
                                          <p:val>
                                            <p:strVal val="#ppt_h"/>
                                          </p:val>
                                        </p:tav>
                                      </p:tavLst>
                                    </p:anim>
                                    <p:animEffect transition="in" filter="fade">
                                      <p:cBhvr>
                                        <p:cTn id="9" dur="1000"/>
                                        <p:tgtEl>
                                          <p:spTgt spid="67381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673808"/>
                                        </p:tgtEl>
                                        <p:attrNameLst>
                                          <p:attrName>style.visibility</p:attrName>
                                        </p:attrNameLst>
                                      </p:cBhvr>
                                      <p:to>
                                        <p:strVal val="visible"/>
                                      </p:to>
                                    </p:set>
                                    <p:animEffect transition="in" filter="wipe(left)">
                                      <p:cBhvr>
                                        <p:cTn id="14" dur="500"/>
                                        <p:tgtEl>
                                          <p:spTgt spid="67380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673794"/>
                                        </p:tgtEl>
                                        <p:attrNameLst>
                                          <p:attrName>style.visibility</p:attrName>
                                        </p:attrNameLst>
                                      </p:cBhvr>
                                      <p:to>
                                        <p:strVal val="visible"/>
                                      </p:to>
                                    </p:set>
                                    <p:animEffect transition="in" filter="wipe(left)">
                                      <p:cBhvr>
                                        <p:cTn id="19" dur="500"/>
                                        <p:tgtEl>
                                          <p:spTgt spid="6737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73802"/>
                                        </p:tgtEl>
                                        <p:attrNameLst>
                                          <p:attrName>style.visibility</p:attrName>
                                        </p:attrNameLst>
                                      </p:cBhvr>
                                      <p:to>
                                        <p:strVal val="visible"/>
                                      </p:to>
                                    </p:set>
                                    <p:animEffect transition="in" filter="wipe(left)">
                                      <p:cBhvr>
                                        <p:cTn id="24" dur="500"/>
                                        <p:tgtEl>
                                          <p:spTgt spid="67380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73796"/>
                                        </p:tgtEl>
                                        <p:attrNameLst>
                                          <p:attrName>style.visibility</p:attrName>
                                        </p:attrNameLst>
                                      </p:cBhvr>
                                      <p:to>
                                        <p:strVal val="visible"/>
                                      </p:to>
                                    </p:set>
                                    <p:animEffect transition="in" filter="wipe(left)">
                                      <p:cBhvr>
                                        <p:cTn id="29" dur="500"/>
                                        <p:tgtEl>
                                          <p:spTgt spid="67379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73809"/>
                                        </p:tgtEl>
                                        <p:attrNameLst>
                                          <p:attrName>style.visibility</p:attrName>
                                        </p:attrNameLst>
                                      </p:cBhvr>
                                      <p:to>
                                        <p:strVal val="visible"/>
                                      </p:to>
                                    </p:set>
                                    <p:animEffect transition="in" filter="wipe(left)">
                                      <p:cBhvr>
                                        <p:cTn id="34" dur="500"/>
                                        <p:tgtEl>
                                          <p:spTgt spid="67380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73795"/>
                                        </p:tgtEl>
                                        <p:attrNameLst>
                                          <p:attrName>style.visibility</p:attrName>
                                        </p:attrNameLst>
                                      </p:cBhvr>
                                      <p:to>
                                        <p:strVal val="visible"/>
                                      </p:to>
                                    </p:set>
                                    <p:animEffect transition="in" filter="wipe(left)">
                                      <p:cBhvr>
                                        <p:cTn id="39" dur="500"/>
                                        <p:tgtEl>
                                          <p:spTgt spid="673795"/>
                                        </p:tgtEl>
                                      </p:cBhvr>
                                    </p:animEffect>
                                  </p:childTnLst>
                                </p:cTn>
                              </p:par>
                            </p:childTnLst>
                          </p:cTn>
                        </p:par>
                        <p:par>
                          <p:cTn id="40" fill="hold" nodeType="afterGroup">
                            <p:stCondLst>
                              <p:cond delay="500"/>
                            </p:stCondLst>
                            <p:childTnLst>
                              <p:par>
                                <p:cTn id="41" presetID="22" presetClass="entr" presetSubtype="8" fill="hold" nodeType="afterEffect">
                                  <p:stCondLst>
                                    <p:cond delay="0"/>
                                  </p:stCondLst>
                                  <p:childTnLst>
                                    <p:set>
                                      <p:cBhvr>
                                        <p:cTn id="42" dur="1" fill="hold">
                                          <p:stCondLst>
                                            <p:cond delay="0"/>
                                          </p:stCondLst>
                                        </p:cTn>
                                        <p:tgtEl>
                                          <p:spTgt spid="673800"/>
                                        </p:tgtEl>
                                        <p:attrNameLst>
                                          <p:attrName>style.visibility</p:attrName>
                                        </p:attrNameLst>
                                      </p:cBhvr>
                                      <p:to>
                                        <p:strVal val="visible"/>
                                      </p:to>
                                    </p:set>
                                    <p:animEffect transition="in" filter="wipe(left)">
                                      <p:cBhvr>
                                        <p:cTn id="43" dur="500"/>
                                        <p:tgtEl>
                                          <p:spTgt spid="67380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73810"/>
                                        </p:tgtEl>
                                        <p:attrNameLst>
                                          <p:attrName>style.visibility</p:attrName>
                                        </p:attrNameLst>
                                      </p:cBhvr>
                                      <p:to>
                                        <p:strVal val="visible"/>
                                      </p:to>
                                    </p:set>
                                    <p:animEffect transition="in" filter="wipe(left)">
                                      <p:cBhvr>
                                        <p:cTn id="48" dur="500"/>
                                        <p:tgtEl>
                                          <p:spTgt spid="673810"/>
                                        </p:tgtEl>
                                      </p:cBhvr>
                                    </p:animEffect>
                                  </p:childTnLst>
                                </p:cTn>
                              </p:par>
                            </p:childTnLst>
                          </p:cTn>
                        </p:par>
                        <p:par>
                          <p:cTn id="49" fill="hold" nodeType="afterGroup">
                            <p:stCondLst>
                              <p:cond delay="500"/>
                            </p:stCondLst>
                            <p:childTnLst>
                              <p:par>
                                <p:cTn id="50" presetID="22" presetClass="entr" presetSubtype="8" fill="hold" nodeType="afterEffect">
                                  <p:stCondLst>
                                    <p:cond delay="0"/>
                                  </p:stCondLst>
                                  <p:childTnLst>
                                    <p:set>
                                      <p:cBhvr>
                                        <p:cTn id="51" dur="1" fill="hold">
                                          <p:stCondLst>
                                            <p:cond delay="0"/>
                                          </p:stCondLst>
                                        </p:cTn>
                                        <p:tgtEl>
                                          <p:spTgt spid="673801"/>
                                        </p:tgtEl>
                                        <p:attrNameLst>
                                          <p:attrName>style.visibility</p:attrName>
                                        </p:attrNameLst>
                                      </p:cBhvr>
                                      <p:to>
                                        <p:strVal val="visible"/>
                                      </p:to>
                                    </p:set>
                                    <p:animEffect transition="in" filter="wipe(left)">
                                      <p:cBhvr>
                                        <p:cTn id="52" dur="500"/>
                                        <p:tgtEl>
                                          <p:spTgt spid="673801"/>
                                        </p:tgtEl>
                                      </p:cBhvr>
                                    </p:animEffect>
                                  </p:childTnLst>
                                </p:cTn>
                              </p:par>
                            </p:childTnLst>
                          </p:cTn>
                        </p:par>
                        <p:par>
                          <p:cTn id="53" fill="hold" nodeType="afterGroup">
                            <p:stCondLst>
                              <p:cond delay="1000"/>
                            </p:stCondLst>
                            <p:childTnLst>
                              <p:par>
                                <p:cTn id="54" presetID="22" presetClass="entr" presetSubtype="8" fill="hold" nodeType="afterEffect">
                                  <p:stCondLst>
                                    <p:cond delay="0"/>
                                  </p:stCondLst>
                                  <p:childTnLst>
                                    <p:set>
                                      <p:cBhvr>
                                        <p:cTn id="55" dur="1" fill="hold">
                                          <p:stCondLst>
                                            <p:cond delay="0"/>
                                          </p:stCondLst>
                                        </p:cTn>
                                        <p:tgtEl>
                                          <p:spTgt spid="673799"/>
                                        </p:tgtEl>
                                        <p:attrNameLst>
                                          <p:attrName>style.visibility</p:attrName>
                                        </p:attrNameLst>
                                      </p:cBhvr>
                                      <p:to>
                                        <p:strVal val="visible"/>
                                      </p:to>
                                    </p:set>
                                    <p:animEffect transition="in" filter="wipe(left)">
                                      <p:cBhvr>
                                        <p:cTn id="56" dur="500"/>
                                        <p:tgtEl>
                                          <p:spTgt spid="673799"/>
                                        </p:tgtEl>
                                      </p:cBhvr>
                                    </p:animEffect>
                                  </p:childTnLst>
                                </p:cTn>
                              </p:par>
                            </p:childTnLst>
                          </p:cTn>
                        </p:par>
                        <p:par>
                          <p:cTn id="57" fill="hold" nodeType="afterGroup">
                            <p:stCondLst>
                              <p:cond delay="1500"/>
                            </p:stCondLst>
                            <p:childTnLst>
                              <p:par>
                                <p:cTn id="58" presetID="22" presetClass="entr" presetSubtype="8" fill="hold" nodeType="afterEffect">
                                  <p:stCondLst>
                                    <p:cond delay="0"/>
                                  </p:stCondLst>
                                  <p:childTnLst>
                                    <p:set>
                                      <p:cBhvr>
                                        <p:cTn id="59" dur="1" fill="hold">
                                          <p:stCondLst>
                                            <p:cond delay="0"/>
                                          </p:stCondLst>
                                        </p:cTn>
                                        <p:tgtEl>
                                          <p:spTgt spid="673797"/>
                                        </p:tgtEl>
                                        <p:attrNameLst>
                                          <p:attrName>style.visibility</p:attrName>
                                        </p:attrNameLst>
                                      </p:cBhvr>
                                      <p:to>
                                        <p:strVal val="visible"/>
                                      </p:to>
                                    </p:set>
                                    <p:animEffect transition="in" filter="wipe(left)">
                                      <p:cBhvr>
                                        <p:cTn id="60" dur="500"/>
                                        <p:tgtEl>
                                          <p:spTgt spid="67379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673812"/>
                                        </p:tgtEl>
                                        <p:attrNameLst>
                                          <p:attrName>style.visibility</p:attrName>
                                        </p:attrNameLst>
                                      </p:cBhvr>
                                      <p:to>
                                        <p:strVal val="visible"/>
                                      </p:to>
                                    </p:set>
                                    <p:animEffect transition="in" filter="wipe(up)">
                                      <p:cBhvr>
                                        <p:cTn id="65" dur="500"/>
                                        <p:tgtEl>
                                          <p:spTgt spid="673812"/>
                                        </p:tgtEl>
                                      </p:cBhvr>
                                    </p:animEffect>
                                  </p:childTnLst>
                                </p:cTn>
                              </p:par>
                              <p:par>
                                <p:cTn id="66" presetID="22" presetClass="entr" presetSubtype="1" fill="hold" nodeType="withEffect">
                                  <p:stCondLst>
                                    <p:cond delay="0"/>
                                  </p:stCondLst>
                                  <p:childTnLst>
                                    <p:set>
                                      <p:cBhvr>
                                        <p:cTn id="67" dur="1" fill="hold">
                                          <p:stCondLst>
                                            <p:cond delay="0"/>
                                          </p:stCondLst>
                                        </p:cTn>
                                        <p:tgtEl>
                                          <p:spTgt spid="673813"/>
                                        </p:tgtEl>
                                        <p:attrNameLst>
                                          <p:attrName>style.visibility</p:attrName>
                                        </p:attrNameLst>
                                      </p:cBhvr>
                                      <p:to>
                                        <p:strVal val="visible"/>
                                      </p:to>
                                    </p:set>
                                    <p:animEffect transition="in" filter="wipe(up)">
                                      <p:cBhvr>
                                        <p:cTn id="68" dur="500"/>
                                        <p:tgtEl>
                                          <p:spTgt spid="673813"/>
                                        </p:tgtEl>
                                      </p:cBhvr>
                                    </p:animEffect>
                                  </p:childTnLst>
                                </p:cTn>
                              </p:par>
                              <p:par>
                                <p:cTn id="69" presetID="22" presetClass="entr" presetSubtype="1" fill="hold" nodeType="withEffect">
                                  <p:stCondLst>
                                    <p:cond delay="0"/>
                                  </p:stCondLst>
                                  <p:childTnLst>
                                    <p:set>
                                      <p:cBhvr>
                                        <p:cTn id="70" dur="1" fill="hold">
                                          <p:stCondLst>
                                            <p:cond delay="0"/>
                                          </p:stCondLst>
                                        </p:cTn>
                                        <p:tgtEl>
                                          <p:spTgt spid="673814"/>
                                        </p:tgtEl>
                                        <p:attrNameLst>
                                          <p:attrName>style.visibility</p:attrName>
                                        </p:attrNameLst>
                                      </p:cBhvr>
                                      <p:to>
                                        <p:strVal val="visible"/>
                                      </p:to>
                                    </p:set>
                                    <p:animEffect transition="in" filter="wipe(up)">
                                      <p:cBhvr>
                                        <p:cTn id="71" dur="500"/>
                                        <p:tgtEl>
                                          <p:spTgt spid="673814"/>
                                        </p:tgtEl>
                                      </p:cBhvr>
                                    </p:animEffect>
                                  </p:childTnLst>
                                </p:cTn>
                              </p:par>
                              <p:par>
                                <p:cTn id="72" presetID="22" presetClass="entr" presetSubtype="1" fill="hold" nodeType="withEffect">
                                  <p:stCondLst>
                                    <p:cond delay="0"/>
                                  </p:stCondLst>
                                  <p:childTnLst>
                                    <p:set>
                                      <p:cBhvr>
                                        <p:cTn id="73" dur="1" fill="hold">
                                          <p:stCondLst>
                                            <p:cond delay="0"/>
                                          </p:stCondLst>
                                        </p:cTn>
                                        <p:tgtEl>
                                          <p:spTgt spid="673815"/>
                                        </p:tgtEl>
                                        <p:attrNameLst>
                                          <p:attrName>style.visibility</p:attrName>
                                        </p:attrNameLst>
                                      </p:cBhvr>
                                      <p:to>
                                        <p:strVal val="visible"/>
                                      </p:to>
                                    </p:set>
                                    <p:animEffect transition="in" filter="wipe(up)">
                                      <p:cBhvr>
                                        <p:cTn id="74" dur="500"/>
                                        <p:tgtEl>
                                          <p:spTgt spid="67381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nodeType="clickEffect">
                                  <p:stCondLst>
                                    <p:cond delay="0"/>
                                  </p:stCondLst>
                                  <p:childTnLst>
                                    <p:set>
                                      <p:cBhvr>
                                        <p:cTn id="78" dur="1" fill="hold">
                                          <p:stCondLst>
                                            <p:cond delay="0"/>
                                          </p:stCondLst>
                                        </p:cTn>
                                        <p:tgtEl>
                                          <p:spTgt spid="673798"/>
                                        </p:tgtEl>
                                        <p:attrNameLst>
                                          <p:attrName>style.visibility</p:attrName>
                                        </p:attrNameLst>
                                      </p:cBhvr>
                                      <p:to>
                                        <p:strVal val="visible"/>
                                      </p:to>
                                    </p:set>
                                    <p:animEffect transition="in" filter="wipe(down)">
                                      <p:cBhvr>
                                        <p:cTn id="79" dur="500"/>
                                        <p:tgtEl>
                                          <p:spTgt spid="67379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673811"/>
                                        </p:tgtEl>
                                        <p:attrNameLst>
                                          <p:attrName>style.visibility</p:attrName>
                                        </p:attrNameLst>
                                      </p:cBhvr>
                                      <p:to>
                                        <p:strVal val="visible"/>
                                      </p:to>
                                    </p:set>
                                    <p:animEffect transition="in" filter="wipe(left)">
                                      <p:cBhvr>
                                        <p:cTn id="84" dur="500"/>
                                        <p:tgtEl>
                                          <p:spTgt spid="67381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nodeType="clickEffect">
                                  <p:stCondLst>
                                    <p:cond delay="0"/>
                                  </p:stCondLst>
                                  <p:childTnLst>
                                    <p:set>
                                      <p:cBhvr>
                                        <p:cTn id="88" dur="1" fill="hold">
                                          <p:stCondLst>
                                            <p:cond delay="0"/>
                                          </p:stCondLst>
                                        </p:cTn>
                                        <p:tgtEl>
                                          <p:spTgt spid="673817"/>
                                        </p:tgtEl>
                                        <p:attrNameLst>
                                          <p:attrName>style.visibility</p:attrName>
                                        </p:attrNameLst>
                                      </p:cBhvr>
                                      <p:to>
                                        <p:strVal val="visible"/>
                                      </p:to>
                                    </p:set>
                                    <p:animEffect transition="in" filter="wipe(down)">
                                      <p:cBhvr>
                                        <p:cTn id="89" dur="500"/>
                                        <p:tgtEl>
                                          <p:spTgt spid="67381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673803"/>
                                        </p:tgtEl>
                                        <p:attrNameLst>
                                          <p:attrName>style.visibility</p:attrName>
                                        </p:attrNameLst>
                                      </p:cBhvr>
                                      <p:to>
                                        <p:strVal val="visible"/>
                                      </p:to>
                                    </p:set>
                                    <p:animEffect transition="in" filter="wipe(left)">
                                      <p:cBhvr>
                                        <p:cTn id="94" dur="500"/>
                                        <p:tgtEl>
                                          <p:spTgt spid="67380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673804"/>
                                        </p:tgtEl>
                                        <p:attrNameLst>
                                          <p:attrName>style.visibility</p:attrName>
                                        </p:attrNameLst>
                                      </p:cBhvr>
                                      <p:to>
                                        <p:strVal val="visible"/>
                                      </p:to>
                                    </p:set>
                                    <p:animEffect transition="in" filter="wipe(left)">
                                      <p:cBhvr>
                                        <p:cTn id="99" dur="500"/>
                                        <p:tgtEl>
                                          <p:spTgt spid="673804"/>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3" presetClass="entr" presetSubtype="16" fill="hold" nodeType="clickEffect">
                                  <p:stCondLst>
                                    <p:cond delay="0"/>
                                  </p:stCondLst>
                                  <p:childTnLst>
                                    <p:set>
                                      <p:cBhvr>
                                        <p:cTn id="103" dur="1" fill="hold">
                                          <p:stCondLst>
                                            <p:cond delay="0"/>
                                          </p:stCondLst>
                                        </p:cTn>
                                        <p:tgtEl>
                                          <p:spTgt spid="2"/>
                                        </p:tgtEl>
                                        <p:attrNameLst>
                                          <p:attrName>style.visibility</p:attrName>
                                        </p:attrNameLst>
                                      </p:cBhvr>
                                      <p:to>
                                        <p:strVal val="visible"/>
                                      </p:to>
                                    </p:set>
                                    <p:anim calcmode="lin" valueType="num">
                                      <p:cBhvr>
                                        <p:cTn id="104" dur="500" fill="hold"/>
                                        <p:tgtEl>
                                          <p:spTgt spid="2"/>
                                        </p:tgtEl>
                                        <p:attrNameLst>
                                          <p:attrName>ppt_w</p:attrName>
                                        </p:attrNameLst>
                                      </p:cBhvr>
                                      <p:tavLst>
                                        <p:tav tm="0">
                                          <p:val>
                                            <p:fltVal val="0"/>
                                          </p:val>
                                        </p:tav>
                                        <p:tav tm="100000">
                                          <p:val>
                                            <p:strVal val="#ppt_w"/>
                                          </p:val>
                                        </p:tav>
                                      </p:tavLst>
                                    </p:anim>
                                    <p:anim calcmode="lin" valueType="num">
                                      <p:cBhvr>
                                        <p:cTn id="105" dur="500" fill="hold"/>
                                        <p:tgtEl>
                                          <p:spTgt spid="2"/>
                                        </p:tgtEl>
                                        <p:attrNameLst>
                                          <p:attrName>ppt_h</p:attrName>
                                        </p:attrNameLst>
                                      </p:cBhvr>
                                      <p:tavLst>
                                        <p:tav tm="0">
                                          <p:val>
                                            <p:fltVal val="0"/>
                                          </p:val>
                                        </p:tav>
                                        <p:tav tm="100000">
                                          <p:val>
                                            <p:strVal val="#ppt_h"/>
                                          </p:val>
                                        </p:tav>
                                      </p:tavLst>
                                    </p:anim>
                                  </p:childTnLst>
                                </p:cTn>
                              </p:par>
                            </p:childTnLst>
                          </p:cTn>
                        </p:par>
                        <p:par>
                          <p:cTn id="106" fill="hold" nodeType="afterGroup">
                            <p:stCondLst>
                              <p:cond delay="500"/>
                            </p:stCondLst>
                            <p:childTnLst>
                              <p:par>
                                <p:cTn id="107" presetID="22" presetClass="entr" presetSubtype="8" fill="hold" nodeType="afterEffect">
                                  <p:stCondLst>
                                    <p:cond delay="0"/>
                                  </p:stCondLst>
                                  <p:childTnLst>
                                    <p:set>
                                      <p:cBhvr>
                                        <p:cTn id="108" dur="1" fill="hold">
                                          <p:stCondLst>
                                            <p:cond delay="0"/>
                                          </p:stCondLst>
                                        </p:cTn>
                                        <p:tgtEl>
                                          <p:spTgt spid="673806"/>
                                        </p:tgtEl>
                                        <p:attrNameLst>
                                          <p:attrName>style.visibility</p:attrName>
                                        </p:attrNameLst>
                                      </p:cBhvr>
                                      <p:to>
                                        <p:strVal val="visible"/>
                                      </p:to>
                                    </p:set>
                                    <p:animEffect transition="in" filter="wipe(left)">
                                      <p:cBhvr>
                                        <p:cTn id="109" dur="500"/>
                                        <p:tgtEl>
                                          <p:spTgt spid="67380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673805"/>
                                        </p:tgtEl>
                                        <p:attrNameLst>
                                          <p:attrName>style.visibility</p:attrName>
                                        </p:attrNameLst>
                                      </p:cBhvr>
                                      <p:to>
                                        <p:strVal val="visible"/>
                                      </p:to>
                                    </p:set>
                                    <p:animEffect transition="in" filter="wipe(left)">
                                      <p:cBhvr>
                                        <p:cTn id="114" dur="500"/>
                                        <p:tgtEl>
                                          <p:spTgt spid="67380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673807"/>
                                        </p:tgtEl>
                                        <p:attrNameLst>
                                          <p:attrName>style.visibility</p:attrName>
                                        </p:attrNameLst>
                                      </p:cBhvr>
                                      <p:to>
                                        <p:strVal val="visible"/>
                                      </p:to>
                                    </p:set>
                                    <p:animEffect transition="in" filter="wipe(left)">
                                      <p:cBhvr>
                                        <p:cTn id="119" dur="500"/>
                                        <p:tgtEl>
                                          <p:spTgt spid="67380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 presetClass="entr" presetSubtype="2" fill="hold" nodeType="clickEffect">
                                  <p:stCondLst>
                                    <p:cond delay="0"/>
                                  </p:stCondLst>
                                  <p:childTnLst>
                                    <p:set>
                                      <p:cBhvr>
                                        <p:cTn id="123" dur="1" fill="hold">
                                          <p:stCondLst>
                                            <p:cond delay="0"/>
                                          </p:stCondLst>
                                        </p:cTn>
                                        <p:tgtEl>
                                          <p:spTgt spid="673854"/>
                                        </p:tgtEl>
                                        <p:attrNameLst>
                                          <p:attrName>style.visibility</p:attrName>
                                        </p:attrNameLst>
                                      </p:cBhvr>
                                      <p:to>
                                        <p:strVal val="visible"/>
                                      </p:to>
                                    </p:set>
                                    <p:anim calcmode="lin" valueType="num">
                                      <p:cBhvr additive="base">
                                        <p:cTn id="124" dur="500" fill="hold"/>
                                        <p:tgtEl>
                                          <p:spTgt spid="673854"/>
                                        </p:tgtEl>
                                        <p:attrNameLst>
                                          <p:attrName>ppt_x</p:attrName>
                                        </p:attrNameLst>
                                      </p:cBhvr>
                                      <p:tavLst>
                                        <p:tav tm="0">
                                          <p:val>
                                            <p:strVal val="1+#ppt_w/2"/>
                                          </p:val>
                                        </p:tav>
                                        <p:tav tm="100000">
                                          <p:val>
                                            <p:strVal val="#ppt_x"/>
                                          </p:val>
                                        </p:tav>
                                      </p:tavLst>
                                    </p:anim>
                                    <p:anim calcmode="lin" valueType="num">
                                      <p:cBhvr additive="base">
                                        <p:cTn id="125" dur="500" fill="hold"/>
                                        <p:tgtEl>
                                          <p:spTgt spid="6738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4" grpId="0" autoUpdateAnimBg="0"/>
      <p:bldP spid="673802" grpId="0" autoUpdateAnimBg="0"/>
      <p:bldP spid="673804" grpId="0" autoUpdateAnimBg="0"/>
      <p:bldP spid="673805" grpId="0" autoUpdateAnimBg="0"/>
      <p:bldP spid="673807" grpId="0" autoUpdateAnimBg="0"/>
      <p:bldP spid="673808" grpId="0"/>
      <p:bldP spid="6738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C48C5E8-3767-FE10-1135-3B900021C33D}"/>
              </a:ext>
            </a:extLst>
          </p:cNvPr>
          <p:cNvGrpSpPr>
            <a:grpSpLocks/>
          </p:cNvGrpSpPr>
          <p:nvPr/>
        </p:nvGrpSpPr>
        <p:grpSpPr bwMode="auto">
          <a:xfrm>
            <a:off x="5730875" y="1217613"/>
            <a:ext cx="2782888" cy="2492375"/>
            <a:chOff x="3592" y="847"/>
            <a:chExt cx="1753" cy="1570"/>
          </a:xfrm>
        </p:grpSpPr>
        <p:sp>
          <p:nvSpPr>
            <p:cNvPr id="734211" name="Freeform 3">
              <a:extLst>
                <a:ext uri="{FF2B5EF4-FFF2-40B4-BE49-F238E27FC236}">
                  <a16:creationId xmlns:a16="http://schemas.microsoft.com/office/drawing/2014/main" id="{B713E29F-41D3-E376-4F1B-C9F4C637D2FB}"/>
                </a:ext>
              </a:extLst>
            </p:cNvPr>
            <p:cNvSpPr>
              <a:spLocks/>
            </p:cNvSpPr>
            <p:nvPr/>
          </p:nvSpPr>
          <p:spPr bwMode="auto">
            <a:xfrm>
              <a:off x="3592" y="847"/>
              <a:ext cx="1753" cy="1570"/>
            </a:xfrm>
            <a:custGeom>
              <a:avLst/>
              <a:gdLst/>
              <a:ahLst/>
              <a:cxnLst>
                <a:cxn ang="0">
                  <a:pos x="850" y="8"/>
                </a:cxn>
                <a:cxn ang="0">
                  <a:pos x="309" y="97"/>
                </a:cxn>
                <a:cxn ang="0">
                  <a:pos x="14" y="587"/>
                </a:cxn>
                <a:cxn ang="0">
                  <a:pos x="224" y="1219"/>
                </a:cxn>
                <a:cxn ang="0">
                  <a:pos x="645" y="1499"/>
                </a:cxn>
                <a:cxn ang="0">
                  <a:pos x="980" y="1429"/>
                </a:cxn>
                <a:cxn ang="0">
                  <a:pos x="1234" y="1544"/>
                </a:cxn>
                <a:cxn ang="0">
                  <a:pos x="1601" y="1274"/>
                </a:cxn>
                <a:cxn ang="0">
                  <a:pos x="1740" y="741"/>
                </a:cxn>
                <a:cxn ang="0">
                  <a:pos x="1679" y="322"/>
                </a:cxn>
                <a:cxn ang="0">
                  <a:pos x="1295" y="113"/>
                </a:cxn>
                <a:cxn ang="0">
                  <a:pos x="850" y="8"/>
                </a:cxn>
              </a:cxnLst>
              <a:rect l="0" t="0" r="r" b="b"/>
              <a:pathLst>
                <a:path w="1753" h="1570">
                  <a:moveTo>
                    <a:pt x="850" y="8"/>
                  </a:moveTo>
                  <a:cubicBezTo>
                    <a:pt x="686" y="5"/>
                    <a:pt x="448" y="0"/>
                    <a:pt x="309" y="97"/>
                  </a:cubicBezTo>
                  <a:cubicBezTo>
                    <a:pt x="170" y="194"/>
                    <a:pt x="28" y="400"/>
                    <a:pt x="14" y="587"/>
                  </a:cubicBezTo>
                  <a:cubicBezTo>
                    <a:pt x="0" y="774"/>
                    <a:pt x="119" y="1068"/>
                    <a:pt x="224" y="1219"/>
                  </a:cubicBezTo>
                  <a:cubicBezTo>
                    <a:pt x="330" y="1371"/>
                    <a:pt x="519" y="1463"/>
                    <a:pt x="645" y="1499"/>
                  </a:cubicBezTo>
                  <a:cubicBezTo>
                    <a:pt x="771" y="1534"/>
                    <a:pt x="882" y="1422"/>
                    <a:pt x="980" y="1429"/>
                  </a:cubicBezTo>
                  <a:cubicBezTo>
                    <a:pt x="1078" y="1436"/>
                    <a:pt x="1130" y="1570"/>
                    <a:pt x="1234" y="1544"/>
                  </a:cubicBezTo>
                  <a:cubicBezTo>
                    <a:pt x="1338" y="1518"/>
                    <a:pt x="1517" y="1408"/>
                    <a:pt x="1601" y="1274"/>
                  </a:cubicBezTo>
                  <a:cubicBezTo>
                    <a:pt x="1685" y="1140"/>
                    <a:pt x="1727" y="900"/>
                    <a:pt x="1740" y="741"/>
                  </a:cubicBezTo>
                  <a:cubicBezTo>
                    <a:pt x="1753" y="582"/>
                    <a:pt x="1753" y="427"/>
                    <a:pt x="1679" y="322"/>
                  </a:cubicBezTo>
                  <a:cubicBezTo>
                    <a:pt x="1605" y="217"/>
                    <a:pt x="1433" y="165"/>
                    <a:pt x="1295" y="113"/>
                  </a:cubicBezTo>
                  <a:cubicBezTo>
                    <a:pt x="1157" y="61"/>
                    <a:pt x="1014" y="11"/>
                    <a:pt x="850" y="8"/>
                  </a:cubicBezTo>
                  <a:close/>
                </a:path>
              </a:pathLst>
            </a:custGeom>
            <a:solidFill>
              <a:srgbClr val="006699"/>
            </a:solidFill>
            <a:ln w="9525" cap="flat" cmpd="sng">
              <a:prstDash val="solid"/>
              <a:round/>
              <a:headEnd/>
              <a:tailEnd/>
            </a:ln>
            <a:effectLst/>
            <a:scene3d>
              <a:camera prst="legacyPerspectiveFront">
                <a:rot lat="17699998" lon="0" rev="0"/>
              </a:camera>
              <a:lightRig rig="legacyFlat1" dir="t"/>
            </a:scene3d>
            <a:sp3d extrusionH="201600" prstMaterial="legacyPlastic">
              <a:bevelT w="13500" h="13500" prst="angle"/>
              <a:bevelB w="13500" h="13500" prst="angle"/>
              <a:extrusionClr>
                <a:srgbClr val="006699"/>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8239" name="Group 4">
              <a:extLst>
                <a:ext uri="{FF2B5EF4-FFF2-40B4-BE49-F238E27FC236}">
                  <a16:creationId xmlns:a16="http://schemas.microsoft.com/office/drawing/2014/main" id="{2D55AFC9-A3AC-B3C9-0286-AC10F7F6B7DB}"/>
                </a:ext>
              </a:extLst>
            </p:cNvPr>
            <p:cNvGrpSpPr>
              <a:grpSpLocks noChangeAspect="1"/>
            </p:cNvGrpSpPr>
            <p:nvPr/>
          </p:nvGrpSpPr>
          <p:grpSpPr bwMode="auto">
            <a:xfrm>
              <a:off x="4341" y="1466"/>
              <a:ext cx="441" cy="208"/>
              <a:chOff x="2072" y="1602"/>
              <a:chExt cx="600" cy="282"/>
            </a:xfrm>
          </p:grpSpPr>
          <p:sp>
            <p:nvSpPr>
              <p:cNvPr id="734213" name="Line 5">
                <a:extLst>
                  <a:ext uri="{FF2B5EF4-FFF2-40B4-BE49-F238E27FC236}">
                    <a16:creationId xmlns:a16="http://schemas.microsoft.com/office/drawing/2014/main" id="{FF9524C5-65DF-3094-7751-1A67B2B169BF}"/>
                  </a:ext>
                </a:extLst>
              </p:cNvPr>
              <p:cNvSpPr>
                <a:spLocks noChangeAspect="1" noChangeShapeType="1"/>
              </p:cNvSpPr>
              <p:nvPr/>
            </p:nvSpPr>
            <p:spPr bwMode="auto">
              <a:xfrm>
                <a:off x="2072" y="1748"/>
                <a:ext cx="600" cy="136"/>
              </a:xfrm>
              <a:prstGeom prst="line">
                <a:avLst/>
              </a:prstGeom>
              <a:noFill/>
              <a:ln w="28575">
                <a:solidFill>
                  <a:srgbClr val="00CCFF"/>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261" name="Object 16">
                <a:extLst>
                  <a:ext uri="{FF2B5EF4-FFF2-40B4-BE49-F238E27FC236}">
                    <a16:creationId xmlns:a16="http://schemas.microsoft.com/office/drawing/2014/main" id="{FF141E73-9797-5E04-87D9-AD4ED5392E22}"/>
                  </a:ext>
                </a:extLst>
              </p:cNvPr>
              <p:cNvGraphicFramePr>
                <a:graphicFrameLocks noChangeAspect="1"/>
              </p:cNvGraphicFramePr>
              <p:nvPr/>
            </p:nvGraphicFramePr>
            <p:xfrm>
              <a:off x="2365" y="1602"/>
              <a:ext cx="145" cy="186"/>
            </p:xfrm>
            <a:graphic>
              <a:graphicData uri="http://schemas.openxmlformats.org/presentationml/2006/ole">
                <mc:AlternateContent xmlns:mc="http://schemas.openxmlformats.org/markup-compatibility/2006">
                  <mc:Choice xmlns:v="urn:schemas-microsoft-com:vml" Requires="v">
                    <p:oleObj name="公式" r:id="rId2" imgW="220949" imgH="274320" progId="Equation.3">
                      <p:embed/>
                    </p:oleObj>
                  </mc:Choice>
                  <mc:Fallback>
                    <p:oleObj name="公式" r:id="rId2" imgW="220949" imgH="27432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 y="1602"/>
                            <a:ext cx="1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40" name="Group 7">
              <a:extLst>
                <a:ext uri="{FF2B5EF4-FFF2-40B4-BE49-F238E27FC236}">
                  <a16:creationId xmlns:a16="http://schemas.microsoft.com/office/drawing/2014/main" id="{66C5060A-7130-7321-F23F-0AD2021A7EC5}"/>
                </a:ext>
              </a:extLst>
            </p:cNvPr>
            <p:cNvGrpSpPr>
              <a:grpSpLocks/>
            </p:cNvGrpSpPr>
            <p:nvPr/>
          </p:nvGrpSpPr>
          <p:grpSpPr bwMode="auto">
            <a:xfrm>
              <a:off x="4130" y="911"/>
              <a:ext cx="383" cy="1362"/>
              <a:chOff x="4103" y="423"/>
              <a:chExt cx="383" cy="1362"/>
            </a:xfrm>
          </p:grpSpPr>
          <p:graphicFrame>
            <p:nvGraphicFramePr>
              <p:cNvPr id="8254" name="Object 14">
                <a:extLst>
                  <a:ext uri="{FF2B5EF4-FFF2-40B4-BE49-F238E27FC236}">
                    <a16:creationId xmlns:a16="http://schemas.microsoft.com/office/drawing/2014/main" id="{B47366A6-49E9-F5CB-8178-1BE82A46D111}"/>
                  </a:ext>
                </a:extLst>
              </p:cNvPr>
              <p:cNvGraphicFramePr>
                <a:graphicFrameLocks noChangeAspect="1"/>
              </p:cNvGraphicFramePr>
              <p:nvPr/>
            </p:nvGraphicFramePr>
            <p:xfrm>
              <a:off x="4103" y="1044"/>
              <a:ext cx="140" cy="159"/>
            </p:xfrm>
            <a:graphic>
              <a:graphicData uri="http://schemas.openxmlformats.org/presentationml/2006/ole">
                <mc:AlternateContent xmlns:mc="http://schemas.openxmlformats.org/markup-compatibility/2006">
                  <mc:Choice xmlns:v="urn:schemas-microsoft-com:vml" Requires="v">
                    <p:oleObj name="公式" r:id="rId4" imgW="297087" imgH="320206" progId="Equation.3">
                      <p:embed/>
                    </p:oleObj>
                  </mc:Choice>
                  <mc:Fallback>
                    <p:oleObj name="公式" r:id="rId4" imgW="297087" imgH="320206"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3" y="1044"/>
                            <a:ext cx="140"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55" name="Group 9">
                <a:extLst>
                  <a:ext uri="{FF2B5EF4-FFF2-40B4-BE49-F238E27FC236}">
                    <a16:creationId xmlns:a16="http://schemas.microsoft.com/office/drawing/2014/main" id="{423A7756-3426-90A2-F4DB-ADE26D775EB4}"/>
                  </a:ext>
                </a:extLst>
              </p:cNvPr>
              <p:cNvGrpSpPr>
                <a:grpSpLocks/>
              </p:cNvGrpSpPr>
              <p:nvPr/>
            </p:nvGrpSpPr>
            <p:grpSpPr bwMode="auto">
              <a:xfrm>
                <a:off x="4314" y="423"/>
                <a:ext cx="172" cy="1362"/>
                <a:chOff x="4314" y="423"/>
                <a:chExt cx="172" cy="1362"/>
              </a:xfrm>
            </p:grpSpPr>
            <p:graphicFrame>
              <p:nvGraphicFramePr>
                <p:cNvPr id="8256" name="Object 15">
                  <a:extLst>
                    <a:ext uri="{FF2B5EF4-FFF2-40B4-BE49-F238E27FC236}">
                      <a16:creationId xmlns:a16="http://schemas.microsoft.com/office/drawing/2014/main" id="{35924AE4-D840-A79A-7D46-3D2C50055631}"/>
                    </a:ext>
                  </a:extLst>
                </p:cNvPr>
                <p:cNvGraphicFramePr>
                  <a:graphicFrameLocks noChangeAspect="1"/>
                </p:cNvGraphicFramePr>
                <p:nvPr/>
              </p:nvGraphicFramePr>
              <p:xfrm>
                <a:off x="4386" y="481"/>
                <a:ext cx="100" cy="111"/>
              </p:xfrm>
              <a:graphic>
                <a:graphicData uri="http://schemas.openxmlformats.org/presentationml/2006/ole">
                  <mc:AlternateContent xmlns:mc="http://schemas.openxmlformats.org/markup-compatibility/2006">
                    <mc:Choice xmlns:v="urn:schemas-microsoft-com:vml" Requires="v">
                      <p:oleObj name="公式" r:id="rId6" imgW="205522" imgH="220952" progId="Equation.3">
                        <p:embed/>
                      </p:oleObj>
                    </mc:Choice>
                    <mc:Fallback>
                      <p:oleObj name="公式" r:id="rId6" imgW="205522" imgH="220952"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6" y="481"/>
                              <a:ext cx="100"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4219" name="Line 11">
                  <a:extLst>
                    <a:ext uri="{FF2B5EF4-FFF2-40B4-BE49-F238E27FC236}">
                      <a16:creationId xmlns:a16="http://schemas.microsoft.com/office/drawing/2014/main" id="{54F1FE2E-2AD8-6B31-2B36-C67D615BEE8B}"/>
                    </a:ext>
                  </a:extLst>
                </p:cNvPr>
                <p:cNvSpPr>
                  <a:spLocks noChangeAspect="1" noChangeShapeType="1"/>
                </p:cNvSpPr>
                <p:nvPr/>
              </p:nvSpPr>
              <p:spPr bwMode="auto">
                <a:xfrm flipV="1">
                  <a:off x="4314" y="423"/>
                  <a:ext cx="0" cy="674"/>
                </a:xfrm>
                <a:prstGeom prst="line">
                  <a:avLst/>
                </a:prstGeom>
                <a:noFill/>
                <a:ln w="57150">
                  <a:solidFill>
                    <a:srgbClr val="FF00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20" name="Line 12">
                  <a:extLst>
                    <a:ext uri="{FF2B5EF4-FFF2-40B4-BE49-F238E27FC236}">
                      <a16:creationId xmlns:a16="http://schemas.microsoft.com/office/drawing/2014/main" id="{8953F6BA-9E28-4B75-9B8D-3C3C730A92C0}"/>
                    </a:ext>
                  </a:extLst>
                </p:cNvPr>
                <p:cNvSpPr>
                  <a:spLocks noChangeAspect="1" noChangeShapeType="1"/>
                </p:cNvSpPr>
                <p:nvPr/>
              </p:nvSpPr>
              <p:spPr bwMode="auto">
                <a:xfrm flipV="1">
                  <a:off x="4314" y="1053"/>
                  <a:ext cx="0" cy="732"/>
                </a:xfrm>
                <a:prstGeom prst="line">
                  <a:avLst/>
                </a:prstGeom>
                <a:noFill/>
                <a:ln w="57150">
                  <a:solidFill>
                    <a:srgbClr val="FF0000"/>
                  </a:solidFill>
                  <a:prstDash val="sysDot"/>
                  <a:round/>
                  <a:headEnd type="none" w="sm" len="sm"/>
                  <a:tailEnd type="non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21" name="Line 13">
                  <a:extLst>
                    <a:ext uri="{FF2B5EF4-FFF2-40B4-BE49-F238E27FC236}">
                      <a16:creationId xmlns:a16="http://schemas.microsoft.com/office/drawing/2014/main" id="{293B4F2E-A0C4-03AB-8EF5-8DE343539F15}"/>
                    </a:ext>
                  </a:extLst>
                </p:cNvPr>
                <p:cNvSpPr>
                  <a:spLocks noChangeAspect="1" noChangeShapeType="1"/>
                </p:cNvSpPr>
                <p:nvPr/>
              </p:nvSpPr>
              <p:spPr bwMode="auto">
                <a:xfrm flipV="1">
                  <a:off x="4314" y="1576"/>
                  <a:ext cx="0" cy="182"/>
                </a:xfrm>
                <a:prstGeom prst="line">
                  <a:avLst/>
                </a:prstGeom>
                <a:noFill/>
                <a:ln w="57150">
                  <a:solidFill>
                    <a:srgbClr val="FF0000"/>
                  </a:solidFill>
                  <a:round/>
                  <a:headEnd type="none" w="sm" len="sm"/>
                  <a:tailEnd type="non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8241" name="Group 14">
              <a:extLst>
                <a:ext uri="{FF2B5EF4-FFF2-40B4-BE49-F238E27FC236}">
                  <a16:creationId xmlns:a16="http://schemas.microsoft.com/office/drawing/2014/main" id="{4F894601-1002-6D3C-83C5-776D514002D2}"/>
                </a:ext>
              </a:extLst>
            </p:cNvPr>
            <p:cNvGrpSpPr>
              <a:grpSpLocks noChangeAspect="1"/>
            </p:cNvGrpSpPr>
            <p:nvPr/>
          </p:nvGrpSpPr>
          <p:grpSpPr bwMode="auto">
            <a:xfrm>
              <a:off x="4321" y="1571"/>
              <a:ext cx="565" cy="320"/>
              <a:chOff x="2045" y="1744"/>
              <a:chExt cx="768" cy="435"/>
            </a:xfrm>
          </p:grpSpPr>
          <p:graphicFrame>
            <p:nvGraphicFramePr>
              <p:cNvPr id="8249" name="Object 13">
                <a:extLst>
                  <a:ext uri="{FF2B5EF4-FFF2-40B4-BE49-F238E27FC236}">
                    <a16:creationId xmlns:a16="http://schemas.microsoft.com/office/drawing/2014/main" id="{476E87B6-C6D7-8959-8077-50F82769E643}"/>
                  </a:ext>
                </a:extLst>
              </p:cNvPr>
              <p:cNvGraphicFramePr>
                <a:graphicFrameLocks noChangeAspect="1"/>
              </p:cNvGraphicFramePr>
              <p:nvPr/>
            </p:nvGraphicFramePr>
            <p:xfrm>
              <a:off x="2045" y="1907"/>
              <a:ext cx="168" cy="224"/>
            </p:xfrm>
            <a:graphic>
              <a:graphicData uri="http://schemas.openxmlformats.org/presentationml/2006/ole">
                <mc:AlternateContent xmlns:mc="http://schemas.openxmlformats.org/markup-compatibility/2006">
                  <mc:Choice xmlns:v="urn:schemas-microsoft-com:vml" Requires="v">
                    <p:oleObj name="公式" r:id="rId8" imgW="259267" imgH="335169" progId="Equation.3">
                      <p:embed/>
                    </p:oleObj>
                  </mc:Choice>
                  <mc:Fallback>
                    <p:oleObj name="公式" r:id="rId8" imgW="259267" imgH="335169"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5" y="1907"/>
                            <a:ext cx="16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50" name="Group 16">
                <a:extLst>
                  <a:ext uri="{FF2B5EF4-FFF2-40B4-BE49-F238E27FC236}">
                    <a16:creationId xmlns:a16="http://schemas.microsoft.com/office/drawing/2014/main" id="{4410D207-CED5-F614-DAC6-79711659D0BD}"/>
                  </a:ext>
                </a:extLst>
              </p:cNvPr>
              <p:cNvGrpSpPr>
                <a:grpSpLocks noChangeAspect="1"/>
              </p:cNvGrpSpPr>
              <p:nvPr/>
            </p:nvGrpSpPr>
            <p:grpSpPr bwMode="auto">
              <a:xfrm>
                <a:off x="2062" y="1744"/>
                <a:ext cx="751" cy="435"/>
                <a:chOff x="2062" y="1744"/>
                <a:chExt cx="751" cy="435"/>
              </a:xfrm>
            </p:grpSpPr>
            <p:sp>
              <p:nvSpPr>
                <p:cNvPr id="734225" name="Line 17">
                  <a:extLst>
                    <a:ext uri="{FF2B5EF4-FFF2-40B4-BE49-F238E27FC236}">
                      <a16:creationId xmlns:a16="http://schemas.microsoft.com/office/drawing/2014/main" id="{C900A501-9D4C-BD45-F7FD-471A8F78FBDB}"/>
                    </a:ext>
                  </a:extLst>
                </p:cNvPr>
                <p:cNvSpPr>
                  <a:spLocks noChangeAspect="1" noChangeShapeType="1"/>
                </p:cNvSpPr>
                <p:nvPr/>
              </p:nvSpPr>
              <p:spPr bwMode="auto">
                <a:xfrm flipH="1">
                  <a:off x="2193" y="1813"/>
                  <a:ext cx="620" cy="366"/>
                </a:xfrm>
                <a:prstGeom prst="line">
                  <a:avLst/>
                </a:prstGeom>
                <a:noFill/>
                <a:ln w="28575">
                  <a:solidFill>
                    <a:srgbClr val="FF9900"/>
                  </a:solidFill>
                  <a:prstDash val="dash"/>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26" name="Line 18">
                  <a:extLst>
                    <a:ext uri="{FF2B5EF4-FFF2-40B4-BE49-F238E27FC236}">
                      <a16:creationId xmlns:a16="http://schemas.microsoft.com/office/drawing/2014/main" id="{AD1A847B-2A7E-5BA2-E142-EF2C1ADC61EA}"/>
                    </a:ext>
                  </a:extLst>
                </p:cNvPr>
                <p:cNvSpPr>
                  <a:spLocks noChangeAspect="1" noChangeShapeType="1"/>
                </p:cNvSpPr>
                <p:nvPr/>
              </p:nvSpPr>
              <p:spPr bwMode="auto">
                <a:xfrm>
                  <a:off x="2064" y="1744"/>
                  <a:ext cx="261" cy="362"/>
                </a:xfrm>
                <a:prstGeom prst="line">
                  <a:avLst/>
                </a:prstGeom>
                <a:noFill/>
                <a:ln w="28575">
                  <a:solidFill>
                    <a:srgbClr val="FF9900"/>
                  </a:solidFill>
                  <a:prstDash val="dash"/>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27" name="Freeform 19">
                  <a:extLst>
                    <a:ext uri="{FF2B5EF4-FFF2-40B4-BE49-F238E27FC236}">
                      <a16:creationId xmlns:a16="http://schemas.microsoft.com/office/drawing/2014/main" id="{9C3827B3-E723-E1C3-489B-CAAF6C26E811}"/>
                    </a:ext>
                  </a:extLst>
                </p:cNvPr>
                <p:cNvSpPr>
                  <a:spLocks noChangeAspect="1"/>
                </p:cNvSpPr>
                <p:nvPr/>
              </p:nvSpPr>
              <p:spPr bwMode="auto">
                <a:xfrm>
                  <a:off x="2280" y="2009"/>
                  <a:ext cx="94" cy="58"/>
                </a:xfrm>
                <a:custGeom>
                  <a:avLst/>
                  <a:gdLst/>
                  <a:ahLst/>
                  <a:cxnLst>
                    <a:cxn ang="0">
                      <a:pos x="0" y="31"/>
                    </a:cxn>
                    <a:cxn ang="0">
                      <a:pos x="57" y="4"/>
                    </a:cxn>
                    <a:cxn ang="0">
                      <a:pos x="93" y="58"/>
                    </a:cxn>
                  </a:cxnLst>
                  <a:rect l="0" t="0" r="r" b="b"/>
                  <a:pathLst>
                    <a:path w="93" h="58">
                      <a:moveTo>
                        <a:pt x="0" y="31"/>
                      </a:moveTo>
                      <a:cubicBezTo>
                        <a:pt x="21" y="15"/>
                        <a:pt x="42" y="0"/>
                        <a:pt x="57" y="4"/>
                      </a:cubicBezTo>
                      <a:cubicBezTo>
                        <a:pt x="72" y="8"/>
                        <a:pt x="87" y="49"/>
                        <a:pt x="93" y="58"/>
                      </a:cubicBezTo>
                    </a:path>
                  </a:pathLst>
                </a:custGeom>
                <a:noFill/>
                <a:ln w="19050" cmpd="sng">
                  <a:solidFill>
                    <a:srgbClr val="FF0000"/>
                  </a:solidFill>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8242" name="Group 20">
              <a:extLst>
                <a:ext uri="{FF2B5EF4-FFF2-40B4-BE49-F238E27FC236}">
                  <a16:creationId xmlns:a16="http://schemas.microsoft.com/office/drawing/2014/main" id="{1E97819D-8A12-96CD-2AC2-832351770746}"/>
                </a:ext>
              </a:extLst>
            </p:cNvPr>
            <p:cNvGrpSpPr>
              <a:grpSpLocks noChangeAspect="1"/>
            </p:cNvGrpSpPr>
            <p:nvPr/>
          </p:nvGrpSpPr>
          <p:grpSpPr bwMode="auto">
            <a:xfrm>
              <a:off x="4590" y="1550"/>
              <a:ext cx="483" cy="177"/>
              <a:chOff x="2411" y="1716"/>
              <a:chExt cx="657" cy="240"/>
            </a:xfrm>
          </p:grpSpPr>
          <p:sp>
            <p:nvSpPr>
              <p:cNvPr id="734229" name="Line 21">
                <a:extLst>
                  <a:ext uri="{FF2B5EF4-FFF2-40B4-BE49-F238E27FC236}">
                    <a16:creationId xmlns:a16="http://schemas.microsoft.com/office/drawing/2014/main" id="{A2F9A1F8-87F8-7A43-A620-802D51979180}"/>
                  </a:ext>
                </a:extLst>
              </p:cNvPr>
              <p:cNvSpPr>
                <a:spLocks noChangeAspect="1" noChangeShapeType="1"/>
              </p:cNvSpPr>
              <p:nvPr/>
            </p:nvSpPr>
            <p:spPr bwMode="auto">
              <a:xfrm>
                <a:off x="2411" y="1820"/>
                <a:ext cx="613" cy="136"/>
              </a:xfrm>
              <a:prstGeom prst="line">
                <a:avLst/>
              </a:prstGeom>
              <a:noFill/>
              <a:ln w="28575">
                <a:solidFill>
                  <a:srgbClr val="FFFF00"/>
                </a:solidFill>
                <a:prstDash val="sysDot"/>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247" name="Object 12">
                <a:extLst>
                  <a:ext uri="{FF2B5EF4-FFF2-40B4-BE49-F238E27FC236}">
                    <a16:creationId xmlns:a16="http://schemas.microsoft.com/office/drawing/2014/main" id="{333B902C-2F42-181D-9483-D11362C28CC2}"/>
                  </a:ext>
                </a:extLst>
              </p:cNvPr>
              <p:cNvGraphicFramePr>
                <a:graphicFrameLocks noChangeAspect="1"/>
              </p:cNvGraphicFramePr>
              <p:nvPr/>
            </p:nvGraphicFramePr>
            <p:xfrm>
              <a:off x="2900" y="1716"/>
              <a:ext cx="168" cy="218"/>
            </p:xfrm>
            <a:graphic>
              <a:graphicData uri="http://schemas.openxmlformats.org/presentationml/2006/ole">
                <mc:AlternateContent xmlns:mc="http://schemas.openxmlformats.org/markup-compatibility/2006">
                  <mc:Choice xmlns:v="urn:schemas-microsoft-com:vml" Requires="v">
                    <p:oleObj name="公式" r:id="rId10" imgW="259267" imgH="320206" progId="Equation.3">
                      <p:embed/>
                    </p:oleObj>
                  </mc:Choice>
                  <mc:Fallback>
                    <p:oleObj name="公式" r:id="rId10" imgW="259267" imgH="320206"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00" y="1716"/>
                            <a:ext cx="168"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4231" name="Arc 23">
                <a:extLst>
                  <a:ext uri="{FF2B5EF4-FFF2-40B4-BE49-F238E27FC236}">
                    <a16:creationId xmlns:a16="http://schemas.microsoft.com/office/drawing/2014/main" id="{7C397FE2-C377-63CD-E140-7E585FEADC8F}"/>
                  </a:ext>
                </a:extLst>
              </p:cNvPr>
              <p:cNvSpPr>
                <a:spLocks noChangeAspect="1"/>
              </p:cNvSpPr>
              <p:nvPr/>
            </p:nvSpPr>
            <p:spPr bwMode="auto">
              <a:xfrm>
                <a:off x="2815" y="1808"/>
                <a:ext cx="57" cy="1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FF"/>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aphicFrame>
          <p:nvGraphicFramePr>
            <p:cNvPr id="8243" name="Object 10">
              <a:extLst>
                <a:ext uri="{FF2B5EF4-FFF2-40B4-BE49-F238E27FC236}">
                  <a16:creationId xmlns:a16="http://schemas.microsoft.com/office/drawing/2014/main" id="{8CE64308-545B-386B-2F94-DED4D8A7C86B}"/>
                </a:ext>
              </a:extLst>
            </p:cNvPr>
            <p:cNvGraphicFramePr>
              <a:graphicFrameLocks noChangeAspect="1"/>
            </p:cNvGraphicFramePr>
            <p:nvPr/>
          </p:nvGraphicFramePr>
          <p:xfrm>
            <a:off x="5185" y="1406"/>
            <a:ext cx="146" cy="174"/>
          </p:xfrm>
          <a:graphic>
            <a:graphicData uri="http://schemas.openxmlformats.org/presentationml/2006/ole">
              <mc:AlternateContent xmlns:mc="http://schemas.openxmlformats.org/markup-compatibility/2006">
                <mc:Choice xmlns:v="urn:schemas-microsoft-com:vml" Requires="v">
                  <p:oleObj name="公式" r:id="rId12" imgW="312513" imgH="350631" progId="Equation.3">
                    <p:embed/>
                  </p:oleObj>
                </mc:Choice>
                <mc:Fallback>
                  <p:oleObj name="公式" r:id="rId12" imgW="312513" imgH="350631"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85" y="1406"/>
                          <a:ext cx="146"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4233" name="Line 25">
              <a:extLst>
                <a:ext uri="{FF2B5EF4-FFF2-40B4-BE49-F238E27FC236}">
                  <a16:creationId xmlns:a16="http://schemas.microsoft.com/office/drawing/2014/main" id="{F3284C18-8CAB-81BB-FFA6-9CF85B84F20B}"/>
                </a:ext>
              </a:extLst>
            </p:cNvPr>
            <p:cNvSpPr>
              <a:spLocks noChangeAspect="1" noChangeShapeType="1"/>
            </p:cNvSpPr>
            <p:nvPr/>
          </p:nvSpPr>
          <p:spPr bwMode="auto">
            <a:xfrm flipV="1">
              <a:off x="4796" y="1456"/>
              <a:ext cx="365" cy="221"/>
            </a:xfrm>
            <a:prstGeom prst="line">
              <a:avLst/>
            </a:prstGeom>
            <a:noFill/>
            <a:ln w="38100">
              <a:solidFill>
                <a:srgbClr val="FF0000"/>
              </a:solidFill>
              <a:round/>
              <a:headEnd type="oval" w="med" len="me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245" name="Object 11">
              <a:extLst>
                <a:ext uri="{FF2B5EF4-FFF2-40B4-BE49-F238E27FC236}">
                  <a16:creationId xmlns:a16="http://schemas.microsoft.com/office/drawing/2014/main" id="{E353E7E3-F349-60DC-7277-6DDD0D5280D9}"/>
                </a:ext>
              </a:extLst>
            </p:cNvPr>
            <p:cNvGraphicFramePr>
              <a:graphicFrameLocks noChangeAspect="1"/>
            </p:cNvGraphicFramePr>
            <p:nvPr/>
          </p:nvGraphicFramePr>
          <p:xfrm>
            <a:off x="4715" y="1700"/>
            <a:ext cx="140" cy="152"/>
          </p:xfrm>
          <a:graphic>
            <a:graphicData uri="http://schemas.openxmlformats.org/presentationml/2006/ole">
              <mc:AlternateContent xmlns:mc="http://schemas.openxmlformats.org/markup-compatibility/2006">
                <mc:Choice xmlns:v="urn:schemas-microsoft-com:vml" Requires="v">
                  <p:oleObj name="公式" r:id="rId14" imgW="282158" imgH="312226" progId="Equation.3">
                    <p:embed/>
                  </p:oleObj>
                </mc:Choice>
                <mc:Fallback>
                  <p:oleObj name="公式" r:id="rId14" imgW="282158" imgH="312226"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15" y="1700"/>
                          <a:ext cx="140" cy="152"/>
                        </a:xfrm>
                        <a:prstGeom prst="rect">
                          <a:avLst/>
                        </a:prstGeom>
                        <a:noFill/>
                        <a:ln>
                          <a:noFill/>
                        </a:ln>
                        <a:effectLst/>
                        <a:extLst>
                          <a:ext uri="{909E8E84-426E-40DD-AFC4-6F175D3DCCD1}">
                            <a14:hiddenFill xmlns:a14="http://schemas.microsoft.com/office/drawing/2010/main">
                              <a:solidFill>
                                <a:srgbClr val="00FFFF">
                                  <a:alpha val="27843"/>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34235" name="Text Box 27">
            <a:extLst>
              <a:ext uri="{FF2B5EF4-FFF2-40B4-BE49-F238E27FC236}">
                <a16:creationId xmlns:a16="http://schemas.microsoft.com/office/drawing/2014/main" id="{6CF2A96F-D0A2-FA11-B055-A0FB28B38004}"/>
              </a:ext>
            </a:extLst>
          </p:cNvPr>
          <p:cNvSpPr txBox="1">
            <a:spLocks noChangeArrowheads="1"/>
          </p:cNvSpPr>
          <p:nvPr/>
        </p:nvSpPr>
        <p:spPr bwMode="auto">
          <a:xfrm>
            <a:off x="354013" y="555625"/>
            <a:ext cx="8377237" cy="1041400"/>
          </a:xfrm>
          <a:prstGeom prst="rect">
            <a:avLst/>
          </a:prstGeom>
          <a:noFill/>
          <a:ln w="9525">
            <a:noFill/>
            <a:miter lim="800000"/>
            <a:headEnd/>
            <a:tailEnd/>
          </a:ln>
        </p:spPr>
        <p:txBody>
          <a:bodyPr>
            <a:spAutoFit/>
          </a:bodyPr>
          <a:lstStyle/>
          <a:p>
            <a:pPr>
              <a:lnSpc>
                <a:spcPct val="130000"/>
              </a:lnSpc>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对于刚体的定轴转动，力矩</a:t>
            </a:r>
            <a:r>
              <a:rPr kumimoji="1" lang="en-US" altLang="zh-CN" i="1">
                <a:solidFill>
                  <a:srgbClr val="FFCC00"/>
                </a:solidFill>
                <a:effectLst>
                  <a:outerShdw blurRad="38100" dist="38100" dir="2700000" algn="tl">
                    <a:srgbClr val="000000"/>
                  </a:outerShdw>
                </a:effectLst>
                <a:latin typeface="Times New Roman" pitchFamily="18" charset="0"/>
              </a:rPr>
              <a:t>M</a:t>
            </a:r>
            <a:r>
              <a:rPr kumimoji="1" lang="en-US" altLang="zh-CN" i="1" baseline="-25000">
                <a:solidFill>
                  <a:srgbClr val="FFCC00"/>
                </a:solidFill>
                <a:effectLst>
                  <a:outerShdw blurRad="38100" dist="38100" dir="2700000" algn="tl">
                    <a:srgbClr val="000000"/>
                  </a:outerShdw>
                </a:effectLst>
                <a:latin typeface="Times New Roman" pitchFamily="18" charset="0"/>
              </a:rPr>
              <a:t>z</a:t>
            </a:r>
            <a:r>
              <a:rPr kumimoji="1" lang="zh-CN" altLang="en-US">
                <a:effectLst>
                  <a:outerShdw blurRad="38100" dist="38100" dir="2700000" algn="tl">
                    <a:srgbClr val="000000"/>
                  </a:outerShdw>
                </a:effectLst>
                <a:latin typeface="Times New Roman" pitchFamily="18" charset="0"/>
              </a:rPr>
              <a:t>可看成是</a:t>
            </a:r>
            <a:r>
              <a:rPr kumimoji="1" lang="zh-CN" altLang="en-US">
                <a:solidFill>
                  <a:srgbClr val="FFCC00"/>
                </a:solidFill>
                <a:effectLst>
                  <a:outerShdw blurRad="38100" dist="38100" dir="2700000" algn="tl">
                    <a:srgbClr val="000000"/>
                  </a:outerShdw>
                </a:effectLst>
                <a:latin typeface="Times New Roman" pitchFamily="18" charset="0"/>
              </a:rPr>
              <a:t>代数量</a:t>
            </a:r>
            <a:r>
              <a:rPr kumimoji="1" lang="zh-CN" altLang="en-US">
                <a:effectLst>
                  <a:outerShdw blurRad="38100" dist="38100" dir="2700000" algn="tl">
                    <a:srgbClr val="000000"/>
                  </a:outerShdw>
                </a:effectLst>
                <a:latin typeface="Times New Roman" pitchFamily="18" charset="0"/>
              </a:rPr>
              <a:t>。力矩的正</a:t>
            </a:r>
          </a:p>
          <a:p>
            <a:pPr>
              <a:lnSpc>
                <a:spcPct val="130000"/>
              </a:lnSpc>
              <a:buClr>
                <a:srgbClr val="FFCC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负由右手螺旋法则确定。</a:t>
            </a:r>
            <a:endParaRPr kumimoji="1" lang="zh-CN" altLang="en-US" baseline="30000">
              <a:effectLst>
                <a:outerShdw blurRad="38100" dist="38100" dir="2700000" algn="tl">
                  <a:srgbClr val="000000"/>
                </a:outerShdw>
              </a:effectLst>
              <a:latin typeface="Times New Roman" pitchFamily="18" charset="0"/>
            </a:endParaRPr>
          </a:p>
        </p:txBody>
      </p:sp>
      <p:sp>
        <p:nvSpPr>
          <p:cNvPr id="734236" name="Rectangle 28">
            <a:extLst>
              <a:ext uri="{FF2B5EF4-FFF2-40B4-BE49-F238E27FC236}">
                <a16:creationId xmlns:a16="http://schemas.microsoft.com/office/drawing/2014/main" id="{F9CAB2C3-41F6-3C8D-D198-6C6A1AC3CAA2}"/>
              </a:ext>
            </a:extLst>
          </p:cNvPr>
          <p:cNvSpPr>
            <a:spLocks noChangeArrowheads="1"/>
          </p:cNvSpPr>
          <p:nvPr/>
        </p:nvSpPr>
        <p:spPr bwMode="auto">
          <a:xfrm>
            <a:off x="1144588" y="1646238"/>
            <a:ext cx="3709987" cy="1196975"/>
          </a:xfrm>
          <a:prstGeom prst="rect">
            <a:avLst/>
          </a:prstGeom>
          <a:solidFill>
            <a:srgbClr val="00CCFF">
              <a:alpha val="24001"/>
            </a:srgbClr>
          </a:solidFill>
          <a:ln w="9525">
            <a:solidFill>
              <a:srgbClr val="FFFFFF">
                <a:alpha val="23000"/>
              </a:srgbClr>
            </a:solidFill>
            <a:miter lim="800000"/>
            <a:headEnd type="none" w="sm" len="sm"/>
            <a:tailEnd type="none" w="sm" len="sm"/>
          </a:ln>
          <a:effectLst/>
        </p:spPr>
        <p:txBody>
          <a:bodyPr>
            <a:spAutoFit/>
          </a:bodyPr>
          <a:lstStyle/>
          <a:p>
            <a:pPr>
              <a:lnSpc>
                <a:spcPct val="120000"/>
              </a:lnSpc>
              <a:defRPr/>
            </a:pPr>
            <a:r>
              <a:rPr kumimoji="1" lang="zh-CN" altLang="en-US" sz="2000">
                <a:effectLst>
                  <a:outerShdw blurRad="38100" dist="38100" dir="2700000" algn="tl">
                    <a:srgbClr val="000000"/>
                  </a:outerShdw>
                </a:effectLst>
              </a:rPr>
              <a:t>从</a:t>
            </a:r>
            <a:r>
              <a:rPr kumimoji="1" lang="en-US" altLang="zh-CN" sz="2000" i="1">
                <a:solidFill>
                  <a:srgbClr val="FFCC00"/>
                </a:solidFill>
                <a:effectLst>
                  <a:outerShdw blurRad="38100" dist="38100" dir="2700000" algn="tl">
                    <a:srgbClr val="000000"/>
                  </a:outerShdw>
                </a:effectLst>
                <a:latin typeface="Times New Roman" pitchFamily="18" charset="0"/>
              </a:rPr>
              <a:t>z</a:t>
            </a:r>
            <a:r>
              <a:rPr kumimoji="1" lang="zh-CN" altLang="en-US" sz="2000">
                <a:effectLst>
                  <a:outerShdw blurRad="38100" dist="38100" dir="2700000" algn="tl">
                    <a:srgbClr val="000000"/>
                  </a:outerShdw>
                </a:effectLst>
              </a:rPr>
              <a:t>轴正端向负端看，若力</a:t>
            </a:r>
            <a:r>
              <a:rPr kumimoji="1" lang="en-US" altLang="zh-CN" sz="2000" i="1">
                <a:solidFill>
                  <a:srgbClr val="FFCC00"/>
                </a:solidFill>
                <a:effectLst>
                  <a:outerShdw blurRad="38100" dist="38100" dir="2700000" algn="tl">
                    <a:srgbClr val="000000"/>
                  </a:outerShdw>
                </a:effectLst>
                <a:latin typeface="Times New Roman" pitchFamily="18" charset="0"/>
              </a:rPr>
              <a:t>F</a:t>
            </a:r>
            <a:r>
              <a:rPr kumimoji="1" lang="zh-CN" altLang="en-US" sz="2000">
                <a:effectLst>
                  <a:outerShdw blurRad="38100" dist="38100" dir="2700000" algn="tl">
                    <a:srgbClr val="000000"/>
                  </a:outerShdw>
                </a:effectLst>
              </a:rPr>
              <a:t>使刚体沿逆时针方向转动，则力矩</a:t>
            </a:r>
            <a:r>
              <a:rPr kumimoji="1" lang="en-US" altLang="zh-CN" sz="2000" i="1">
                <a:solidFill>
                  <a:srgbClr val="FFCC00"/>
                </a:solidFill>
                <a:effectLst>
                  <a:outerShdw blurRad="38100" dist="38100" dir="2700000" algn="tl">
                    <a:srgbClr val="000000"/>
                  </a:outerShdw>
                </a:effectLst>
                <a:latin typeface="Times New Roman" pitchFamily="18" charset="0"/>
              </a:rPr>
              <a:t>M</a:t>
            </a:r>
            <a:r>
              <a:rPr kumimoji="1" lang="en-US" altLang="zh-CN" sz="2000" i="1" baseline="-25000">
                <a:solidFill>
                  <a:srgbClr val="FFCC00"/>
                </a:solidFill>
                <a:effectLst>
                  <a:outerShdw blurRad="38100" dist="38100" dir="2700000" algn="tl">
                    <a:srgbClr val="000000"/>
                  </a:outerShdw>
                </a:effectLst>
                <a:latin typeface="Times New Roman" pitchFamily="18" charset="0"/>
              </a:rPr>
              <a:t>z</a:t>
            </a:r>
            <a:r>
              <a:rPr kumimoji="1" lang="zh-CN" altLang="en-US" sz="2000">
                <a:effectLst>
                  <a:outerShdw blurRad="38100" dist="38100" dir="2700000" algn="tl">
                    <a:srgbClr val="000000"/>
                  </a:outerShdw>
                </a:effectLst>
              </a:rPr>
              <a:t>为正，反之为</a:t>
            </a:r>
            <a:r>
              <a:rPr kumimoji="1" lang="en-US" altLang="zh-CN" sz="2000" i="1">
                <a:solidFill>
                  <a:srgbClr val="FFCC00"/>
                </a:solidFill>
                <a:effectLst>
                  <a:outerShdw blurRad="38100" dist="38100" dir="2700000" algn="tl">
                    <a:srgbClr val="000000"/>
                  </a:outerShdw>
                </a:effectLst>
                <a:latin typeface="Times New Roman" pitchFamily="18" charset="0"/>
              </a:rPr>
              <a:t>M</a:t>
            </a:r>
            <a:r>
              <a:rPr kumimoji="1" lang="en-US" altLang="zh-CN" sz="2000" i="1" baseline="-25000">
                <a:solidFill>
                  <a:srgbClr val="FFCC00"/>
                </a:solidFill>
                <a:effectLst>
                  <a:outerShdw blurRad="38100" dist="38100" dir="2700000" algn="tl">
                    <a:srgbClr val="000000"/>
                  </a:outerShdw>
                </a:effectLst>
                <a:latin typeface="Times New Roman" pitchFamily="18" charset="0"/>
              </a:rPr>
              <a:t>z</a:t>
            </a:r>
            <a:r>
              <a:rPr kumimoji="1" lang="zh-CN" altLang="en-US" sz="2000">
                <a:effectLst>
                  <a:outerShdw blurRad="38100" dist="38100" dir="2700000" algn="tl">
                    <a:srgbClr val="000000"/>
                  </a:outerShdw>
                </a:effectLst>
              </a:rPr>
              <a:t>为负。</a:t>
            </a:r>
          </a:p>
        </p:txBody>
      </p:sp>
      <p:sp>
        <p:nvSpPr>
          <p:cNvPr id="734237" name="Rectangle 29">
            <a:extLst>
              <a:ext uri="{FF2B5EF4-FFF2-40B4-BE49-F238E27FC236}">
                <a16:creationId xmlns:a16="http://schemas.microsoft.com/office/drawing/2014/main" id="{59ADB68D-F492-383F-102C-BAC68BC1AC58}"/>
              </a:ext>
            </a:extLst>
          </p:cNvPr>
          <p:cNvSpPr>
            <a:spLocks noChangeArrowheads="1"/>
          </p:cNvSpPr>
          <p:nvPr/>
        </p:nvSpPr>
        <p:spPr bwMode="auto">
          <a:xfrm>
            <a:off x="279400" y="173038"/>
            <a:ext cx="2052638" cy="457200"/>
          </a:xfrm>
          <a:prstGeom prst="rect">
            <a:avLst/>
          </a:prstGeom>
          <a:noFill/>
          <a:ln w="9525">
            <a:noFill/>
            <a:miter lim="800000"/>
            <a:headEnd/>
            <a:tailEnd/>
          </a:ln>
          <a:effectLst/>
        </p:spPr>
        <p:txBody>
          <a:bodyPr>
            <a:spAutoFit/>
          </a:bodyPr>
          <a:lstStyle/>
          <a:p>
            <a:pPr eaLnBrk="1" hangingPunct="1">
              <a:buClr>
                <a:srgbClr val="FFFF00"/>
              </a:buClr>
              <a:buFont typeface="Wingdings" pitchFamily="2" charset="2"/>
              <a:buChar char="Ø"/>
              <a:defRPr/>
            </a:pPr>
            <a:r>
              <a:rPr kumimoji="1" lang="en-US" altLang="zh-CN">
                <a:effectLst>
                  <a:outerShdw blurRad="38100" dist="38100" dir="2700000" algn="tl">
                    <a:srgbClr val="000000"/>
                  </a:outerShdw>
                </a:effectLst>
                <a:latin typeface="Times New Roman" pitchFamily="18" charset="0"/>
                <a:ea typeface="宋体" pitchFamily="2" charset="-122"/>
              </a:rPr>
              <a:t> </a:t>
            </a:r>
            <a:r>
              <a:rPr kumimoji="1" lang="zh-CN" altLang="en-US">
                <a:solidFill>
                  <a:srgbClr val="00FFFF"/>
                </a:solidFill>
                <a:effectLst>
                  <a:outerShdw blurRad="38100" dist="38100" dir="2700000" algn="tl">
                    <a:srgbClr val="000000"/>
                  </a:outerShdw>
                </a:effectLst>
                <a:latin typeface="Times New Roman" pitchFamily="18" charset="0"/>
                <a:ea typeface="宋体" pitchFamily="2" charset="-122"/>
              </a:rPr>
              <a:t>说明</a:t>
            </a:r>
          </a:p>
        </p:txBody>
      </p:sp>
      <p:sp>
        <p:nvSpPr>
          <p:cNvPr id="734239" name="Text Box 31">
            <a:extLst>
              <a:ext uri="{FF2B5EF4-FFF2-40B4-BE49-F238E27FC236}">
                <a16:creationId xmlns:a16="http://schemas.microsoft.com/office/drawing/2014/main" id="{3B8074C8-843E-F0CC-5445-2CB1527CCE70}"/>
              </a:ext>
            </a:extLst>
          </p:cNvPr>
          <p:cNvSpPr txBox="1">
            <a:spLocks noChangeArrowheads="1"/>
          </p:cNvSpPr>
          <p:nvPr/>
        </p:nvSpPr>
        <p:spPr bwMode="auto">
          <a:xfrm>
            <a:off x="369888" y="2867025"/>
            <a:ext cx="4519612" cy="1844675"/>
          </a:xfrm>
          <a:prstGeom prst="rect">
            <a:avLst/>
          </a:prstGeom>
          <a:noFill/>
          <a:ln w="9525">
            <a:noFill/>
            <a:miter lim="800000"/>
            <a:headEnd/>
            <a:tailEnd/>
          </a:ln>
        </p:spPr>
        <p:txBody>
          <a:bodyPr>
            <a:spAutoFit/>
          </a:bodyPr>
          <a:lstStyle/>
          <a:p>
            <a:pPr marL="263525" indent="-263525" eaLnBrk="1" hangingPunct="1">
              <a:lnSpc>
                <a:spcPct val="120000"/>
              </a:lnSpc>
              <a:buClr>
                <a:srgbClr val="FFCC00"/>
              </a:buClr>
              <a:buSzPct val="80000"/>
              <a:buFont typeface="Wingdings" pitchFamily="2" charset="2"/>
              <a:buChar char="l"/>
              <a:defRPr/>
            </a:pPr>
            <a:r>
              <a:rPr kumimoji="1" lang="zh-CN" altLang="en-US">
                <a:effectLst>
                  <a:outerShdw blurRad="38100" dist="38100" dir="2700000" algn="tl">
                    <a:srgbClr val="000000"/>
                  </a:outerShdw>
                </a:effectLst>
                <a:latin typeface="Times New Roman" pitchFamily="18" charset="0"/>
              </a:rPr>
              <a:t>几个作用力同时作用在一个绕固定轴转动的刚体上时</a:t>
            </a: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合力矩</a:t>
            </a:r>
            <a:r>
              <a:rPr kumimoji="1" lang="zh-CN" altLang="en-US">
                <a:effectLst>
                  <a:outerShdw blurRad="38100" dist="38100" dir="2700000" algn="tl">
                    <a:srgbClr val="000000"/>
                  </a:outerShdw>
                </a:effectLst>
              </a:rPr>
              <a:t>等于这几个力各自的</a:t>
            </a:r>
            <a:r>
              <a:rPr kumimoji="1" lang="zh-CN" altLang="en-US">
                <a:solidFill>
                  <a:srgbClr val="FFCC00"/>
                </a:solidFill>
                <a:effectLst>
                  <a:outerShdw blurRad="38100" dist="38100" dir="2700000" algn="tl">
                    <a:srgbClr val="000000"/>
                  </a:outerShdw>
                </a:effectLst>
              </a:rPr>
              <a:t>力矩的代数和</a:t>
            </a:r>
            <a:r>
              <a:rPr kumimoji="1" lang="zh-CN" altLang="en-US">
                <a:effectLst>
                  <a:outerShdw blurRad="38100" dist="38100" dir="2700000" algn="tl">
                    <a:srgbClr val="000000"/>
                  </a:outerShdw>
                </a:effectLst>
                <a:latin typeface="Times New Roman" pitchFamily="18" charset="0"/>
              </a:rPr>
              <a:t>。      </a:t>
            </a:r>
          </a:p>
        </p:txBody>
      </p:sp>
      <p:sp>
        <p:nvSpPr>
          <p:cNvPr id="734275" name="Freeform 67">
            <a:extLst>
              <a:ext uri="{FF2B5EF4-FFF2-40B4-BE49-F238E27FC236}">
                <a16:creationId xmlns:a16="http://schemas.microsoft.com/office/drawing/2014/main" id="{32271B12-3B0E-17E1-36A1-9E5EDBDEBDB0}"/>
              </a:ext>
            </a:extLst>
          </p:cNvPr>
          <p:cNvSpPr>
            <a:spLocks noChangeAspect="1"/>
          </p:cNvSpPr>
          <p:nvPr/>
        </p:nvSpPr>
        <p:spPr bwMode="auto">
          <a:xfrm>
            <a:off x="6627813" y="3359150"/>
            <a:ext cx="495300" cy="236538"/>
          </a:xfrm>
          <a:custGeom>
            <a:avLst/>
            <a:gdLst/>
            <a:ahLst/>
            <a:cxnLst>
              <a:cxn ang="0">
                <a:pos x="24" y="0"/>
              </a:cxn>
              <a:cxn ang="0">
                <a:pos x="27" y="4"/>
              </a:cxn>
              <a:cxn ang="0">
                <a:pos x="14" y="9"/>
              </a:cxn>
              <a:cxn ang="0">
                <a:pos x="0" y="4"/>
              </a:cxn>
              <a:cxn ang="0">
                <a:pos x="1" y="1"/>
              </a:cxn>
            </a:cxnLst>
            <a:rect l="0" t="0" r="r" b="b"/>
            <a:pathLst>
              <a:path w="27" h="9">
                <a:moveTo>
                  <a:pt x="24" y="0"/>
                </a:moveTo>
                <a:cubicBezTo>
                  <a:pt x="26" y="1"/>
                  <a:pt x="27" y="2"/>
                  <a:pt x="27" y="4"/>
                </a:cubicBezTo>
                <a:cubicBezTo>
                  <a:pt x="27" y="7"/>
                  <a:pt x="21" y="9"/>
                  <a:pt x="14" y="9"/>
                </a:cubicBezTo>
                <a:cubicBezTo>
                  <a:pt x="6" y="9"/>
                  <a:pt x="0" y="7"/>
                  <a:pt x="0" y="4"/>
                </a:cubicBezTo>
                <a:cubicBezTo>
                  <a:pt x="0" y="3"/>
                  <a:pt x="0" y="2"/>
                  <a:pt x="1" y="1"/>
                </a:cubicBezTo>
              </a:path>
            </a:pathLst>
          </a:custGeom>
          <a:noFill/>
          <a:ln w="38100" cmpd="sng">
            <a:solidFill>
              <a:srgbClr val="FFFF00"/>
            </a:solidFill>
            <a:prstDash val="solid"/>
            <a:round/>
            <a:headEnd type="triangle" w="med" len="med"/>
            <a:tailEnd type="none" w="med" len="me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 name="Group 68">
            <a:extLst>
              <a:ext uri="{FF2B5EF4-FFF2-40B4-BE49-F238E27FC236}">
                <a16:creationId xmlns:a16="http://schemas.microsoft.com/office/drawing/2014/main" id="{B3D29FFB-E799-20EB-AAF0-FB47022C0546}"/>
              </a:ext>
            </a:extLst>
          </p:cNvPr>
          <p:cNvGrpSpPr>
            <a:grpSpLocks/>
          </p:cNvGrpSpPr>
          <p:nvPr/>
        </p:nvGrpSpPr>
        <p:grpSpPr bwMode="auto">
          <a:xfrm>
            <a:off x="6529388" y="1912938"/>
            <a:ext cx="387350" cy="520700"/>
            <a:chOff x="4292" y="1136"/>
            <a:chExt cx="244" cy="328"/>
          </a:xfrm>
        </p:grpSpPr>
        <p:sp>
          <p:nvSpPr>
            <p:cNvPr id="734277" name="Line 69">
              <a:extLst>
                <a:ext uri="{FF2B5EF4-FFF2-40B4-BE49-F238E27FC236}">
                  <a16:creationId xmlns:a16="http://schemas.microsoft.com/office/drawing/2014/main" id="{0B213D46-BA35-FCBB-EC26-6F5373E7A1ED}"/>
                </a:ext>
              </a:extLst>
            </p:cNvPr>
            <p:cNvSpPr>
              <a:spLocks noChangeShapeType="1"/>
            </p:cNvSpPr>
            <p:nvPr/>
          </p:nvSpPr>
          <p:spPr bwMode="auto">
            <a:xfrm flipV="1">
              <a:off x="4536" y="1136"/>
              <a:ext cx="0" cy="328"/>
            </a:xfrm>
            <a:prstGeom prst="line">
              <a:avLst/>
            </a:prstGeom>
            <a:noFill/>
            <a:ln w="38100">
              <a:solidFill>
                <a:srgbClr val="FF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237" name="Object 9">
              <a:extLst>
                <a:ext uri="{FF2B5EF4-FFF2-40B4-BE49-F238E27FC236}">
                  <a16:creationId xmlns:a16="http://schemas.microsoft.com/office/drawing/2014/main" id="{0682D462-0813-8A73-6C30-F6D03F69801D}"/>
                </a:ext>
              </a:extLst>
            </p:cNvPr>
            <p:cNvGraphicFramePr>
              <a:graphicFrameLocks noChangeAspect="1"/>
            </p:cNvGraphicFramePr>
            <p:nvPr/>
          </p:nvGraphicFramePr>
          <p:xfrm>
            <a:off x="4292" y="1217"/>
            <a:ext cx="208" cy="183"/>
          </p:xfrm>
          <a:graphic>
            <a:graphicData uri="http://schemas.openxmlformats.org/presentationml/2006/ole">
              <mc:AlternateContent xmlns:mc="http://schemas.openxmlformats.org/markup-compatibility/2006">
                <mc:Choice xmlns:v="urn:schemas-microsoft-com:vml" Requires="v">
                  <p:oleObj name="公式" r:id="rId16" imgW="510571" imgH="449386" progId="Equation.3">
                    <p:embed/>
                  </p:oleObj>
                </mc:Choice>
                <mc:Fallback>
                  <p:oleObj name="公式" r:id="rId16" imgW="510571" imgH="449386"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92" y="1217"/>
                          <a:ext cx="20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34279" name="Text Box 71">
            <a:extLst>
              <a:ext uri="{FF2B5EF4-FFF2-40B4-BE49-F238E27FC236}">
                <a16:creationId xmlns:a16="http://schemas.microsoft.com/office/drawing/2014/main" id="{6FDF86C6-7114-184B-9D4D-BEB39DD15B59}"/>
              </a:ext>
            </a:extLst>
          </p:cNvPr>
          <p:cNvSpPr txBox="1">
            <a:spLocks noChangeArrowheads="1"/>
          </p:cNvSpPr>
          <p:nvPr/>
        </p:nvSpPr>
        <p:spPr bwMode="auto">
          <a:xfrm>
            <a:off x="4763" y="4476750"/>
            <a:ext cx="1373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例如</a:t>
            </a:r>
            <a:endParaRPr lang="zh-CN" altLang="en-US" i="1">
              <a:solidFill>
                <a:srgbClr val="66FFFF"/>
              </a:solidFill>
              <a:latin typeface="Times New Roman" panose="02020603050405020304" pitchFamily="18" charset="0"/>
              <a:ea typeface="宋体" panose="02010600030101010101" pitchFamily="2" charset="-122"/>
            </a:endParaRPr>
          </a:p>
        </p:txBody>
      </p:sp>
      <p:grpSp>
        <p:nvGrpSpPr>
          <p:cNvPr id="10" name="Group 72">
            <a:extLst>
              <a:ext uri="{FF2B5EF4-FFF2-40B4-BE49-F238E27FC236}">
                <a16:creationId xmlns:a16="http://schemas.microsoft.com/office/drawing/2014/main" id="{E5E0894E-9F82-C5D1-652C-30DC1BAE4034}"/>
              </a:ext>
            </a:extLst>
          </p:cNvPr>
          <p:cNvGrpSpPr>
            <a:grpSpLocks/>
          </p:cNvGrpSpPr>
          <p:nvPr/>
        </p:nvGrpSpPr>
        <p:grpSpPr bwMode="auto">
          <a:xfrm>
            <a:off x="382588" y="4967288"/>
            <a:ext cx="2555875" cy="1609725"/>
            <a:chOff x="1315" y="3051"/>
            <a:chExt cx="1610" cy="1014"/>
          </a:xfrm>
        </p:grpSpPr>
        <p:sp>
          <p:nvSpPr>
            <p:cNvPr id="8228" name="Text Box 73">
              <a:extLst>
                <a:ext uri="{FF2B5EF4-FFF2-40B4-BE49-F238E27FC236}">
                  <a16:creationId xmlns:a16="http://schemas.microsoft.com/office/drawing/2014/main" id="{B8C10B7E-7F9E-BB19-8D22-33B6652C30D8}"/>
                </a:ext>
              </a:extLst>
            </p:cNvPr>
            <p:cNvSpPr txBox="1">
              <a:spLocks noChangeArrowheads="1"/>
            </p:cNvSpPr>
            <p:nvPr/>
          </p:nvSpPr>
          <p:spPr bwMode="auto">
            <a:xfrm>
              <a:off x="2546" y="324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FFFF00"/>
                  </a:solidFill>
                  <a:latin typeface="Times New Roman" panose="02020603050405020304" pitchFamily="18" charset="0"/>
                  <a:ea typeface="宋体" panose="02010600030101010101" pitchFamily="2" charset="-122"/>
                </a:rPr>
                <a:t>T</a:t>
              </a:r>
              <a:endParaRPr lang="en-US" altLang="zh-CN" i="1">
                <a:solidFill>
                  <a:schemeClr val="accent2"/>
                </a:solidFill>
                <a:latin typeface="Times New Roman" panose="02020603050405020304" pitchFamily="18" charset="0"/>
                <a:ea typeface="宋体" panose="02010600030101010101" pitchFamily="2" charset="-122"/>
              </a:endParaRPr>
            </a:p>
          </p:txBody>
        </p:sp>
        <p:grpSp>
          <p:nvGrpSpPr>
            <p:cNvPr id="8229" name="Group 74">
              <a:extLst>
                <a:ext uri="{FF2B5EF4-FFF2-40B4-BE49-F238E27FC236}">
                  <a16:creationId xmlns:a16="http://schemas.microsoft.com/office/drawing/2014/main" id="{DD273C9F-A8FA-3BA7-03DB-B4A268326A24}"/>
                </a:ext>
              </a:extLst>
            </p:cNvPr>
            <p:cNvGrpSpPr>
              <a:grpSpLocks/>
            </p:cNvGrpSpPr>
            <p:nvPr/>
          </p:nvGrpSpPr>
          <p:grpSpPr bwMode="auto">
            <a:xfrm>
              <a:off x="1315" y="3051"/>
              <a:ext cx="1610" cy="1014"/>
              <a:chOff x="1315" y="3051"/>
              <a:chExt cx="1610" cy="1014"/>
            </a:xfrm>
          </p:grpSpPr>
          <p:grpSp>
            <p:nvGrpSpPr>
              <p:cNvPr id="8230" name="Group 75">
                <a:extLst>
                  <a:ext uri="{FF2B5EF4-FFF2-40B4-BE49-F238E27FC236}">
                    <a16:creationId xmlns:a16="http://schemas.microsoft.com/office/drawing/2014/main" id="{29E63EBC-17D3-0DBF-4F75-68C75F56A1F2}"/>
                  </a:ext>
                </a:extLst>
              </p:cNvPr>
              <p:cNvGrpSpPr>
                <a:grpSpLocks/>
              </p:cNvGrpSpPr>
              <p:nvPr/>
            </p:nvGrpSpPr>
            <p:grpSpPr bwMode="auto">
              <a:xfrm>
                <a:off x="1433" y="3099"/>
                <a:ext cx="1260" cy="576"/>
                <a:chOff x="1433" y="3099"/>
                <a:chExt cx="1260" cy="576"/>
              </a:xfrm>
            </p:grpSpPr>
            <p:sp>
              <p:nvSpPr>
                <p:cNvPr id="734284" name="Oval 76">
                  <a:extLst>
                    <a:ext uri="{FF2B5EF4-FFF2-40B4-BE49-F238E27FC236}">
                      <a16:creationId xmlns:a16="http://schemas.microsoft.com/office/drawing/2014/main" id="{744357A6-F5D0-6255-9441-8E323476A5EC}"/>
                    </a:ext>
                  </a:extLst>
                </p:cNvPr>
                <p:cNvSpPr>
                  <a:spLocks noChangeArrowheads="1"/>
                </p:cNvSpPr>
                <p:nvPr/>
              </p:nvSpPr>
              <p:spPr bwMode="auto">
                <a:xfrm>
                  <a:off x="1970" y="3099"/>
                  <a:ext cx="459" cy="480"/>
                </a:xfrm>
                <a:prstGeom prst="ellipse">
                  <a:avLst/>
                </a:prstGeom>
                <a:noFill/>
                <a:ln w="381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85" name="Line 77">
                  <a:extLst>
                    <a:ext uri="{FF2B5EF4-FFF2-40B4-BE49-F238E27FC236}">
                      <a16:creationId xmlns:a16="http://schemas.microsoft.com/office/drawing/2014/main" id="{456C53E3-14B9-9E53-B952-B159C6304C2D}"/>
                    </a:ext>
                  </a:extLst>
                </p:cNvPr>
                <p:cNvSpPr>
                  <a:spLocks noChangeShapeType="1"/>
                </p:cNvSpPr>
                <p:nvPr/>
              </p:nvSpPr>
              <p:spPr bwMode="auto">
                <a:xfrm>
                  <a:off x="2384" y="3195"/>
                  <a:ext cx="309" cy="480"/>
                </a:xfrm>
                <a:prstGeom prst="line">
                  <a:avLst/>
                </a:prstGeom>
                <a:noFill/>
                <a:ln w="28575">
                  <a:solidFill>
                    <a:srgbClr val="FF99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86" name="Line 78">
                  <a:extLst>
                    <a:ext uri="{FF2B5EF4-FFF2-40B4-BE49-F238E27FC236}">
                      <a16:creationId xmlns:a16="http://schemas.microsoft.com/office/drawing/2014/main" id="{3FDD3D63-6185-DAAE-7E61-72962B1D899A}"/>
                    </a:ext>
                  </a:extLst>
                </p:cNvPr>
                <p:cNvSpPr>
                  <a:spLocks noChangeShapeType="1"/>
                </p:cNvSpPr>
                <p:nvPr/>
              </p:nvSpPr>
              <p:spPr bwMode="auto">
                <a:xfrm flipH="1">
                  <a:off x="1433" y="3120"/>
                  <a:ext cx="668" cy="336"/>
                </a:xfrm>
                <a:prstGeom prst="line">
                  <a:avLst/>
                </a:prstGeom>
                <a:noFill/>
                <a:ln w="22225">
                  <a:solidFill>
                    <a:srgbClr val="00FF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aphicFrame>
            <p:nvGraphicFramePr>
              <p:cNvPr id="8231" name="Object 8">
                <a:extLst>
                  <a:ext uri="{FF2B5EF4-FFF2-40B4-BE49-F238E27FC236}">
                    <a16:creationId xmlns:a16="http://schemas.microsoft.com/office/drawing/2014/main" id="{6B3DB96A-03C2-33FA-ECA9-24EF043AAEF6}"/>
                  </a:ext>
                </a:extLst>
              </p:cNvPr>
              <p:cNvGraphicFramePr>
                <a:graphicFrameLocks/>
              </p:cNvGraphicFramePr>
              <p:nvPr/>
            </p:nvGraphicFramePr>
            <p:xfrm>
              <a:off x="1315" y="3745"/>
              <a:ext cx="1610" cy="320"/>
            </p:xfrm>
            <a:graphic>
              <a:graphicData uri="http://schemas.openxmlformats.org/presentationml/2006/ole">
                <mc:AlternateContent xmlns:mc="http://schemas.openxmlformats.org/markup-compatibility/2006">
                  <mc:Choice xmlns:v="urn:schemas-microsoft-com:vml" Requires="v">
                    <p:oleObj name="公式" r:id="rId18" imgW="2544893" imgH="502754" progId="Equation.3">
                      <p:embed/>
                    </p:oleObj>
                  </mc:Choice>
                  <mc:Fallback>
                    <p:oleObj name="公式" r:id="rId18" imgW="2544893" imgH="502754" progId="Equation.3">
                      <p:embed/>
                      <p:pic>
                        <p:nvPicPr>
                          <p:cNvPr id="0" name="Object 8"/>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15" y="3745"/>
                            <a:ext cx="161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32" name="Text Box 80">
                <a:extLst>
                  <a:ext uri="{FF2B5EF4-FFF2-40B4-BE49-F238E27FC236}">
                    <a16:creationId xmlns:a16="http://schemas.microsoft.com/office/drawing/2014/main" id="{680F4D72-B329-171A-EF10-7E95FE0969CD}"/>
                  </a:ext>
                </a:extLst>
              </p:cNvPr>
              <p:cNvSpPr txBox="1">
                <a:spLocks noChangeArrowheads="1"/>
              </p:cNvSpPr>
              <p:nvPr/>
            </p:nvSpPr>
            <p:spPr bwMode="auto">
              <a:xfrm>
                <a:off x="1586" y="3051"/>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FFFF00"/>
                    </a:solidFill>
                    <a:latin typeface="Times New Roman" panose="02020603050405020304" pitchFamily="18" charset="0"/>
                    <a:ea typeface="宋体" panose="02010600030101010101" pitchFamily="2" charset="-122"/>
                  </a:rPr>
                  <a:t>T'</a:t>
                </a:r>
                <a:endParaRPr lang="en-US" altLang="zh-CN" i="1">
                  <a:solidFill>
                    <a:schemeClr val="accent2"/>
                  </a:solidFill>
                  <a:latin typeface="Times New Roman" panose="02020603050405020304" pitchFamily="18" charset="0"/>
                  <a:ea typeface="宋体" panose="02010600030101010101" pitchFamily="2" charset="-122"/>
                </a:endParaRPr>
              </a:p>
            </p:txBody>
          </p:sp>
        </p:grpSp>
      </p:grpSp>
      <p:graphicFrame>
        <p:nvGraphicFramePr>
          <p:cNvPr id="734290" name="Object 2">
            <a:extLst>
              <a:ext uri="{FF2B5EF4-FFF2-40B4-BE49-F238E27FC236}">
                <a16:creationId xmlns:a16="http://schemas.microsoft.com/office/drawing/2014/main" id="{3B7E5739-55E4-A4B6-1749-1E961927C5D0}"/>
              </a:ext>
            </a:extLst>
          </p:cNvPr>
          <p:cNvGraphicFramePr>
            <a:graphicFrameLocks/>
          </p:cNvGraphicFramePr>
          <p:nvPr/>
        </p:nvGraphicFramePr>
        <p:xfrm>
          <a:off x="1689100" y="5086350"/>
          <a:ext cx="241300" cy="266700"/>
        </p:xfrm>
        <a:graphic>
          <a:graphicData uri="http://schemas.openxmlformats.org/presentationml/2006/ole">
            <mc:AlternateContent xmlns:mc="http://schemas.openxmlformats.org/markup-compatibility/2006">
              <mc:Choice xmlns:v="urn:schemas-microsoft-com:vml" Requires="v">
                <p:oleObj name="公式" r:id="rId20" imgW="236376" imgH="258858" progId="Equation.3">
                  <p:embed/>
                </p:oleObj>
              </mc:Choice>
              <mc:Fallback>
                <p:oleObj name="公式" r:id="rId20" imgW="236376" imgH="258858" progId="Equation.3">
                  <p:embed/>
                  <p:pic>
                    <p:nvPicPr>
                      <p:cNvPr id="0" name="Object 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89100" y="5086350"/>
                        <a:ext cx="2413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83">
            <a:extLst>
              <a:ext uri="{FF2B5EF4-FFF2-40B4-BE49-F238E27FC236}">
                <a16:creationId xmlns:a16="http://schemas.microsoft.com/office/drawing/2014/main" id="{992E5688-9888-AE83-5706-5765F6508532}"/>
              </a:ext>
            </a:extLst>
          </p:cNvPr>
          <p:cNvGrpSpPr>
            <a:grpSpLocks/>
          </p:cNvGrpSpPr>
          <p:nvPr/>
        </p:nvGrpSpPr>
        <p:grpSpPr bwMode="auto">
          <a:xfrm>
            <a:off x="3065463" y="4483100"/>
            <a:ext cx="2538412" cy="2122488"/>
            <a:chOff x="2405" y="2721"/>
            <a:chExt cx="1599" cy="1337"/>
          </a:xfrm>
        </p:grpSpPr>
        <p:graphicFrame>
          <p:nvGraphicFramePr>
            <p:cNvPr id="8219" name="Object 7">
              <a:extLst>
                <a:ext uri="{FF2B5EF4-FFF2-40B4-BE49-F238E27FC236}">
                  <a16:creationId xmlns:a16="http://schemas.microsoft.com/office/drawing/2014/main" id="{3C558BD7-1EC5-F474-C1AE-54F8A5083458}"/>
                </a:ext>
              </a:extLst>
            </p:cNvPr>
            <p:cNvGraphicFramePr>
              <a:graphicFrameLocks/>
            </p:cNvGraphicFramePr>
            <p:nvPr/>
          </p:nvGraphicFramePr>
          <p:xfrm>
            <a:off x="2449" y="3738"/>
            <a:ext cx="1555" cy="320"/>
          </p:xfrm>
          <a:graphic>
            <a:graphicData uri="http://schemas.openxmlformats.org/presentationml/2006/ole">
              <mc:AlternateContent xmlns:mc="http://schemas.openxmlformats.org/markup-compatibility/2006">
                <mc:Choice xmlns:v="urn:schemas-microsoft-com:vml" Requires="v">
                  <p:oleObj name="公式" r:id="rId22" imgW="2468756" imgH="502754" progId="Equation.3">
                    <p:embed/>
                  </p:oleObj>
                </mc:Choice>
                <mc:Fallback>
                  <p:oleObj name="公式" r:id="rId22" imgW="2468756" imgH="502754" progId="Equation.3">
                    <p:embed/>
                    <p:pic>
                      <p:nvPicPr>
                        <p:cNvPr id="0" name="Object 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49" y="3738"/>
                          <a:ext cx="1555"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0" name="Group 85">
              <a:extLst>
                <a:ext uri="{FF2B5EF4-FFF2-40B4-BE49-F238E27FC236}">
                  <a16:creationId xmlns:a16="http://schemas.microsoft.com/office/drawing/2014/main" id="{994C200A-D6F4-AAD8-2E7E-C62DD8024D71}"/>
                </a:ext>
              </a:extLst>
            </p:cNvPr>
            <p:cNvGrpSpPr>
              <a:grpSpLocks/>
            </p:cNvGrpSpPr>
            <p:nvPr/>
          </p:nvGrpSpPr>
          <p:grpSpPr bwMode="auto">
            <a:xfrm>
              <a:off x="2405" y="2721"/>
              <a:ext cx="1564" cy="1008"/>
              <a:chOff x="2208" y="2652"/>
              <a:chExt cx="1564" cy="1008"/>
            </a:xfrm>
          </p:grpSpPr>
          <p:grpSp>
            <p:nvGrpSpPr>
              <p:cNvPr id="8221" name="Group 86">
                <a:extLst>
                  <a:ext uri="{FF2B5EF4-FFF2-40B4-BE49-F238E27FC236}">
                    <a16:creationId xmlns:a16="http://schemas.microsoft.com/office/drawing/2014/main" id="{8A8C9724-B6C4-4CBA-0418-77EC0E4D88A3}"/>
                  </a:ext>
                </a:extLst>
              </p:cNvPr>
              <p:cNvGrpSpPr>
                <a:grpSpLocks/>
              </p:cNvGrpSpPr>
              <p:nvPr/>
            </p:nvGrpSpPr>
            <p:grpSpPr bwMode="auto">
              <a:xfrm>
                <a:off x="2496" y="2652"/>
                <a:ext cx="864" cy="864"/>
                <a:chOff x="2496" y="2652"/>
                <a:chExt cx="864" cy="864"/>
              </a:xfrm>
            </p:grpSpPr>
            <p:sp>
              <p:nvSpPr>
                <p:cNvPr id="734295" name="Oval 87">
                  <a:extLst>
                    <a:ext uri="{FF2B5EF4-FFF2-40B4-BE49-F238E27FC236}">
                      <a16:creationId xmlns:a16="http://schemas.microsoft.com/office/drawing/2014/main" id="{F8B636A4-A829-E5D4-84CB-CEA5E2ED7DB5}"/>
                    </a:ext>
                  </a:extLst>
                </p:cNvPr>
                <p:cNvSpPr>
                  <a:spLocks noChangeArrowheads="1"/>
                </p:cNvSpPr>
                <p:nvPr/>
              </p:nvSpPr>
              <p:spPr bwMode="auto">
                <a:xfrm>
                  <a:off x="2496" y="2652"/>
                  <a:ext cx="864" cy="864"/>
                </a:xfrm>
                <a:prstGeom prst="ellipse">
                  <a:avLst/>
                </a:prstGeom>
                <a:noFill/>
                <a:ln w="28575">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96" name="Oval 88">
                  <a:extLst>
                    <a:ext uri="{FF2B5EF4-FFF2-40B4-BE49-F238E27FC236}">
                      <a16:creationId xmlns:a16="http://schemas.microsoft.com/office/drawing/2014/main" id="{CC209529-3438-FF23-E5DB-6F5BA3535D9B}"/>
                    </a:ext>
                  </a:extLst>
                </p:cNvPr>
                <p:cNvSpPr>
                  <a:spLocks noChangeArrowheads="1"/>
                </p:cNvSpPr>
                <p:nvPr/>
              </p:nvSpPr>
              <p:spPr bwMode="auto">
                <a:xfrm>
                  <a:off x="2688" y="2844"/>
                  <a:ext cx="480" cy="480"/>
                </a:xfrm>
                <a:prstGeom prst="ellipse">
                  <a:avLst/>
                </a:prstGeom>
                <a:noFill/>
                <a:ln w="28575">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734297" name="Line 89">
                <a:extLst>
                  <a:ext uri="{FF2B5EF4-FFF2-40B4-BE49-F238E27FC236}">
                    <a16:creationId xmlns:a16="http://schemas.microsoft.com/office/drawing/2014/main" id="{030FD3BA-9497-DC99-3030-3C3265B170A1}"/>
                  </a:ext>
                </a:extLst>
              </p:cNvPr>
              <p:cNvSpPr>
                <a:spLocks noChangeShapeType="1"/>
              </p:cNvSpPr>
              <p:nvPr/>
            </p:nvSpPr>
            <p:spPr bwMode="auto">
              <a:xfrm>
                <a:off x="3360" y="3036"/>
                <a:ext cx="0" cy="624"/>
              </a:xfrm>
              <a:prstGeom prst="line">
                <a:avLst/>
              </a:prstGeom>
              <a:noFill/>
              <a:ln w="28575">
                <a:solidFill>
                  <a:srgbClr val="00FF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298" name="Line 90">
                <a:extLst>
                  <a:ext uri="{FF2B5EF4-FFF2-40B4-BE49-F238E27FC236}">
                    <a16:creationId xmlns:a16="http://schemas.microsoft.com/office/drawing/2014/main" id="{09CC3A4A-75FD-364C-AF43-3FAC24A14A38}"/>
                  </a:ext>
                </a:extLst>
              </p:cNvPr>
              <p:cNvSpPr>
                <a:spLocks noChangeShapeType="1"/>
              </p:cNvSpPr>
              <p:nvPr/>
            </p:nvSpPr>
            <p:spPr bwMode="auto">
              <a:xfrm>
                <a:off x="2688" y="3036"/>
                <a:ext cx="0" cy="624"/>
              </a:xfrm>
              <a:prstGeom prst="line">
                <a:avLst/>
              </a:prstGeom>
              <a:noFill/>
              <a:ln w="28575">
                <a:solidFill>
                  <a:srgbClr val="FF99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224" name="Text Box 91">
                <a:extLst>
                  <a:ext uri="{FF2B5EF4-FFF2-40B4-BE49-F238E27FC236}">
                    <a16:creationId xmlns:a16="http://schemas.microsoft.com/office/drawing/2014/main" id="{0F3BAD64-AB1A-F8EE-495D-57AF888CFDB5}"/>
                  </a:ext>
                </a:extLst>
              </p:cNvPr>
              <p:cNvSpPr txBox="1">
                <a:spLocks noChangeArrowheads="1"/>
              </p:cNvSpPr>
              <p:nvPr/>
            </p:nvSpPr>
            <p:spPr bwMode="auto">
              <a:xfrm>
                <a:off x="3408" y="3276"/>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FFFF00"/>
                    </a:solidFill>
                    <a:latin typeface="Times New Roman" panose="02020603050405020304" pitchFamily="18" charset="0"/>
                    <a:ea typeface="宋体" panose="02010600030101010101" pitchFamily="2" charset="-122"/>
                  </a:rPr>
                  <a:t>T</a:t>
                </a:r>
                <a:endParaRPr lang="en-US" altLang="zh-CN" i="1">
                  <a:solidFill>
                    <a:schemeClr val="accent2"/>
                  </a:solidFill>
                  <a:latin typeface="Times New Roman" panose="02020603050405020304" pitchFamily="18" charset="0"/>
                  <a:ea typeface="宋体" panose="02010600030101010101" pitchFamily="2" charset="-122"/>
                </a:endParaRPr>
              </a:p>
            </p:txBody>
          </p:sp>
          <p:sp>
            <p:nvSpPr>
              <p:cNvPr id="8225" name="Text Box 92">
                <a:extLst>
                  <a:ext uri="{FF2B5EF4-FFF2-40B4-BE49-F238E27FC236}">
                    <a16:creationId xmlns:a16="http://schemas.microsoft.com/office/drawing/2014/main" id="{9250C46B-3C85-3FCD-A727-B2AB5A3F16B3}"/>
                  </a:ext>
                </a:extLst>
              </p:cNvPr>
              <p:cNvSpPr txBox="1">
                <a:spLocks noChangeArrowheads="1"/>
              </p:cNvSpPr>
              <p:nvPr/>
            </p:nvSpPr>
            <p:spPr bwMode="auto">
              <a:xfrm>
                <a:off x="2208" y="3324"/>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FFFF00"/>
                    </a:solidFill>
                    <a:latin typeface="Times New Roman" panose="02020603050405020304" pitchFamily="18" charset="0"/>
                    <a:ea typeface="宋体" panose="02010600030101010101" pitchFamily="2" charset="-122"/>
                  </a:rPr>
                  <a:t>T'</a:t>
                </a:r>
                <a:endParaRPr lang="en-US" altLang="zh-CN" i="1">
                  <a:solidFill>
                    <a:schemeClr val="accent2"/>
                  </a:solidFill>
                  <a:latin typeface="Times New Roman" panose="02020603050405020304" pitchFamily="18" charset="0"/>
                  <a:ea typeface="宋体" panose="02010600030101010101" pitchFamily="2" charset="-122"/>
                </a:endParaRPr>
              </a:p>
            </p:txBody>
          </p:sp>
        </p:grpSp>
      </p:grpSp>
      <p:graphicFrame>
        <p:nvGraphicFramePr>
          <p:cNvPr id="734301" name="Object 3">
            <a:extLst>
              <a:ext uri="{FF2B5EF4-FFF2-40B4-BE49-F238E27FC236}">
                <a16:creationId xmlns:a16="http://schemas.microsoft.com/office/drawing/2014/main" id="{19F82562-BC42-FB1F-8641-3CAD44DFCF8F}"/>
              </a:ext>
            </a:extLst>
          </p:cNvPr>
          <p:cNvGraphicFramePr>
            <a:graphicFrameLocks/>
          </p:cNvGraphicFramePr>
          <p:nvPr/>
        </p:nvGraphicFramePr>
        <p:xfrm>
          <a:off x="4595813" y="5114925"/>
          <a:ext cx="241300" cy="266700"/>
        </p:xfrm>
        <a:graphic>
          <a:graphicData uri="http://schemas.openxmlformats.org/presentationml/2006/ole">
            <mc:AlternateContent xmlns:mc="http://schemas.openxmlformats.org/markup-compatibility/2006">
              <mc:Choice xmlns:v="urn:schemas-microsoft-com:vml" Requires="v">
                <p:oleObj name="公式" r:id="rId20" imgW="236376" imgH="258858" progId="Equation.3">
                  <p:embed/>
                </p:oleObj>
              </mc:Choice>
              <mc:Fallback>
                <p:oleObj name="公式" r:id="rId20" imgW="236376" imgH="258858" progId="Equation.3">
                  <p:embed/>
                  <p:pic>
                    <p:nvPicPr>
                      <p:cNvPr id="0" name="Object 3"/>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95813" y="5114925"/>
                        <a:ext cx="2413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4302" name="Object 4">
            <a:extLst>
              <a:ext uri="{FF2B5EF4-FFF2-40B4-BE49-F238E27FC236}">
                <a16:creationId xmlns:a16="http://schemas.microsoft.com/office/drawing/2014/main" id="{929414CE-53D8-C99C-AEBB-E53533ADD25A}"/>
              </a:ext>
            </a:extLst>
          </p:cNvPr>
          <p:cNvGraphicFramePr>
            <a:graphicFrameLocks/>
          </p:cNvGraphicFramePr>
          <p:nvPr/>
        </p:nvGraphicFramePr>
        <p:xfrm>
          <a:off x="3948113" y="5094288"/>
          <a:ext cx="177800" cy="190500"/>
        </p:xfrm>
        <a:graphic>
          <a:graphicData uri="http://schemas.openxmlformats.org/presentationml/2006/ole">
            <mc:AlternateContent xmlns:mc="http://schemas.openxmlformats.org/markup-compatibility/2006">
              <mc:Choice xmlns:v="urn:schemas-microsoft-com:vml" Requires="v">
                <p:oleObj name="公式" r:id="rId25" imgW="167702" imgH="183046" progId="Equation.3">
                  <p:embed/>
                </p:oleObj>
              </mc:Choice>
              <mc:Fallback>
                <p:oleObj name="公式" r:id="rId25" imgW="167702" imgH="183046" progId="Equation.3">
                  <p:embed/>
                  <p:pic>
                    <p:nvPicPr>
                      <p:cNvPr id="0" name="Object 4"/>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948113" y="5094288"/>
                        <a:ext cx="1778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4303" name="Oval 95">
            <a:extLst>
              <a:ext uri="{FF2B5EF4-FFF2-40B4-BE49-F238E27FC236}">
                <a16:creationId xmlns:a16="http://schemas.microsoft.com/office/drawing/2014/main" id="{1DF564BF-A398-94C8-1A58-AEBEC93AECA7}"/>
              </a:ext>
            </a:extLst>
          </p:cNvPr>
          <p:cNvSpPr>
            <a:spLocks noChangeArrowheads="1"/>
          </p:cNvSpPr>
          <p:nvPr/>
        </p:nvSpPr>
        <p:spPr bwMode="auto">
          <a:xfrm>
            <a:off x="1743075" y="5381625"/>
            <a:ext cx="87313" cy="87313"/>
          </a:xfrm>
          <a:prstGeom prst="ellipse">
            <a:avLst/>
          </a:prstGeom>
          <a:solidFill>
            <a:schemeClr val="bg1"/>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304" name="Oval 96">
            <a:extLst>
              <a:ext uri="{FF2B5EF4-FFF2-40B4-BE49-F238E27FC236}">
                <a16:creationId xmlns:a16="http://schemas.microsoft.com/office/drawing/2014/main" id="{B82DD8AD-42E0-A060-8BC7-95A56802C353}"/>
              </a:ext>
            </a:extLst>
          </p:cNvPr>
          <p:cNvSpPr>
            <a:spLocks noChangeArrowheads="1"/>
          </p:cNvSpPr>
          <p:nvPr/>
        </p:nvSpPr>
        <p:spPr bwMode="auto">
          <a:xfrm>
            <a:off x="4178300" y="5122863"/>
            <a:ext cx="87313" cy="87312"/>
          </a:xfrm>
          <a:prstGeom prst="ellipse">
            <a:avLst/>
          </a:prstGeom>
          <a:solidFill>
            <a:schemeClr val="bg1"/>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6" name="Group 97">
            <a:extLst>
              <a:ext uri="{FF2B5EF4-FFF2-40B4-BE49-F238E27FC236}">
                <a16:creationId xmlns:a16="http://schemas.microsoft.com/office/drawing/2014/main" id="{7A79F50D-D97F-E81D-8D0D-AD626337FDB3}"/>
              </a:ext>
            </a:extLst>
          </p:cNvPr>
          <p:cNvGrpSpPr>
            <a:grpSpLocks/>
          </p:cNvGrpSpPr>
          <p:nvPr/>
        </p:nvGrpSpPr>
        <p:grpSpPr bwMode="auto">
          <a:xfrm>
            <a:off x="6326188" y="4389438"/>
            <a:ext cx="1447800" cy="1371600"/>
            <a:chOff x="3936" y="2208"/>
            <a:chExt cx="912" cy="864"/>
          </a:xfrm>
        </p:grpSpPr>
        <p:sp>
          <p:nvSpPr>
            <p:cNvPr id="734306" name="Oval 98">
              <a:extLst>
                <a:ext uri="{FF2B5EF4-FFF2-40B4-BE49-F238E27FC236}">
                  <a16:creationId xmlns:a16="http://schemas.microsoft.com/office/drawing/2014/main" id="{6C60FFF1-293B-6E9E-D33C-509F361AE09B}"/>
                </a:ext>
              </a:extLst>
            </p:cNvPr>
            <p:cNvSpPr>
              <a:spLocks noChangeArrowheads="1"/>
            </p:cNvSpPr>
            <p:nvPr/>
          </p:nvSpPr>
          <p:spPr bwMode="auto">
            <a:xfrm>
              <a:off x="3936" y="2352"/>
              <a:ext cx="672" cy="672"/>
            </a:xfrm>
            <a:prstGeom prst="ellipse">
              <a:avLst/>
            </a:prstGeom>
            <a:noFill/>
            <a:ln w="31750">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307" name="Line 99">
              <a:extLst>
                <a:ext uri="{FF2B5EF4-FFF2-40B4-BE49-F238E27FC236}">
                  <a16:creationId xmlns:a16="http://schemas.microsoft.com/office/drawing/2014/main" id="{2F37FACA-F8A2-13CA-05ED-C5DD6E9E327D}"/>
                </a:ext>
              </a:extLst>
            </p:cNvPr>
            <p:cNvSpPr>
              <a:spLocks noChangeShapeType="1"/>
            </p:cNvSpPr>
            <p:nvPr/>
          </p:nvSpPr>
          <p:spPr bwMode="auto">
            <a:xfrm flipV="1">
              <a:off x="4176" y="2208"/>
              <a:ext cx="672" cy="144"/>
            </a:xfrm>
            <a:prstGeom prst="line">
              <a:avLst/>
            </a:prstGeom>
            <a:noFill/>
            <a:ln w="25400">
              <a:solidFill>
                <a:srgbClr val="FF00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4308" name="Line 100">
              <a:extLst>
                <a:ext uri="{FF2B5EF4-FFF2-40B4-BE49-F238E27FC236}">
                  <a16:creationId xmlns:a16="http://schemas.microsoft.com/office/drawing/2014/main" id="{796C70D0-A303-D662-5E26-FBCA691EDFF2}"/>
                </a:ext>
              </a:extLst>
            </p:cNvPr>
            <p:cNvSpPr>
              <a:spLocks noChangeShapeType="1"/>
            </p:cNvSpPr>
            <p:nvPr/>
          </p:nvSpPr>
          <p:spPr bwMode="auto">
            <a:xfrm>
              <a:off x="4608" y="2592"/>
              <a:ext cx="240" cy="480"/>
            </a:xfrm>
            <a:prstGeom prst="line">
              <a:avLst/>
            </a:prstGeom>
            <a:noFill/>
            <a:ln w="25400">
              <a:solidFill>
                <a:srgbClr val="FF00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aphicFrame>
        <p:nvGraphicFramePr>
          <p:cNvPr id="734309" name="Object 5">
            <a:extLst>
              <a:ext uri="{FF2B5EF4-FFF2-40B4-BE49-F238E27FC236}">
                <a16:creationId xmlns:a16="http://schemas.microsoft.com/office/drawing/2014/main" id="{2975B66F-4772-5EEE-1B30-3B2B9DC7A342}"/>
              </a:ext>
            </a:extLst>
          </p:cNvPr>
          <p:cNvGraphicFramePr>
            <a:graphicFrameLocks noChangeAspect="1"/>
          </p:cNvGraphicFramePr>
          <p:nvPr/>
        </p:nvGraphicFramePr>
        <p:xfrm>
          <a:off x="5743575" y="6065838"/>
          <a:ext cx="2532063" cy="609600"/>
        </p:xfrm>
        <a:graphic>
          <a:graphicData uri="http://schemas.openxmlformats.org/presentationml/2006/ole">
            <mc:AlternateContent xmlns:mc="http://schemas.openxmlformats.org/markup-compatibility/2006">
              <mc:Choice xmlns:v="urn:schemas-microsoft-com:vml" Requires="v">
                <p:oleObj name="公式" r:id="rId27" imgW="1150527" imgH="243895" progId="Equation.3">
                  <p:embed/>
                </p:oleObj>
              </mc:Choice>
              <mc:Fallback>
                <p:oleObj name="公式" r:id="rId27" imgW="1150527" imgH="243895" progId="Equation.3">
                  <p:embed/>
                  <p:pic>
                    <p:nvPicPr>
                      <p:cNvPr id="0" name="Object 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43575" y="6065838"/>
                        <a:ext cx="253206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4310" name="Text Box 102">
            <a:extLst>
              <a:ext uri="{FF2B5EF4-FFF2-40B4-BE49-F238E27FC236}">
                <a16:creationId xmlns:a16="http://schemas.microsoft.com/office/drawing/2014/main" id="{2F504A5E-CB0C-89DD-EB46-748C840FC960}"/>
              </a:ext>
            </a:extLst>
          </p:cNvPr>
          <p:cNvSpPr txBox="1">
            <a:spLocks noChangeArrowheads="1"/>
          </p:cNvSpPr>
          <p:nvPr/>
        </p:nvSpPr>
        <p:spPr bwMode="auto">
          <a:xfrm>
            <a:off x="7773988" y="4160838"/>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i="1">
                <a:solidFill>
                  <a:srgbClr val="FFFF00"/>
                </a:solidFill>
                <a:latin typeface="Times New Roman" panose="02020603050405020304" pitchFamily="18" charset="0"/>
                <a:ea typeface="楷体_GB2312" pitchFamily="49" charset="-122"/>
                <a:sym typeface="Symbol" panose="05050102010706020507" pitchFamily="18" charset="2"/>
              </a:rPr>
              <a:t>T</a:t>
            </a:r>
            <a:endParaRPr kumimoji="1" lang="en-US" altLang="zh-CN" i="1">
              <a:solidFill>
                <a:schemeClr val="accent2"/>
              </a:solidFill>
              <a:latin typeface="Times New Roman" panose="02020603050405020304" pitchFamily="18" charset="0"/>
              <a:ea typeface="楷体_GB2312" pitchFamily="49" charset="-122"/>
            </a:endParaRPr>
          </a:p>
        </p:txBody>
      </p:sp>
      <p:sp>
        <p:nvSpPr>
          <p:cNvPr id="734311" name="Text Box 103">
            <a:extLst>
              <a:ext uri="{FF2B5EF4-FFF2-40B4-BE49-F238E27FC236}">
                <a16:creationId xmlns:a16="http://schemas.microsoft.com/office/drawing/2014/main" id="{C36C7672-903E-E1E6-93B9-05D3F4821B60}"/>
              </a:ext>
            </a:extLst>
          </p:cNvPr>
          <p:cNvSpPr txBox="1">
            <a:spLocks noChangeArrowheads="1"/>
          </p:cNvSpPr>
          <p:nvPr/>
        </p:nvSpPr>
        <p:spPr bwMode="auto">
          <a:xfrm>
            <a:off x="7697788" y="5151438"/>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i="1">
                <a:solidFill>
                  <a:srgbClr val="FFFF00"/>
                </a:solidFill>
                <a:latin typeface="Times New Roman" panose="02020603050405020304" pitchFamily="18" charset="0"/>
                <a:ea typeface="楷体_GB2312" pitchFamily="49" charset="-122"/>
                <a:sym typeface="Symbol" panose="05050102010706020507" pitchFamily="18" charset="2"/>
              </a:rPr>
              <a:t>T’</a:t>
            </a:r>
            <a:endParaRPr kumimoji="1" lang="en-US" altLang="zh-CN" i="1">
              <a:solidFill>
                <a:schemeClr val="accent2"/>
              </a:solidFill>
              <a:latin typeface="Times New Roman" panose="02020603050405020304" pitchFamily="18" charset="0"/>
              <a:ea typeface="楷体_GB2312" pitchFamily="49" charset="-122"/>
            </a:endParaRPr>
          </a:p>
        </p:txBody>
      </p:sp>
      <p:grpSp>
        <p:nvGrpSpPr>
          <p:cNvPr id="17" name="Group 104">
            <a:extLst>
              <a:ext uri="{FF2B5EF4-FFF2-40B4-BE49-F238E27FC236}">
                <a16:creationId xmlns:a16="http://schemas.microsoft.com/office/drawing/2014/main" id="{BC2519A4-8774-E63F-4885-1A30806BE202}"/>
              </a:ext>
            </a:extLst>
          </p:cNvPr>
          <p:cNvGrpSpPr>
            <a:grpSpLocks/>
          </p:cNvGrpSpPr>
          <p:nvPr/>
        </p:nvGrpSpPr>
        <p:grpSpPr bwMode="auto">
          <a:xfrm>
            <a:off x="6446838" y="4694238"/>
            <a:ext cx="457200" cy="701675"/>
            <a:chOff x="4464" y="2640"/>
            <a:chExt cx="288" cy="442"/>
          </a:xfrm>
        </p:grpSpPr>
        <p:sp>
          <p:nvSpPr>
            <p:cNvPr id="734313" name="Line 105">
              <a:extLst>
                <a:ext uri="{FF2B5EF4-FFF2-40B4-BE49-F238E27FC236}">
                  <a16:creationId xmlns:a16="http://schemas.microsoft.com/office/drawing/2014/main" id="{84294AD7-87EE-4C81-18EA-9D882C85E845}"/>
                </a:ext>
              </a:extLst>
            </p:cNvPr>
            <p:cNvSpPr>
              <a:spLocks noChangeShapeType="1"/>
            </p:cNvSpPr>
            <p:nvPr/>
          </p:nvSpPr>
          <p:spPr bwMode="auto">
            <a:xfrm flipH="1" flipV="1">
              <a:off x="4512" y="2640"/>
              <a:ext cx="240" cy="336"/>
            </a:xfrm>
            <a:prstGeom prst="line">
              <a:avLst/>
            </a:prstGeom>
            <a:noFill/>
            <a:ln w="9525">
              <a:solidFill>
                <a:srgbClr val="FFFF99"/>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215" name="Object 6">
              <a:extLst>
                <a:ext uri="{FF2B5EF4-FFF2-40B4-BE49-F238E27FC236}">
                  <a16:creationId xmlns:a16="http://schemas.microsoft.com/office/drawing/2014/main" id="{B35F4ACB-DAA3-5950-4A40-EFCC3BF919D6}"/>
                </a:ext>
              </a:extLst>
            </p:cNvPr>
            <p:cNvGraphicFramePr>
              <a:graphicFrameLocks noChangeAspect="1"/>
            </p:cNvGraphicFramePr>
            <p:nvPr/>
          </p:nvGraphicFramePr>
          <p:xfrm>
            <a:off x="4464" y="2832"/>
            <a:ext cx="211" cy="250"/>
          </p:xfrm>
          <a:graphic>
            <a:graphicData uri="http://schemas.openxmlformats.org/presentationml/2006/ole">
              <mc:AlternateContent xmlns:mc="http://schemas.openxmlformats.org/markup-compatibility/2006">
                <mc:Choice xmlns:v="urn:schemas-microsoft-com:vml" Requires="v">
                  <p:oleObj name="Equation" r:id="rId29" imgW="144811" imgH="160103" progId="Equation.3">
                    <p:embed/>
                  </p:oleObj>
                </mc:Choice>
                <mc:Fallback>
                  <p:oleObj name="Equation" r:id="rId29" imgW="144811" imgH="160103" progId="Equation.3">
                    <p:embed/>
                    <p:pic>
                      <p:nvPicPr>
                        <p:cNvPr id="0" name="Object 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64" y="2832"/>
                          <a:ext cx="21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4237"/>
                                        </p:tgtEl>
                                        <p:attrNameLst>
                                          <p:attrName>style.visibility</p:attrName>
                                        </p:attrNameLst>
                                      </p:cBhvr>
                                      <p:to>
                                        <p:strVal val="visible"/>
                                      </p:to>
                                    </p:set>
                                    <p:animEffect transition="in" filter="wipe(left)">
                                      <p:cBhvr>
                                        <p:cTn id="12" dur="500"/>
                                        <p:tgtEl>
                                          <p:spTgt spid="7342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4235"/>
                                        </p:tgtEl>
                                        <p:attrNameLst>
                                          <p:attrName>style.visibility</p:attrName>
                                        </p:attrNameLst>
                                      </p:cBhvr>
                                      <p:to>
                                        <p:strVal val="visible"/>
                                      </p:to>
                                    </p:set>
                                    <p:animEffect transition="in" filter="wipe(left)">
                                      <p:cBhvr>
                                        <p:cTn id="17" dur="500"/>
                                        <p:tgtEl>
                                          <p:spTgt spid="7342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4236"/>
                                        </p:tgtEl>
                                        <p:attrNameLst>
                                          <p:attrName>style.visibility</p:attrName>
                                        </p:attrNameLst>
                                      </p:cBhvr>
                                      <p:to>
                                        <p:strVal val="visible"/>
                                      </p:to>
                                    </p:set>
                                    <p:animEffect transition="in" filter="wipe(left)">
                                      <p:cBhvr>
                                        <p:cTn id="22" dur="500"/>
                                        <p:tgtEl>
                                          <p:spTgt spid="7342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34239"/>
                                        </p:tgtEl>
                                        <p:attrNameLst>
                                          <p:attrName>style.visibility</p:attrName>
                                        </p:attrNameLst>
                                      </p:cBhvr>
                                      <p:to>
                                        <p:strVal val="visible"/>
                                      </p:to>
                                    </p:set>
                                    <p:animEffect transition="in" filter="wipe(left)">
                                      <p:cBhvr>
                                        <p:cTn id="27" dur="500"/>
                                        <p:tgtEl>
                                          <p:spTgt spid="7342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4275"/>
                                        </p:tgtEl>
                                        <p:attrNameLst>
                                          <p:attrName>style.visibility</p:attrName>
                                        </p:attrNameLst>
                                      </p:cBhvr>
                                      <p:to>
                                        <p:strVal val="visible"/>
                                      </p:to>
                                    </p:set>
                                    <p:animEffect transition="in" filter="wipe(left)">
                                      <p:cBhvr>
                                        <p:cTn id="32" dur="500"/>
                                        <p:tgtEl>
                                          <p:spTgt spid="7342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34279"/>
                                        </p:tgtEl>
                                        <p:attrNameLst>
                                          <p:attrName>style.visibility</p:attrName>
                                        </p:attrNameLst>
                                      </p:cBhvr>
                                      <p:to>
                                        <p:strVal val="visible"/>
                                      </p:to>
                                    </p:set>
                                    <p:animEffect transition="in" filter="wipe(left)">
                                      <p:cBhvr>
                                        <p:cTn id="42" dur="500"/>
                                        <p:tgtEl>
                                          <p:spTgt spid="7342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34290"/>
                                        </p:tgtEl>
                                        <p:attrNameLst>
                                          <p:attrName>style.visibility</p:attrName>
                                        </p:attrNameLst>
                                      </p:cBhvr>
                                      <p:to>
                                        <p:strVal val="visible"/>
                                      </p:to>
                                    </p:set>
                                    <p:animEffect transition="in" filter="wipe(left)">
                                      <p:cBhvr>
                                        <p:cTn id="53" dur="500"/>
                                        <p:tgtEl>
                                          <p:spTgt spid="73429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nodeType="clickEffect">
                                  <p:stCondLst>
                                    <p:cond delay="0"/>
                                  </p:stCondLst>
                                  <p:childTnLst>
                                    <p:set>
                                      <p:cBhvr>
                                        <p:cTn id="57" dur="1" fill="hold">
                                          <p:stCondLst>
                                            <p:cond delay="0"/>
                                          </p:stCondLst>
                                        </p:cTn>
                                        <p:tgtEl>
                                          <p:spTgt spid="734303"/>
                                        </p:tgtEl>
                                        <p:attrNameLst>
                                          <p:attrName>style.visibility</p:attrName>
                                        </p:attrNameLst>
                                      </p:cBhvr>
                                      <p:to>
                                        <p:strVal val="visible"/>
                                      </p:to>
                                    </p:set>
                                    <p:anim calcmode="lin" valueType="num">
                                      <p:cBhvr>
                                        <p:cTn id="58" dur="500" fill="hold"/>
                                        <p:tgtEl>
                                          <p:spTgt spid="734303"/>
                                        </p:tgtEl>
                                        <p:attrNameLst>
                                          <p:attrName>ppt_w</p:attrName>
                                        </p:attrNameLst>
                                      </p:cBhvr>
                                      <p:tavLst>
                                        <p:tav tm="0">
                                          <p:val>
                                            <p:fltVal val="0"/>
                                          </p:val>
                                        </p:tav>
                                        <p:tav tm="100000">
                                          <p:val>
                                            <p:strVal val="#ppt_w"/>
                                          </p:val>
                                        </p:tav>
                                      </p:tavLst>
                                    </p:anim>
                                    <p:anim calcmode="lin" valueType="num">
                                      <p:cBhvr>
                                        <p:cTn id="59" dur="500" fill="hold"/>
                                        <p:tgtEl>
                                          <p:spTgt spid="734303"/>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32" fill="hold"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box(out)">
                                      <p:cBhvr>
                                        <p:cTn id="64" dur="500"/>
                                        <p:tgtEl>
                                          <p:spTgt spid="1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734304"/>
                                        </p:tgtEl>
                                        <p:attrNameLst>
                                          <p:attrName>style.visibility</p:attrName>
                                        </p:attrNameLst>
                                      </p:cBhvr>
                                      <p:to>
                                        <p:strVal val="visible"/>
                                      </p:to>
                                    </p:set>
                                    <p:anim calcmode="lin" valueType="num">
                                      <p:cBhvr>
                                        <p:cTn id="69" dur="500" fill="hold"/>
                                        <p:tgtEl>
                                          <p:spTgt spid="734304"/>
                                        </p:tgtEl>
                                        <p:attrNameLst>
                                          <p:attrName>ppt_w</p:attrName>
                                        </p:attrNameLst>
                                      </p:cBhvr>
                                      <p:tavLst>
                                        <p:tav tm="0">
                                          <p:val>
                                            <p:fltVal val="0"/>
                                          </p:val>
                                        </p:tav>
                                        <p:tav tm="100000">
                                          <p:val>
                                            <p:strVal val="#ppt_w"/>
                                          </p:val>
                                        </p:tav>
                                      </p:tavLst>
                                    </p:anim>
                                    <p:anim calcmode="lin" valueType="num">
                                      <p:cBhvr>
                                        <p:cTn id="70" dur="500" fill="hold"/>
                                        <p:tgtEl>
                                          <p:spTgt spid="734304"/>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734301"/>
                                        </p:tgtEl>
                                        <p:attrNameLst>
                                          <p:attrName>style.visibility</p:attrName>
                                        </p:attrNameLst>
                                      </p:cBhvr>
                                      <p:to>
                                        <p:strVal val="visible"/>
                                      </p:to>
                                    </p:set>
                                    <p:animEffect transition="in" filter="wipe(left)">
                                      <p:cBhvr>
                                        <p:cTn id="75" dur="500"/>
                                        <p:tgtEl>
                                          <p:spTgt spid="73430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734302"/>
                                        </p:tgtEl>
                                        <p:attrNameLst>
                                          <p:attrName>style.visibility</p:attrName>
                                        </p:attrNameLst>
                                      </p:cBhvr>
                                      <p:to>
                                        <p:strVal val="visible"/>
                                      </p:to>
                                    </p:set>
                                    <p:animEffect transition="in" filter="wipe(left)">
                                      <p:cBhvr>
                                        <p:cTn id="80" dur="500"/>
                                        <p:tgtEl>
                                          <p:spTgt spid="73430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16"/>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nodeType="click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dissolve">
                                      <p:cBhvr>
                                        <p:cTn id="89" dur="500"/>
                                        <p:tgtEl>
                                          <p:spTgt spid="17"/>
                                        </p:tgtEl>
                                      </p:cBhvr>
                                    </p:animEffect>
                                  </p:childTnLst>
                                </p:cTn>
                              </p:par>
                            </p:childTnLst>
                          </p:cTn>
                        </p:par>
                        <p:par>
                          <p:cTn id="90" fill="hold" nodeType="afterGroup">
                            <p:stCondLst>
                              <p:cond delay="500"/>
                            </p:stCondLst>
                            <p:childTnLst>
                              <p:par>
                                <p:cTn id="91" presetID="1" presetClass="entr" presetSubtype="0" fill="hold" nodeType="afterEffect">
                                  <p:stCondLst>
                                    <p:cond delay="0"/>
                                  </p:stCondLst>
                                  <p:childTnLst>
                                    <p:set>
                                      <p:cBhvr>
                                        <p:cTn id="92" dur="1" fill="hold">
                                          <p:stCondLst>
                                            <p:cond delay="499"/>
                                          </p:stCondLst>
                                        </p:cTn>
                                        <p:tgtEl>
                                          <p:spTgt spid="734310">
                                            <p:txEl>
                                              <p:pRg st="0" end="0"/>
                                            </p:txEl>
                                          </p:spTgt>
                                        </p:tgtEl>
                                        <p:attrNameLst>
                                          <p:attrName>style.visibility</p:attrName>
                                        </p:attrNameLst>
                                      </p:cBhvr>
                                      <p:to>
                                        <p:strVal val="visible"/>
                                      </p:to>
                                    </p:set>
                                  </p:childTnLst>
                                </p:cTn>
                              </p:par>
                            </p:childTnLst>
                          </p:cTn>
                        </p:par>
                        <p:par>
                          <p:cTn id="93" fill="hold" nodeType="afterGroup">
                            <p:stCondLst>
                              <p:cond delay="1000"/>
                            </p:stCondLst>
                            <p:childTnLst>
                              <p:par>
                                <p:cTn id="94" presetID="1" presetClass="entr" presetSubtype="0" fill="hold" nodeType="afterEffect">
                                  <p:stCondLst>
                                    <p:cond delay="0"/>
                                  </p:stCondLst>
                                  <p:childTnLst>
                                    <p:set>
                                      <p:cBhvr>
                                        <p:cTn id="95" dur="1" fill="hold">
                                          <p:stCondLst>
                                            <p:cond delay="499"/>
                                          </p:stCondLst>
                                        </p:cTn>
                                        <p:tgtEl>
                                          <p:spTgt spid="734311">
                                            <p:txEl>
                                              <p:pRg st="0" end="0"/>
                                            </p:txEl>
                                          </p:spTgt>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nodeType="clickEffect">
                                  <p:stCondLst>
                                    <p:cond delay="0"/>
                                  </p:stCondLst>
                                  <p:childTnLst>
                                    <p:set>
                                      <p:cBhvr>
                                        <p:cTn id="99" dur="1" fill="hold">
                                          <p:stCondLst>
                                            <p:cond delay="499"/>
                                          </p:stCondLst>
                                        </p:cTn>
                                        <p:tgtEl>
                                          <p:spTgt spid="734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4235" grpId="0" autoUpdateAnimBg="0"/>
      <p:bldP spid="734236" grpId="0" animBg="1"/>
      <p:bldP spid="734237" grpId="0" autoUpdateAnimBg="0"/>
      <p:bldP spid="734239" grpId="0" autoUpdateAnimBg="0"/>
      <p:bldP spid="734279" grpId="0" autoUpdateAnimBg="0"/>
      <p:bldP spid="734303" grpId="0" animBg="1"/>
      <p:bldP spid="734304" grpId="0" animBg="1"/>
      <p:bldP spid="734310" grpId="0" build="p" autoUpdateAnimBg="0" advAuto="0"/>
      <p:bldP spid="734311"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364932A-43B7-5AB1-5B59-97121A8002BD}"/>
              </a:ext>
            </a:extLst>
          </p:cNvPr>
          <p:cNvGrpSpPr>
            <a:grpSpLocks/>
          </p:cNvGrpSpPr>
          <p:nvPr/>
        </p:nvGrpSpPr>
        <p:grpSpPr bwMode="auto">
          <a:xfrm>
            <a:off x="5443538" y="560388"/>
            <a:ext cx="3352800" cy="2214562"/>
            <a:chOff x="3451" y="468"/>
            <a:chExt cx="2112" cy="1395"/>
          </a:xfrm>
        </p:grpSpPr>
        <p:grpSp>
          <p:nvGrpSpPr>
            <p:cNvPr id="9238" name="Group 3">
              <a:extLst>
                <a:ext uri="{FF2B5EF4-FFF2-40B4-BE49-F238E27FC236}">
                  <a16:creationId xmlns:a16="http://schemas.microsoft.com/office/drawing/2014/main" id="{1E01C173-8F44-55EF-9E7A-D8CCD9671CF2}"/>
                </a:ext>
              </a:extLst>
            </p:cNvPr>
            <p:cNvGrpSpPr>
              <a:grpSpLocks/>
            </p:cNvGrpSpPr>
            <p:nvPr/>
          </p:nvGrpSpPr>
          <p:grpSpPr bwMode="auto">
            <a:xfrm>
              <a:off x="3451" y="596"/>
              <a:ext cx="2112" cy="1267"/>
              <a:chOff x="3451" y="596"/>
              <a:chExt cx="2112" cy="1267"/>
            </a:xfrm>
          </p:grpSpPr>
          <p:sp>
            <p:nvSpPr>
              <p:cNvPr id="9240" name="Text Box 4">
                <a:extLst>
                  <a:ext uri="{FF2B5EF4-FFF2-40B4-BE49-F238E27FC236}">
                    <a16:creationId xmlns:a16="http://schemas.microsoft.com/office/drawing/2014/main" id="{E2C18E8F-AC05-F19D-36A9-6F472DA50B47}"/>
                  </a:ext>
                </a:extLst>
              </p:cNvPr>
              <p:cNvSpPr txBox="1">
                <a:spLocks noChangeArrowheads="1"/>
              </p:cNvSpPr>
              <p:nvPr/>
            </p:nvSpPr>
            <p:spPr bwMode="auto">
              <a:xfrm>
                <a:off x="5275" y="1239"/>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6869" name="Line 5">
                <a:extLst>
                  <a:ext uri="{FF2B5EF4-FFF2-40B4-BE49-F238E27FC236}">
                    <a16:creationId xmlns:a16="http://schemas.microsoft.com/office/drawing/2014/main" id="{EAD0A873-F890-3CB5-F3FE-2BFB4FD43950}"/>
                  </a:ext>
                </a:extLst>
              </p:cNvPr>
              <p:cNvSpPr>
                <a:spLocks noChangeShapeType="1"/>
              </p:cNvSpPr>
              <p:nvPr/>
            </p:nvSpPr>
            <p:spPr bwMode="auto">
              <a:xfrm>
                <a:off x="3787" y="615"/>
                <a:ext cx="0" cy="1248"/>
              </a:xfrm>
              <a:prstGeom prst="line">
                <a:avLst/>
              </a:prstGeom>
              <a:noFill/>
              <a:ln w="28575">
                <a:solidFill>
                  <a:schemeClr val="bg1"/>
                </a:solidFill>
                <a:round/>
                <a:headEnd type="triangle" w="med" len="me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6870" name="Rectangle 6">
                <a:extLst>
                  <a:ext uri="{FF2B5EF4-FFF2-40B4-BE49-F238E27FC236}">
                    <a16:creationId xmlns:a16="http://schemas.microsoft.com/office/drawing/2014/main" id="{1E27CDC4-077C-5D4D-ED73-8AA6CA86E533}"/>
                  </a:ext>
                </a:extLst>
              </p:cNvPr>
              <p:cNvSpPr>
                <a:spLocks noChangeArrowheads="1"/>
              </p:cNvSpPr>
              <p:nvPr/>
            </p:nvSpPr>
            <p:spPr bwMode="auto">
              <a:xfrm>
                <a:off x="3787" y="1335"/>
                <a:ext cx="1440" cy="96"/>
              </a:xfrm>
              <a:prstGeom prst="rect">
                <a:avLst/>
              </a:prstGeom>
              <a:solidFill>
                <a:schemeClr val="accent1"/>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9243" name="Text Box 7">
                <a:extLst>
                  <a:ext uri="{FF2B5EF4-FFF2-40B4-BE49-F238E27FC236}">
                    <a16:creationId xmlns:a16="http://schemas.microsoft.com/office/drawing/2014/main" id="{CF8FE9E4-ADB0-CAA4-DAAC-ED39D81646CD}"/>
                  </a:ext>
                </a:extLst>
              </p:cNvPr>
              <p:cNvSpPr txBox="1">
                <a:spLocks noChangeArrowheads="1"/>
              </p:cNvSpPr>
              <p:nvPr/>
            </p:nvSpPr>
            <p:spPr bwMode="auto">
              <a:xfrm>
                <a:off x="4411" y="999"/>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accent1"/>
                    </a:solidFill>
                    <a:latin typeface="Times New Roman" panose="02020603050405020304" pitchFamily="18" charset="0"/>
                    <a:ea typeface="宋体" panose="02010600030101010101" pitchFamily="2" charset="-122"/>
                  </a:rPr>
                  <a:t>L</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9244" name="Text Box 8">
                <a:extLst>
                  <a:ext uri="{FF2B5EF4-FFF2-40B4-BE49-F238E27FC236}">
                    <a16:creationId xmlns:a16="http://schemas.microsoft.com/office/drawing/2014/main" id="{970E46B3-22AA-5DA6-CECF-F4F0BAF761E7}"/>
                  </a:ext>
                </a:extLst>
              </p:cNvPr>
              <p:cNvSpPr txBox="1">
                <a:spLocks noChangeArrowheads="1"/>
              </p:cNvSpPr>
              <p:nvPr/>
            </p:nvSpPr>
            <p:spPr bwMode="auto">
              <a:xfrm>
                <a:off x="3748" y="5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i="1">
                  <a:solidFill>
                    <a:srgbClr val="FFFF00"/>
                  </a:solidFill>
                  <a:latin typeface="Times New Roman" panose="02020603050405020304" pitchFamily="18" charset="0"/>
                  <a:ea typeface="宋体" panose="02010600030101010101" pitchFamily="2" charset="-122"/>
                </a:endParaRPr>
              </a:p>
            </p:txBody>
          </p:sp>
          <p:sp>
            <p:nvSpPr>
              <p:cNvPr id="9245" name="Text Box 9">
                <a:extLst>
                  <a:ext uri="{FF2B5EF4-FFF2-40B4-BE49-F238E27FC236}">
                    <a16:creationId xmlns:a16="http://schemas.microsoft.com/office/drawing/2014/main" id="{3778E8E4-A3D3-6879-5C35-668520FF6127}"/>
                  </a:ext>
                </a:extLst>
              </p:cNvPr>
              <p:cNvSpPr txBox="1">
                <a:spLocks noChangeArrowheads="1"/>
              </p:cNvSpPr>
              <p:nvPr/>
            </p:nvSpPr>
            <p:spPr bwMode="auto">
              <a:xfrm>
                <a:off x="3451" y="1335"/>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O</a:t>
                </a:r>
                <a:endParaRPr lang="en-US" altLang="zh-CN" sz="2800" b="0" i="1">
                  <a:solidFill>
                    <a:schemeClr val="accent2"/>
                  </a:solidFill>
                  <a:latin typeface="Times New Roman" panose="02020603050405020304" pitchFamily="18" charset="0"/>
                  <a:ea typeface="宋体" panose="02010600030101010101" pitchFamily="2" charset="-122"/>
                </a:endParaRPr>
              </a:p>
            </p:txBody>
          </p:sp>
          <p:sp>
            <p:nvSpPr>
              <p:cNvPr id="676874" name="Line 10">
                <a:extLst>
                  <a:ext uri="{FF2B5EF4-FFF2-40B4-BE49-F238E27FC236}">
                    <a16:creationId xmlns:a16="http://schemas.microsoft.com/office/drawing/2014/main" id="{8A8C46F3-3C21-E5B4-4757-365B96F2C8D2}"/>
                  </a:ext>
                </a:extLst>
              </p:cNvPr>
              <p:cNvSpPr>
                <a:spLocks noChangeShapeType="1"/>
              </p:cNvSpPr>
              <p:nvPr/>
            </p:nvSpPr>
            <p:spPr bwMode="auto">
              <a:xfrm>
                <a:off x="3787" y="1527"/>
                <a:ext cx="1728" cy="0"/>
              </a:xfrm>
              <a:prstGeom prst="line">
                <a:avLst/>
              </a:prstGeom>
              <a:noFill/>
              <a:ln w="28575">
                <a:solidFill>
                  <a:schemeClr val="bg1"/>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9247" name="Text Box 11">
                <a:extLst>
                  <a:ext uri="{FF2B5EF4-FFF2-40B4-BE49-F238E27FC236}">
                    <a16:creationId xmlns:a16="http://schemas.microsoft.com/office/drawing/2014/main" id="{D0F340E3-C614-CD49-C907-60EAE6DC37A3}"/>
                  </a:ext>
                </a:extLst>
              </p:cNvPr>
              <p:cNvSpPr txBox="1">
                <a:spLocks noChangeArrowheads="1"/>
              </p:cNvSpPr>
              <p:nvPr/>
            </p:nvSpPr>
            <p:spPr bwMode="auto">
              <a:xfrm>
                <a:off x="4075" y="999"/>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accent1"/>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6876" name="Arc 12">
                <a:extLst>
                  <a:ext uri="{FF2B5EF4-FFF2-40B4-BE49-F238E27FC236}">
                    <a16:creationId xmlns:a16="http://schemas.microsoft.com/office/drawing/2014/main" id="{722213D0-9365-E513-029C-1C568A9A6A7F}"/>
                  </a:ext>
                </a:extLst>
              </p:cNvPr>
              <p:cNvSpPr>
                <a:spLocks/>
              </p:cNvSpPr>
              <p:nvPr/>
            </p:nvSpPr>
            <p:spPr bwMode="auto">
              <a:xfrm rot="107392" flipH="1">
                <a:off x="3658" y="979"/>
                <a:ext cx="256" cy="122"/>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9239" name="Text Box 13">
              <a:extLst>
                <a:ext uri="{FF2B5EF4-FFF2-40B4-BE49-F238E27FC236}">
                  <a16:creationId xmlns:a16="http://schemas.microsoft.com/office/drawing/2014/main" id="{F1CB4907-8BDB-C1FE-5AE9-596138217120}"/>
                </a:ext>
              </a:extLst>
            </p:cNvPr>
            <p:cNvSpPr txBox="1">
              <a:spLocks noChangeArrowheads="1"/>
            </p:cNvSpPr>
            <p:nvPr/>
          </p:nvSpPr>
          <p:spPr bwMode="auto">
            <a:xfrm>
              <a:off x="3574" y="46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y</a:t>
              </a:r>
              <a:endParaRPr lang="en-US" altLang="zh-CN" b="0" i="1">
                <a:solidFill>
                  <a:schemeClr val="accent2"/>
                </a:solidFill>
                <a:latin typeface="Times New Roman" panose="02020603050405020304" pitchFamily="18" charset="0"/>
                <a:ea typeface="宋体" panose="02010600030101010101" pitchFamily="2" charset="-122"/>
              </a:endParaRPr>
            </a:p>
          </p:txBody>
        </p:sp>
      </p:grpSp>
      <p:sp>
        <p:nvSpPr>
          <p:cNvPr id="676878" name="Text Box 14">
            <a:extLst>
              <a:ext uri="{FF2B5EF4-FFF2-40B4-BE49-F238E27FC236}">
                <a16:creationId xmlns:a16="http://schemas.microsoft.com/office/drawing/2014/main" id="{E3540CE9-6173-F08D-820B-01C5D89091ED}"/>
              </a:ext>
            </a:extLst>
          </p:cNvPr>
          <p:cNvSpPr txBox="1">
            <a:spLocks noChangeArrowheads="1"/>
          </p:cNvSpPr>
          <p:nvPr/>
        </p:nvSpPr>
        <p:spPr bwMode="auto">
          <a:xfrm>
            <a:off x="215900" y="1809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a:solidFill>
                  <a:srgbClr val="FFFF00"/>
                </a:solidFill>
                <a:latin typeface="宋体" panose="02010600030101010101" pitchFamily="2" charset="-122"/>
                <a:ea typeface="宋体" panose="02010600030101010101" pitchFamily="2" charset="-122"/>
              </a:rPr>
              <a:t>例</a:t>
            </a:r>
            <a:endParaRPr lang="zh-CN" altLang="en-US" b="0">
              <a:solidFill>
                <a:srgbClr val="00FF00"/>
              </a:solidFill>
              <a:latin typeface="Times New Roman" panose="02020603050405020304" pitchFamily="18" charset="0"/>
              <a:ea typeface="宋体" panose="02010600030101010101" pitchFamily="2" charset="-122"/>
            </a:endParaRPr>
          </a:p>
        </p:txBody>
      </p:sp>
      <p:sp>
        <p:nvSpPr>
          <p:cNvPr id="676879" name="Text Box 15">
            <a:extLst>
              <a:ext uri="{FF2B5EF4-FFF2-40B4-BE49-F238E27FC236}">
                <a16:creationId xmlns:a16="http://schemas.microsoft.com/office/drawing/2014/main" id="{D98930C5-7C6D-B5BD-B41F-A1B9C7B3B08B}"/>
              </a:ext>
            </a:extLst>
          </p:cNvPr>
          <p:cNvSpPr txBox="1">
            <a:spLocks noChangeArrowheads="1"/>
          </p:cNvSpPr>
          <p:nvPr/>
        </p:nvSpPr>
        <p:spPr bwMode="auto">
          <a:xfrm>
            <a:off x="576263" y="115888"/>
            <a:ext cx="8459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defTabSz="249238">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defTabSz="249238">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defTabSz="249238">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defTabSz="249238">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defTabSz="249238">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defTabSz="249238"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249238"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249238"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249238"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a:latin typeface="Times New Roman" panose="02020603050405020304" pitchFamily="18" charset="0"/>
                <a:ea typeface="宋体" panose="02010600030101010101" pitchFamily="2" charset="-122"/>
              </a:rPr>
              <a:t>已知棒长 </a:t>
            </a:r>
            <a:r>
              <a:rPr lang="en-US" altLang="zh-CN" i="1">
                <a:solidFill>
                  <a:srgbClr val="66FFFF"/>
                </a:solidFill>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质量 </a:t>
            </a:r>
            <a:r>
              <a:rPr lang="en-US" altLang="zh-CN" i="1">
                <a:solidFill>
                  <a:srgbClr val="66FFFF"/>
                </a:solidFill>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，在摩擦系数为</a:t>
            </a:r>
            <a:r>
              <a:rPr lang="zh-CN" altLang="en-US">
                <a:solidFill>
                  <a:srgbClr val="66FFFF"/>
                </a:solidFill>
                <a:latin typeface="Times New Roman" panose="02020603050405020304" pitchFamily="18" charset="0"/>
                <a:ea typeface="宋体" panose="02010600030101010101" pitchFamily="2" charset="-122"/>
              </a:rPr>
              <a:t>  </a:t>
            </a:r>
            <a:r>
              <a:rPr lang="zh-CN" altLang="en-US" i="1">
                <a:solidFill>
                  <a:srgbClr val="66FFFF"/>
                </a:solidFill>
                <a:latin typeface="Times New Roman" panose="02020603050405020304" pitchFamily="18" charset="0"/>
                <a:ea typeface="宋体" panose="02010600030101010101" pitchFamily="2" charset="-122"/>
                <a:sym typeface="Symbol" panose="05050102010706020507" pitchFamily="18" charset="2"/>
              </a:rPr>
              <a:t> </a:t>
            </a:r>
            <a:r>
              <a:rPr lang="zh-CN" altLang="en-US">
                <a:solidFill>
                  <a:srgbClr val="66FFFF"/>
                </a:solidFill>
                <a:latin typeface="Times New Roman" panose="02020603050405020304" pitchFamily="18" charset="0"/>
                <a:ea typeface="宋体" panose="02010600030101010101" pitchFamily="2" charset="-122"/>
                <a:sym typeface="Symbol" panose="05050102010706020507" pitchFamily="18" charset="2"/>
              </a:rPr>
              <a:t> </a:t>
            </a:r>
            <a:r>
              <a:rPr lang="zh-CN" altLang="en-US">
                <a:latin typeface="Times New Roman" panose="02020603050405020304" pitchFamily="18" charset="0"/>
                <a:ea typeface="宋体" panose="02010600030101010101" pitchFamily="2" charset="-122"/>
                <a:sym typeface="Symbol" panose="05050102010706020507" pitchFamily="18" charset="2"/>
              </a:rPr>
              <a:t>的水平桌面转动 </a:t>
            </a:r>
            <a:r>
              <a:rPr lang="en-US" altLang="zh-CN" sz="2000">
                <a:latin typeface="楷体_GB2312" pitchFamily="49" charset="-122"/>
                <a:ea typeface="楷体_GB2312" pitchFamily="49" charset="-122"/>
                <a:sym typeface="Symbol" panose="05050102010706020507" pitchFamily="18" charset="2"/>
              </a:rPr>
              <a:t>(</a:t>
            </a:r>
            <a:r>
              <a:rPr lang="zh-CN" altLang="en-US" sz="2000">
                <a:latin typeface="楷体_GB2312" pitchFamily="49" charset="-122"/>
                <a:ea typeface="楷体_GB2312" pitchFamily="49" charset="-122"/>
                <a:sym typeface="Symbol" panose="05050102010706020507" pitchFamily="18" charset="2"/>
              </a:rPr>
              <a:t>如图</a:t>
            </a:r>
            <a:r>
              <a:rPr lang="en-US" altLang="zh-CN" sz="2000">
                <a:latin typeface="楷体_GB2312" pitchFamily="49" charset="-122"/>
                <a:ea typeface="楷体_GB2312" pitchFamily="49" charset="-122"/>
                <a:sym typeface="Symbol" panose="05050102010706020507" pitchFamily="18" charset="2"/>
              </a:rPr>
              <a:t>)</a:t>
            </a:r>
            <a:endParaRPr lang="en-US" altLang="zh-CN" sz="2000">
              <a:latin typeface="楷体_GB2312" pitchFamily="49" charset="-122"/>
              <a:ea typeface="楷体_GB2312" pitchFamily="49" charset="-122"/>
            </a:endParaRPr>
          </a:p>
        </p:txBody>
      </p:sp>
      <p:sp>
        <p:nvSpPr>
          <p:cNvPr id="676880" name="Rectangle 16">
            <a:extLst>
              <a:ext uri="{FF2B5EF4-FFF2-40B4-BE49-F238E27FC236}">
                <a16:creationId xmlns:a16="http://schemas.microsoft.com/office/drawing/2014/main" id="{C6520B40-DDF3-8D00-6E90-419E3D0C584A}"/>
              </a:ext>
            </a:extLst>
          </p:cNvPr>
          <p:cNvSpPr>
            <a:spLocks noChangeArrowheads="1"/>
          </p:cNvSpPr>
          <p:nvPr/>
        </p:nvSpPr>
        <p:spPr bwMode="auto">
          <a:xfrm>
            <a:off x="250825" y="13493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解</a:t>
            </a:r>
          </a:p>
        </p:txBody>
      </p:sp>
      <p:graphicFrame>
        <p:nvGraphicFramePr>
          <p:cNvPr id="676881" name="Object 2">
            <a:extLst>
              <a:ext uri="{FF2B5EF4-FFF2-40B4-BE49-F238E27FC236}">
                <a16:creationId xmlns:a16="http://schemas.microsoft.com/office/drawing/2014/main" id="{FB1EFF46-6C37-7A0C-11AF-65ABC6EE72B4}"/>
              </a:ext>
            </a:extLst>
          </p:cNvPr>
          <p:cNvGraphicFramePr>
            <a:graphicFrameLocks/>
          </p:cNvGraphicFramePr>
          <p:nvPr/>
        </p:nvGraphicFramePr>
        <p:xfrm>
          <a:off x="1154113" y="1370013"/>
          <a:ext cx="1508125" cy="865187"/>
        </p:xfrm>
        <a:graphic>
          <a:graphicData uri="http://schemas.openxmlformats.org/presentationml/2006/ole">
            <mc:AlternateContent xmlns:mc="http://schemas.openxmlformats.org/markup-compatibility/2006">
              <mc:Choice xmlns:v="urn:schemas-microsoft-com:vml" Requires="v">
                <p:oleObj name="公式" r:id="rId2" imgW="678273" imgH="388537" progId="Equation.3">
                  <p:embed/>
                </p:oleObj>
              </mc:Choice>
              <mc:Fallback>
                <p:oleObj name="公式" r:id="rId2" imgW="678273" imgH="388537"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113" y="1370013"/>
                        <a:ext cx="1508125" cy="865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882" name="Object 3">
            <a:extLst>
              <a:ext uri="{FF2B5EF4-FFF2-40B4-BE49-F238E27FC236}">
                <a16:creationId xmlns:a16="http://schemas.microsoft.com/office/drawing/2014/main" id="{7F73B0F1-1A86-0387-D4E4-3E070D7AD99E}"/>
              </a:ext>
            </a:extLst>
          </p:cNvPr>
          <p:cNvGraphicFramePr>
            <a:graphicFrameLocks/>
          </p:cNvGraphicFramePr>
          <p:nvPr/>
        </p:nvGraphicFramePr>
        <p:xfrm>
          <a:off x="1214438" y="2351088"/>
          <a:ext cx="1758950" cy="446087"/>
        </p:xfrm>
        <a:graphic>
          <a:graphicData uri="http://schemas.openxmlformats.org/presentationml/2006/ole">
            <mc:AlternateContent xmlns:mc="http://schemas.openxmlformats.org/markup-compatibility/2006">
              <mc:Choice xmlns:v="urn:schemas-microsoft-com:vml" Requires="v">
                <p:oleObj name="公式" r:id="rId4" imgW="792729" imgH="198009" progId="Equation.3">
                  <p:embed/>
                </p:oleObj>
              </mc:Choice>
              <mc:Fallback>
                <p:oleObj name="公式" r:id="rId4" imgW="792729" imgH="198009"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2351088"/>
                        <a:ext cx="175895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883" name="Text Box 19">
            <a:extLst>
              <a:ext uri="{FF2B5EF4-FFF2-40B4-BE49-F238E27FC236}">
                <a16:creationId xmlns:a16="http://schemas.microsoft.com/office/drawing/2014/main" id="{750F575F-41DC-9AFD-5C24-4261179E185F}"/>
              </a:ext>
            </a:extLst>
          </p:cNvPr>
          <p:cNvSpPr txBox="1">
            <a:spLocks noChangeArrowheads="1"/>
          </p:cNvSpPr>
          <p:nvPr/>
        </p:nvSpPr>
        <p:spPr bwMode="auto">
          <a:xfrm>
            <a:off x="871538" y="3151188"/>
            <a:ext cx="181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根据力矩</a:t>
            </a:r>
            <a:endParaRPr lang="zh-CN" altLang="en-US" b="0">
              <a:latin typeface="Times New Roman" panose="02020603050405020304" pitchFamily="18" charset="0"/>
              <a:ea typeface="宋体" panose="02010600030101010101" pitchFamily="2" charset="-122"/>
            </a:endParaRPr>
          </a:p>
        </p:txBody>
      </p:sp>
      <p:graphicFrame>
        <p:nvGraphicFramePr>
          <p:cNvPr id="676884" name="Object 4">
            <a:extLst>
              <a:ext uri="{FF2B5EF4-FFF2-40B4-BE49-F238E27FC236}">
                <a16:creationId xmlns:a16="http://schemas.microsoft.com/office/drawing/2014/main" id="{F6D66C9D-3657-ECB4-D919-DD8BF067DCA8}"/>
              </a:ext>
            </a:extLst>
          </p:cNvPr>
          <p:cNvGraphicFramePr>
            <a:graphicFrameLocks/>
          </p:cNvGraphicFramePr>
          <p:nvPr/>
        </p:nvGraphicFramePr>
        <p:xfrm>
          <a:off x="2667000" y="3043238"/>
          <a:ext cx="2514600" cy="865187"/>
        </p:xfrm>
        <a:graphic>
          <a:graphicData uri="http://schemas.openxmlformats.org/presentationml/2006/ole">
            <mc:AlternateContent xmlns:mc="http://schemas.openxmlformats.org/markup-compatibility/2006">
              <mc:Choice xmlns:v="urn:schemas-microsoft-com:vml" Requires="v">
                <p:oleObj name="公式" r:id="rId6" imgW="1135598" imgH="388537" progId="Equation.3">
                  <p:embed/>
                </p:oleObj>
              </mc:Choice>
              <mc:Fallback>
                <p:oleObj name="公式" r:id="rId6" imgW="1135598" imgH="388537"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0" y="3043238"/>
                        <a:ext cx="2514600" cy="865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885" name="Object 5">
            <a:extLst>
              <a:ext uri="{FF2B5EF4-FFF2-40B4-BE49-F238E27FC236}">
                <a16:creationId xmlns:a16="http://schemas.microsoft.com/office/drawing/2014/main" id="{6AF5DC6F-3616-210F-2CB1-9AE571AB0523}"/>
              </a:ext>
            </a:extLst>
          </p:cNvPr>
          <p:cNvGraphicFramePr>
            <a:graphicFrameLocks/>
          </p:cNvGraphicFramePr>
          <p:nvPr/>
        </p:nvGraphicFramePr>
        <p:xfrm>
          <a:off x="1071563" y="4035425"/>
          <a:ext cx="4357687" cy="865188"/>
        </p:xfrm>
        <a:graphic>
          <a:graphicData uri="http://schemas.openxmlformats.org/presentationml/2006/ole">
            <mc:AlternateContent xmlns:mc="http://schemas.openxmlformats.org/markup-compatibility/2006">
              <mc:Choice xmlns:v="urn:schemas-microsoft-com:vml" Requires="v">
                <p:oleObj name="公式" r:id="rId8" imgW="1973611" imgH="388537" progId="Equation.3">
                  <p:embed/>
                </p:oleObj>
              </mc:Choice>
              <mc:Fallback>
                <p:oleObj name="公式" r:id="rId8" imgW="1973611" imgH="388537"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1563" y="4035425"/>
                        <a:ext cx="4357687"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22">
            <a:extLst>
              <a:ext uri="{FF2B5EF4-FFF2-40B4-BE49-F238E27FC236}">
                <a16:creationId xmlns:a16="http://schemas.microsoft.com/office/drawing/2014/main" id="{96B78F39-1D26-6A06-D4C9-21BFE358696E}"/>
              </a:ext>
            </a:extLst>
          </p:cNvPr>
          <p:cNvGrpSpPr>
            <a:grpSpLocks/>
          </p:cNvGrpSpPr>
          <p:nvPr/>
        </p:nvGrpSpPr>
        <p:grpSpPr bwMode="auto">
          <a:xfrm>
            <a:off x="5984875" y="2074863"/>
            <a:ext cx="1524000" cy="595312"/>
            <a:chOff x="3984" y="2688"/>
            <a:chExt cx="960" cy="375"/>
          </a:xfrm>
        </p:grpSpPr>
        <p:sp>
          <p:nvSpPr>
            <p:cNvPr id="676887" name="Line 23">
              <a:extLst>
                <a:ext uri="{FF2B5EF4-FFF2-40B4-BE49-F238E27FC236}">
                  <a16:creationId xmlns:a16="http://schemas.microsoft.com/office/drawing/2014/main" id="{6EA92249-EE1F-164F-9AD9-76D8F13A263F}"/>
                </a:ext>
              </a:extLst>
            </p:cNvPr>
            <p:cNvSpPr>
              <a:spLocks noChangeShapeType="1"/>
            </p:cNvSpPr>
            <p:nvPr/>
          </p:nvSpPr>
          <p:spPr bwMode="auto">
            <a:xfrm>
              <a:off x="4560" y="2688"/>
              <a:ext cx="0" cy="336"/>
            </a:xfrm>
            <a:prstGeom prst="line">
              <a:avLst/>
            </a:prstGeom>
            <a:noFill/>
            <a:ln w="1905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6888" name="Line 24">
              <a:extLst>
                <a:ext uri="{FF2B5EF4-FFF2-40B4-BE49-F238E27FC236}">
                  <a16:creationId xmlns:a16="http://schemas.microsoft.com/office/drawing/2014/main" id="{C373CA35-A208-9047-C753-5737905E2D8C}"/>
                </a:ext>
              </a:extLst>
            </p:cNvPr>
            <p:cNvSpPr>
              <a:spLocks noChangeShapeType="1"/>
            </p:cNvSpPr>
            <p:nvPr/>
          </p:nvSpPr>
          <p:spPr bwMode="auto">
            <a:xfrm>
              <a:off x="4752" y="2688"/>
              <a:ext cx="0" cy="336"/>
            </a:xfrm>
            <a:prstGeom prst="line">
              <a:avLst/>
            </a:prstGeom>
            <a:noFill/>
            <a:ln w="1905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9234" name="Rectangle 25">
              <a:extLst>
                <a:ext uri="{FF2B5EF4-FFF2-40B4-BE49-F238E27FC236}">
                  <a16:creationId xmlns:a16="http://schemas.microsoft.com/office/drawing/2014/main" id="{035789EB-B297-83C0-31B8-2B075A17750A}"/>
                </a:ext>
              </a:extLst>
            </p:cNvPr>
            <p:cNvSpPr>
              <a:spLocks noChangeArrowheads="1"/>
            </p:cNvSpPr>
            <p:nvPr/>
          </p:nvSpPr>
          <p:spPr bwMode="auto">
            <a:xfrm>
              <a:off x="4182" y="2736"/>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x</a:t>
              </a:r>
            </a:p>
          </p:txBody>
        </p:sp>
        <p:sp>
          <p:nvSpPr>
            <p:cNvPr id="676890" name="Line 26">
              <a:extLst>
                <a:ext uri="{FF2B5EF4-FFF2-40B4-BE49-F238E27FC236}">
                  <a16:creationId xmlns:a16="http://schemas.microsoft.com/office/drawing/2014/main" id="{7F0BF111-DB19-39A4-E96D-5947954A0A8A}"/>
                </a:ext>
              </a:extLst>
            </p:cNvPr>
            <p:cNvSpPr>
              <a:spLocks noChangeShapeType="1"/>
            </p:cNvSpPr>
            <p:nvPr/>
          </p:nvSpPr>
          <p:spPr bwMode="auto">
            <a:xfrm flipH="1">
              <a:off x="3984" y="2928"/>
              <a:ext cx="192" cy="0"/>
            </a:xfrm>
            <a:prstGeom prst="line">
              <a:avLst/>
            </a:prstGeom>
            <a:noFill/>
            <a:ln w="19050">
              <a:solidFill>
                <a:srgbClr val="00FF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6891" name="Line 27">
              <a:extLst>
                <a:ext uri="{FF2B5EF4-FFF2-40B4-BE49-F238E27FC236}">
                  <a16:creationId xmlns:a16="http://schemas.microsoft.com/office/drawing/2014/main" id="{B8A310D1-F5D7-DB35-511B-05906E7889A9}"/>
                </a:ext>
              </a:extLst>
            </p:cNvPr>
            <p:cNvSpPr>
              <a:spLocks noChangeShapeType="1"/>
            </p:cNvSpPr>
            <p:nvPr/>
          </p:nvSpPr>
          <p:spPr bwMode="auto">
            <a:xfrm>
              <a:off x="4368" y="2928"/>
              <a:ext cx="192" cy="0"/>
            </a:xfrm>
            <a:prstGeom prst="line">
              <a:avLst/>
            </a:prstGeom>
            <a:noFill/>
            <a:ln w="19050">
              <a:solidFill>
                <a:srgbClr val="00FF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6892" name="Line 28">
              <a:extLst>
                <a:ext uri="{FF2B5EF4-FFF2-40B4-BE49-F238E27FC236}">
                  <a16:creationId xmlns:a16="http://schemas.microsoft.com/office/drawing/2014/main" id="{99599259-F58B-C9E0-A73F-9FB00032D679}"/>
                </a:ext>
              </a:extLst>
            </p:cNvPr>
            <p:cNvSpPr>
              <a:spLocks noChangeShapeType="1"/>
            </p:cNvSpPr>
            <p:nvPr/>
          </p:nvSpPr>
          <p:spPr bwMode="auto">
            <a:xfrm flipH="1">
              <a:off x="4752" y="2928"/>
              <a:ext cx="192" cy="0"/>
            </a:xfrm>
            <a:prstGeom prst="line">
              <a:avLst/>
            </a:prstGeom>
            <a:noFill/>
            <a:ln w="19050">
              <a:solidFill>
                <a:srgbClr val="00FF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676893" name="AutoShape 29">
            <a:extLst>
              <a:ext uri="{FF2B5EF4-FFF2-40B4-BE49-F238E27FC236}">
                <a16:creationId xmlns:a16="http://schemas.microsoft.com/office/drawing/2014/main" id="{22409B55-6FC8-5DB8-EA21-FD352D0DAF83}"/>
              </a:ext>
            </a:extLst>
          </p:cNvPr>
          <p:cNvSpPr>
            <a:spLocks noChangeArrowheads="1"/>
          </p:cNvSpPr>
          <p:nvPr/>
        </p:nvSpPr>
        <p:spPr bwMode="auto">
          <a:xfrm>
            <a:off x="6697663" y="2814638"/>
            <a:ext cx="533400" cy="533400"/>
          </a:xfrm>
          <a:prstGeom prst="wedgeRectCallout">
            <a:avLst>
              <a:gd name="adj1" fmla="val 16370"/>
              <a:gd name="adj2" fmla="val -175597"/>
            </a:avLst>
          </a:prstGeom>
          <a:solidFill>
            <a:srgbClr val="66FFCC">
              <a:alpha val="25882"/>
            </a:srgbClr>
          </a:solidFill>
          <a:ln w="9525">
            <a:solidFill>
              <a:srgbClr val="0099CC">
                <a:alpha val="65881"/>
              </a:srgbClr>
            </a:solidFill>
            <a:miter lim="800000"/>
            <a:headEnd/>
            <a:tailEnd/>
          </a:ln>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sz="2800" b="0">
                <a:solidFill>
                  <a:srgbClr val="FFFF00"/>
                </a:solidFill>
                <a:latin typeface="Times New Roman" panose="02020603050405020304" pitchFamily="18" charset="0"/>
                <a:ea typeface="宋体" panose="02010600030101010101" pitchFamily="2" charset="-122"/>
              </a:rPr>
              <a:t>d</a:t>
            </a:r>
            <a:r>
              <a:rPr lang="en-US" altLang="zh-CN" sz="2800" b="0" i="1">
                <a:solidFill>
                  <a:srgbClr val="FFFF00"/>
                </a:solidFill>
                <a:latin typeface="Times New Roman" panose="02020603050405020304" pitchFamily="18" charset="0"/>
                <a:ea typeface="宋体" panose="02010600030101010101" pitchFamily="2" charset="-122"/>
              </a:rPr>
              <a:t>x</a:t>
            </a:r>
          </a:p>
        </p:txBody>
      </p:sp>
      <p:sp>
        <p:nvSpPr>
          <p:cNvPr id="676905" name="Text Box 41">
            <a:extLst>
              <a:ext uri="{FF2B5EF4-FFF2-40B4-BE49-F238E27FC236}">
                <a16:creationId xmlns:a16="http://schemas.microsoft.com/office/drawing/2014/main" id="{DC359107-62DF-415C-2E2C-192159D0D023}"/>
              </a:ext>
            </a:extLst>
          </p:cNvPr>
          <p:cNvSpPr txBox="1">
            <a:spLocks noChangeArrowheads="1"/>
          </p:cNvSpPr>
          <p:nvPr/>
        </p:nvSpPr>
        <p:spPr bwMode="auto">
          <a:xfrm>
            <a:off x="231775" y="779463"/>
            <a:ext cx="347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求</a:t>
            </a:r>
            <a:r>
              <a:rPr lang="zh-CN" altLang="en-US">
                <a:latin typeface="Times New Roman" panose="02020603050405020304" pitchFamily="18" charset="0"/>
                <a:ea typeface="宋体" panose="02010600030101010101" pitchFamily="2" charset="-122"/>
              </a:rPr>
              <a:t> 摩擦力对</a:t>
            </a:r>
            <a:r>
              <a:rPr lang="en-US" altLang="zh-CN" i="1">
                <a:solidFill>
                  <a:srgbClr val="66FFFF"/>
                </a:solidFill>
                <a:latin typeface="Times New Roman" panose="02020603050405020304" pitchFamily="18" charset="0"/>
                <a:ea typeface="宋体" panose="02010600030101010101" pitchFamily="2" charset="-122"/>
              </a:rPr>
              <a:t>y</a:t>
            </a:r>
            <a:r>
              <a:rPr lang="zh-CN" altLang="en-US">
                <a:latin typeface="Times New Roman" panose="02020603050405020304" pitchFamily="18" charset="0"/>
                <a:ea typeface="宋体" panose="02010600030101010101" pitchFamily="2" charset="-122"/>
              </a:rPr>
              <a:t>轴的力矩</a:t>
            </a:r>
          </a:p>
        </p:txBody>
      </p:sp>
      <p:sp>
        <p:nvSpPr>
          <p:cNvPr id="676906" name="Rectangle 42">
            <a:extLst>
              <a:ext uri="{FF2B5EF4-FFF2-40B4-BE49-F238E27FC236}">
                <a16:creationId xmlns:a16="http://schemas.microsoft.com/office/drawing/2014/main" id="{272ECD60-EAD9-11CB-41DF-8FC74E14895F}"/>
              </a:ext>
            </a:extLst>
          </p:cNvPr>
          <p:cNvSpPr>
            <a:spLocks noChangeArrowheads="1"/>
          </p:cNvSpPr>
          <p:nvPr/>
        </p:nvSpPr>
        <p:spPr bwMode="auto">
          <a:xfrm>
            <a:off x="6894513" y="1936750"/>
            <a:ext cx="304800" cy="152400"/>
          </a:xfrm>
          <a:prstGeom prst="rect">
            <a:avLst/>
          </a:prstGeom>
          <a:solidFill>
            <a:srgbClr val="FF0000"/>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pic>
        <p:nvPicPr>
          <p:cNvPr id="676922" name="Picture 58" descr="j0293240">
            <a:extLst>
              <a:ext uri="{FF2B5EF4-FFF2-40B4-BE49-F238E27FC236}">
                <a16:creationId xmlns:a16="http://schemas.microsoft.com/office/drawing/2014/main" id="{DCFEF7EB-5DB0-D823-8218-F20BB3BE04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6878"/>
                                        </p:tgtEl>
                                        <p:attrNameLst>
                                          <p:attrName>style.visibility</p:attrName>
                                        </p:attrNameLst>
                                      </p:cBhvr>
                                      <p:to>
                                        <p:strVal val="visible"/>
                                      </p:to>
                                    </p:set>
                                    <p:animEffect transition="in" filter="wipe(left)">
                                      <p:cBhvr>
                                        <p:cTn id="7" dur="500"/>
                                        <p:tgtEl>
                                          <p:spTgt spid="6768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6879"/>
                                        </p:tgtEl>
                                        <p:attrNameLst>
                                          <p:attrName>style.visibility</p:attrName>
                                        </p:attrNameLst>
                                      </p:cBhvr>
                                      <p:to>
                                        <p:strVal val="visible"/>
                                      </p:to>
                                    </p:set>
                                    <p:animEffect transition="in" filter="wipe(left)">
                                      <p:cBhvr>
                                        <p:cTn id="12" dur="500"/>
                                        <p:tgtEl>
                                          <p:spTgt spid="6768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76905"/>
                                        </p:tgtEl>
                                        <p:attrNameLst>
                                          <p:attrName>style.visibility</p:attrName>
                                        </p:attrNameLst>
                                      </p:cBhvr>
                                      <p:to>
                                        <p:strVal val="visible"/>
                                      </p:to>
                                    </p:set>
                                    <p:animEffect transition="in" filter="wipe(left)">
                                      <p:cBhvr>
                                        <p:cTn id="23" dur="500"/>
                                        <p:tgtEl>
                                          <p:spTgt spid="67690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676880"/>
                                        </p:tgtEl>
                                        <p:attrNameLst>
                                          <p:attrName>style.visibility</p:attrName>
                                        </p:attrNameLst>
                                      </p:cBhvr>
                                      <p:to>
                                        <p:strVal val="visible"/>
                                      </p:to>
                                    </p:set>
                                    <p:animEffect transition="in" filter="wipe(left)">
                                      <p:cBhvr>
                                        <p:cTn id="28" dur="500"/>
                                        <p:tgtEl>
                                          <p:spTgt spid="6768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676906"/>
                                        </p:tgtEl>
                                        <p:attrNameLst>
                                          <p:attrName>style.visibility</p:attrName>
                                        </p:attrNameLst>
                                      </p:cBhvr>
                                      <p:to>
                                        <p:strVal val="visible"/>
                                      </p:to>
                                    </p:set>
                                    <p:animEffect transition="in" filter="wipe(down)">
                                      <p:cBhvr>
                                        <p:cTn id="33" dur="500"/>
                                        <p:tgtEl>
                                          <p:spTgt spid="67690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1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fltVal val="0"/>
                                          </p:val>
                                        </p:tav>
                                        <p:tav tm="100000">
                                          <p:val>
                                            <p:strVal val="#ppt_w"/>
                                          </p:val>
                                        </p:tav>
                                      </p:tavLst>
                                    </p:anim>
                                    <p:anim calcmode="lin" valueType="num">
                                      <p:cBhvr>
                                        <p:cTn id="39"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676893"/>
                                        </p:tgtEl>
                                        <p:attrNameLst>
                                          <p:attrName>style.visibility</p:attrName>
                                        </p:attrNameLst>
                                      </p:cBhvr>
                                      <p:to>
                                        <p:strVal val="visible"/>
                                      </p:to>
                                    </p:set>
                                    <p:animEffect transition="in" filter="wipe(down)">
                                      <p:cBhvr>
                                        <p:cTn id="44" dur="500"/>
                                        <p:tgtEl>
                                          <p:spTgt spid="67689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676881"/>
                                        </p:tgtEl>
                                        <p:attrNameLst>
                                          <p:attrName>style.visibility</p:attrName>
                                        </p:attrNameLst>
                                      </p:cBhvr>
                                      <p:to>
                                        <p:strVal val="visible"/>
                                      </p:to>
                                    </p:set>
                                    <p:animEffect transition="in" filter="wipe(left)">
                                      <p:cBhvr>
                                        <p:cTn id="49" dur="500"/>
                                        <p:tgtEl>
                                          <p:spTgt spid="67688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676882"/>
                                        </p:tgtEl>
                                        <p:attrNameLst>
                                          <p:attrName>style.visibility</p:attrName>
                                        </p:attrNameLst>
                                      </p:cBhvr>
                                      <p:to>
                                        <p:strVal val="visible"/>
                                      </p:to>
                                    </p:set>
                                    <p:animEffect transition="in" filter="wipe(left)">
                                      <p:cBhvr>
                                        <p:cTn id="54" dur="500"/>
                                        <p:tgtEl>
                                          <p:spTgt spid="67688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676883"/>
                                        </p:tgtEl>
                                        <p:attrNameLst>
                                          <p:attrName>style.visibility</p:attrName>
                                        </p:attrNameLst>
                                      </p:cBhvr>
                                      <p:to>
                                        <p:strVal val="visible"/>
                                      </p:to>
                                    </p:set>
                                    <p:animEffect transition="in" filter="wipe(left)">
                                      <p:cBhvr>
                                        <p:cTn id="59" dur="500"/>
                                        <p:tgtEl>
                                          <p:spTgt spid="67688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676884"/>
                                        </p:tgtEl>
                                        <p:attrNameLst>
                                          <p:attrName>style.visibility</p:attrName>
                                        </p:attrNameLst>
                                      </p:cBhvr>
                                      <p:to>
                                        <p:strVal val="visible"/>
                                      </p:to>
                                    </p:set>
                                    <p:animEffect transition="in" filter="wipe(left)">
                                      <p:cBhvr>
                                        <p:cTn id="64" dur="500"/>
                                        <p:tgtEl>
                                          <p:spTgt spid="67688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676885"/>
                                        </p:tgtEl>
                                        <p:attrNameLst>
                                          <p:attrName>style.visibility</p:attrName>
                                        </p:attrNameLst>
                                      </p:cBhvr>
                                      <p:to>
                                        <p:strVal val="visible"/>
                                      </p:to>
                                    </p:set>
                                    <p:animEffect transition="in" filter="wipe(left)">
                                      <p:cBhvr>
                                        <p:cTn id="69" dur="500"/>
                                        <p:tgtEl>
                                          <p:spTgt spid="67688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ntr" presetSubtype="2" fill="hold" nodeType="clickEffect">
                                  <p:stCondLst>
                                    <p:cond delay="0"/>
                                  </p:stCondLst>
                                  <p:childTnLst>
                                    <p:set>
                                      <p:cBhvr>
                                        <p:cTn id="73" dur="1" fill="hold">
                                          <p:stCondLst>
                                            <p:cond delay="0"/>
                                          </p:stCondLst>
                                        </p:cTn>
                                        <p:tgtEl>
                                          <p:spTgt spid="676922"/>
                                        </p:tgtEl>
                                        <p:attrNameLst>
                                          <p:attrName>style.visibility</p:attrName>
                                        </p:attrNameLst>
                                      </p:cBhvr>
                                      <p:to>
                                        <p:strVal val="visible"/>
                                      </p:to>
                                    </p:set>
                                    <p:anim calcmode="lin" valueType="num">
                                      <p:cBhvr additive="base">
                                        <p:cTn id="74" dur="500" fill="hold"/>
                                        <p:tgtEl>
                                          <p:spTgt spid="676922"/>
                                        </p:tgtEl>
                                        <p:attrNameLst>
                                          <p:attrName>ppt_x</p:attrName>
                                        </p:attrNameLst>
                                      </p:cBhvr>
                                      <p:tavLst>
                                        <p:tav tm="0">
                                          <p:val>
                                            <p:strVal val="1+#ppt_w/2"/>
                                          </p:val>
                                        </p:tav>
                                        <p:tav tm="100000">
                                          <p:val>
                                            <p:strVal val="#ppt_x"/>
                                          </p:val>
                                        </p:tav>
                                      </p:tavLst>
                                    </p:anim>
                                    <p:anim calcmode="lin" valueType="num">
                                      <p:cBhvr additive="base">
                                        <p:cTn id="75" dur="500" fill="hold"/>
                                        <p:tgtEl>
                                          <p:spTgt spid="6769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78" grpId="0" autoUpdateAnimBg="0"/>
      <p:bldP spid="676879" grpId="0" autoUpdateAnimBg="0"/>
      <p:bldP spid="676880" grpId="0" autoUpdateAnimBg="0"/>
      <p:bldP spid="676883" grpId="0" autoUpdateAnimBg="0"/>
      <p:bldP spid="676893" grpId="0" animBg="1"/>
      <p:bldP spid="676905" grpId="0"/>
      <p:bldP spid="67690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Freeform 2">
            <a:extLst>
              <a:ext uri="{FF2B5EF4-FFF2-40B4-BE49-F238E27FC236}">
                <a16:creationId xmlns:a16="http://schemas.microsoft.com/office/drawing/2014/main" id="{E5C13552-7EF4-FC66-7F51-E59930DD6F94}"/>
              </a:ext>
            </a:extLst>
          </p:cNvPr>
          <p:cNvSpPr>
            <a:spLocks/>
          </p:cNvSpPr>
          <p:nvPr/>
        </p:nvSpPr>
        <p:spPr bwMode="auto">
          <a:xfrm>
            <a:off x="5032375" y="277813"/>
            <a:ext cx="3635375" cy="3508375"/>
          </a:xfrm>
          <a:custGeom>
            <a:avLst/>
            <a:gdLst/>
            <a:ahLst/>
            <a:cxnLst>
              <a:cxn ang="0">
                <a:pos x="912" y="95"/>
              </a:cxn>
              <a:cxn ang="0">
                <a:pos x="327" y="326"/>
              </a:cxn>
              <a:cxn ang="0">
                <a:pos x="15" y="906"/>
              </a:cxn>
              <a:cxn ang="0">
                <a:pos x="237" y="1654"/>
              </a:cxn>
              <a:cxn ang="0">
                <a:pos x="661" y="1903"/>
              </a:cxn>
              <a:cxn ang="0">
                <a:pos x="1167" y="2155"/>
              </a:cxn>
              <a:cxn ang="0">
                <a:pos x="1368" y="2146"/>
              </a:cxn>
              <a:cxn ang="0">
                <a:pos x="1578" y="2164"/>
              </a:cxn>
              <a:cxn ang="0">
                <a:pos x="2026" y="1868"/>
              </a:cxn>
              <a:cxn ang="0">
                <a:pos x="2276" y="1021"/>
              </a:cxn>
              <a:cxn ang="0">
                <a:pos x="2109" y="462"/>
              </a:cxn>
              <a:cxn ang="0">
                <a:pos x="1534" y="61"/>
              </a:cxn>
              <a:cxn ang="0">
                <a:pos x="912" y="95"/>
              </a:cxn>
            </a:cxnLst>
            <a:rect l="0" t="0" r="r" b="b"/>
            <a:pathLst>
              <a:path w="2290" h="2210">
                <a:moveTo>
                  <a:pt x="912" y="95"/>
                </a:moveTo>
                <a:cubicBezTo>
                  <a:pt x="712" y="139"/>
                  <a:pt x="476" y="191"/>
                  <a:pt x="327" y="326"/>
                </a:cubicBezTo>
                <a:cubicBezTo>
                  <a:pt x="178" y="461"/>
                  <a:pt x="30" y="685"/>
                  <a:pt x="15" y="906"/>
                </a:cubicBezTo>
                <a:cubicBezTo>
                  <a:pt x="0" y="1128"/>
                  <a:pt x="129" y="1488"/>
                  <a:pt x="237" y="1654"/>
                </a:cubicBezTo>
                <a:cubicBezTo>
                  <a:pt x="345" y="1820"/>
                  <a:pt x="506" y="1819"/>
                  <a:pt x="661" y="1903"/>
                </a:cubicBezTo>
                <a:cubicBezTo>
                  <a:pt x="816" y="1987"/>
                  <a:pt x="1049" y="2115"/>
                  <a:pt x="1167" y="2155"/>
                </a:cubicBezTo>
                <a:cubicBezTo>
                  <a:pt x="1285" y="2195"/>
                  <a:pt x="1300" y="2145"/>
                  <a:pt x="1368" y="2146"/>
                </a:cubicBezTo>
                <a:cubicBezTo>
                  <a:pt x="1436" y="2147"/>
                  <a:pt x="1468" y="2210"/>
                  <a:pt x="1578" y="2164"/>
                </a:cubicBezTo>
                <a:cubicBezTo>
                  <a:pt x="1688" y="2118"/>
                  <a:pt x="1910" y="2059"/>
                  <a:pt x="2026" y="1868"/>
                </a:cubicBezTo>
                <a:cubicBezTo>
                  <a:pt x="2142" y="1677"/>
                  <a:pt x="2262" y="1255"/>
                  <a:pt x="2276" y="1021"/>
                </a:cubicBezTo>
                <a:cubicBezTo>
                  <a:pt x="2290" y="787"/>
                  <a:pt x="2233" y="622"/>
                  <a:pt x="2109" y="462"/>
                </a:cubicBezTo>
                <a:cubicBezTo>
                  <a:pt x="1985" y="302"/>
                  <a:pt x="1734" y="122"/>
                  <a:pt x="1534" y="61"/>
                </a:cubicBezTo>
                <a:cubicBezTo>
                  <a:pt x="1334" y="0"/>
                  <a:pt x="1042" y="88"/>
                  <a:pt x="912" y="95"/>
                </a:cubicBezTo>
                <a:close/>
              </a:path>
            </a:pathLst>
          </a:custGeom>
          <a:solidFill>
            <a:srgbClr val="006699"/>
          </a:solidFill>
          <a:ln w="9525" cap="flat" cmpd="sng">
            <a:prstDash val="solid"/>
            <a:round/>
            <a:headEnd/>
            <a:tailEnd/>
          </a:ln>
          <a:effectLst/>
          <a:scene3d>
            <a:camera prst="legacyPerspectiveFront">
              <a:rot lat="17699998" lon="0" rev="0"/>
            </a:camera>
            <a:lightRig rig="legacyFlat1" dir="t"/>
          </a:scene3d>
          <a:sp3d extrusionH="201600" prstMaterial="legacyPlastic">
            <a:bevelT w="13500" h="13500" prst="angle"/>
            <a:bevelB w="13500" h="13500" prst="angle"/>
            <a:extrusionClr>
              <a:srgbClr val="006699"/>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35" name="Text Box 3">
            <a:extLst>
              <a:ext uri="{FF2B5EF4-FFF2-40B4-BE49-F238E27FC236}">
                <a16:creationId xmlns:a16="http://schemas.microsoft.com/office/drawing/2014/main" id="{E963C335-08FB-A03F-8EFF-FD6C112B977C}"/>
              </a:ext>
            </a:extLst>
          </p:cNvPr>
          <p:cNvSpPr txBox="1">
            <a:spLocks noChangeArrowheads="1"/>
          </p:cNvSpPr>
          <p:nvPr/>
        </p:nvSpPr>
        <p:spPr bwMode="auto">
          <a:xfrm>
            <a:off x="682625" y="877888"/>
            <a:ext cx="1393825"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a:effectLst>
                  <a:outerShdw blurRad="38100" dist="38100" dir="2700000" algn="tl">
                    <a:srgbClr val="000000"/>
                  </a:outerShdw>
                </a:effectLst>
              </a:rPr>
              <a:t>对</a:t>
            </a:r>
            <a:r>
              <a:rPr kumimoji="1" lang="en-US" altLang="zh-CN" i="1">
                <a:solidFill>
                  <a:srgbClr val="FFCC00"/>
                </a:solidFill>
                <a:effectLst>
                  <a:outerShdw blurRad="38100" dist="38100" dir="2700000" algn="tl">
                    <a:srgbClr val="000000"/>
                  </a:outerShdw>
                </a:effectLst>
                <a:latin typeface="Times New Roman" pitchFamily="18" charset="0"/>
              </a:rPr>
              <a:t>P</a:t>
            </a:r>
            <a:r>
              <a:rPr kumimoji="1" lang="en-US" altLang="zh-CN" i="1" baseline="-25000">
                <a:solidFill>
                  <a:srgbClr val="FFCC00"/>
                </a:solidFill>
                <a:effectLst>
                  <a:outerShdw blurRad="38100" dist="38100" dir="2700000" algn="tl">
                    <a:srgbClr val="000000"/>
                  </a:outerShdw>
                </a:effectLst>
                <a:latin typeface="Times New Roman" pitchFamily="18" charset="0"/>
              </a:rPr>
              <a:t>i </a:t>
            </a:r>
            <a:r>
              <a:rPr kumimoji="1" lang="en-US" altLang="zh-CN">
                <a:effectLst>
                  <a:outerShdw blurRad="38100" dist="38100" dir="2700000" algn="tl">
                    <a:srgbClr val="000000"/>
                  </a:outerShdw>
                </a:effectLst>
              </a:rPr>
              <a:t>:</a:t>
            </a:r>
          </a:p>
        </p:txBody>
      </p:sp>
      <p:sp>
        <p:nvSpPr>
          <p:cNvPr id="735236" name="Text Box 4">
            <a:extLst>
              <a:ext uri="{FF2B5EF4-FFF2-40B4-BE49-F238E27FC236}">
                <a16:creationId xmlns:a16="http://schemas.microsoft.com/office/drawing/2014/main" id="{A2653CF4-4225-414E-63F6-353BA36DC238}"/>
              </a:ext>
            </a:extLst>
          </p:cNvPr>
          <p:cNvSpPr txBox="1">
            <a:spLocks noChangeArrowheads="1"/>
          </p:cNvSpPr>
          <p:nvPr/>
        </p:nvSpPr>
        <p:spPr bwMode="auto">
          <a:xfrm>
            <a:off x="692150" y="3738563"/>
            <a:ext cx="2798763"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a:effectLst>
                  <a:outerShdw blurRad="38100" dist="38100" dir="2700000" algn="tl">
                    <a:srgbClr val="000000"/>
                  </a:outerShdw>
                </a:effectLst>
                <a:latin typeface="Times New Roman" pitchFamily="18" charset="0"/>
              </a:rPr>
              <a:t>两边同乘以 </a:t>
            </a:r>
            <a:r>
              <a:rPr kumimoji="1" lang="en-US" altLang="zh-CN" i="1">
                <a:solidFill>
                  <a:srgbClr val="FFCC00"/>
                </a:solidFill>
                <a:effectLst>
                  <a:outerShdw blurRad="38100" dist="38100" dir="2700000" algn="tl">
                    <a:srgbClr val="000000"/>
                  </a:outerShdw>
                </a:effectLst>
                <a:latin typeface="Times New Roman" pitchFamily="18" charset="0"/>
              </a:rPr>
              <a:t>r</a:t>
            </a:r>
            <a:r>
              <a:rPr kumimoji="1" lang="en-US" altLang="zh-CN" i="1" baseline="-25000">
                <a:solidFill>
                  <a:srgbClr val="FFCC00"/>
                </a:solidFill>
                <a:effectLst>
                  <a:outerShdw blurRad="38100" dist="38100" dir="2700000" algn="tl">
                    <a:srgbClr val="000000"/>
                  </a:outerShdw>
                </a:effectLst>
                <a:latin typeface="Times New Roman" pitchFamily="18" charset="0"/>
              </a:rPr>
              <a:t>i </a:t>
            </a:r>
            <a:r>
              <a:rPr kumimoji="1" lang="zh-CN" altLang="en-US">
                <a:effectLst>
                  <a:outerShdw blurRad="38100" dist="38100" dir="2700000" algn="tl">
                    <a:srgbClr val="000000"/>
                  </a:outerShdw>
                </a:effectLst>
                <a:latin typeface="Times New Roman" pitchFamily="18" charset="0"/>
              </a:rPr>
              <a:t>：</a:t>
            </a:r>
          </a:p>
        </p:txBody>
      </p:sp>
      <p:sp>
        <p:nvSpPr>
          <p:cNvPr id="735237" name="Text Box 5">
            <a:extLst>
              <a:ext uri="{FF2B5EF4-FFF2-40B4-BE49-F238E27FC236}">
                <a16:creationId xmlns:a16="http://schemas.microsoft.com/office/drawing/2014/main" id="{69232A0A-8468-449B-6085-70D707C90169}"/>
              </a:ext>
            </a:extLst>
          </p:cNvPr>
          <p:cNvSpPr txBox="1">
            <a:spLocks noChangeArrowheads="1"/>
          </p:cNvSpPr>
          <p:nvPr/>
        </p:nvSpPr>
        <p:spPr bwMode="auto">
          <a:xfrm>
            <a:off x="717550" y="2570163"/>
            <a:ext cx="1103313" cy="457200"/>
          </a:xfrm>
          <a:prstGeom prst="rect">
            <a:avLst/>
          </a:prstGeom>
          <a:noFill/>
          <a:ln w="12700">
            <a:noFill/>
            <a:miter lim="800000"/>
            <a:headEnd type="none" w="sm" len="sm"/>
            <a:tailEnd type="none" w="sm" len="sm"/>
          </a:ln>
          <a:effectLst/>
        </p:spPr>
        <p:txBody>
          <a:bodyPr wrap="none" anchor="ctr">
            <a:spAutoFit/>
          </a:bodyPr>
          <a:lstStyle/>
          <a:p>
            <a:pPr>
              <a:spcBef>
                <a:spcPct val="50000"/>
              </a:spcBef>
              <a:defRPr/>
            </a:pPr>
            <a:r>
              <a:rPr kumimoji="1" lang="zh-CN" altLang="en-US">
                <a:effectLst>
                  <a:outerShdw blurRad="38100" dist="38100" dir="2700000" algn="tl">
                    <a:srgbClr val="000000"/>
                  </a:outerShdw>
                </a:effectLst>
                <a:latin typeface="Times New Roman" pitchFamily="18" charset="0"/>
              </a:rPr>
              <a:t>切向：</a:t>
            </a:r>
          </a:p>
        </p:txBody>
      </p:sp>
      <p:sp>
        <p:nvSpPr>
          <p:cNvPr id="735238" name="Text Box 6">
            <a:extLst>
              <a:ext uri="{FF2B5EF4-FFF2-40B4-BE49-F238E27FC236}">
                <a16:creationId xmlns:a16="http://schemas.microsoft.com/office/drawing/2014/main" id="{429C8ADA-5806-CF02-FF0B-C5565FA1CF50}"/>
              </a:ext>
            </a:extLst>
          </p:cNvPr>
          <p:cNvSpPr txBox="1">
            <a:spLocks noChangeArrowheads="1"/>
          </p:cNvSpPr>
          <p:nvPr/>
        </p:nvSpPr>
        <p:spPr bwMode="auto">
          <a:xfrm>
            <a:off x="723900" y="4408488"/>
            <a:ext cx="3398838"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a:effectLst>
                  <a:outerShdw blurRad="38100" dist="38100" dir="2700000" algn="tl">
                    <a:srgbClr val="000000"/>
                  </a:outerShdw>
                </a:effectLst>
                <a:latin typeface="Times New Roman" pitchFamily="18" charset="0"/>
              </a:rPr>
              <a:t>对刚体中所有质点求和</a:t>
            </a:r>
          </a:p>
        </p:txBody>
      </p:sp>
      <p:sp>
        <p:nvSpPr>
          <p:cNvPr id="735239" name="Text Box 7">
            <a:extLst>
              <a:ext uri="{FF2B5EF4-FFF2-40B4-BE49-F238E27FC236}">
                <a16:creationId xmlns:a16="http://schemas.microsoft.com/office/drawing/2014/main" id="{731106A6-7853-D501-F8DE-28B3080EB14C}"/>
              </a:ext>
            </a:extLst>
          </p:cNvPr>
          <p:cNvSpPr txBox="1">
            <a:spLocks noChangeArrowheads="1"/>
          </p:cNvSpPr>
          <p:nvPr/>
        </p:nvSpPr>
        <p:spPr bwMode="auto">
          <a:xfrm>
            <a:off x="687388" y="1382713"/>
            <a:ext cx="4011612" cy="1122362"/>
          </a:xfrm>
          <a:prstGeom prst="rect">
            <a:avLst/>
          </a:prstGeom>
          <a:noFill/>
          <a:ln w="12700">
            <a:noFill/>
            <a:miter lim="800000"/>
            <a:headEnd type="none" w="sm" len="sm"/>
            <a:tailEnd type="none" w="sm" len="sm"/>
          </a:ln>
          <a:effectLst/>
        </p:spPr>
        <p:txBody>
          <a:bodyPr anchor="ctr">
            <a:spAutoFit/>
          </a:bodyPr>
          <a:lstStyle/>
          <a:p>
            <a:pPr>
              <a:lnSpc>
                <a:spcPct val="130000"/>
              </a:lnSpc>
              <a:defRPr/>
            </a:pPr>
            <a:r>
              <a:rPr kumimoji="1" lang="en-US" altLang="zh-CN" sz="2800">
                <a:effectLst>
                  <a:outerShdw blurRad="38100" dist="38100" dir="2700000" algn="tl">
                    <a:srgbClr val="000000"/>
                  </a:outerShdw>
                </a:effectLst>
                <a:latin typeface="Times New Roman" pitchFamily="18" charset="0"/>
                <a:ea typeface="宋体" pitchFamily="2" charset="-122"/>
              </a:rPr>
              <a:t>     </a:t>
            </a:r>
            <a:r>
              <a:rPr kumimoji="1" lang="zh-CN" altLang="en-US">
                <a:effectLst>
                  <a:outerShdw blurRad="38100" dist="38100" dir="2700000" algn="tl">
                    <a:srgbClr val="000000"/>
                  </a:outerShdw>
                </a:effectLst>
                <a:latin typeface="Times New Roman" pitchFamily="18" charset="0"/>
              </a:rPr>
              <a:t>和       的法向分力作用线通过转轴，其力矩为零。</a:t>
            </a:r>
          </a:p>
        </p:txBody>
      </p:sp>
      <p:graphicFrame>
        <p:nvGraphicFramePr>
          <p:cNvPr id="735240" name="Object 2">
            <a:extLst>
              <a:ext uri="{FF2B5EF4-FFF2-40B4-BE49-F238E27FC236}">
                <a16:creationId xmlns:a16="http://schemas.microsoft.com/office/drawing/2014/main" id="{3ABE6141-77C4-85B7-0EFA-3B30CDD699B4}"/>
              </a:ext>
            </a:extLst>
          </p:cNvPr>
          <p:cNvGraphicFramePr>
            <a:graphicFrameLocks noChangeAspect="1"/>
          </p:cNvGraphicFramePr>
          <p:nvPr/>
        </p:nvGraphicFramePr>
        <p:xfrm>
          <a:off x="1939925" y="920750"/>
          <a:ext cx="1981200" cy="419100"/>
        </p:xfrm>
        <a:graphic>
          <a:graphicData uri="http://schemas.openxmlformats.org/presentationml/2006/ole">
            <mc:AlternateContent xmlns:mc="http://schemas.openxmlformats.org/markup-compatibility/2006">
              <mc:Choice xmlns:v="urn:schemas-microsoft-com:vml" Requires="v">
                <p:oleObj name="公式" r:id="rId2" imgW="1973611" imgH="411480" progId="Equation.3">
                  <p:embed/>
                </p:oleObj>
              </mc:Choice>
              <mc:Fallback>
                <p:oleObj name="公式" r:id="rId2" imgW="1973611" imgH="41148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9925" y="920750"/>
                        <a:ext cx="1981200" cy="419100"/>
                      </a:xfrm>
                      <a:prstGeom prst="rect">
                        <a:avLst/>
                      </a:prstGeom>
                      <a:noFill/>
                      <a:ln>
                        <a:noFill/>
                      </a:ln>
                      <a:effectLst/>
                      <a:extLst>
                        <a:ext uri="{909E8E84-426E-40DD-AFC4-6F175D3DCCD1}">
                          <a14:hiddenFill xmlns:a14="http://schemas.microsoft.com/office/drawing/2010/main">
                            <a:solidFill>
                              <a:srgbClr val="00FFFF">
                                <a:alpha val="29019"/>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5241" name="Object 3">
            <a:extLst>
              <a:ext uri="{FF2B5EF4-FFF2-40B4-BE49-F238E27FC236}">
                <a16:creationId xmlns:a16="http://schemas.microsoft.com/office/drawing/2014/main" id="{A88BECFC-6D57-1136-1C31-AB1F381AFF4E}"/>
              </a:ext>
            </a:extLst>
          </p:cNvPr>
          <p:cNvGraphicFramePr>
            <a:graphicFrameLocks noChangeAspect="1"/>
          </p:cNvGraphicFramePr>
          <p:nvPr/>
        </p:nvGraphicFramePr>
        <p:xfrm>
          <a:off x="839788" y="1585913"/>
          <a:ext cx="266700" cy="393700"/>
        </p:xfrm>
        <a:graphic>
          <a:graphicData uri="http://schemas.openxmlformats.org/presentationml/2006/ole">
            <mc:AlternateContent xmlns:mc="http://schemas.openxmlformats.org/markup-compatibility/2006">
              <mc:Choice xmlns:v="urn:schemas-microsoft-com:vml" Requires="v">
                <p:oleObj name="公式" r:id="rId4" imgW="259267" imgH="388537" progId="Equation.3">
                  <p:embed/>
                </p:oleObj>
              </mc:Choice>
              <mc:Fallback>
                <p:oleObj name="公式" r:id="rId4" imgW="259267" imgH="38853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788" y="1585913"/>
                        <a:ext cx="266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5242" name="Object 4">
            <a:extLst>
              <a:ext uri="{FF2B5EF4-FFF2-40B4-BE49-F238E27FC236}">
                <a16:creationId xmlns:a16="http://schemas.microsoft.com/office/drawing/2014/main" id="{F4C1A304-F7FC-F0A6-4365-A49B1F929706}"/>
              </a:ext>
            </a:extLst>
          </p:cNvPr>
          <p:cNvGraphicFramePr>
            <a:graphicFrameLocks noChangeAspect="1"/>
          </p:cNvGraphicFramePr>
          <p:nvPr/>
        </p:nvGraphicFramePr>
        <p:xfrm>
          <a:off x="1590675" y="1573213"/>
          <a:ext cx="431800" cy="419100"/>
        </p:xfrm>
        <a:graphic>
          <a:graphicData uri="http://schemas.openxmlformats.org/presentationml/2006/ole">
            <mc:AlternateContent xmlns:mc="http://schemas.openxmlformats.org/markup-compatibility/2006">
              <mc:Choice xmlns:v="urn:schemas-microsoft-com:vml" Requires="v">
                <p:oleObj name="公式" r:id="rId6" imgW="426969" imgH="411480" progId="Equation.3">
                  <p:embed/>
                </p:oleObj>
              </mc:Choice>
              <mc:Fallback>
                <p:oleObj name="公式" r:id="rId6" imgW="426969" imgH="41148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0675" y="1573213"/>
                        <a:ext cx="431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5243" name="Object 5">
            <a:extLst>
              <a:ext uri="{FF2B5EF4-FFF2-40B4-BE49-F238E27FC236}">
                <a16:creationId xmlns:a16="http://schemas.microsoft.com/office/drawing/2014/main" id="{A32FF71E-C943-C488-DCF1-34430F38C577}"/>
              </a:ext>
            </a:extLst>
          </p:cNvPr>
          <p:cNvGraphicFramePr>
            <a:graphicFrameLocks noChangeAspect="1"/>
          </p:cNvGraphicFramePr>
          <p:nvPr/>
        </p:nvGraphicFramePr>
        <p:xfrm>
          <a:off x="2055813" y="2638425"/>
          <a:ext cx="2144712" cy="406400"/>
        </p:xfrm>
        <a:graphic>
          <a:graphicData uri="http://schemas.openxmlformats.org/presentationml/2006/ole">
            <mc:AlternateContent xmlns:mc="http://schemas.openxmlformats.org/markup-compatibility/2006">
              <mc:Choice xmlns:v="urn:schemas-microsoft-com:vml" Requires="v">
                <p:oleObj name="公式" r:id="rId8" imgW="2141313" imgH="396018" progId="Equation.3">
                  <p:embed/>
                </p:oleObj>
              </mc:Choice>
              <mc:Fallback>
                <p:oleObj name="公式" r:id="rId8" imgW="2141313" imgH="396018"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5813" y="2638425"/>
                        <a:ext cx="2144712" cy="4064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635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5244" name="Object 6">
            <a:extLst>
              <a:ext uri="{FF2B5EF4-FFF2-40B4-BE49-F238E27FC236}">
                <a16:creationId xmlns:a16="http://schemas.microsoft.com/office/drawing/2014/main" id="{FC242CA7-AFB5-BEFB-E118-73B4B770924A}"/>
              </a:ext>
            </a:extLst>
          </p:cNvPr>
          <p:cNvGraphicFramePr>
            <a:graphicFrameLocks noChangeAspect="1"/>
          </p:cNvGraphicFramePr>
          <p:nvPr/>
        </p:nvGraphicFramePr>
        <p:xfrm>
          <a:off x="3176588" y="3248025"/>
          <a:ext cx="1117600" cy="381000"/>
        </p:xfrm>
        <a:graphic>
          <a:graphicData uri="http://schemas.openxmlformats.org/presentationml/2006/ole">
            <mc:AlternateContent xmlns:mc="http://schemas.openxmlformats.org/markup-compatibility/2006">
              <mc:Choice xmlns:v="urn:schemas-microsoft-com:vml" Requires="v">
                <p:oleObj name="公式" r:id="rId10" imgW="1112707" imgH="373574" progId="Equation.3">
                  <p:embed/>
                </p:oleObj>
              </mc:Choice>
              <mc:Fallback>
                <p:oleObj name="公式" r:id="rId10" imgW="1112707" imgH="373574"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76588" y="3248025"/>
                        <a:ext cx="1117600" cy="3810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5245" name="Object 7">
            <a:extLst>
              <a:ext uri="{FF2B5EF4-FFF2-40B4-BE49-F238E27FC236}">
                <a16:creationId xmlns:a16="http://schemas.microsoft.com/office/drawing/2014/main" id="{8DA6DDD7-40D8-0AAF-1CE0-6202935E5195}"/>
              </a:ext>
            </a:extLst>
          </p:cNvPr>
          <p:cNvGraphicFramePr>
            <a:graphicFrameLocks noChangeAspect="1"/>
          </p:cNvGraphicFramePr>
          <p:nvPr/>
        </p:nvGraphicFramePr>
        <p:xfrm>
          <a:off x="2851150" y="3749675"/>
          <a:ext cx="2665413" cy="469900"/>
        </p:xfrm>
        <a:graphic>
          <a:graphicData uri="http://schemas.openxmlformats.org/presentationml/2006/ole">
            <mc:AlternateContent xmlns:mc="http://schemas.openxmlformats.org/markup-compatibility/2006">
              <mc:Choice xmlns:v="urn:schemas-microsoft-com:vml" Requires="v">
                <p:oleObj name="公式" r:id="rId12" imgW="2659349" imgH="464848" progId="Equation.3">
                  <p:embed/>
                </p:oleObj>
              </mc:Choice>
              <mc:Fallback>
                <p:oleObj name="公式" r:id="rId12" imgW="2659349" imgH="464848"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1150" y="3749675"/>
                        <a:ext cx="2665413" cy="4699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5246" name="Object 8">
            <a:extLst>
              <a:ext uri="{FF2B5EF4-FFF2-40B4-BE49-F238E27FC236}">
                <a16:creationId xmlns:a16="http://schemas.microsoft.com/office/drawing/2014/main" id="{5C0CB2AD-5ECA-4705-8CB7-B223B5CC862F}"/>
              </a:ext>
            </a:extLst>
          </p:cNvPr>
          <p:cNvGraphicFramePr>
            <a:graphicFrameLocks noChangeAspect="1"/>
          </p:cNvGraphicFramePr>
          <p:nvPr/>
        </p:nvGraphicFramePr>
        <p:xfrm>
          <a:off x="4267200" y="4348163"/>
          <a:ext cx="3744913" cy="660400"/>
        </p:xfrm>
        <a:graphic>
          <a:graphicData uri="http://schemas.openxmlformats.org/presentationml/2006/ole">
            <mc:AlternateContent xmlns:mc="http://schemas.openxmlformats.org/markup-compatibility/2006">
              <mc:Choice xmlns:v="urn:schemas-microsoft-com:vml" Requires="v">
                <p:oleObj name="公式" r:id="rId14" imgW="3741202" imgH="655375" progId="Equation.3">
                  <p:embed/>
                </p:oleObj>
              </mc:Choice>
              <mc:Fallback>
                <p:oleObj name="公式" r:id="rId14" imgW="3741202" imgH="655375"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348163"/>
                        <a:ext cx="3744913" cy="6604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5247" name="Rectangle 15">
            <a:extLst>
              <a:ext uri="{FF2B5EF4-FFF2-40B4-BE49-F238E27FC236}">
                <a16:creationId xmlns:a16="http://schemas.microsoft.com/office/drawing/2014/main" id="{5049A4AE-2AA2-DE78-E216-FBFB959EF60F}"/>
              </a:ext>
            </a:extLst>
          </p:cNvPr>
          <p:cNvSpPr>
            <a:spLocks noChangeArrowheads="1"/>
          </p:cNvSpPr>
          <p:nvPr/>
        </p:nvSpPr>
        <p:spPr bwMode="auto">
          <a:xfrm>
            <a:off x="277813" y="304800"/>
            <a:ext cx="5392737" cy="519113"/>
          </a:xfrm>
          <a:prstGeom prst="rect">
            <a:avLst/>
          </a:prstGeom>
          <a:noFill/>
          <a:ln w="9525">
            <a:noFill/>
            <a:miter lim="800000"/>
            <a:headEnd/>
            <a:tailEnd/>
          </a:ln>
          <a:effectLst/>
        </p:spPr>
        <p:txBody>
          <a:bodyPr>
            <a:spAutoFit/>
          </a:bodyPr>
          <a:lstStyle/>
          <a:p>
            <a:pPr>
              <a:defRPr/>
            </a:pPr>
            <a:r>
              <a:rPr lang="zh-CN" altLang="en-US" sz="2800">
                <a:solidFill>
                  <a:srgbClr val="66FF33"/>
                </a:solidFill>
                <a:effectLst>
                  <a:outerShdw blurRad="38100" dist="38100" dir="2700000" algn="tl">
                    <a:srgbClr val="000000"/>
                  </a:outerShdw>
                </a:effectLst>
                <a:latin typeface="Times New Roman" pitchFamily="18" charset="0"/>
                <a:ea typeface="宋体" pitchFamily="2" charset="-122"/>
              </a:rPr>
              <a:t>二、刚体绕定轴转动定律</a:t>
            </a:r>
          </a:p>
        </p:txBody>
      </p:sp>
      <p:grpSp>
        <p:nvGrpSpPr>
          <p:cNvPr id="2" name="Group 16">
            <a:extLst>
              <a:ext uri="{FF2B5EF4-FFF2-40B4-BE49-F238E27FC236}">
                <a16:creationId xmlns:a16="http://schemas.microsoft.com/office/drawing/2014/main" id="{87AAD435-006F-ADB2-29F9-009360A6C2A8}"/>
              </a:ext>
            </a:extLst>
          </p:cNvPr>
          <p:cNvGrpSpPr>
            <a:grpSpLocks noChangeAspect="1"/>
          </p:cNvGrpSpPr>
          <p:nvPr/>
        </p:nvGrpSpPr>
        <p:grpSpPr bwMode="auto">
          <a:xfrm>
            <a:off x="6240463" y="2103438"/>
            <a:ext cx="1217612" cy="509587"/>
            <a:chOff x="1926" y="1808"/>
            <a:chExt cx="1029" cy="431"/>
          </a:xfrm>
        </p:grpSpPr>
        <p:sp>
          <p:nvSpPr>
            <p:cNvPr id="735249" name="Line 17">
              <a:extLst>
                <a:ext uri="{FF2B5EF4-FFF2-40B4-BE49-F238E27FC236}">
                  <a16:creationId xmlns:a16="http://schemas.microsoft.com/office/drawing/2014/main" id="{E23D7293-2BBB-E723-BDEC-CF4ABDADAB28}"/>
                </a:ext>
              </a:extLst>
            </p:cNvPr>
            <p:cNvSpPr>
              <a:spLocks noChangeAspect="1" noChangeShapeType="1"/>
            </p:cNvSpPr>
            <p:nvPr/>
          </p:nvSpPr>
          <p:spPr bwMode="auto">
            <a:xfrm>
              <a:off x="1926" y="1808"/>
              <a:ext cx="1029" cy="303"/>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299" name="Object 18">
              <a:extLst>
                <a:ext uri="{FF2B5EF4-FFF2-40B4-BE49-F238E27FC236}">
                  <a16:creationId xmlns:a16="http://schemas.microsoft.com/office/drawing/2014/main" id="{06711C5C-3710-AF35-0A26-A3F1575BE33D}"/>
                </a:ext>
              </a:extLst>
            </p:cNvPr>
            <p:cNvGraphicFramePr>
              <a:graphicFrameLocks noChangeAspect="1"/>
            </p:cNvGraphicFramePr>
            <p:nvPr/>
          </p:nvGraphicFramePr>
          <p:xfrm>
            <a:off x="2080" y="1849"/>
            <a:ext cx="146" cy="390"/>
          </p:xfrm>
          <a:graphic>
            <a:graphicData uri="http://schemas.openxmlformats.org/presentationml/2006/ole">
              <mc:AlternateContent xmlns:mc="http://schemas.openxmlformats.org/markup-compatibility/2006">
                <mc:Choice xmlns:v="urn:schemas-microsoft-com:vml" Requires="v">
                  <p:oleObj name="公式" r:id="rId16" imgW="220949" imgH="449386" progId="Equation.3">
                    <p:embed/>
                  </p:oleObj>
                </mc:Choice>
                <mc:Fallback>
                  <p:oleObj name="公式" r:id="rId16" imgW="220949" imgH="449386" progId="Equation.3">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80" y="1849"/>
                          <a:ext cx="146"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9">
            <a:extLst>
              <a:ext uri="{FF2B5EF4-FFF2-40B4-BE49-F238E27FC236}">
                <a16:creationId xmlns:a16="http://schemas.microsoft.com/office/drawing/2014/main" id="{98A5A3E7-EC83-66FA-0D8F-5A481FF1074B}"/>
              </a:ext>
            </a:extLst>
          </p:cNvPr>
          <p:cNvGrpSpPr>
            <a:grpSpLocks noChangeAspect="1"/>
          </p:cNvGrpSpPr>
          <p:nvPr/>
        </p:nvGrpSpPr>
        <p:grpSpPr bwMode="auto">
          <a:xfrm>
            <a:off x="7526338" y="1720850"/>
            <a:ext cx="1028700" cy="750888"/>
            <a:chOff x="3012" y="1486"/>
            <a:chExt cx="869" cy="634"/>
          </a:xfrm>
        </p:grpSpPr>
        <p:sp>
          <p:nvSpPr>
            <p:cNvPr id="735252" name="Line 20">
              <a:extLst>
                <a:ext uri="{FF2B5EF4-FFF2-40B4-BE49-F238E27FC236}">
                  <a16:creationId xmlns:a16="http://schemas.microsoft.com/office/drawing/2014/main" id="{A705DAE1-A909-560C-F4BE-54BBC48D39D6}"/>
                </a:ext>
              </a:extLst>
            </p:cNvPr>
            <p:cNvSpPr>
              <a:spLocks noChangeAspect="1" noChangeShapeType="1"/>
            </p:cNvSpPr>
            <p:nvPr/>
          </p:nvSpPr>
          <p:spPr bwMode="auto">
            <a:xfrm flipV="1">
              <a:off x="3012" y="1780"/>
              <a:ext cx="801" cy="340"/>
            </a:xfrm>
            <a:prstGeom prst="line">
              <a:avLst/>
            </a:prstGeom>
            <a:noFill/>
            <a:ln w="38100">
              <a:solidFill>
                <a:srgbClr val="FF00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297" name="Object 17">
              <a:extLst>
                <a:ext uri="{FF2B5EF4-FFF2-40B4-BE49-F238E27FC236}">
                  <a16:creationId xmlns:a16="http://schemas.microsoft.com/office/drawing/2014/main" id="{192BF06E-D9AB-B2BF-85EA-2F45DF47D2AA}"/>
                </a:ext>
              </a:extLst>
            </p:cNvPr>
            <p:cNvGraphicFramePr>
              <a:graphicFrameLocks noChangeAspect="1"/>
            </p:cNvGraphicFramePr>
            <p:nvPr/>
          </p:nvGraphicFramePr>
          <p:xfrm>
            <a:off x="3672" y="1486"/>
            <a:ext cx="209" cy="288"/>
          </p:xfrm>
          <a:graphic>
            <a:graphicData uri="http://schemas.openxmlformats.org/presentationml/2006/ole">
              <mc:AlternateContent xmlns:mc="http://schemas.openxmlformats.org/markup-compatibility/2006">
                <mc:Choice xmlns:v="urn:schemas-microsoft-com:vml" Requires="v">
                  <p:oleObj name="公式" r:id="rId18" imgW="319978" imgH="449386" progId="Equation.3">
                    <p:embed/>
                  </p:oleObj>
                </mc:Choice>
                <mc:Fallback>
                  <p:oleObj name="公式" r:id="rId18" imgW="319978" imgH="449386" progId="Equation.3">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72" y="1486"/>
                          <a:ext cx="20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5254" name="Line 22">
            <a:extLst>
              <a:ext uri="{FF2B5EF4-FFF2-40B4-BE49-F238E27FC236}">
                <a16:creationId xmlns:a16="http://schemas.microsoft.com/office/drawing/2014/main" id="{C42F2FF7-C670-7D26-08E3-C90330AEFE26}"/>
              </a:ext>
            </a:extLst>
          </p:cNvPr>
          <p:cNvSpPr>
            <a:spLocks noChangeAspect="1" noChangeShapeType="1"/>
          </p:cNvSpPr>
          <p:nvPr/>
        </p:nvSpPr>
        <p:spPr bwMode="auto">
          <a:xfrm>
            <a:off x="7269163" y="2406650"/>
            <a:ext cx="981075" cy="277813"/>
          </a:xfrm>
          <a:prstGeom prst="line">
            <a:avLst/>
          </a:prstGeom>
          <a:noFill/>
          <a:ln w="12700">
            <a:solidFill>
              <a:srgbClr val="FFFF00"/>
            </a:solidFill>
            <a:prstDash val="dash"/>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4" name="Group 23">
            <a:extLst>
              <a:ext uri="{FF2B5EF4-FFF2-40B4-BE49-F238E27FC236}">
                <a16:creationId xmlns:a16="http://schemas.microsoft.com/office/drawing/2014/main" id="{1E9E36D3-E4E3-982C-777C-E42F8DE31843}"/>
              </a:ext>
            </a:extLst>
          </p:cNvPr>
          <p:cNvGrpSpPr>
            <a:grpSpLocks/>
          </p:cNvGrpSpPr>
          <p:nvPr/>
        </p:nvGrpSpPr>
        <p:grpSpPr bwMode="auto">
          <a:xfrm>
            <a:off x="5994400" y="517525"/>
            <a:ext cx="525463" cy="3208338"/>
            <a:chOff x="3051" y="375"/>
            <a:chExt cx="331" cy="2021"/>
          </a:xfrm>
        </p:grpSpPr>
        <p:sp>
          <p:nvSpPr>
            <p:cNvPr id="735256" name="Line 24">
              <a:extLst>
                <a:ext uri="{FF2B5EF4-FFF2-40B4-BE49-F238E27FC236}">
                  <a16:creationId xmlns:a16="http://schemas.microsoft.com/office/drawing/2014/main" id="{22052812-4695-5DC7-3E58-8EC2BA00F6FC}"/>
                </a:ext>
              </a:extLst>
            </p:cNvPr>
            <p:cNvSpPr>
              <a:spLocks noChangeAspect="1" noChangeShapeType="1"/>
            </p:cNvSpPr>
            <p:nvPr/>
          </p:nvSpPr>
          <p:spPr bwMode="auto">
            <a:xfrm>
              <a:off x="3197" y="1342"/>
              <a:ext cx="0" cy="612"/>
            </a:xfrm>
            <a:prstGeom prst="line">
              <a:avLst/>
            </a:prstGeom>
            <a:noFill/>
            <a:ln w="57150">
              <a:solidFill>
                <a:srgbClr val="00FF66"/>
              </a:solidFill>
              <a:prstDash val="sysDot"/>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57" name="Line 25">
              <a:extLst>
                <a:ext uri="{FF2B5EF4-FFF2-40B4-BE49-F238E27FC236}">
                  <a16:creationId xmlns:a16="http://schemas.microsoft.com/office/drawing/2014/main" id="{3CD8CEEC-B3F7-3283-5464-BFBC2B521509}"/>
                </a:ext>
              </a:extLst>
            </p:cNvPr>
            <p:cNvSpPr>
              <a:spLocks noChangeAspect="1" noChangeShapeType="1"/>
            </p:cNvSpPr>
            <p:nvPr/>
          </p:nvSpPr>
          <p:spPr bwMode="auto">
            <a:xfrm>
              <a:off x="3197" y="1931"/>
              <a:ext cx="0" cy="465"/>
            </a:xfrm>
            <a:prstGeom prst="line">
              <a:avLst/>
            </a:prstGeom>
            <a:noFill/>
            <a:ln w="57150">
              <a:solidFill>
                <a:srgbClr val="00FF66"/>
              </a:solidFill>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58" name="Rectangle 26" descr="轮廓式菱形">
              <a:extLst>
                <a:ext uri="{FF2B5EF4-FFF2-40B4-BE49-F238E27FC236}">
                  <a16:creationId xmlns:a16="http://schemas.microsoft.com/office/drawing/2014/main" id="{BCCFF462-7B62-73D7-B59C-7722A79714EE}"/>
                </a:ext>
              </a:extLst>
            </p:cNvPr>
            <p:cNvSpPr>
              <a:spLocks noChangeAspect="1" noChangeArrowheads="1"/>
            </p:cNvSpPr>
            <p:nvPr/>
          </p:nvSpPr>
          <p:spPr bwMode="auto">
            <a:xfrm>
              <a:off x="3236" y="2101"/>
              <a:ext cx="65" cy="137"/>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59" name="Rectangle 27" descr="轮廓式菱形">
              <a:extLst>
                <a:ext uri="{FF2B5EF4-FFF2-40B4-BE49-F238E27FC236}">
                  <a16:creationId xmlns:a16="http://schemas.microsoft.com/office/drawing/2014/main" id="{AC030C7A-A274-CD4A-1EDC-72C66E1F4C91}"/>
                </a:ext>
              </a:extLst>
            </p:cNvPr>
            <p:cNvSpPr>
              <a:spLocks noChangeAspect="1" noChangeArrowheads="1"/>
            </p:cNvSpPr>
            <p:nvPr/>
          </p:nvSpPr>
          <p:spPr bwMode="auto">
            <a:xfrm>
              <a:off x="3093" y="2101"/>
              <a:ext cx="65" cy="137"/>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290" name="Group 28">
              <a:extLst>
                <a:ext uri="{FF2B5EF4-FFF2-40B4-BE49-F238E27FC236}">
                  <a16:creationId xmlns:a16="http://schemas.microsoft.com/office/drawing/2014/main" id="{D2A18395-4674-229F-63CA-3F9D5FB24FB2}"/>
                </a:ext>
              </a:extLst>
            </p:cNvPr>
            <p:cNvGrpSpPr>
              <a:grpSpLocks noChangeAspect="1"/>
            </p:cNvGrpSpPr>
            <p:nvPr/>
          </p:nvGrpSpPr>
          <p:grpSpPr bwMode="auto">
            <a:xfrm>
              <a:off x="3051" y="375"/>
              <a:ext cx="331" cy="943"/>
              <a:chOff x="1736" y="519"/>
              <a:chExt cx="444" cy="1264"/>
            </a:xfrm>
          </p:grpSpPr>
          <p:sp>
            <p:nvSpPr>
              <p:cNvPr id="735261" name="Line 29">
                <a:extLst>
                  <a:ext uri="{FF2B5EF4-FFF2-40B4-BE49-F238E27FC236}">
                    <a16:creationId xmlns:a16="http://schemas.microsoft.com/office/drawing/2014/main" id="{E0B97FBF-FDB8-862C-7649-DA6C03541365}"/>
                  </a:ext>
                </a:extLst>
              </p:cNvPr>
              <p:cNvSpPr>
                <a:spLocks noChangeAspect="1" noChangeShapeType="1"/>
              </p:cNvSpPr>
              <p:nvPr/>
            </p:nvSpPr>
            <p:spPr bwMode="auto">
              <a:xfrm>
                <a:off x="1932" y="519"/>
                <a:ext cx="0" cy="1264"/>
              </a:xfrm>
              <a:prstGeom prst="line">
                <a:avLst/>
              </a:prstGeom>
              <a:noFill/>
              <a:ln w="57150">
                <a:solidFill>
                  <a:srgbClr val="00FF66"/>
                </a:solidFill>
                <a:round/>
                <a:headEnd type="triangle" w="sm" len="me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62" name="Rectangle 30" descr="轮廓式菱形">
                <a:extLst>
                  <a:ext uri="{FF2B5EF4-FFF2-40B4-BE49-F238E27FC236}">
                    <a16:creationId xmlns:a16="http://schemas.microsoft.com/office/drawing/2014/main" id="{C936D493-ADF8-8A6B-80F6-98C200B4AD4A}"/>
                  </a:ext>
                </a:extLst>
              </p:cNvPr>
              <p:cNvSpPr>
                <a:spLocks noChangeAspect="1" noChangeArrowheads="1"/>
              </p:cNvSpPr>
              <p:nvPr/>
            </p:nvSpPr>
            <p:spPr bwMode="auto">
              <a:xfrm>
                <a:off x="1792" y="747"/>
                <a:ext cx="89" cy="184"/>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63" name="Rectangle 31" descr="轮廓式菱形">
                <a:extLst>
                  <a:ext uri="{FF2B5EF4-FFF2-40B4-BE49-F238E27FC236}">
                    <a16:creationId xmlns:a16="http://schemas.microsoft.com/office/drawing/2014/main" id="{735949C0-221A-22EF-CC8D-C5AF09533F1A}"/>
                  </a:ext>
                </a:extLst>
              </p:cNvPr>
              <p:cNvSpPr>
                <a:spLocks noChangeAspect="1" noChangeArrowheads="1"/>
              </p:cNvSpPr>
              <p:nvPr/>
            </p:nvSpPr>
            <p:spPr bwMode="auto">
              <a:xfrm>
                <a:off x="1985" y="747"/>
                <a:ext cx="86" cy="184"/>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64" name="Arc 32">
                <a:extLst>
                  <a:ext uri="{FF2B5EF4-FFF2-40B4-BE49-F238E27FC236}">
                    <a16:creationId xmlns:a16="http://schemas.microsoft.com/office/drawing/2014/main" id="{BDC9F72C-95AD-7AB5-BD68-A898E6086336}"/>
                  </a:ext>
                </a:extLst>
              </p:cNvPr>
              <p:cNvSpPr>
                <a:spLocks noChangeAspect="1"/>
              </p:cNvSpPr>
              <p:nvPr/>
            </p:nvSpPr>
            <p:spPr bwMode="auto">
              <a:xfrm>
                <a:off x="1736" y="935"/>
                <a:ext cx="410" cy="135"/>
              </a:xfrm>
              <a:custGeom>
                <a:avLst/>
                <a:gdLst>
                  <a:gd name="G0" fmla="+- 21515 0 0"/>
                  <a:gd name="G1" fmla="+- 0 0 0"/>
                  <a:gd name="G2" fmla="+- 21600 0 0"/>
                  <a:gd name="T0" fmla="*/ 40601 w 40601"/>
                  <a:gd name="T1" fmla="*/ 10113 h 21600"/>
                  <a:gd name="T2" fmla="*/ 0 w 40601"/>
                  <a:gd name="T3" fmla="*/ 1912 h 21600"/>
                  <a:gd name="T4" fmla="*/ 21515 w 40601"/>
                  <a:gd name="T5" fmla="*/ 0 h 21600"/>
                </a:gdLst>
                <a:ahLst/>
                <a:cxnLst>
                  <a:cxn ang="0">
                    <a:pos x="T0" y="T1"/>
                  </a:cxn>
                  <a:cxn ang="0">
                    <a:pos x="T2" y="T3"/>
                  </a:cxn>
                  <a:cxn ang="0">
                    <a:pos x="T4" y="T5"/>
                  </a:cxn>
                </a:cxnLst>
                <a:rect l="0" t="0" r="r" b="b"/>
                <a:pathLst>
                  <a:path w="40601" h="21600" fill="none" extrusionOk="0">
                    <a:moveTo>
                      <a:pt x="40601" y="10113"/>
                    </a:moveTo>
                    <a:cubicBezTo>
                      <a:pt x="36856" y="17180"/>
                      <a:pt x="29513" y="21599"/>
                      <a:pt x="21515" y="21600"/>
                    </a:cubicBezTo>
                    <a:cubicBezTo>
                      <a:pt x="10326" y="21600"/>
                      <a:pt x="990" y="13056"/>
                      <a:pt x="-1" y="1912"/>
                    </a:cubicBezTo>
                  </a:path>
                  <a:path w="40601" h="21600" stroke="0" extrusionOk="0">
                    <a:moveTo>
                      <a:pt x="40601" y="10113"/>
                    </a:moveTo>
                    <a:cubicBezTo>
                      <a:pt x="36856" y="17180"/>
                      <a:pt x="29513" y="21599"/>
                      <a:pt x="21515" y="21600"/>
                    </a:cubicBezTo>
                    <a:cubicBezTo>
                      <a:pt x="10326" y="21600"/>
                      <a:pt x="990" y="13056"/>
                      <a:pt x="-1" y="1912"/>
                    </a:cubicBezTo>
                    <a:lnTo>
                      <a:pt x="21515" y="0"/>
                    </a:lnTo>
                    <a:close/>
                  </a:path>
                </a:pathLst>
              </a:custGeom>
              <a:noFill/>
              <a:ln w="38100" cap="rnd">
                <a:solidFill>
                  <a:srgbClr val="FF0000"/>
                </a:solidFill>
                <a:round/>
                <a:headEnd type="stealth" w="med" len="lg"/>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295" name="Object 16">
                <a:extLst>
                  <a:ext uri="{FF2B5EF4-FFF2-40B4-BE49-F238E27FC236}">
                    <a16:creationId xmlns:a16="http://schemas.microsoft.com/office/drawing/2014/main" id="{DB6BC094-A61D-5D31-3091-AE780899EBBA}"/>
                  </a:ext>
                </a:extLst>
              </p:cNvPr>
              <p:cNvGraphicFramePr>
                <a:graphicFrameLocks noChangeAspect="1"/>
              </p:cNvGraphicFramePr>
              <p:nvPr/>
            </p:nvGraphicFramePr>
            <p:xfrm>
              <a:off x="2044" y="544"/>
              <a:ext cx="136" cy="144"/>
            </p:xfrm>
            <a:graphic>
              <a:graphicData uri="http://schemas.openxmlformats.org/presentationml/2006/ole">
                <mc:AlternateContent xmlns:mc="http://schemas.openxmlformats.org/markup-compatibility/2006">
                  <mc:Choice xmlns:v="urn:schemas-microsoft-com:vml" Requires="v">
                    <p:oleObj name="公式" r:id="rId20" imgW="205522" imgH="220952" progId="Equation.3">
                      <p:embed/>
                    </p:oleObj>
                  </mc:Choice>
                  <mc:Fallback>
                    <p:oleObj name="公式" r:id="rId20" imgW="205522" imgH="220952" progId="Equation.3">
                      <p:embed/>
                      <p:pic>
                        <p:nvPicPr>
                          <p:cNvPr id="0" name="Object 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44" y="544"/>
                            <a:ext cx="136" cy="144"/>
                          </a:xfrm>
                          <a:prstGeom prst="rect">
                            <a:avLst/>
                          </a:prstGeom>
                          <a:noFill/>
                          <a:ln>
                            <a:noFill/>
                          </a:ln>
                          <a:effectLst/>
                          <a:extLst>
                            <a:ext uri="{909E8E84-426E-40DD-AFC4-6F175D3DCCD1}">
                              <a14:hiddenFill xmlns:a14="http://schemas.microsoft.com/office/drawing/2010/main">
                                <a:solidFill>
                                  <a:srgbClr val="00FFFF">
                                    <a:alpha val="29019"/>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735266" name="Arc 34">
            <a:extLst>
              <a:ext uri="{FF2B5EF4-FFF2-40B4-BE49-F238E27FC236}">
                <a16:creationId xmlns:a16="http://schemas.microsoft.com/office/drawing/2014/main" id="{A5949944-FBCC-67C2-84E2-EA585C57A0AB}"/>
              </a:ext>
            </a:extLst>
          </p:cNvPr>
          <p:cNvSpPr>
            <a:spLocks noChangeAspect="1"/>
          </p:cNvSpPr>
          <p:nvPr/>
        </p:nvSpPr>
        <p:spPr bwMode="auto">
          <a:xfrm>
            <a:off x="6535738" y="1487488"/>
            <a:ext cx="1166812" cy="1249362"/>
          </a:xfrm>
          <a:custGeom>
            <a:avLst/>
            <a:gdLst>
              <a:gd name="G0" fmla="+- 2797 0 0"/>
              <a:gd name="G1" fmla="+- 21600 0 0"/>
              <a:gd name="G2" fmla="+- 21600 0 0"/>
              <a:gd name="T0" fmla="*/ 2797 w 24397"/>
              <a:gd name="T1" fmla="*/ 0 h 43200"/>
              <a:gd name="T2" fmla="*/ 0 w 24397"/>
              <a:gd name="T3" fmla="*/ 43018 h 43200"/>
              <a:gd name="T4" fmla="*/ 2797 w 24397"/>
              <a:gd name="T5" fmla="*/ 21600 h 43200"/>
            </a:gdLst>
            <a:ahLst/>
            <a:cxnLst>
              <a:cxn ang="0">
                <a:pos x="T0" y="T1"/>
              </a:cxn>
              <a:cxn ang="0">
                <a:pos x="T2" y="T3"/>
              </a:cxn>
              <a:cxn ang="0">
                <a:pos x="T4" y="T5"/>
              </a:cxn>
            </a:cxnLst>
            <a:rect l="0" t="0" r="r" b="b"/>
            <a:pathLst>
              <a:path w="24397" h="43200" fill="none" extrusionOk="0">
                <a:moveTo>
                  <a:pt x="2796" y="0"/>
                </a:moveTo>
                <a:cubicBezTo>
                  <a:pt x="14726" y="0"/>
                  <a:pt x="24397" y="9670"/>
                  <a:pt x="24397" y="21600"/>
                </a:cubicBezTo>
                <a:cubicBezTo>
                  <a:pt x="24397" y="33529"/>
                  <a:pt x="14726" y="43200"/>
                  <a:pt x="2797" y="43200"/>
                </a:cubicBezTo>
                <a:cubicBezTo>
                  <a:pt x="1861" y="43200"/>
                  <a:pt x="927" y="43139"/>
                  <a:pt x="-1" y="43018"/>
                </a:cubicBezTo>
              </a:path>
              <a:path w="24397" h="43200" stroke="0" extrusionOk="0">
                <a:moveTo>
                  <a:pt x="2796" y="0"/>
                </a:moveTo>
                <a:cubicBezTo>
                  <a:pt x="14726" y="0"/>
                  <a:pt x="24397" y="9670"/>
                  <a:pt x="24397" y="21600"/>
                </a:cubicBezTo>
                <a:cubicBezTo>
                  <a:pt x="24397" y="33529"/>
                  <a:pt x="14726" y="43200"/>
                  <a:pt x="2797" y="43200"/>
                </a:cubicBezTo>
                <a:cubicBezTo>
                  <a:pt x="1861" y="43200"/>
                  <a:pt x="927" y="43139"/>
                  <a:pt x="-1" y="43018"/>
                </a:cubicBezTo>
                <a:lnTo>
                  <a:pt x="2797" y="21600"/>
                </a:lnTo>
                <a:close/>
              </a:path>
            </a:pathLst>
          </a:custGeom>
          <a:noFill/>
          <a:ln w="19050">
            <a:solidFill>
              <a:schemeClr val="bg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6" name="Group 35">
            <a:extLst>
              <a:ext uri="{FF2B5EF4-FFF2-40B4-BE49-F238E27FC236}">
                <a16:creationId xmlns:a16="http://schemas.microsoft.com/office/drawing/2014/main" id="{D3733491-41B6-FE06-10ED-D1DFBC0FA1CC}"/>
              </a:ext>
            </a:extLst>
          </p:cNvPr>
          <p:cNvGrpSpPr>
            <a:grpSpLocks noChangeAspect="1"/>
          </p:cNvGrpSpPr>
          <p:nvPr/>
        </p:nvGrpSpPr>
        <p:grpSpPr bwMode="auto">
          <a:xfrm>
            <a:off x="6756400" y="1839913"/>
            <a:ext cx="730250" cy="603250"/>
            <a:chOff x="2362" y="1586"/>
            <a:chExt cx="617" cy="510"/>
          </a:xfrm>
        </p:grpSpPr>
        <p:graphicFrame>
          <p:nvGraphicFramePr>
            <p:cNvPr id="10284" name="Object 15">
              <a:extLst>
                <a:ext uri="{FF2B5EF4-FFF2-40B4-BE49-F238E27FC236}">
                  <a16:creationId xmlns:a16="http://schemas.microsoft.com/office/drawing/2014/main" id="{1C8DAE3F-A432-4E14-5BCE-5A4AF4786654}"/>
                </a:ext>
              </a:extLst>
            </p:cNvPr>
            <p:cNvGraphicFramePr>
              <a:graphicFrameLocks noChangeAspect="1"/>
            </p:cNvGraphicFramePr>
            <p:nvPr/>
          </p:nvGraphicFramePr>
          <p:xfrm>
            <a:off x="2362" y="1586"/>
            <a:ext cx="329" cy="270"/>
          </p:xfrm>
          <a:graphic>
            <a:graphicData uri="http://schemas.openxmlformats.org/presentationml/2006/ole">
              <mc:AlternateContent xmlns:mc="http://schemas.openxmlformats.org/markup-compatibility/2006">
                <mc:Choice xmlns:v="urn:schemas-microsoft-com:vml" Requires="v">
                  <p:oleObj name="公式" r:id="rId22" imgW="510571" imgH="487791" progId="Equation.3">
                    <p:embed/>
                  </p:oleObj>
                </mc:Choice>
                <mc:Fallback>
                  <p:oleObj name="公式" r:id="rId22" imgW="510571" imgH="487791" progId="Equation.3">
                    <p:embed/>
                    <p:pic>
                      <p:nvPicPr>
                        <p:cNvPr id="0" name="Object 1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62" y="1586"/>
                          <a:ext cx="329"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69" name="Line 37">
              <a:extLst>
                <a:ext uri="{FF2B5EF4-FFF2-40B4-BE49-F238E27FC236}">
                  <a16:creationId xmlns:a16="http://schemas.microsoft.com/office/drawing/2014/main" id="{13A8D46A-0A3E-1889-6BF1-5D666034D3FC}"/>
                </a:ext>
              </a:extLst>
            </p:cNvPr>
            <p:cNvSpPr>
              <a:spLocks noChangeAspect="1" noChangeShapeType="1"/>
            </p:cNvSpPr>
            <p:nvPr/>
          </p:nvSpPr>
          <p:spPr bwMode="auto">
            <a:xfrm flipH="1" flipV="1">
              <a:off x="2703" y="1815"/>
              <a:ext cx="276" cy="281"/>
            </a:xfrm>
            <a:prstGeom prst="line">
              <a:avLst/>
            </a:prstGeom>
            <a:noFill/>
            <a:ln w="28575">
              <a:solidFill>
                <a:srgbClr val="66FF33"/>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 name="Group 38">
            <a:extLst>
              <a:ext uri="{FF2B5EF4-FFF2-40B4-BE49-F238E27FC236}">
                <a16:creationId xmlns:a16="http://schemas.microsoft.com/office/drawing/2014/main" id="{2E9AA6E1-CC19-BF1E-830E-7F8B9E6A33B8}"/>
              </a:ext>
            </a:extLst>
          </p:cNvPr>
          <p:cNvGrpSpPr>
            <a:grpSpLocks noChangeAspect="1"/>
          </p:cNvGrpSpPr>
          <p:nvPr/>
        </p:nvGrpSpPr>
        <p:grpSpPr bwMode="auto">
          <a:xfrm>
            <a:off x="7502525" y="1963738"/>
            <a:ext cx="985838" cy="666750"/>
            <a:chOff x="2992" y="1690"/>
            <a:chExt cx="832" cy="564"/>
          </a:xfrm>
        </p:grpSpPr>
        <p:sp>
          <p:nvSpPr>
            <p:cNvPr id="735271" name="Line 39">
              <a:extLst>
                <a:ext uri="{FF2B5EF4-FFF2-40B4-BE49-F238E27FC236}">
                  <a16:creationId xmlns:a16="http://schemas.microsoft.com/office/drawing/2014/main" id="{412D02C9-ADE5-1A70-7F77-38C2165BAC90}"/>
                </a:ext>
              </a:extLst>
            </p:cNvPr>
            <p:cNvSpPr>
              <a:spLocks noChangeAspect="1" noChangeShapeType="1"/>
            </p:cNvSpPr>
            <p:nvPr/>
          </p:nvSpPr>
          <p:spPr bwMode="auto">
            <a:xfrm>
              <a:off x="2992" y="2120"/>
              <a:ext cx="441" cy="125"/>
            </a:xfrm>
            <a:prstGeom prst="line">
              <a:avLst/>
            </a:prstGeom>
            <a:noFill/>
            <a:ln w="28575">
              <a:solidFill>
                <a:srgbClr val="FFCC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72" name="Line 40">
              <a:extLst>
                <a:ext uri="{FF2B5EF4-FFF2-40B4-BE49-F238E27FC236}">
                  <a16:creationId xmlns:a16="http://schemas.microsoft.com/office/drawing/2014/main" id="{F85A79CF-3E1D-E3C9-AD20-44F5E5C0FCD9}"/>
                </a:ext>
              </a:extLst>
            </p:cNvPr>
            <p:cNvSpPr>
              <a:spLocks noChangeAspect="1" noChangeShapeType="1"/>
            </p:cNvSpPr>
            <p:nvPr/>
          </p:nvSpPr>
          <p:spPr bwMode="auto">
            <a:xfrm flipH="1">
              <a:off x="3415" y="1784"/>
              <a:ext cx="409" cy="470"/>
            </a:xfrm>
            <a:prstGeom prst="line">
              <a:avLst/>
            </a:prstGeom>
            <a:noFill/>
            <a:ln w="19050">
              <a:solidFill>
                <a:srgbClr val="FFFF00"/>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73" name="Line 41">
              <a:extLst>
                <a:ext uri="{FF2B5EF4-FFF2-40B4-BE49-F238E27FC236}">
                  <a16:creationId xmlns:a16="http://schemas.microsoft.com/office/drawing/2014/main" id="{C701B696-2EB9-F4F3-739C-359359CF8072}"/>
                </a:ext>
              </a:extLst>
            </p:cNvPr>
            <p:cNvSpPr>
              <a:spLocks noChangeAspect="1" noChangeShapeType="1"/>
            </p:cNvSpPr>
            <p:nvPr/>
          </p:nvSpPr>
          <p:spPr bwMode="auto">
            <a:xfrm flipH="1" flipV="1">
              <a:off x="3395" y="1690"/>
              <a:ext cx="429" cy="86"/>
            </a:xfrm>
            <a:prstGeom prst="line">
              <a:avLst/>
            </a:prstGeom>
            <a:noFill/>
            <a:ln w="19050">
              <a:solidFill>
                <a:srgbClr val="FFFF00"/>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8" name="Group 42">
            <a:extLst>
              <a:ext uri="{FF2B5EF4-FFF2-40B4-BE49-F238E27FC236}">
                <a16:creationId xmlns:a16="http://schemas.microsoft.com/office/drawing/2014/main" id="{B95782BA-E941-00D4-CBDC-8F11384B3E9A}"/>
              </a:ext>
            </a:extLst>
          </p:cNvPr>
          <p:cNvGrpSpPr>
            <a:grpSpLocks noChangeAspect="1"/>
          </p:cNvGrpSpPr>
          <p:nvPr/>
        </p:nvGrpSpPr>
        <p:grpSpPr bwMode="auto">
          <a:xfrm>
            <a:off x="7542213" y="1671638"/>
            <a:ext cx="452437" cy="808037"/>
            <a:chOff x="3026" y="1444"/>
            <a:chExt cx="381" cy="683"/>
          </a:xfrm>
        </p:grpSpPr>
        <p:sp>
          <p:nvSpPr>
            <p:cNvPr id="735275" name="Line 43">
              <a:extLst>
                <a:ext uri="{FF2B5EF4-FFF2-40B4-BE49-F238E27FC236}">
                  <a16:creationId xmlns:a16="http://schemas.microsoft.com/office/drawing/2014/main" id="{143AEA2C-92B2-6068-F070-2FA2D394E9E4}"/>
                </a:ext>
              </a:extLst>
            </p:cNvPr>
            <p:cNvSpPr>
              <a:spLocks noChangeAspect="1" noChangeShapeType="1"/>
            </p:cNvSpPr>
            <p:nvPr/>
          </p:nvSpPr>
          <p:spPr bwMode="auto">
            <a:xfrm flipV="1">
              <a:off x="3026" y="1690"/>
              <a:ext cx="381" cy="437"/>
            </a:xfrm>
            <a:prstGeom prst="line">
              <a:avLst/>
            </a:prstGeom>
            <a:noFill/>
            <a:ln w="28575">
              <a:solidFill>
                <a:schemeClr val="hlink"/>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280" name="Object 14">
              <a:extLst>
                <a:ext uri="{FF2B5EF4-FFF2-40B4-BE49-F238E27FC236}">
                  <a16:creationId xmlns:a16="http://schemas.microsoft.com/office/drawing/2014/main" id="{205923C3-DCC1-F077-A598-457488D0D5D1}"/>
                </a:ext>
              </a:extLst>
            </p:cNvPr>
            <p:cNvGraphicFramePr>
              <a:graphicFrameLocks noChangeAspect="1"/>
            </p:cNvGraphicFramePr>
            <p:nvPr/>
          </p:nvGraphicFramePr>
          <p:xfrm>
            <a:off x="3148" y="1444"/>
            <a:ext cx="249" cy="288"/>
          </p:xfrm>
          <a:graphic>
            <a:graphicData uri="http://schemas.openxmlformats.org/presentationml/2006/ole">
              <mc:AlternateContent xmlns:mc="http://schemas.openxmlformats.org/markup-compatibility/2006">
                <mc:Choice xmlns:v="urn:schemas-microsoft-com:vml" Requires="v">
                  <p:oleObj name="公式" r:id="rId24" imgW="388651" imgH="449386" progId="Equation.3">
                    <p:embed/>
                  </p:oleObj>
                </mc:Choice>
                <mc:Fallback>
                  <p:oleObj name="公式" r:id="rId24" imgW="388651" imgH="449386" progId="Equation.3">
                    <p:embed/>
                    <p:pic>
                      <p:nvPicPr>
                        <p:cNvPr id="0" name="Object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48" y="1444"/>
                          <a:ext cx="24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5">
            <a:extLst>
              <a:ext uri="{FF2B5EF4-FFF2-40B4-BE49-F238E27FC236}">
                <a16:creationId xmlns:a16="http://schemas.microsoft.com/office/drawing/2014/main" id="{BB515B15-6648-63FD-BACA-7DA165C47780}"/>
              </a:ext>
            </a:extLst>
          </p:cNvPr>
          <p:cNvGrpSpPr>
            <a:grpSpLocks noChangeAspect="1"/>
          </p:cNvGrpSpPr>
          <p:nvPr/>
        </p:nvGrpSpPr>
        <p:grpSpPr bwMode="auto">
          <a:xfrm>
            <a:off x="6946900" y="1898650"/>
            <a:ext cx="769938" cy="582613"/>
            <a:chOff x="2523" y="1636"/>
            <a:chExt cx="650" cy="492"/>
          </a:xfrm>
        </p:grpSpPr>
        <p:sp>
          <p:nvSpPr>
            <p:cNvPr id="735278" name="Line 46">
              <a:extLst>
                <a:ext uri="{FF2B5EF4-FFF2-40B4-BE49-F238E27FC236}">
                  <a16:creationId xmlns:a16="http://schemas.microsoft.com/office/drawing/2014/main" id="{BFC9101C-9D3C-B84F-23CE-C12241B8CB5B}"/>
                </a:ext>
              </a:extLst>
            </p:cNvPr>
            <p:cNvSpPr>
              <a:spLocks noChangeAspect="1" noChangeShapeType="1"/>
            </p:cNvSpPr>
            <p:nvPr/>
          </p:nvSpPr>
          <p:spPr bwMode="auto">
            <a:xfrm flipH="1">
              <a:off x="2544" y="1808"/>
              <a:ext cx="150" cy="177"/>
            </a:xfrm>
            <a:prstGeom prst="line">
              <a:avLst/>
            </a:prstGeom>
            <a:noFill/>
            <a:ln w="19050">
              <a:solidFill>
                <a:srgbClr val="66FF33"/>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79" name="Line 47">
              <a:extLst>
                <a:ext uri="{FF2B5EF4-FFF2-40B4-BE49-F238E27FC236}">
                  <a16:creationId xmlns:a16="http://schemas.microsoft.com/office/drawing/2014/main" id="{9671D2F6-FC2B-00FE-86EC-3028A8DA7396}"/>
                </a:ext>
              </a:extLst>
            </p:cNvPr>
            <p:cNvSpPr>
              <a:spLocks noChangeAspect="1" noChangeShapeType="1"/>
            </p:cNvSpPr>
            <p:nvPr/>
          </p:nvSpPr>
          <p:spPr bwMode="auto">
            <a:xfrm flipH="1" flipV="1">
              <a:off x="2523" y="1983"/>
              <a:ext cx="448" cy="131"/>
            </a:xfrm>
            <a:prstGeom prst="line">
              <a:avLst/>
            </a:prstGeom>
            <a:noFill/>
            <a:ln w="28575">
              <a:solidFill>
                <a:srgbClr val="66FF33"/>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5280" name="Line 48">
              <a:extLst>
                <a:ext uri="{FF2B5EF4-FFF2-40B4-BE49-F238E27FC236}">
                  <a16:creationId xmlns:a16="http://schemas.microsoft.com/office/drawing/2014/main" id="{4C8BBBC5-3FF5-8A8D-D968-5331CCB395F5}"/>
                </a:ext>
              </a:extLst>
            </p:cNvPr>
            <p:cNvSpPr>
              <a:spLocks noChangeAspect="1" noChangeShapeType="1"/>
            </p:cNvSpPr>
            <p:nvPr/>
          </p:nvSpPr>
          <p:spPr bwMode="auto">
            <a:xfrm>
              <a:off x="2704" y="1808"/>
              <a:ext cx="464" cy="153"/>
            </a:xfrm>
            <a:prstGeom prst="line">
              <a:avLst/>
            </a:prstGeom>
            <a:noFill/>
            <a:ln w="19050">
              <a:solidFill>
                <a:srgbClr val="66FF33"/>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276" name="Group 49">
              <a:extLst>
                <a:ext uri="{FF2B5EF4-FFF2-40B4-BE49-F238E27FC236}">
                  <a16:creationId xmlns:a16="http://schemas.microsoft.com/office/drawing/2014/main" id="{BFDA2E0D-8AB7-5F4B-B75D-85E54EFC27AF}"/>
                </a:ext>
              </a:extLst>
            </p:cNvPr>
            <p:cNvGrpSpPr>
              <a:grpSpLocks noChangeAspect="1"/>
            </p:cNvGrpSpPr>
            <p:nvPr/>
          </p:nvGrpSpPr>
          <p:grpSpPr bwMode="auto">
            <a:xfrm>
              <a:off x="2767" y="1636"/>
              <a:ext cx="406" cy="492"/>
              <a:chOff x="2767" y="1636"/>
              <a:chExt cx="406" cy="492"/>
            </a:xfrm>
          </p:grpSpPr>
          <p:graphicFrame>
            <p:nvGraphicFramePr>
              <p:cNvPr id="10277" name="Object 13">
                <a:extLst>
                  <a:ext uri="{FF2B5EF4-FFF2-40B4-BE49-F238E27FC236}">
                    <a16:creationId xmlns:a16="http://schemas.microsoft.com/office/drawing/2014/main" id="{C9ED4D80-4711-B588-C96D-9F50E0AF49F0}"/>
                  </a:ext>
                </a:extLst>
              </p:cNvPr>
              <p:cNvGraphicFramePr>
                <a:graphicFrameLocks noChangeAspect="1"/>
              </p:cNvGraphicFramePr>
              <p:nvPr/>
            </p:nvGraphicFramePr>
            <p:xfrm>
              <a:off x="2767" y="1636"/>
              <a:ext cx="380" cy="313"/>
            </p:xfrm>
            <a:graphic>
              <a:graphicData uri="http://schemas.openxmlformats.org/presentationml/2006/ole">
                <mc:AlternateContent xmlns:mc="http://schemas.openxmlformats.org/markup-compatibility/2006">
                  <mc:Choice xmlns:v="urn:schemas-microsoft-com:vml" Requires="v">
                    <p:oleObj name="公式" r:id="rId26" imgW="586709" imgH="487791" progId="Equation.3">
                      <p:embed/>
                    </p:oleObj>
                  </mc:Choice>
                  <mc:Fallback>
                    <p:oleObj name="公式" r:id="rId26" imgW="586709" imgH="487791" progId="Equation.3">
                      <p:embed/>
                      <p:pic>
                        <p:nvPicPr>
                          <p:cNvPr id="0" name="Object 1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767" y="1636"/>
                            <a:ext cx="380"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83" name="Line 51">
                <a:extLst>
                  <a:ext uri="{FF2B5EF4-FFF2-40B4-BE49-F238E27FC236}">
                    <a16:creationId xmlns:a16="http://schemas.microsoft.com/office/drawing/2014/main" id="{8F1E7EC4-48DD-500D-4D26-AD7867A63F1E}"/>
                  </a:ext>
                </a:extLst>
              </p:cNvPr>
              <p:cNvSpPr>
                <a:spLocks noChangeAspect="1" noChangeShapeType="1"/>
              </p:cNvSpPr>
              <p:nvPr/>
            </p:nvSpPr>
            <p:spPr bwMode="auto">
              <a:xfrm flipV="1">
                <a:off x="3026" y="1959"/>
                <a:ext cx="147" cy="169"/>
              </a:xfrm>
              <a:prstGeom prst="line">
                <a:avLst/>
              </a:prstGeom>
              <a:noFill/>
              <a:ln w="28575">
                <a:solidFill>
                  <a:srgbClr val="66FF33"/>
                </a:solidFill>
                <a:round/>
                <a:headEnd/>
                <a:tailEnd type="triangle" w="sm"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1" name="Group 52">
            <a:extLst>
              <a:ext uri="{FF2B5EF4-FFF2-40B4-BE49-F238E27FC236}">
                <a16:creationId xmlns:a16="http://schemas.microsoft.com/office/drawing/2014/main" id="{8F002FA1-29E3-FE47-67F0-1B3F7E9670EA}"/>
              </a:ext>
            </a:extLst>
          </p:cNvPr>
          <p:cNvGrpSpPr>
            <a:grpSpLocks noChangeAspect="1"/>
          </p:cNvGrpSpPr>
          <p:nvPr/>
        </p:nvGrpSpPr>
        <p:grpSpPr bwMode="auto">
          <a:xfrm>
            <a:off x="7151688" y="2387600"/>
            <a:ext cx="682625" cy="469900"/>
            <a:chOff x="2657" y="2061"/>
            <a:chExt cx="576" cy="397"/>
          </a:xfrm>
        </p:grpSpPr>
        <p:sp>
          <p:nvSpPr>
            <p:cNvPr id="735285" name="Oval 53">
              <a:extLst>
                <a:ext uri="{FF2B5EF4-FFF2-40B4-BE49-F238E27FC236}">
                  <a16:creationId xmlns:a16="http://schemas.microsoft.com/office/drawing/2014/main" id="{674C3274-EFDC-25C8-D004-CA9699B9A753}"/>
                </a:ext>
              </a:extLst>
            </p:cNvPr>
            <p:cNvSpPr>
              <a:spLocks noChangeAspect="1" noChangeArrowheads="1"/>
            </p:cNvSpPr>
            <p:nvPr/>
          </p:nvSpPr>
          <p:spPr bwMode="auto">
            <a:xfrm>
              <a:off x="2928" y="2091"/>
              <a:ext cx="88" cy="90"/>
            </a:xfrm>
            <a:prstGeom prst="ellipse">
              <a:avLst/>
            </a:prstGeom>
            <a:solidFill>
              <a:srgbClr val="FF0000"/>
            </a:solidFill>
            <a:ln w="127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271" name="Object 11">
              <a:extLst>
                <a:ext uri="{FF2B5EF4-FFF2-40B4-BE49-F238E27FC236}">
                  <a16:creationId xmlns:a16="http://schemas.microsoft.com/office/drawing/2014/main" id="{1B72A8BF-68BD-2FA1-FD88-07CFCF89B260}"/>
                </a:ext>
              </a:extLst>
            </p:cNvPr>
            <p:cNvGraphicFramePr>
              <a:graphicFrameLocks noChangeAspect="1"/>
            </p:cNvGraphicFramePr>
            <p:nvPr/>
          </p:nvGraphicFramePr>
          <p:xfrm>
            <a:off x="2657" y="2061"/>
            <a:ext cx="184" cy="288"/>
          </p:xfrm>
          <a:graphic>
            <a:graphicData uri="http://schemas.openxmlformats.org/presentationml/2006/ole">
              <mc:AlternateContent xmlns:mc="http://schemas.openxmlformats.org/markup-compatibility/2006">
                <mc:Choice xmlns:v="urn:schemas-microsoft-com:vml" Requires="v">
                  <p:oleObj name="公式" r:id="rId28" imgW="282158" imgH="449386" progId="Equation.3">
                    <p:embed/>
                  </p:oleObj>
                </mc:Choice>
                <mc:Fallback>
                  <p:oleObj name="公式" r:id="rId28" imgW="282158" imgH="449386" progId="Equation.3">
                    <p:embed/>
                    <p:pic>
                      <p:nvPicPr>
                        <p:cNvPr id="0" name="Object 1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657" y="2061"/>
                          <a:ext cx="1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2" name="Object 12">
              <a:extLst>
                <a:ext uri="{FF2B5EF4-FFF2-40B4-BE49-F238E27FC236}">
                  <a16:creationId xmlns:a16="http://schemas.microsoft.com/office/drawing/2014/main" id="{32CB8312-7E2F-4863-95A5-2BD9F3767FF6}"/>
                </a:ext>
              </a:extLst>
            </p:cNvPr>
            <p:cNvGraphicFramePr>
              <a:graphicFrameLocks noChangeAspect="1"/>
            </p:cNvGraphicFramePr>
            <p:nvPr/>
          </p:nvGraphicFramePr>
          <p:xfrm>
            <a:off x="2850" y="2172"/>
            <a:ext cx="383" cy="286"/>
          </p:xfrm>
          <a:graphic>
            <a:graphicData uri="http://schemas.openxmlformats.org/presentationml/2006/ole">
              <mc:AlternateContent xmlns:mc="http://schemas.openxmlformats.org/markup-compatibility/2006">
                <mc:Choice xmlns:v="urn:schemas-microsoft-com:vml" Requires="v">
                  <p:oleObj name="公式" r:id="rId30" imgW="602136" imgH="449386" progId="Equation.3">
                    <p:embed/>
                  </p:oleObj>
                </mc:Choice>
                <mc:Fallback>
                  <p:oleObj name="公式" r:id="rId30" imgW="602136" imgH="449386" progId="Equation.3">
                    <p:embed/>
                    <p:pic>
                      <p:nvPicPr>
                        <p:cNvPr id="0" name="Object 1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50" y="2172"/>
                          <a:ext cx="383"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5288" name="Text Box 56">
            <a:extLst>
              <a:ext uri="{FF2B5EF4-FFF2-40B4-BE49-F238E27FC236}">
                <a16:creationId xmlns:a16="http://schemas.microsoft.com/office/drawing/2014/main" id="{A4345E3A-5484-2B06-A894-5F53F51F1B07}"/>
              </a:ext>
            </a:extLst>
          </p:cNvPr>
          <p:cNvSpPr txBox="1">
            <a:spLocks noChangeArrowheads="1"/>
          </p:cNvSpPr>
          <p:nvPr/>
        </p:nvSpPr>
        <p:spPr bwMode="auto">
          <a:xfrm>
            <a:off x="719138" y="5054600"/>
            <a:ext cx="4205287" cy="530225"/>
          </a:xfrm>
          <a:prstGeom prst="rect">
            <a:avLst/>
          </a:prstGeom>
          <a:noFill/>
          <a:ln w="12700">
            <a:noFill/>
            <a:miter lim="800000"/>
            <a:headEnd type="none" w="sm" len="sm"/>
            <a:tailEnd type="none" w="sm" len="sm"/>
          </a:ln>
          <a:effectLst/>
        </p:spPr>
        <p:txBody>
          <a:bodyPr anchor="ctr">
            <a:spAutoFit/>
          </a:bodyPr>
          <a:lstStyle/>
          <a:p>
            <a:pPr>
              <a:lnSpc>
                <a:spcPct val="120000"/>
              </a:lnSpc>
              <a:buClr>
                <a:srgbClr val="00FFFF"/>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其中内力的力矩之和为</a:t>
            </a:r>
            <a:endParaRPr kumimoji="1" lang="zh-CN" altLang="en-US" b="0">
              <a:latin typeface="Times New Roman" pitchFamily="18" charset="0"/>
            </a:endParaRPr>
          </a:p>
        </p:txBody>
      </p:sp>
      <p:graphicFrame>
        <p:nvGraphicFramePr>
          <p:cNvPr id="735289" name="Object 9">
            <a:extLst>
              <a:ext uri="{FF2B5EF4-FFF2-40B4-BE49-F238E27FC236}">
                <a16:creationId xmlns:a16="http://schemas.microsoft.com/office/drawing/2014/main" id="{21EBBF45-D809-F5DB-4D78-30EDEE929F25}"/>
              </a:ext>
            </a:extLst>
          </p:cNvPr>
          <p:cNvGraphicFramePr>
            <a:graphicFrameLocks noChangeAspect="1"/>
          </p:cNvGraphicFramePr>
          <p:nvPr/>
        </p:nvGraphicFramePr>
        <p:xfrm>
          <a:off x="4227513" y="5165725"/>
          <a:ext cx="1485900" cy="622300"/>
        </p:xfrm>
        <a:graphic>
          <a:graphicData uri="http://schemas.openxmlformats.org/presentationml/2006/ole">
            <mc:AlternateContent xmlns:mc="http://schemas.openxmlformats.org/markup-compatibility/2006">
              <mc:Choice xmlns:v="urn:schemas-microsoft-com:vml" Requires="v">
                <p:oleObj name="公式" r:id="rId32" imgW="1478467" imgH="617469" progId="Equation.3">
                  <p:embed/>
                </p:oleObj>
              </mc:Choice>
              <mc:Fallback>
                <p:oleObj name="公式" r:id="rId32" imgW="1478467" imgH="617469" progId="Equation.3">
                  <p:embed/>
                  <p:pic>
                    <p:nvPicPr>
                      <p:cNvPr id="0" name="Object 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227513" y="5165725"/>
                        <a:ext cx="1485900" cy="622300"/>
                      </a:xfrm>
                      <a:prstGeom prst="rect">
                        <a:avLst/>
                      </a:prstGeom>
                      <a:noFill/>
                      <a:ln>
                        <a:noFill/>
                      </a:ln>
                      <a:effectLst/>
                      <a:extLst>
                        <a:ext uri="{909E8E84-426E-40DD-AFC4-6F175D3DCCD1}">
                          <a14:hiddenFill xmlns:a14="http://schemas.microsoft.com/office/drawing/2010/main">
                            <a:solidFill>
                              <a:srgbClr val="00FFFF">
                                <a:alpha val="23921"/>
                              </a:srgbClr>
                            </a:solidFill>
                          </a14:hiddenFill>
                        </a:ext>
                        <a:ext uri="{91240B29-F687-4F45-9708-019B960494DF}">
                          <a14:hiddenLine xmlns:a14="http://schemas.microsoft.com/office/drawing/2010/main" w="635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5290" name="Text Box 58">
            <a:extLst>
              <a:ext uri="{FF2B5EF4-FFF2-40B4-BE49-F238E27FC236}">
                <a16:creationId xmlns:a16="http://schemas.microsoft.com/office/drawing/2014/main" id="{CBF88CB7-1C60-A608-8ABA-F8EBC53B0423}"/>
              </a:ext>
            </a:extLst>
          </p:cNvPr>
          <p:cNvSpPr txBox="1">
            <a:spLocks noChangeArrowheads="1"/>
          </p:cNvSpPr>
          <p:nvPr/>
        </p:nvSpPr>
        <p:spPr bwMode="auto">
          <a:xfrm>
            <a:off x="1338263" y="5753100"/>
            <a:ext cx="1892300" cy="530225"/>
          </a:xfrm>
          <a:prstGeom prst="rect">
            <a:avLst/>
          </a:prstGeom>
          <a:noFill/>
          <a:ln w="12700">
            <a:noFill/>
            <a:miter lim="800000"/>
            <a:headEnd type="none" w="sm" len="sm"/>
            <a:tailEnd type="none" w="sm" len="sm"/>
          </a:ln>
          <a:effectLst/>
        </p:spPr>
        <p:txBody>
          <a:bodyPr anchor="ctr">
            <a:spAutoFit/>
          </a:bodyPr>
          <a:lstStyle/>
          <a:p>
            <a:pPr>
              <a:lnSpc>
                <a:spcPct val="120000"/>
              </a:lnSpc>
              <a:buClr>
                <a:srgbClr val="00FFFF"/>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所以</a:t>
            </a:r>
            <a:endParaRPr kumimoji="1" lang="zh-CN" altLang="en-US" b="0">
              <a:latin typeface="Times New Roman" pitchFamily="18" charset="0"/>
            </a:endParaRPr>
          </a:p>
        </p:txBody>
      </p:sp>
      <p:graphicFrame>
        <p:nvGraphicFramePr>
          <p:cNvPr id="735291" name="Object 10">
            <a:extLst>
              <a:ext uri="{FF2B5EF4-FFF2-40B4-BE49-F238E27FC236}">
                <a16:creationId xmlns:a16="http://schemas.microsoft.com/office/drawing/2014/main" id="{C8AA83FD-842A-1AC0-3D2B-0CF232945279}"/>
              </a:ext>
            </a:extLst>
          </p:cNvPr>
          <p:cNvGraphicFramePr>
            <a:graphicFrameLocks noChangeAspect="1"/>
          </p:cNvGraphicFramePr>
          <p:nvPr/>
        </p:nvGraphicFramePr>
        <p:xfrm>
          <a:off x="3949700" y="5829300"/>
          <a:ext cx="2489200" cy="660400"/>
        </p:xfrm>
        <a:graphic>
          <a:graphicData uri="http://schemas.openxmlformats.org/presentationml/2006/ole">
            <mc:AlternateContent xmlns:mc="http://schemas.openxmlformats.org/markup-compatibility/2006">
              <mc:Choice xmlns:v="urn:schemas-microsoft-com:vml" Requires="v">
                <p:oleObj name="公式" r:id="rId34" imgW="2484182" imgH="655375" progId="Equation.3">
                  <p:embed/>
                </p:oleObj>
              </mc:Choice>
              <mc:Fallback>
                <p:oleObj name="公式" r:id="rId34" imgW="2484182" imgH="655375" progId="Equation.3">
                  <p:embed/>
                  <p:pic>
                    <p:nvPicPr>
                      <p:cNvPr id="0" name="Object 1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949700" y="5829300"/>
                        <a:ext cx="2489200" cy="6604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5247"/>
                                        </p:tgtEl>
                                        <p:attrNameLst>
                                          <p:attrName>style.visibility</p:attrName>
                                        </p:attrNameLst>
                                      </p:cBhvr>
                                      <p:to>
                                        <p:strVal val="visible"/>
                                      </p:to>
                                    </p:set>
                                    <p:animEffect transition="in" filter="wipe(left)">
                                      <p:cBhvr>
                                        <p:cTn id="7" dur="500"/>
                                        <p:tgtEl>
                                          <p:spTgt spid="7352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35234"/>
                                        </p:tgtEl>
                                        <p:attrNameLst>
                                          <p:attrName>style.visibility</p:attrName>
                                        </p:attrNameLst>
                                      </p:cBhvr>
                                      <p:to>
                                        <p:strVal val="visible"/>
                                      </p:to>
                                    </p:set>
                                    <p:animEffect transition="in" filter="box(in)">
                                      <p:cBhvr>
                                        <p:cTn id="12" dur="500"/>
                                        <p:tgtEl>
                                          <p:spTgt spid="7352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35266"/>
                                        </p:tgtEl>
                                        <p:attrNameLst>
                                          <p:attrName>style.visibility</p:attrName>
                                        </p:attrNameLst>
                                      </p:cBhvr>
                                      <p:to>
                                        <p:strVal val="visible"/>
                                      </p:to>
                                    </p:set>
                                    <p:animEffect transition="in" filter="wipe(down)">
                                      <p:cBhvr>
                                        <p:cTn id="27" dur="500"/>
                                        <p:tgtEl>
                                          <p:spTgt spid="7352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right)">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35235"/>
                                        </p:tgtEl>
                                        <p:attrNameLst>
                                          <p:attrName>style.visibility</p:attrName>
                                        </p:attrNameLst>
                                      </p:cBhvr>
                                      <p:to>
                                        <p:strVal val="visible"/>
                                      </p:to>
                                    </p:set>
                                    <p:animEffect transition="in" filter="wipe(left)">
                                      <p:cBhvr>
                                        <p:cTn id="47" dur="500"/>
                                        <p:tgtEl>
                                          <p:spTgt spid="73523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35240"/>
                                        </p:tgtEl>
                                        <p:attrNameLst>
                                          <p:attrName>style.visibility</p:attrName>
                                        </p:attrNameLst>
                                      </p:cBhvr>
                                      <p:to>
                                        <p:strVal val="visible"/>
                                      </p:to>
                                    </p:set>
                                    <p:animEffect transition="in" filter="wipe(left)">
                                      <p:cBhvr>
                                        <p:cTn id="52" dur="500"/>
                                        <p:tgtEl>
                                          <p:spTgt spid="73524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35254"/>
                                        </p:tgtEl>
                                        <p:attrNameLst>
                                          <p:attrName>style.visibility</p:attrName>
                                        </p:attrNameLst>
                                      </p:cBhvr>
                                      <p:to>
                                        <p:strVal val="visible"/>
                                      </p:to>
                                    </p:set>
                                    <p:animEffect transition="in" filter="wipe(left)">
                                      <p:cBhvr>
                                        <p:cTn id="57" dur="500"/>
                                        <p:tgtEl>
                                          <p:spTgt spid="73525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right)">
                                      <p:cBhvr>
                                        <p:cTn id="62" dur="500"/>
                                        <p:tgtEl>
                                          <p:spTgt spid="7"/>
                                        </p:tgtEl>
                                      </p:cBhvr>
                                    </p:animEffect>
                                  </p:childTnLst>
                                </p:cTn>
                              </p:par>
                            </p:childTnLst>
                          </p:cTn>
                        </p:par>
                        <p:par>
                          <p:cTn id="63" fill="hold" nodeType="afterGroup">
                            <p:stCondLst>
                              <p:cond delay="500"/>
                            </p:stCondLst>
                            <p:childTnLst>
                              <p:par>
                                <p:cTn id="64" presetID="22" presetClass="entr" presetSubtype="4" fill="hold" nodeType="after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wipe(down)">
                                      <p:cBhvr>
                                        <p:cTn id="66" dur="500"/>
                                        <p:tgtEl>
                                          <p:spTgt spid="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2"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wipe(right)">
                                      <p:cBhvr>
                                        <p:cTn id="71" dur="500"/>
                                        <p:tgtEl>
                                          <p:spTgt spid="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735239"/>
                                        </p:tgtEl>
                                        <p:attrNameLst>
                                          <p:attrName>style.visibility</p:attrName>
                                        </p:attrNameLst>
                                      </p:cBhvr>
                                      <p:to>
                                        <p:strVal val="visible"/>
                                      </p:to>
                                    </p:set>
                                    <p:animEffect transition="in" filter="wipe(left)">
                                      <p:cBhvr>
                                        <p:cTn id="76" dur="500"/>
                                        <p:tgtEl>
                                          <p:spTgt spid="735239"/>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735241"/>
                                        </p:tgtEl>
                                        <p:attrNameLst>
                                          <p:attrName>style.visibility</p:attrName>
                                        </p:attrNameLst>
                                      </p:cBhvr>
                                      <p:to>
                                        <p:strVal val="visible"/>
                                      </p:to>
                                    </p:set>
                                    <p:animEffect transition="in" filter="wipe(left)">
                                      <p:cBhvr>
                                        <p:cTn id="80" dur="500"/>
                                        <p:tgtEl>
                                          <p:spTgt spid="735241"/>
                                        </p:tgtEl>
                                      </p:cBhvr>
                                    </p:animEffect>
                                  </p:childTnLst>
                                </p:cTn>
                              </p:par>
                            </p:childTnLst>
                          </p:cTn>
                        </p:par>
                        <p:par>
                          <p:cTn id="81" fill="hold" nodeType="afterGroup">
                            <p:stCondLst>
                              <p:cond delay="1000"/>
                            </p:stCondLst>
                            <p:childTnLst>
                              <p:par>
                                <p:cTn id="82" presetID="22" presetClass="entr" presetSubtype="8" fill="hold" nodeType="afterEffect">
                                  <p:stCondLst>
                                    <p:cond delay="0"/>
                                  </p:stCondLst>
                                  <p:childTnLst>
                                    <p:set>
                                      <p:cBhvr>
                                        <p:cTn id="83" dur="1" fill="hold">
                                          <p:stCondLst>
                                            <p:cond delay="0"/>
                                          </p:stCondLst>
                                        </p:cTn>
                                        <p:tgtEl>
                                          <p:spTgt spid="735242"/>
                                        </p:tgtEl>
                                        <p:attrNameLst>
                                          <p:attrName>style.visibility</p:attrName>
                                        </p:attrNameLst>
                                      </p:cBhvr>
                                      <p:to>
                                        <p:strVal val="visible"/>
                                      </p:to>
                                    </p:set>
                                    <p:animEffect transition="in" filter="wipe(left)">
                                      <p:cBhvr>
                                        <p:cTn id="84" dur="500"/>
                                        <p:tgtEl>
                                          <p:spTgt spid="73524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735237"/>
                                        </p:tgtEl>
                                        <p:attrNameLst>
                                          <p:attrName>style.visibility</p:attrName>
                                        </p:attrNameLst>
                                      </p:cBhvr>
                                      <p:to>
                                        <p:strVal val="visible"/>
                                      </p:to>
                                    </p:set>
                                    <p:animEffect transition="in" filter="wipe(left)">
                                      <p:cBhvr>
                                        <p:cTn id="89" dur="500"/>
                                        <p:tgtEl>
                                          <p:spTgt spid="73523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735243"/>
                                        </p:tgtEl>
                                        <p:attrNameLst>
                                          <p:attrName>style.visibility</p:attrName>
                                        </p:attrNameLst>
                                      </p:cBhvr>
                                      <p:to>
                                        <p:strVal val="visible"/>
                                      </p:to>
                                    </p:set>
                                    <p:animEffect transition="in" filter="wipe(left)">
                                      <p:cBhvr>
                                        <p:cTn id="94" dur="500"/>
                                        <p:tgtEl>
                                          <p:spTgt spid="73524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735244"/>
                                        </p:tgtEl>
                                        <p:attrNameLst>
                                          <p:attrName>style.visibility</p:attrName>
                                        </p:attrNameLst>
                                      </p:cBhvr>
                                      <p:to>
                                        <p:strVal val="visible"/>
                                      </p:to>
                                    </p:set>
                                    <p:animEffect transition="in" filter="wipe(left)">
                                      <p:cBhvr>
                                        <p:cTn id="99" dur="500"/>
                                        <p:tgtEl>
                                          <p:spTgt spid="735244"/>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735236"/>
                                        </p:tgtEl>
                                        <p:attrNameLst>
                                          <p:attrName>style.visibility</p:attrName>
                                        </p:attrNameLst>
                                      </p:cBhvr>
                                      <p:to>
                                        <p:strVal val="visible"/>
                                      </p:to>
                                    </p:set>
                                    <p:animEffect transition="in" filter="wipe(left)">
                                      <p:cBhvr>
                                        <p:cTn id="104" dur="500"/>
                                        <p:tgtEl>
                                          <p:spTgt spid="735236"/>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735245"/>
                                        </p:tgtEl>
                                        <p:attrNameLst>
                                          <p:attrName>style.visibility</p:attrName>
                                        </p:attrNameLst>
                                      </p:cBhvr>
                                      <p:to>
                                        <p:strVal val="visible"/>
                                      </p:to>
                                    </p:set>
                                    <p:animEffect transition="in" filter="wipe(left)">
                                      <p:cBhvr>
                                        <p:cTn id="109" dur="500"/>
                                        <p:tgtEl>
                                          <p:spTgt spid="735245"/>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735238"/>
                                        </p:tgtEl>
                                        <p:attrNameLst>
                                          <p:attrName>style.visibility</p:attrName>
                                        </p:attrNameLst>
                                      </p:cBhvr>
                                      <p:to>
                                        <p:strVal val="visible"/>
                                      </p:to>
                                    </p:set>
                                    <p:animEffect transition="in" filter="wipe(left)">
                                      <p:cBhvr>
                                        <p:cTn id="114" dur="500"/>
                                        <p:tgtEl>
                                          <p:spTgt spid="73523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735246"/>
                                        </p:tgtEl>
                                        <p:attrNameLst>
                                          <p:attrName>style.visibility</p:attrName>
                                        </p:attrNameLst>
                                      </p:cBhvr>
                                      <p:to>
                                        <p:strVal val="visible"/>
                                      </p:to>
                                    </p:set>
                                    <p:animEffect transition="in" filter="wipe(left)">
                                      <p:cBhvr>
                                        <p:cTn id="119" dur="500"/>
                                        <p:tgtEl>
                                          <p:spTgt spid="735246"/>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735288"/>
                                        </p:tgtEl>
                                        <p:attrNameLst>
                                          <p:attrName>style.visibility</p:attrName>
                                        </p:attrNameLst>
                                      </p:cBhvr>
                                      <p:to>
                                        <p:strVal val="visible"/>
                                      </p:to>
                                    </p:set>
                                    <p:animEffect transition="in" filter="wipe(left)">
                                      <p:cBhvr>
                                        <p:cTn id="124" dur="500"/>
                                        <p:tgtEl>
                                          <p:spTgt spid="735288"/>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735289"/>
                                        </p:tgtEl>
                                        <p:attrNameLst>
                                          <p:attrName>style.visibility</p:attrName>
                                        </p:attrNameLst>
                                      </p:cBhvr>
                                      <p:to>
                                        <p:strVal val="visible"/>
                                      </p:to>
                                    </p:set>
                                    <p:animEffect transition="in" filter="wipe(left)">
                                      <p:cBhvr>
                                        <p:cTn id="129" dur="500"/>
                                        <p:tgtEl>
                                          <p:spTgt spid="735289"/>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735290"/>
                                        </p:tgtEl>
                                        <p:attrNameLst>
                                          <p:attrName>style.visibility</p:attrName>
                                        </p:attrNameLst>
                                      </p:cBhvr>
                                      <p:to>
                                        <p:strVal val="visible"/>
                                      </p:to>
                                    </p:set>
                                    <p:animEffect transition="in" filter="wipe(left)">
                                      <p:cBhvr>
                                        <p:cTn id="134" dur="500"/>
                                        <p:tgtEl>
                                          <p:spTgt spid="735290"/>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735291"/>
                                        </p:tgtEl>
                                        <p:attrNameLst>
                                          <p:attrName>style.visibility</p:attrName>
                                        </p:attrNameLst>
                                      </p:cBhvr>
                                      <p:to>
                                        <p:strVal val="visible"/>
                                      </p:to>
                                    </p:set>
                                    <p:animEffect transition="in" filter="wipe(left)">
                                      <p:cBhvr>
                                        <p:cTn id="139" dur="500"/>
                                        <p:tgtEl>
                                          <p:spTgt spid="735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5" grpId="0" autoUpdateAnimBg="0"/>
      <p:bldP spid="735236" grpId="0" autoUpdateAnimBg="0"/>
      <p:bldP spid="735237" grpId="0" autoUpdateAnimBg="0"/>
      <p:bldP spid="735238" grpId="0" autoUpdateAnimBg="0"/>
      <p:bldP spid="735239" grpId="0"/>
      <p:bldP spid="735247" grpId="0" autoUpdateAnimBg="0"/>
      <p:bldP spid="735288" grpId="0" autoUpdateAnimBg="0"/>
      <p:bldP spid="73529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a:extLst>
              <a:ext uri="{FF2B5EF4-FFF2-40B4-BE49-F238E27FC236}">
                <a16:creationId xmlns:a16="http://schemas.microsoft.com/office/drawing/2014/main" id="{86BAA140-7E22-21FA-89A2-50E53E47E062}"/>
              </a:ext>
            </a:extLst>
          </p:cNvPr>
          <p:cNvGrpSpPr>
            <a:grpSpLocks/>
          </p:cNvGrpSpPr>
          <p:nvPr/>
        </p:nvGrpSpPr>
        <p:grpSpPr bwMode="auto">
          <a:xfrm>
            <a:off x="5032375" y="277813"/>
            <a:ext cx="3635375" cy="3508375"/>
            <a:chOff x="3170" y="175"/>
            <a:chExt cx="2290" cy="2210"/>
          </a:xfrm>
        </p:grpSpPr>
        <p:sp>
          <p:nvSpPr>
            <p:cNvPr id="736259" name="Freeform 3">
              <a:extLst>
                <a:ext uri="{FF2B5EF4-FFF2-40B4-BE49-F238E27FC236}">
                  <a16:creationId xmlns:a16="http://schemas.microsoft.com/office/drawing/2014/main" id="{F241A16A-8745-4C75-8AC4-27EA6330A46E}"/>
                </a:ext>
              </a:extLst>
            </p:cNvPr>
            <p:cNvSpPr>
              <a:spLocks/>
            </p:cNvSpPr>
            <p:nvPr/>
          </p:nvSpPr>
          <p:spPr bwMode="auto">
            <a:xfrm>
              <a:off x="3170" y="175"/>
              <a:ext cx="2290" cy="2210"/>
            </a:xfrm>
            <a:custGeom>
              <a:avLst/>
              <a:gdLst/>
              <a:ahLst/>
              <a:cxnLst>
                <a:cxn ang="0">
                  <a:pos x="912" y="95"/>
                </a:cxn>
                <a:cxn ang="0">
                  <a:pos x="327" y="326"/>
                </a:cxn>
                <a:cxn ang="0">
                  <a:pos x="15" y="906"/>
                </a:cxn>
                <a:cxn ang="0">
                  <a:pos x="237" y="1654"/>
                </a:cxn>
                <a:cxn ang="0">
                  <a:pos x="661" y="1903"/>
                </a:cxn>
                <a:cxn ang="0">
                  <a:pos x="1167" y="2155"/>
                </a:cxn>
                <a:cxn ang="0">
                  <a:pos x="1368" y="2146"/>
                </a:cxn>
                <a:cxn ang="0">
                  <a:pos x="1578" y="2164"/>
                </a:cxn>
                <a:cxn ang="0">
                  <a:pos x="2026" y="1868"/>
                </a:cxn>
                <a:cxn ang="0">
                  <a:pos x="2276" y="1021"/>
                </a:cxn>
                <a:cxn ang="0">
                  <a:pos x="2109" y="462"/>
                </a:cxn>
                <a:cxn ang="0">
                  <a:pos x="1534" y="61"/>
                </a:cxn>
                <a:cxn ang="0">
                  <a:pos x="912" y="95"/>
                </a:cxn>
              </a:cxnLst>
              <a:rect l="0" t="0" r="r" b="b"/>
              <a:pathLst>
                <a:path w="2290" h="2210">
                  <a:moveTo>
                    <a:pt x="912" y="95"/>
                  </a:moveTo>
                  <a:cubicBezTo>
                    <a:pt x="712" y="139"/>
                    <a:pt x="476" y="191"/>
                    <a:pt x="327" y="326"/>
                  </a:cubicBezTo>
                  <a:cubicBezTo>
                    <a:pt x="178" y="461"/>
                    <a:pt x="30" y="685"/>
                    <a:pt x="15" y="906"/>
                  </a:cubicBezTo>
                  <a:cubicBezTo>
                    <a:pt x="0" y="1128"/>
                    <a:pt x="129" y="1488"/>
                    <a:pt x="237" y="1654"/>
                  </a:cubicBezTo>
                  <a:cubicBezTo>
                    <a:pt x="345" y="1820"/>
                    <a:pt x="506" y="1819"/>
                    <a:pt x="661" y="1903"/>
                  </a:cubicBezTo>
                  <a:cubicBezTo>
                    <a:pt x="816" y="1987"/>
                    <a:pt x="1049" y="2115"/>
                    <a:pt x="1167" y="2155"/>
                  </a:cubicBezTo>
                  <a:cubicBezTo>
                    <a:pt x="1285" y="2195"/>
                    <a:pt x="1300" y="2145"/>
                    <a:pt x="1368" y="2146"/>
                  </a:cubicBezTo>
                  <a:cubicBezTo>
                    <a:pt x="1436" y="2147"/>
                    <a:pt x="1468" y="2210"/>
                    <a:pt x="1578" y="2164"/>
                  </a:cubicBezTo>
                  <a:cubicBezTo>
                    <a:pt x="1688" y="2118"/>
                    <a:pt x="1910" y="2059"/>
                    <a:pt x="2026" y="1868"/>
                  </a:cubicBezTo>
                  <a:cubicBezTo>
                    <a:pt x="2142" y="1677"/>
                    <a:pt x="2262" y="1255"/>
                    <a:pt x="2276" y="1021"/>
                  </a:cubicBezTo>
                  <a:cubicBezTo>
                    <a:pt x="2290" y="787"/>
                    <a:pt x="2233" y="622"/>
                    <a:pt x="2109" y="462"/>
                  </a:cubicBezTo>
                  <a:cubicBezTo>
                    <a:pt x="1985" y="302"/>
                    <a:pt x="1734" y="122"/>
                    <a:pt x="1534" y="61"/>
                  </a:cubicBezTo>
                  <a:cubicBezTo>
                    <a:pt x="1334" y="0"/>
                    <a:pt x="1042" y="88"/>
                    <a:pt x="912" y="95"/>
                  </a:cubicBezTo>
                  <a:close/>
                </a:path>
              </a:pathLst>
            </a:custGeom>
            <a:solidFill>
              <a:srgbClr val="006699"/>
            </a:solidFill>
            <a:ln w="9525" cap="flat" cmpd="sng">
              <a:prstDash val="solid"/>
              <a:round/>
              <a:headEnd/>
              <a:tailEnd/>
            </a:ln>
            <a:effectLst/>
            <a:scene3d>
              <a:camera prst="legacyPerspectiveFront">
                <a:rot lat="17699998" lon="0" rev="0"/>
              </a:camera>
              <a:lightRig rig="legacyFlat1" dir="t"/>
            </a:scene3d>
            <a:sp3d extrusionH="201600" prstMaterial="legacyPlastic">
              <a:bevelT w="13500" h="13500" prst="angle"/>
              <a:bevelB w="13500" h="13500" prst="angle"/>
              <a:extrusionClr>
                <a:srgbClr val="006699"/>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1276" name="Group 4">
              <a:extLst>
                <a:ext uri="{FF2B5EF4-FFF2-40B4-BE49-F238E27FC236}">
                  <a16:creationId xmlns:a16="http://schemas.microsoft.com/office/drawing/2014/main" id="{C2DE49FB-A498-6A61-F504-E01C10C932E0}"/>
                </a:ext>
              </a:extLst>
            </p:cNvPr>
            <p:cNvGrpSpPr>
              <a:grpSpLocks noChangeAspect="1"/>
            </p:cNvGrpSpPr>
            <p:nvPr/>
          </p:nvGrpSpPr>
          <p:grpSpPr bwMode="auto">
            <a:xfrm>
              <a:off x="3931" y="1325"/>
              <a:ext cx="767" cy="321"/>
              <a:chOff x="1926" y="1808"/>
              <a:chExt cx="1029" cy="431"/>
            </a:xfrm>
          </p:grpSpPr>
          <p:sp>
            <p:nvSpPr>
              <p:cNvPr id="736261" name="Line 5">
                <a:extLst>
                  <a:ext uri="{FF2B5EF4-FFF2-40B4-BE49-F238E27FC236}">
                    <a16:creationId xmlns:a16="http://schemas.microsoft.com/office/drawing/2014/main" id="{9EC4CD15-29FD-97BC-076E-1E796169E518}"/>
                  </a:ext>
                </a:extLst>
              </p:cNvPr>
              <p:cNvSpPr>
                <a:spLocks noChangeAspect="1" noChangeShapeType="1"/>
              </p:cNvSpPr>
              <p:nvPr/>
            </p:nvSpPr>
            <p:spPr bwMode="auto">
              <a:xfrm>
                <a:off x="1926" y="1808"/>
                <a:ext cx="1029" cy="303"/>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1315" name="Object 13">
                <a:extLst>
                  <a:ext uri="{FF2B5EF4-FFF2-40B4-BE49-F238E27FC236}">
                    <a16:creationId xmlns:a16="http://schemas.microsoft.com/office/drawing/2014/main" id="{464CE249-5926-D1B5-2B3C-68615E3E4A86}"/>
                  </a:ext>
                </a:extLst>
              </p:cNvPr>
              <p:cNvGraphicFramePr>
                <a:graphicFrameLocks noChangeAspect="1"/>
              </p:cNvGraphicFramePr>
              <p:nvPr/>
            </p:nvGraphicFramePr>
            <p:xfrm>
              <a:off x="2080" y="1849"/>
              <a:ext cx="146" cy="390"/>
            </p:xfrm>
            <a:graphic>
              <a:graphicData uri="http://schemas.openxmlformats.org/presentationml/2006/ole">
                <mc:AlternateContent xmlns:mc="http://schemas.openxmlformats.org/markup-compatibility/2006">
                  <mc:Choice xmlns:v="urn:schemas-microsoft-com:vml" Requires="v">
                    <p:oleObj name="公式" r:id="rId2" imgW="220949" imgH="449386" progId="Equation.3">
                      <p:embed/>
                    </p:oleObj>
                  </mc:Choice>
                  <mc:Fallback>
                    <p:oleObj name="公式" r:id="rId2" imgW="220949" imgH="449386" progId="Equation.3">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0" y="1849"/>
                            <a:ext cx="146"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77" name="Group 7">
              <a:extLst>
                <a:ext uri="{FF2B5EF4-FFF2-40B4-BE49-F238E27FC236}">
                  <a16:creationId xmlns:a16="http://schemas.microsoft.com/office/drawing/2014/main" id="{B47B0D81-152D-F117-F636-E6819083CC48}"/>
                </a:ext>
              </a:extLst>
            </p:cNvPr>
            <p:cNvGrpSpPr>
              <a:grpSpLocks noChangeAspect="1"/>
            </p:cNvGrpSpPr>
            <p:nvPr/>
          </p:nvGrpSpPr>
          <p:grpSpPr bwMode="auto">
            <a:xfrm>
              <a:off x="4741" y="1084"/>
              <a:ext cx="648" cy="473"/>
              <a:chOff x="3012" y="1486"/>
              <a:chExt cx="869" cy="634"/>
            </a:xfrm>
          </p:grpSpPr>
          <p:sp>
            <p:nvSpPr>
              <p:cNvPr id="736264" name="Line 8">
                <a:extLst>
                  <a:ext uri="{FF2B5EF4-FFF2-40B4-BE49-F238E27FC236}">
                    <a16:creationId xmlns:a16="http://schemas.microsoft.com/office/drawing/2014/main" id="{272C136E-CFFD-985E-C03C-904DA9724F77}"/>
                  </a:ext>
                </a:extLst>
              </p:cNvPr>
              <p:cNvSpPr>
                <a:spLocks noChangeAspect="1" noChangeShapeType="1"/>
              </p:cNvSpPr>
              <p:nvPr/>
            </p:nvSpPr>
            <p:spPr bwMode="auto">
              <a:xfrm flipV="1">
                <a:off x="3012" y="1780"/>
                <a:ext cx="801" cy="340"/>
              </a:xfrm>
              <a:prstGeom prst="line">
                <a:avLst/>
              </a:prstGeom>
              <a:noFill/>
              <a:ln w="38100">
                <a:solidFill>
                  <a:srgbClr val="FF00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1313" name="Object 12">
                <a:extLst>
                  <a:ext uri="{FF2B5EF4-FFF2-40B4-BE49-F238E27FC236}">
                    <a16:creationId xmlns:a16="http://schemas.microsoft.com/office/drawing/2014/main" id="{86711B12-D837-AF2D-3DEA-77A20265C9C5}"/>
                  </a:ext>
                </a:extLst>
              </p:cNvPr>
              <p:cNvGraphicFramePr>
                <a:graphicFrameLocks noChangeAspect="1"/>
              </p:cNvGraphicFramePr>
              <p:nvPr/>
            </p:nvGraphicFramePr>
            <p:xfrm>
              <a:off x="3672" y="1486"/>
              <a:ext cx="209" cy="288"/>
            </p:xfrm>
            <a:graphic>
              <a:graphicData uri="http://schemas.openxmlformats.org/presentationml/2006/ole">
                <mc:AlternateContent xmlns:mc="http://schemas.openxmlformats.org/markup-compatibility/2006">
                  <mc:Choice xmlns:v="urn:schemas-microsoft-com:vml" Requires="v">
                    <p:oleObj name="公式" r:id="rId4" imgW="319978" imgH="449386" progId="Equation.3">
                      <p:embed/>
                    </p:oleObj>
                  </mc:Choice>
                  <mc:Fallback>
                    <p:oleObj name="公式" r:id="rId4" imgW="319978" imgH="449386"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2" y="1486"/>
                            <a:ext cx="20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6266" name="Line 10">
              <a:extLst>
                <a:ext uri="{FF2B5EF4-FFF2-40B4-BE49-F238E27FC236}">
                  <a16:creationId xmlns:a16="http://schemas.microsoft.com/office/drawing/2014/main" id="{6C90D31A-2DFC-FAE9-630B-CA23363806FD}"/>
                </a:ext>
              </a:extLst>
            </p:cNvPr>
            <p:cNvSpPr>
              <a:spLocks noChangeAspect="1" noChangeShapeType="1"/>
            </p:cNvSpPr>
            <p:nvPr/>
          </p:nvSpPr>
          <p:spPr bwMode="auto">
            <a:xfrm>
              <a:off x="4579" y="1516"/>
              <a:ext cx="618" cy="175"/>
            </a:xfrm>
            <a:prstGeom prst="line">
              <a:avLst/>
            </a:prstGeom>
            <a:noFill/>
            <a:ln w="12700">
              <a:solidFill>
                <a:srgbClr val="FFFF00"/>
              </a:solidFill>
              <a:prstDash val="dash"/>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1279" name="Group 11">
              <a:extLst>
                <a:ext uri="{FF2B5EF4-FFF2-40B4-BE49-F238E27FC236}">
                  <a16:creationId xmlns:a16="http://schemas.microsoft.com/office/drawing/2014/main" id="{8B4FF5F8-B33B-A995-407F-01C2CD015BC9}"/>
                </a:ext>
              </a:extLst>
            </p:cNvPr>
            <p:cNvGrpSpPr>
              <a:grpSpLocks/>
            </p:cNvGrpSpPr>
            <p:nvPr/>
          </p:nvGrpSpPr>
          <p:grpSpPr bwMode="auto">
            <a:xfrm>
              <a:off x="3776" y="326"/>
              <a:ext cx="331" cy="2021"/>
              <a:chOff x="3051" y="375"/>
              <a:chExt cx="331" cy="2021"/>
            </a:xfrm>
          </p:grpSpPr>
          <p:sp>
            <p:nvSpPr>
              <p:cNvPr id="736268" name="Line 12">
                <a:extLst>
                  <a:ext uri="{FF2B5EF4-FFF2-40B4-BE49-F238E27FC236}">
                    <a16:creationId xmlns:a16="http://schemas.microsoft.com/office/drawing/2014/main" id="{40B44551-E655-BD73-592C-DEEDA1E8447A}"/>
                  </a:ext>
                </a:extLst>
              </p:cNvPr>
              <p:cNvSpPr>
                <a:spLocks noChangeAspect="1" noChangeShapeType="1"/>
              </p:cNvSpPr>
              <p:nvPr/>
            </p:nvSpPr>
            <p:spPr bwMode="auto">
              <a:xfrm>
                <a:off x="3197" y="1342"/>
                <a:ext cx="0" cy="612"/>
              </a:xfrm>
              <a:prstGeom prst="line">
                <a:avLst/>
              </a:prstGeom>
              <a:noFill/>
              <a:ln w="57150">
                <a:solidFill>
                  <a:srgbClr val="00FF66"/>
                </a:solidFill>
                <a:prstDash val="sysDot"/>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69" name="Line 13">
                <a:extLst>
                  <a:ext uri="{FF2B5EF4-FFF2-40B4-BE49-F238E27FC236}">
                    <a16:creationId xmlns:a16="http://schemas.microsoft.com/office/drawing/2014/main" id="{26AA6D97-BD24-208D-4313-F405E427D5E5}"/>
                  </a:ext>
                </a:extLst>
              </p:cNvPr>
              <p:cNvSpPr>
                <a:spLocks noChangeAspect="1" noChangeShapeType="1"/>
              </p:cNvSpPr>
              <p:nvPr/>
            </p:nvSpPr>
            <p:spPr bwMode="auto">
              <a:xfrm>
                <a:off x="3197" y="1931"/>
                <a:ext cx="0" cy="465"/>
              </a:xfrm>
              <a:prstGeom prst="line">
                <a:avLst/>
              </a:prstGeom>
              <a:noFill/>
              <a:ln w="57150">
                <a:solidFill>
                  <a:srgbClr val="00FF66"/>
                </a:solidFill>
                <a:round/>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70" name="Rectangle 14" descr="轮廓式菱形">
                <a:extLst>
                  <a:ext uri="{FF2B5EF4-FFF2-40B4-BE49-F238E27FC236}">
                    <a16:creationId xmlns:a16="http://schemas.microsoft.com/office/drawing/2014/main" id="{0C086DF6-EDF5-76A0-7CEA-91A243515B59}"/>
                  </a:ext>
                </a:extLst>
              </p:cNvPr>
              <p:cNvSpPr>
                <a:spLocks noChangeAspect="1" noChangeArrowheads="1"/>
              </p:cNvSpPr>
              <p:nvPr/>
            </p:nvSpPr>
            <p:spPr bwMode="auto">
              <a:xfrm>
                <a:off x="3236" y="2101"/>
                <a:ext cx="65" cy="137"/>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71" name="Rectangle 15" descr="轮廓式菱形">
                <a:extLst>
                  <a:ext uri="{FF2B5EF4-FFF2-40B4-BE49-F238E27FC236}">
                    <a16:creationId xmlns:a16="http://schemas.microsoft.com/office/drawing/2014/main" id="{3EC2429E-96C8-8CD6-DD4F-3C452660F17E}"/>
                  </a:ext>
                </a:extLst>
              </p:cNvPr>
              <p:cNvSpPr>
                <a:spLocks noChangeAspect="1" noChangeArrowheads="1"/>
              </p:cNvSpPr>
              <p:nvPr/>
            </p:nvSpPr>
            <p:spPr bwMode="auto">
              <a:xfrm>
                <a:off x="3093" y="2101"/>
                <a:ext cx="65" cy="137"/>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1306" name="Group 16">
                <a:extLst>
                  <a:ext uri="{FF2B5EF4-FFF2-40B4-BE49-F238E27FC236}">
                    <a16:creationId xmlns:a16="http://schemas.microsoft.com/office/drawing/2014/main" id="{536CA375-A47F-4D15-3C92-5CC5DB227FF4}"/>
                  </a:ext>
                </a:extLst>
              </p:cNvPr>
              <p:cNvGrpSpPr>
                <a:grpSpLocks noChangeAspect="1"/>
              </p:cNvGrpSpPr>
              <p:nvPr/>
            </p:nvGrpSpPr>
            <p:grpSpPr bwMode="auto">
              <a:xfrm>
                <a:off x="3051" y="375"/>
                <a:ext cx="331" cy="943"/>
                <a:chOff x="1736" y="519"/>
                <a:chExt cx="444" cy="1264"/>
              </a:xfrm>
            </p:grpSpPr>
            <p:sp>
              <p:nvSpPr>
                <p:cNvPr id="736273" name="Line 17">
                  <a:extLst>
                    <a:ext uri="{FF2B5EF4-FFF2-40B4-BE49-F238E27FC236}">
                      <a16:creationId xmlns:a16="http://schemas.microsoft.com/office/drawing/2014/main" id="{193EE4D2-03F4-9D8A-714A-C508F58E0495}"/>
                    </a:ext>
                  </a:extLst>
                </p:cNvPr>
                <p:cNvSpPr>
                  <a:spLocks noChangeAspect="1" noChangeShapeType="1"/>
                </p:cNvSpPr>
                <p:nvPr/>
              </p:nvSpPr>
              <p:spPr bwMode="auto">
                <a:xfrm>
                  <a:off x="1932" y="519"/>
                  <a:ext cx="0" cy="1264"/>
                </a:xfrm>
                <a:prstGeom prst="line">
                  <a:avLst/>
                </a:prstGeom>
                <a:noFill/>
                <a:ln w="57150">
                  <a:solidFill>
                    <a:srgbClr val="00FF66"/>
                  </a:solidFill>
                  <a:round/>
                  <a:headEnd type="triangle" w="sm" len="me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74" name="Rectangle 18" descr="轮廓式菱形">
                  <a:extLst>
                    <a:ext uri="{FF2B5EF4-FFF2-40B4-BE49-F238E27FC236}">
                      <a16:creationId xmlns:a16="http://schemas.microsoft.com/office/drawing/2014/main" id="{6FB77E9D-15E5-4567-4DCC-606EC42D50A2}"/>
                    </a:ext>
                  </a:extLst>
                </p:cNvPr>
                <p:cNvSpPr>
                  <a:spLocks noChangeAspect="1" noChangeArrowheads="1"/>
                </p:cNvSpPr>
                <p:nvPr/>
              </p:nvSpPr>
              <p:spPr bwMode="auto">
                <a:xfrm>
                  <a:off x="1792" y="747"/>
                  <a:ext cx="89" cy="184"/>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75" name="Rectangle 19" descr="轮廓式菱形">
                  <a:extLst>
                    <a:ext uri="{FF2B5EF4-FFF2-40B4-BE49-F238E27FC236}">
                      <a16:creationId xmlns:a16="http://schemas.microsoft.com/office/drawing/2014/main" id="{C4CE09D2-E32C-FD85-772B-3566D233B6BB}"/>
                    </a:ext>
                  </a:extLst>
                </p:cNvPr>
                <p:cNvSpPr>
                  <a:spLocks noChangeAspect="1" noChangeArrowheads="1"/>
                </p:cNvSpPr>
                <p:nvPr/>
              </p:nvSpPr>
              <p:spPr bwMode="auto">
                <a:xfrm>
                  <a:off x="1985" y="747"/>
                  <a:ext cx="86" cy="184"/>
                </a:xfrm>
                <a:prstGeom prst="rect">
                  <a:avLst/>
                </a:prstGeom>
                <a:pattFill prst="openDmnd">
                  <a:fgClr>
                    <a:schemeClr val="bg2"/>
                  </a:fgClr>
                  <a:bgClr>
                    <a:srgbClr val="FF0033"/>
                  </a:bgClr>
                </a:pattFill>
                <a:ln w="12700">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76" name="Arc 20">
                  <a:extLst>
                    <a:ext uri="{FF2B5EF4-FFF2-40B4-BE49-F238E27FC236}">
                      <a16:creationId xmlns:a16="http://schemas.microsoft.com/office/drawing/2014/main" id="{F4984423-0752-0C9E-3112-1A6505744E50}"/>
                    </a:ext>
                  </a:extLst>
                </p:cNvPr>
                <p:cNvSpPr>
                  <a:spLocks noChangeAspect="1"/>
                </p:cNvSpPr>
                <p:nvPr/>
              </p:nvSpPr>
              <p:spPr bwMode="auto">
                <a:xfrm>
                  <a:off x="1736" y="935"/>
                  <a:ext cx="410" cy="135"/>
                </a:xfrm>
                <a:custGeom>
                  <a:avLst/>
                  <a:gdLst>
                    <a:gd name="G0" fmla="+- 21515 0 0"/>
                    <a:gd name="G1" fmla="+- 0 0 0"/>
                    <a:gd name="G2" fmla="+- 21600 0 0"/>
                    <a:gd name="T0" fmla="*/ 40601 w 40601"/>
                    <a:gd name="T1" fmla="*/ 10113 h 21600"/>
                    <a:gd name="T2" fmla="*/ 0 w 40601"/>
                    <a:gd name="T3" fmla="*/ 1912 h 21600"/>
                    <a:gd name="T4" fmla="*/ 21515 w 40601"/>
                    <a:gd name="T5" fmla="*/ 0 h 21600"/>
                  </a:gdLst>
                  <a:ahLst/>
                  <a:cxnLst>
                    <a:cxn ang="0">
                      <a:pos x="T0" y="T1"/>
                    </a:cxn>
                    <a:cxn ang="0">
                      <a:pos x="T2" y="T3"/>
                    </a:cxn>
                    <a:cxn ang="0">
                      <a:pos x="T4" y="T5"/>
                    </a:cxn>
                  </a:cxnLst>
                  <a:rect l="0" t="0" r="r" b="b"/>
                  <a:pathLst>
                    <a:path w="40601" h="21600" fill="none" extrusionOk="0">
                      <a:moveTo>
                        <a:pt x="40601" y="10113"/>
                      </a:moveTo>
                      <a:cubicBezTo>
                        <a:pt x="36856" y="17180"/>
                        <a:pt x="29513" y="21599"/>
                        <a:pt x="21515" y="21600"/>
                      </a:cubicBezTo>
                      <a:cubicBezTo>
                        <a:pt x="10326" y="21600"/>
                        <a:pt x="990" y="13056"/>
                        <a:pt x="-1" y="1912"/>
                      </a:cubicBezTo>
                    </a:path>
                    <a:path w="40601" h="21600" stroke="0" extrusionOk="0">
                      <a:moveTo>
                        <a:pt x="40601" y="10113"/>
                      </a:moveTo>
                      <a:cubicBezTo>
                        <a:pt x="36856" y="17180"/>
                        <a:pt x="29513" y="21599"/>
                        <a:pt x="21515" y="21600"/>
                      </a:cubicBezTo>
                      <a:cubicBezTo>
                        <a:pt x="10326" y="21600"/>
                        <a:pt x="990" y="13056"/>
                        <a:pt x="-1" y="1912"/>
                      </a:cubicBezTo>
                      <a:lnTo>
                        <a:pt x="21515" y="0"/>
                      </a:lnTo>
                      <a:close/>
                    </a:path>
                  </a:pathLst>
                </a:custGeom>
                <a:noFill/>
                <a:ln w="38100" cap="rnd">
                  <a:solidFill>
                    <a:srgbClr val="FF0000"/>
                  </a:solidFill>
                  <a:round/>
                  <a:headEnd type="stealth" w="med" len="lg"/>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1311" name="Object 11">
                  <a:extLst>
                    <a:ext uri="{FF2B5EF4-FFF2-40B4-BE49-F238E27FC236}">
                      <a16:creationId xmlns:a16="http://schemas.microsoft.com/office/drawing/2014/main" id="{2A78BAA3-D1E8-9243-DE9F-2966F89588E6}"/>
                    </a:ext>
                  </a:extLst>
                </p:cNvPr>
                <p:cNvGraphicFramePr>
                  <a:graphicFrameLocks noChangeAspect="1"/>
                </p:cNvGraphicFramePr>
                <p:nvPr/>
              </p:nvGraphicFramePr>
              <p:xfrm>
                <a:off x="2044" y="544"/>
                <a:ext cx="136" cy="144"/>
              </p:xfrm>
              <a:graphic>
                <a:graphicData uri="http://schemas.openxmlformats.org/presentationml/2006/ole">
                  <mc:AlternateContent xmlns:mc="http://schemas.openxmlformats.org/markup-compatibility/2006">
                    <mc:Choice xmlns:v="urn:schemas-microsoft-com:vml" Requires="v">
                      <p:oleObj name="公式" r:id="rId6" imgW="205522" imgH="220952" progId="Equation.3">
                        <p:embed/>
                      </p:oleObj>
                    </mc:Choice>
                    <mc:Fallback>
                      <p:oleObj name="公式" r:id="rId6" imgW="205522" imgH="220952"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4" y="544"/>
                              <a:ext cx="136" cy="144"/>
                            </a:xfrm>
                            <a:prstGeom prst="rect">
                              <a:avLst/>
                            </a:prstGeom>
                            <a:noFill/>
                            <a:ln>
                              <a:noFill/>
                            </a:ln>
                            <a:effectLst/>
                            <a:extLst>
                              <a:ext uri="{909E8E84-426E-40DD-AFC4-6F175D3DCCD1}">
                                <a14:hiddenFill xmlns:a14="http://schemas.microsoft.com/office/drawing/2010/main">
                                  <a:solidFill>
                                    <a:srgbClr val="00FFFF">
                                      <a:alpha val="29019"/>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736278" name="Arc 22">
              <a:extLst>
                <a:ext uri="{FF2B5EF4-FFF2-40B4-BE49-F238E27FC236}">
                  <a16:creationId xmlns:a16="http://schemas.microsoft.com/office/drawing/2014/main" id="{4A2C5A0B-6C6A-CF24-188D-F8E85893BBBD}"/>
                </a:ext>
              </a:extLst>
            </p:cNvPr>
            <p:cNvSpPr>
              <a:spLocks noChangeAspect="1"/>
            </p:cNvSpPr>
            <p:nvPr/>
          </p:nvSpPr>
          <p:spPr bwMode="auto">
            <a:xfrm>
              <a:off x="4117" y="937"/>
              <a:ext cx="735" cy="787"/>
            </a:xfrm>
            <a:custGeom>
              <a:avLst/>
              <a:gdLst>
                <a:gd name="G0" fmla="+- 2797 0 0"/>
                <a:gd name="G1" fmla="+- 21600 0 0"/>
                <a:gd name="G2" fmla="+- 21600 0 0"/>
                <a:gd name="T0" fmla="*/ 2797 w 24397"/>
                <a:gd name="T1" fmla="*/ 0 h 43200"/>
                <a:gd name="T2" fmla="*/ 0 w 24397"/>
                <a:gd name="T3" fmla="*/ 43018 h 43200"/>
                <a:gd name="T4" fmla="*/ 2797 w 24397"/>
                <a:gd name="T5" fmla="*/ 21600 h 43200"/>
              </a:gdLst>
              <a:ahLst/>
              <a:cxnLst>
                <a:cxn ang="0">
                  <a:pos x="T0" y="T1"/>
                </a:cxn>
                <a:cxn ang="0">
                  <a:pos x="T2" y="T3"/>
                </a:cxn>
                <a:cxn ang="0">
                  <a:pos x="T4" y="T5"/>
                </a:cxn>
              </a:cxnLst>
              <a:rect l="0" t="0" r="r" b="b"/>
              <a:pathLst>
                <a:path w="24397" h="43200" fill="none" extrusionOk="0">
                  <a:moveTo>
                    <a:pt x="2796" y="0"/>
                  </a:moveTo>
                  <a:cubicBezTo>
                    <a:pt x="14726" y="0"/>
                    <a:pt x="24397" y="9670"/>
                    <a:pt x="24397" y="21600"/>
                  </a:cubicBezTo>
                  <a:cubicBezTo>
                    <a:pt x="24397" y="33529"/>
                    <a:pt x="14726" y="43200"/>
                    <a:pt x="2797" y="43200"/>
                  </a:cubicBezTo>
                  <a:cubicBezTo>
                    <a:pt x="1861" y="43200"/>
                    <a:pt x="927" y="43139"/>
                    <a:pt x="-1" y="43018"/>
                  </a:cubicBezTo>
                </a:path>
                <a:path w="24397" h="43200" stroke="0" extrusionOk="0">
                  <a:moveTo>
                    <a:pt x="2796" y="0"/>
                  </a:moveTo>
                  <a:cubicBezTo>
                    <a:pt x="14726" y="0"/>
                    <a:pt x="24397" y="9670"/>
                    <a:pt x="24397" y="21600"/>
                  </a:cubicBezTo>
                  <a:cubicBezTo>
                    <a:pt x="24397" y="33529"/>
                    <a:pt x="14726" y="43200"/>
                    <a:pt x="2797" y="43200"/>
                  </a:cubicBezTo>
                  <a:cubicBezTo>
                    <a:pt x="1861" y="43200"/>
                    <a:pt x="927" y="43139"/>
                    <a:pt x="-1" y="43018"/>
                  </a:cubicBezTo>
                  <a:lnTo>
                    <a:pt x="2797" y="21600"/>
                  </a:lnTo>
                  <a:close/>
                </a:path>
              </a:pathLst>
            </a:custGeom>
            <a:noFill/>
            <a:ln w="19050">
              <a:solidFill>
                <a:schemeClr val="bg1"/>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1281" name="Group 23">
              <a:extLst>
                <a:ext uri="{FF2B5EF4-FFF2-40B4-BE49-F238E27FC236}">
                  <a16:creationId xmlns:a16="http://schemas.microsoft.com/office/drawing/2014/main" id="{CCC39610-B723-C009-6EA5-670CC3E44410}"/>
                </a:ext>
              </a:extLst>
            </p:cNvPr>
            <p:cNvGrpSpPr>
              <a:grpSpLocks noChangeAspect="1"/>
            </p:cNvGrpSpPr>
            <p:nvPr/>
          </p:nvGrpSpPr>
          <p:grpSpPr bwMode="auto">
            <a:xfrm>
              <a:off x="4256" y="1159"/>
              <a:ext cx="460" cy="380"/>
              <a:chOff x="2362" y="1586"/>
              <a:chExt cx="617" cy="510"/>
            </a:xfrm>
          </p:grpSpPr>
          <p:graphicFrame>
            <p:nvGraphicFramePr>
              <p:cNvPr id="11300" name="Object 10">
                <a:extLst>
                  <a:ext uri="{FF2B5EF4-FFF2-40B4-BE49-F238E27FC236}">
                    <a16:creationId xmlns:a16="http://schemas.microsoft.com/office/drawing/2014/main" id="{E8F5D7C0-992E-4F51-1079-2FDED8C7F87A}"/>
                  </a:ext>
                </a:extLst>
              </p:cNvPr>
              <p:cNvGraphicFramePr>
                <a:graphicFrameLocks noChangeAspect="1"/>
              </p:cNvGraphicFramePr>
              <p:nvPr/>
            </p:nvGraphicFramePr>
            <p:xfrm>
              <a:off x="2362" y="1586"/>
              <a:ext cx="329" cy="270"/>
            </p:xfrm>
            <a:graphic>
              <a:graphicData uri="http://schemas.openxmlformats.org/presentationml/2006/ole">
                <mc:AlternateContent xmlns:mc="http://schemas.openxmlformats.org/markup-compatibility/2006">
                  <mc:Choice xmlns:v="urn:schemas-microsoft-com:vml" Requires="v">
                    <p:oleObj name="公式" r:id="rId8" imgW="510571" imgH="487791" progId="Equation.3">
                      <p:embed/>
                    </p:oleObj>
                  </mc:Choice>
                  <mc:Fallback>
                    <p:oleObj name="公式" r:id="rId8" imgW="510571" imgH="487791"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2" y="1586"/>
                            <a:ext cx="329"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6281" name="Line 25">
                <a:extLst>
                  <a:ext uri="{FF2B5EF4-FFF2-40B4-BE49-F238E27FC236}">
                    <a16:creationId xmlns:a16="http://schemas.microsoft.com/office/drawing/2014/main" id="{19ACB915-D94D-BA59-9685-E6988BCFAE02}"/>
                  </a:ext>
                </a:extLst>
              </p:cNvPr>
              <p:cNvSpPr>
                <a:spLocks noChangeAspect="1" noChangeShapeType="1"/>
              </p:cNvSpPr>
              <p:nvPr/>
            </p:nvSpPr>
            <p:spPr bwMode="auto">
              <a:xfrm flipH="1" flipV="1">
                <a:off x="2703" y="1815"/>
                <a:ext cx="276" cy="281"/>
              </a:xfrm>
              <a:prstGeom prst="line">
                <a:avLst/>
              </a:prstGeom>
              <a:noFill/>
              <a:ln w="28575">
                <a:solidFill>
                  <a:srgbClr val="66FF33"/>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1282" name="Group 26">
              <a:extLst>
                <a:ext uri="{FF2B5EF4-FFF2-40B4-BE49-F238E27FC236}">
                  <a16:creationId xmlns:a16="http://schemas.microsoft.com/office/drawing/2014/main" id="{B40E4358-3D84-85C2-AC1C-1BE26C5310A4}"/>
                </a:ext>
              </a:extLst>
            </p:cNvPr>
            <p:cNvGrpSpPr>
              <a:grpSpLocks noChangeAspect="1"/>
            </p:cNvGrpSpPr>
            <p:nvPr/>
          </p:nvGrpSpPr>
          <p:grpSpPr bwMode="auto">
            <a:xfrm>
              <a:off x="4726" y="1237"/>
              <a:ext cx="621" cy="420"/>
              <a:chOff x="2992" y="1690"/>
              <a:chExt cx="832" cy="564"/>
            </a:xfrm>
          </p:grpSpPr>
          <p:sp>
            <p:nvSpPr>
              <p:cNvPr id="736283" name="Line 27">
                <a:extLst>
                  <a:ext uri="{FF2B5EF4-FFF2-40B4-BE49-F238E27FC236}">
                    <a16:creationId xmlns:a16="http://schemas.microsoft.com/office/drawing/2014/main" id="{AFEDBDFE-B247-0EC1-8289-39E26E4EFB9A}"/>
                  </a:ext>
                </a:extLst>
              </p:cNvPr>
              <p:cNvSpPr>
                <a:spLocks noChangeAspect="1" noChangeShapeType="1"/>
              </p:cNvSpPr>
              <p:nvPr/>
            </p:nvSpPr>
            <p:spPr bwMode="auto">
              <a:xfrm>
                <a:off x="2992" y="2120"/>
                <a:ext cx="441" cy="125"/>
              </a:xfrm>
              <a:prstGeom prst="line">
                <a:avLst/>
              </a:prstGeom>
              <a:noFill/>
              <a:ln w="28575">
                <a:solidFill>
                  <a:srgbClr val="FFCC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84" name="Line 28">
                <a:extLst>
                  <a:ext uri="{FF2B5EF4-FFF2-40B4-BE49-F238E27FC236}">
                    <a16:creationId xmlns:a16="http://schemas.microsoft.com/office/drawing/2014/main" id="{0B3CCD1E-6489-F5B8-2C63-0DE93841F6CC}"/>
                  </a:ext>
                </a:extLst>
              </p:cNvPr>
              <p:cNvSpPr>
                <a:spLocks noChangeAspect="1" noChangeShapeType="1"/>
              </p:cNvSpPr>
              <p:nvPr/>
            </p:nvSpPr>
            <p:spPr bwMode="auto">
              <a:xfrm flipH="1">
                <a:off x="3415" y="1784"/>
                <a:ext cx="409" cy="470"/>
              </a:xfrm>
              <a:prstGeom prst="line">
                <a:avLst/>
              </a:prstGeom>
              <a:noFill/>
              <a:ln w="19050">
                <a:solidFill>
                  <a:srgbClr val="FFFF00"/>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85" name="Line 29">
                <a:extLst>
                  <a:ext uri="{FF2B5EF4-FFF2-40B4-BE49-F238E27FC236}">
                    <a16:creationId xmlns:a16="http://schemas.microsoft.com/office/drawing/2014/main" id="{BA3AA51A-C60A-1621-4545-9D491B95ABD9}"/>
                  </a:ext>
                </a:extLst>
              </p:cNvPr>
              <p:cNvSpPr>
                <a:spLocks noChangeAspect="1" noChangeShapeType="1"/>
              </p:cNvSpPr>
              <p:nvPr/>
            </p:nvSpPr>
            <p:spPr bwMode="auto">
              <a:xfrm flipH="1" flipV="1">
                <a:off x="3395" y="1690"/>
                <a:ext cx="429" cy="86"/>
              </a:xfrm>
              <a:prstGeom prst="line">
                <a:avLst/>
              </a:prstGeom>
              <a:noFill/>
              <a:ln w="19050">
                <a:solidFill>
                  <a:srgbClr val="FFFF00"/>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1283" name="Group 30">
              <a:extLst>
                <a:ext uri="{FF2B5EF4-FFF2-40B4-BE49-F238E27FC236}">
                  <a16:creationId xmlns:a16="http://schemas.microsoft.com/office/drawing/2014/main" id="{9297A41A-343C-AEE7-282A-8D8C7EE5E002}"/>
                </a:ext>
              </a:extLst>
            </p:cNvPr>
            <p:cNvGrpSpPr>
              <a:grpSpLocks noChangeAspect="1"/>
            </p:cNvGrpSpPr>
            <p:nvPr/>
          </p:nvGrpSpPr>
          <p:grpSpPr bwMode="auto">
            <a:xfrm>
              <a:off x="4751" y="1053"/>
              <a:ext cx="285" cy="509"/>
              <a:chOff x="3026" y="1444"/>
              <a:chExt cx="381" cy="683"/>
            </a:xfrm>
          </p:grpSpPr>
          <p:sp>
            <p:nvSpPr>
              <p:cNvPr id="736287" name="Line 31">
                <a:extLst>
                  <a:ext uri="{FF2B5EF4-FFF2-40B4-BE49-F238E27FC236}">
                    <a16:creationId xmlns:a16="http://schemas.microsoft.com/office/drawing/2014/main" id="{47994917-CC0C-D23F-6F77-13457718DAA0}"/>
                  </a:ext>
                </a:extLst>
              </p:cNvPr>
              <p:cNvSpPr>
                <a:spLocks noChangeAspect="1" noChangeShapeType="1"/>
              </p:cNvSpPr>
              <p:nvPr/>
            </p:nvSpPr>
            <p:spPr bwMode="auto">
              <a:xfrm flipV="1">
                <a:off x="3026" y="1690"/>
                <a:ext cx="381" cy="437"/>
              </a:xfrm>
              <a:prstGeom prst="line">
                <a:avLst/>
              </a:prstGeom>
              <a:noFill/>
              <a:ln w="28575">
                <a:solidFill>
                  <a:schemeClr val="hlink"/>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1296" name="Object 9">
                <a:extLst>
                  <a:ext uri="{FF2B5EF4-FFF2-40B4-BE49-F238E27FC236}">
                    <a16:creationId xmlns:a16="http://schemas.microsoft.com/office/drawing/2014/main" id="{F2035406-1E4E-EA36-0714-14F541DC7FC7}"/>
                  </a:ext>
                </a:extLst>
              </p:cNvPr>
              <p:cNvGraphicFramePr>
                <a:graphicFrameLocks noChangeAspect="1"/>
              </p:cNvGraphicFramePr>
              <p:nvPr/>
            </p:nvGraphicFramePr>
            <p:xfrm>
              <a:off x="3148" y="1444"/>
              <a:ext cx="249" cy="288"/>
            </p:xfrm>
            <a:graphic>
              <a:graphicData uri="http://schemas.openxmlformats.org/presentationml/2006/ole">
                <mc:AlternateContent xmlns:mc="http://schemas.openxmlformats.org/markup-compatibility/2006">
                  <mc:Choice xmlns:v="urn:schemas-microsoft-com:vml" Requires="v">
                    <p:oleObj name="公式" r:id="rId10" imgW="388651" imgH="449386" progId="Equation.3">
                      <p:embed/>
                    </p:oleObj>
                  </mc:Choice>
                  <mc:Fallback>
                    <p:oleObj name="公式" r:id="rId10" imgW="388651" imgH="449386"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48" y="1444"/>
                            <a:ext cx="24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84" name="Group 33">
              <a:extLst>
                <a:ext uri="{FF2B5EF4-FFF2-40B4-BE49-F238E27FC236}">
                  <a16:creationId xmlns:a16="http://schemas.microsoft.com/office/drawing/2014/main" id="{F6869D23-4F28-D79A-63EC-5DFC5F081DAD}"/>
                </a:ext>
              </a:extLst>
            </p:cNvPr>
            <p:cNvGrpSpPr>
              <a:grpSpLocks noChangeAspect="1"/>
            </p:cNvGrpSpPr>
            <p:nvPr/>
          </p:nvGrpSpPr>
          <p:grpSpPr bwMode="auto">
            <a:xfrm>
              <a:off x="4376" y="1196"/>
              <a:ext cx="485" cy="367"/>
              <a:chOff x="2523" y="1636"/>
              <a:chExt cx="650" cy="492"/>
            </a:xfrm>
          </p:grpSpPr>
          <p:sp>
            <p:nvSpPr>
              <p:cNvPr id="736290" name="Line 34">
                <a:extLst>
                  <a:ext uri="{FF2B5EF4-FFF2-40B4-BE49-F238E27FC236}">
                    <a16:creationId xmlns:a16="http://schemas.microsoft.com/office/drawing/2014/main" id="{3F4032DE-0346-EE66-2982-B67C8EF3997A}"/>
                  </a:ext>
                </a:extLst>
              </p:cNvPr>
              <p:cNvSpPr>
                <a:spLocks noChangeAspect="1" noChangeShapeType="1"/>
              </p:cNvSpPr>
              <p:nvPr/>
            </p:nvSpPr>
            <p:spPr bwMode="auto">
              <a:xfrm flipH="1">
                <a:off x="2544" y="1808"/>
                <a:ext cx="150" cy="177"/>
              </a:xfrm>
              <a:prstGeom prst="line">
                <a:avLst/>
              </a:prstGeom>
              <a:noFill/>
              <a:ln w="19050">
                <a:solidFill>
                  <a:srgbClr val="66FF33"/>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91" name="Line 35">
                <a:extLst>
                  <a:ext uri="{FF2B5EF4-FFF2-40B4-BE49-F238E27FC236}">
                    <a16:creationId xmlns:a16="http://schemas.microsoft.com/office/drawing/2014/main" id="{73A350BC-0FBB-A0C4-81C4-0A67BD2AE559}"/>
                  </a:ext>
                </a:extLst>
              </p:cNvPr>
              <p:cNvSpPr>
                <a:spLocks noChangeAspect="1" noChangeShapeType="1"/>
              </p:cNvSpPr>
              <p:nvPr/>
            </p:nvSpPr>
            <p:spPr bwMode="auto">
              <a:xfrm flipH="1" flipV="1">
                <a:off x="2523" y="1983"/>
                <a:ext cx="448" cy="131"/>
              </a:xfrm>
              <a:prstGeom prst="line">
                <a:avLst/>
              </a:prstGeom>
              <a:noFill/>
              <a:ln w="28575">
                <a:solidFill>
                  <a:srgbClr val="66FF33"/>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6292" name="Line 36">
                <a:extLst>
                  <a:ext uri="{FF2B5EF4-FFF2-40B4-BE49-F238E27FC236}">
                    <a16:creationId xmlns:a16="http://schemas.microsoft.com/office/drawing/2014/main" id="{BC8FF6B8-39F4-977B-4711-9274A7807F1B}"/>
                  </a:ext>
                </a:extLst>
              </p:cNvPr>
              <p:cNvSpPr>
                <a:spLocks noChangeAspect="1" noChangeShapeType="1"/>
              </p:cNvSpPr>
              <p:nvPr/>
            </p:nvSpPr>
            <p:spPr bwMode="auto">
              <a:xfrm>
                <a:off x="2704" y="1808"/>
                <a:ext cx="464" cy="153"/>
              </a:xfrm>
              <a:prstGeom prst="line">
                <a:avLst/>
              </a:prstGeom>
              <a:noFill/>
              <a:ln w="19050">
                <a:solidFill>
                  <a:srgbClr val="66FF33"/>
                </a:solidFill>
                <a:prstDash val="sysDot"/>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1292" name="Group 37">
                <a:extLst>
                  <a:ext uri="{FF2B5EF4-FFF2-40B4-BE49-F238E27FC236}">
                    <a16:creationId xmlns:a16="http://schemas.microsoft.com/office/drawing/2014/main" id="{FB1E667C-03CB-B659-2EB9-5F97A196BA23}"/>
                  </a:ext>
                </a:extLst>
              </p:cNvPr>
              <p:cNvGrpSpPr>
                <a:grpSpLocks noChangeAspect="1"/>
              </p:cNvGrpSpPr>
              <p:nvPr/>
            </p:nvGrpSpPr>
            <p:grpSpPr bwMode="auto">
              <a:xfrm>
                <a:off x="2767" y="1636"/>
                <a:ext cx="406" cy="492"/>
                <a:chOff x="2767" y="1636"/>
                <a:chExt cx="406" cy="492"/>
              </a:xfrm>
            </p:grpSpPr>
            <p:graphicFrame>
              <p:nvGraphicFramePr>
                <p:cNvPr id="11293" name="Object 8">
                  <a:extLst>
                    <a:ext uri="{FF2B5EF4-FFF2-40B4-BE49-F238E27FC236}">
                      <a16:creationId xmlns:a16="http://schemas.microsoft.com/office/drawing/2014/main" id="{1925AF63-8CCE-3CD2-ABD0-4B98BAC2EDF8}"/>
                    </a:ext>
                  </a:extLst>
                </p:cNvPr>
                <p:cNvGraphicFramePr>
                  <a:graphicFrameLocks noChangeAspect="1"/>
                </p:cNvGraphicFramePr>
                <p:nvPr/>
              </p:nvGraphicFramePr>
              <p:xfrm>
                <a:off x="2767" y="1636"/>
                <a:ext cx="380" cy="313"/>
              </p:xfrm>
              <a:graphic>
                <a:graphicData uri="http://schemas.openxmlformats.org/presentationml/2006/ole">
                  <mc:AlternateContent xmlns:mc="http://schemas.openxmlformats.org/markup-compatibility/2006">
                    <mc:Choice xmlns:v="urn:schemas-microsoft-com:vml" Requires="v">
                      <p:oleObj name="公式" r:id="rId12" imgW="586709" imgH="487791" progId="Equation.3">
                        <p:embed/>
                      </p:oleObj>
                    </mc:Choice>
                    <mc:Fallback>
                      <p:oleObj name="公式" r:id="rId12" imgW="586709" imgH="487791"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67" y="1636"/>
                              <a:ext cx="380"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6295" name="Line 39">
                  <a:extLst>
                    <a:ext uri="{FF2B5EF4-FFF2-40B4-BE49-F238E27FC236}">
                      <a16:creationId xmlns:a16="http://schemas.microsoft.com/office/drawing/2014/main" id="{2FF2CF75-15BB-F56D-9CDF-657ABAD64E12}"/>
                    </a:ext>
                  </a:extLst>
                </p:cNvPr>
                <p:cNvSpPr>
                  <a:spLocks noChangeAspect="1" noChangeShapeType="1"/>
                </p:cNvSpPr>
                <p:nvPr/>
              </p:nvSpPr>
              <p:spPr bwMode="auto">
                <a:xfrm flipV="1">
                  <a:off x="3026" y="1959"/>
                  <a:ext cx="147" cy="169"/>
                </a:xfrm>
                <a:prstGeom prst="line">
                  <a:avLst/>
                </a:prstGeom>
                <a:noFill/>
                <a:ln w="28575">
                  <a:solidFill>
                    <a:srgbClr val="66FF33"/>
                  </a:solidFill>
                  <a:round/>
                  <a:headEnd/>
                  <a:tailEnd type="triangle" w="sm"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1285" name="Group 40">
              <a:extLst>
                <a:ext uri="{FF2B5EF4-FFF2-40B4-BE49-F238E27FC236}">
                  <a16:creationId xmlns:a16="http://schemas.microsoft.com/office/drawing/2014/main" id="{83D09D0B-783C-A4F2-4159-EF60003C0E1A}"/>
                </a:ext>
              </a:extLst>
            </p:cNvPr>
            <p:cNvGrpSpPr>
              <a:grpSpLocks noChangeAspect="1"/>
            </p:cNvGrpSpPr>
            <p:nvPr/>
          </p:nvGrpSpPr>
          <p:grpSpPr bwMode="auto">
            <a:xfrm>
              <a:off x="4505" y="1504"/>
              <a:ext cx="430" cy="296"/>
              <a:chOff x="2657" y="2061"/>
              <a:chExt cx="576" cy="397"/>
            </a:xfrm>
          </p:grpSpPr>
          <p:sp>
            <p:nvSpPr>
              <p:cNvPr id="736297" name="Oval 41">
                <a:extLst>
                  <a:ext uri="{FF2B5EF4-FFF2-40B4-BE49-F238E27FC236}">
                    <a16:creationId xmlns:a16="http://schemas.microsoft.com/office/drawing/2014/main" id="{41F61658-988C-1538-AD30-AD7BB28C07BB}"/>
                  </a:ext>
                </a:extLst>
              </p:cNvPr>
              <p:cNvSpPr>
                <a:spLocks noChangeAspect="1" noChangeArrowheads="1"/>
              </p:cNvSpPr>
              <p:nvPr/>
            </p:nvSpPr>
            <p:spPr bwMode="auto">
              <a:xfrm>
                <a:off x="2928" y="2091"/>
                <a:ext cx="88" cy="90"/>
              </a:xfrm>
              <a:prstGeom prst="ellipse">
                <a:avLst/>
              </a:prstGeom>
              <a:solidFill>
                <a:srgbClr val="FF0000"/>
              </a:solidFill>
              <a:ln w="127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1287" name="Object 6">
                <a:extLst>
                  <a:ext uri="{FF2B5EF4-FFF2-40B4-BE49-F238E27FC236}">
                    <a16:creationId xmlns:a16="http://schemas.microsoft.com/office/drawing/2014/main" id="{F3F1969C-3A26-0818-CF23-F8F2BEB521FE}"/>
                  </a:ext>
                </a:extLst>
              </p:cNvPr>
              <p:cNvGraphicFramePr>
                <a:graphicFrameLocks noChangeAspect="1"/>
              </p:cNvGraphicFramePr>
              <p:nvPr/>
            </p:nvGraphicFramePr>
            <p:xfrm>
              <a:off x="2657" y="2061"/>
              <a:ext cx="184" cy="288"/>
            </p:xfrm>
            <a:graphic>
              <a:graphicData uri="http://schemas.openxmlformats.org/presentationml/2006/ole">
                <mc:AlternateContent xmlns:mc="http://schemas.openxmlformats.org/markup-compatibility/2006">
                  <mc:Choice xmlns:v="urn:schemas-microsoft-com:vml" Requires="v">
                    <p:oleObj name="公式" r:id="rId14" imgW="282158" imgH="449386" progId="Equation.3">
                      <p:embed/>
                    </p:oleObj>
                  </mc:Choice>
                  <mc:Fallback>
                    <p:oleObj name="公式" r:id="rId14" imgW="282158" imgH="449386" progId="Equation.3">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57" y="2061"/>
                            <a:ext cx="1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8" name="Object 7">
                <a:extLst>
                  <a:ext uri="{FF2B5EF4-FFF2-40B4-BE49-F238E27FC236}">
                    <a16:creationId xmlns:a16="http://schemas.microsoft.com/office/drawing/2014/main" id="{BB16A65C-08C9-D158-BF1B-DE9B061BF6F0}"/>
                  </a:ext>
                </a:extLst>
              </p:cNvPr>
              <p:cNvGraphicFramePr>
                <a:graphicFrameLocks noChangeAspect="1"/>
              </p:cNvGraphicFramePr>
              <p:nvPr/>
            </p:nvGraphicFramePr>
            <p:xfrm>
              <a:off x="2850" y="2172"/>
              <a:ext cx="383" cy="286"/>
            </p:xfrm>
            <a:graphic>
              <a:graphicData uri="http://schemas.openxmlformats.org/presentationml/2006/ole">
                <mc:AlternateContent xmlns:mc="http://schemas.openxmlformats.org/markup-compatibility/2006">
                  <mc:Choice xmlns:v="urn:schemas-microsoft-com:vml" Requires="v">
                    <p:oleObj name="公式" r:id="rId16" imgW="602136" imgH="449386" progId="Equation.3">
                      <p:embed/>
                    </p:oleObj>
                  </mc:Choice>
                  <mc:Fallback>
                    <p:oleObj name="公式" r:id="rId16" imgW="602136" imgH="449386" progId="Equation.3">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50" y="2172"/>
                            <a:ext cx="383"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736300" name="Text Box 44">
            <a:extLst>
              <a:ext uri="{FF2B5EF4-FFF2-40B4-BE49-F238E27FC236}">
                <a16:creationId xmlns:a16="http://schemas.microsoft.com/office/drawing/2014/main" id="{12B46CF2-756B-8659-D6E3-23BF378FCD67}"/>
              </a:ext>
            </a:extLst>
          </p:cNvPr>
          <p:cNvSpPr txBox="1">
            <a:spLocks noChangeArrowheads="1"/>
          </p:cNvSpPr>
          <p:nvPr/>
        </p:nvSpPr>
        <p:spPr bwMode="auto">
          <a:xfrm>
            <a:off x="614363" y="579438"/>
            <a:ext cx="2174875" cy="530225"/>
          </a:xfrm>
          <a:prstGeom prst="rect">
            <a:avLst/>
          </a:prstGeom>
          <a:noFill/>
          <a:ln w="12700">
            <a:noFill/>
            <a:miter lim="800000"/>
            <a:headEnd type="none" w="sm" len="sm"/>
            <a:tailEnd type="none" w="sm" len="sm"/>
          </a:ln>
          <a:effectLst/>
        </p:spPr>
        <p:txBody>
          <a:bodyPr anchor="ctr">
            <a:spAutoFit/>
          </a:bodyPr>
          <a:lstStyle/>
          <a:p>
            <a:pPr>
              <a:lnSpc>
                <a:spcPct val="120000"/>
              </a:lnSpc>
              <a:defRPr/>
            </a:pPr>
            <a:r>
              <a:rPr kumimoji="1" lang="zh-CN" altLang="en-US">
                <a:effectLst>
                  <a:outerShdw blurRad="38100" dist="38100" dir="2700000" algn="tl">
                    <a:srgbClr val="000000"/>
                  </a:outerShdw>
                </a:effectLst>
                <a:latin typeface="Times New Roman" pitchFamily="18" charset="0"/>
              </a:rPr>
              <a:t>合外力矩</a:t>
            </a:r>
            <a:endParaRPr kumimoji="1" lang="zh-CN" altLang="en-US">
              <a:latin typeface="Times New Roman" pitchFamily="18" charset="0"/>
            </a:endParaRPr>
          </a:p>
        </p:txBody>
      </p:sp>
      <p:sp>
        <p:nvSpPr>
          <p:cNvPr id="736301" name="Text Box 45">
            <a:extLst>
              <a:ext uri="{FF2B5EF4-FFF2-40B4-BE49-F238E27FC236}">
                <a16:creationId xmlns:a16="http://schemas.microsoft.com/office/drawing/2014/main" id="{6AD629B9-A0D1-8D44-950F-07BAE154E405}"/>
              </a:ext>
            </a:extLst>
          </p:cNvPr>
          <p:cNvSpPr txBox="1">
            <a:spLocks noChangeArrowheads="1"/>
          </p:cNvSpPr>
          <p:nvPr/>
        </p:nvSpPr>
        <p:spPr bwMode="auto">
          <a:xfrm>
            <a:off x="593725" y="2913063"/>
            <a:ext cx="3119438" cy="457200"/>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a:effectLst>
                  <a:outerShdw blurRad="38100" dist="38100" dir="2700000" algn="tl">
                    <a:srgbClr val="000000"/>
                  </a:outerShdw>
                </a:effectLst>
                <a:latin typeface="Times New Roman" pitchFamily="18" charset="0"/>
              </a:rPr>
              <a:t>刚体的转动惯量</a:t>
            </a:r>
          </a:p>
        </p:txBody>
      </p:sp>
      <p:graphicFrame>
        <p:nvGraphicFramePr>
          <p:cNvPr id="736302" name="Object 2">
            <a:extLst>
              <a:ext uri="{FF2B5EF4-FFF2-40B4-BE49-F238E27FC236}">
                <a16:creationId xmlns:a16="http://schemas.microsoft.com/office/drawing/2014/main" id="{4E1D7934-C957-1811-6062-F94FA16B410A}"/>
              </a:ext>
            </a:extLst>
          </p:cNvPr>
          <p:cNvGraphicFramePr>
            <a:graphicFrameLocks noChangeAspect="1"/>
          </p:cNvGraphicFramePr>
          <p:nvPr/>
        </p:nvGraphicFramePr>
        <p:xfrm>
          <a:off x="1538288" y="1447800"/>
          <a:ext cx="1485900" cy="622300"/>
        </p:xfrm>
        <a:graphic>
          <a:graphicData uri="http://schemas.openxmlformats.org/presentationml/2006/ole">
            <mc:AlternateContent xmlns:mc="http://schemas.openxmlformats.org/markup-compatibility/2006">
              <mc:Choice xmlns:v="urn:schemas-microsoft-com:vml" Requires="v">
                <p:oleObj name="公式" r:id="rId18" imgW="1478467" imgH="617469" progId="Equation.3">
                  <p:embed/>
                </p:oleObj>
              </mc:Choice>
              <mc:Fallback>
                <p:oleObj name="公式" r:id="rId18" imgW="1478467" imgH="617469" progId="Equation.3">
                  <p:embed/>
                  <p:pic>
                    <p:nvPicPr>
                      <p:cNvPr id="0" name="Object 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38288" y="1447800"/>
                        <a:ext cx="1485900" cy="6223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6303" name="Object 3">
            <a:extLst>
              <a:ext uri="{FF2B5EF4-FFF2-40B4-BE49-F238E27FC236}">
                <a16:creationId xmlns:a16="http://schemas.microsoft.com/office/drawing/2014/main" id="{CAF56560-D75D-38CA-60A8-85686503F05E}"/>
              </a:ext>
            </a:extLst>
          </p:cNvPr>
          <p:cNvGraphicFramePr>
            <a:graphicFrameLocks noChangeAspect="1"/>
          </p:cNvGraphicFramePr>
          <p:nvPr/>
        </p:nvGraphicFramePr>
        <p:xfrm>
          <a:off x="1860550" y="2163763"/>
          <a:ext cx="1828800" cy="660400"/>
        </p:xfrm>
        <a:graphic>
          <a:graphicData uri="http://schemas.openxmlformats.org/presentationml/2006/ole">
            <mc:AlternateContent xmlns:mc="http://schemas.openxmlformats.org/markup-compatibility/2006">
              <mc:Choice xmlns:v="urn:schemas-microsoft-com:vml" Requires="v">
                <p:oleObj name="公式" r:id="rId20" imgW="1821336" imgH="655375" progId="Equation.3">
                  <p:embed/>
                </p:oleObj>
              </mc:Choice>
              <mc:Fallback>
                <p:oleObj name="公式" r:id="rId20" imgW="1821336" imgH="655375" progId="Equation.3">
                  <p:embed/>
                  <p:pic>
                    <p:nvPicPr>
                      <p:cNvPr id="0" name="Object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60550" y="2163763"/>
                        <a:ext cx="1828800" cy="6604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6304" name="Object 4">
            <a:extLst>
              <a:ext uri="{FF2B5EF4-FFF2-40B4-BE49-F238E27FC236}">
                <a16:creationId xmlns:a16="http://schemas.microsoft.com/office/drawing/2014/main" id="{4B80D863-9337-227C-9868-78A0314B0CA5}"/>
              </a:ext>
            </a:extLst>
          </p:cNvPr>
          <p:cNvGraphicFramePr>
            <a:graphicFrameLocks noChangeAspect="1"/>
          </p:cNvGraphicFramePr>
          <p:nvPr/>
        </p:nvGraphicFramePr>
        <p:xfrm>
          <a:off x="3262313" y="2881313"/>
          <a:ext cx="1651000" cy="660400"/>
        </p:xfrm>
        <a:graphic>
          <a:graphicData uri="http://schemas.openxmlformats.org/presentationml/2006/ole">
            <mc:AlternateContent xmlns:mc="http://schemas.openxmlformats.org/markup-compatibility/2006">
              <mc:Choice xmlns:v="urn:schemas-microsoft-com:vml" Requires="v">
                <p:oleObj name="公式" r:id="rId22" imgW="1646169" imgH="655375" progId="Equation.3">
                  <p:embed/>
                </p:oleObj>
              </mc:Choice>
              <mc:Fallback>
                <p:oleObj name="公式" r:id="rId22" imgW="1646169" imgH="655375" progId="Equation.3">
                  <p:embed/>
                  <p:pic>
                    <p:nvPicPr>
                      <p:cNvPr id="0" name="Object 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62313" y="2881313"/>
                        <a:ext cx="1651000" cy="660400"/>
                      </a:xfrm>
                      <a:prstGeom prst="rect">
                        <a:avLst/>
                      </a:prstGeom>
                      <a:noFill/>
                      <a:ln>
                        <a:noFill/>
                      </a:ln>
                      <a:effectLst/>
                      <a:extLst>
                        <a:ext uri="{909E8E84-426E-40DD-AFC4-6F175D3DCCD1}">
                          <a14:hiddenFill xmlns:a14="http://schemas.microsoft.com/office/drawing/2010/main">
                            <a:solidFill>
                              <a:srgbClr val="00FFFF">
                                <a:alpha val="23921"/>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6305" name="Text Box 49">
            <a:extLst>
              <a:ext uri="{FF2B5EF4-FFF2-40B4-BE49-F238E27FC236}">
                <a16:creationId xmlns:a16="http://schemas.microsoft.com/office/drawing/2014/main" id="{F7C51B92-420C-FF0C-ED50-809A5951CFA7}"/>
              </a:ext>
            </a:extLst>
          </p:cNvPr>
          <p:cNvSpPr txBox="1">
            <a:spLocks noChangeArrowheads="1"/>
          </p:cNvSpPr>
          <p:nvPr/>
        </p:nvSpPr>
        <p:spPr bwMode="auto">
          <a:xfrm>
            <a:off x="2771775" y="3951288"/>
            <a:ext cx="3351213" cy="396875"/>
          </a:xfrm>
          <a:prstGeom prst="rect">
            <a:avLst/>
          </a:prstGeom>
          <a:noFill/>
          <a:ln w="9525">
            <a:noFill/>
            <a:miter lim="800000"/>
            <a:headEnd/>
            <a:tailEnd/>
          </a:ln>
        </p:spPr>
        <p:txBody>
          <a:bodyPr>
            <a:spAutoFit/>
          </a:bodyPr>
          <a:lstStyle/>
          <a:p>
            <a:pPr eaLnBrk="1" hangingPunct="1">
              <a:buClr>
                <a:srgbClr val="CCCCFF"/>
              </a:buClr>
              <a:buFont typeface="Monotype Sorts" pitchFamily="2" charset="2"/>
              <a:buNone/>
              <a:defRPr/>
            </a:pPr>
            <a:r>
              <a:rPr kumimoji="1" lang="zh-CN" altLang="en-US" sz="2000">
                <a:solidFill>
                  <a:srgbClr val="FF9900"/>
                </a:solidFill>
                <a:effectLst>
                  <a:outerShdw blurRad="38100" dist="38100" dir="2700000" algn="tl">
                    <a:srgbClr val="000000"/>
                  </a:outerShdw>
                </a:effectLst>
                <a:latin typeface="Times New Roman" pitchFamily="18" charset="0"/>
                <a:ea typeface="楷体_GB2312" pitchFamily="49" charset="-122"/>
              </a:rPr>
              <a:t>（刚体定轴转动定律）</a:t>
            </a:r>
          </a:p>
        </p:txBody>
      </p:sp>
      <p:sp>
        <p:nvSpPr>
          <p:cNvPr id="736306" name="Text Box 50">
            <a:extLst>
              <a:ext uri="{FF2B5EF4-FFF2-40B4-BE49-F238E27FC236}">
                <a16:creationId xmlns:a16="http://schemas.microsoft.com/office/drawing/2014/main" id="{DC5E8B2C-D1FB-E393-DA2E-192243DD1807}"/>
              </a:ext>
            </a:extLst>
          </p:cNvPr>
          <p:cNvSpPr txBox="1">
            <a:spLocks noChangeArrowheads="1"/>
          </p:cNvSpPr>
          <p:nvPr/>
        </p:nvSpPr>
        <p:spPr bwMode="auto">
          <a:xfrm>
            <a:off x="1106488" y="4883150"/>
            <a:ext cx="6742112" cy="1050925"/>
          </a:xfrm>
          <a:prstGeom prst="rect">
            <a:avLst/>
          </a:prstGeom>
          <a:solidFill>
            <a:srgbClr val="00CCFF">
              <a:alpha val="25999"/>
            </a:srgbClr>
          </a:solidFill>
          <a:ln w="9525">
            <a:solidFill>
              <a:srgbClr val="FFFFFF">
                <a:alpha val="25000"/>
              </a:srgbClr>
            </a:solidFill>
            <a:miter lim="800000"/>
            <a:headEnd/>
            <a:tailEnd/>
          </a:ln>
        </p:spPr>
        <p:txBody>
          <a:bodyPr>
            <a:spAutoFit/>
          </a:bodyPr>
          <a:lstStyle/>
          <a:p>
            <a:pPr algn="ctr" eaLnBrk="1" hangingPunct="1">
              <a:lnSpc>
                <a:spcPct val="130000"/>
              </a:lnSpc>
              <a:buClr>
                <a:srgbClr val="CC0000"/>
              </a:buClr>
              <a:buFont typeface="Monotype Sorts" pitchFamily="2" charset="2"/>
              <a:buNone/>
              <a:defRPr/>
            </a:pPr>
            <a:r>
              <a:rPr kumimoji="1" lang="zh-CN" altLang="en-US">
                <a:effectLst>
                  <a:outerShdw blurRad="38100" dist="38100" dir="2700000" algn="tl">
                    <a:srgbClr val="000000"/>
                  </a:outerShdw>
                </a:effectLst>
              </a:rPr>
              <a:t>作用在刚体上的合外力矩等于刚体对转轴的转动惯量与所获得的角加速度的乘积。</a:t>
            </a:r>
          </a:p>
        </p:txBody>
      </p:sp>
      <p:graphicFrame>
        <p:nvGraphicFramePr>
          <p:cNvPr id="736307" name="Object 5">
            <a:extLst>
              <a:ext uri="{FF2B5EF4-FFF2-40B4-BE49-F238E27FC236}">
                <a16:creationId xmlns:a16="http://schemas.microsoft.com/office/drawing/2014/main" id="{9ABD0673-B863-FF36-4203-0B0A87677732}"/>
              </a:ext>
            </a:extLst>
          </p:cNvPr>
          <p:cNvGraphicFramePr>
            <a:graphicFrameLocks noChangeAspect="1"/>
          </p:cNvGraphicFramePr>
          <p:nvPr/>
        </p:nvGraphicFramePr>
        <p:xfrm>
          <a:off x="1158875" y="3859213"/>
          <a:ext cx="1647825" cy="541337"/>
        </p:xfrm>
        <a:graphic>
          <a:graphicData uri="http://schemas.openxmlformats.org/presentationml/2006/ole">
            <mc:AlternateContent xmlns:mc="http://schemas.openxmlformats.org/markup-compatibility/2006">
              <mc:Choice xmlns:v="urn:schemas-microsoft-com:vml" Requires="v">
                <p:oleObj name="公式" r:id="rId24" imgW="998251" imgH="320206" progId="Equation.3">
                  <p:embed/>
                </p:oleObj>
              </mc:Choice>
              <mc:Fallback>
                <p:oleObj name="公式" r:id="rId24" imgW="998251" imgH="320206" progId="Equation.3">
                  <p:embed/>
                  <p:pic>
                    <p:nvPicPr>
                      <p:cNvPr id="0" name="Object 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58875" y="3859213"/>
                        <a:ext cx="1647825" cy="541337"/>
                      </a:xfrm>
                      <a:prstGeom prst="rect">
                        <a:avLst/>
                      </a:prstGeom>
                      <a:solidFill>
                        <a:srgbClr val="00FFFF">
                          <a:alpha val="25882"/>
                        </a:srgbClr>
                      </a:solidFill>
                      <a:ln w="9525">
                        <a:solidFill>
                          <a:srgbClr val="FFFFFF">
                            <a:alpha val="25098"/>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6300"/>
                                        </p:tgtEl>
                                        <p:attrNameLst>
                                          <p:attrName>style.visibility</p:attrName>
                                        </p:attrNameLst>
                                      </p:cBhvr>
                                      <p:to>
                                        <p:strVal val="visible"/>
                                      </p:to>
                                    </p:set>
                                    <p:animEffect transition="in" filter="wipe(left)">
                                      <p:cBhvr>
                                        <p:cTn id="7" dur="500"/>
                                        <p:tgtEl>
                                          <p:spTgt spid="736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6302"/>
                                        </p:tgtEl>
                                        <p:attrNameLst>
                                          <p:attrName>style.visibility</p:attrName>
                                        </p:attrNameLst>
                                      </p:cBhvr>
                                      <p:to>
                                        <p:strVal val="visible"/>
                                      </p:to>
                                    </p:set>
                                    <p:animEffect transition="in" filter="wipe(left)">
                                      <p:cBhvr>
                                        <p:cTn id="12" dur="500"/>
                                        <p:tgtEl>
                                          <p:spTgt spid="7363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6303"/>
                                        </p:tgtEl>
                                        <p:attrNameLst>
                                          <p:attrName>style.visibility</p:attrName>
                                        </p:attrNameLst>
                                      </p:cBhvr>
                                      <p:to>
                                        <p:strVal val="visible"/>
                                      </p:to>
                                    </p:set>
                                    <p:animEffect transition="in" filter="wipe(left)">
                                      <p:cBhvr>
                                        <p:cTn id="17" dur="500"/>
                                        <p:tgtEl>
                                          <p:spTgt spid="7363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6301"/>
                                        </p:tgtEl>
                                        <p:attrNameLst>
                                          <p:attrName>style.visibility</p:attrName>
                                        </p:attrNameLst>
                                      </p:cBhvr>
                                      <p:to>
                                        <p:strVal val="visible"/>
                                      </p:to>
                                    </p:set>
                                    <p:animEffect transition="in" filter="wipe(left)">
                                      <p:cBhvr>
                                        <p:cTn id="22" dur="500"/>
                                        <p:tgtEl>
                                          <p:spTgt spid="7363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36304"/>
                                        </p:tgtEl>
                                        <p:attrNameLst>
                                          <p:attrName>style.visibility</p:attrName>
                                        </p:attrNameLst>
                                      </p:cBhvr>
                                      <p:to>
                                        <p:strVal val="visible"/>
                                      </p:to>
                                    </p:set>
                                    <p:animEffect transition="in" filter="wipe(left)">
                                      <p:cBhvr>
                                        <p:cTn id="27" dur="500"/>
                                        <p:tgtEl>
                                          <p:spTgt spid="7363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6307"/>
                                        </p:tgtEl>
                                        <p:attrNameLst>
                                          <p:attrName>style.visibility</p:attrName>
                                        </p:attrNameLst>
                                      </p:cBhvr>
                                      <p:to>
                                        <p:strVal val="visible"/>
                                      </p:to>
                                    </p:set>
                                    <p:animEffect transition="in" filter="wipe(left)">
                                      <p:cBhvr>
                                        <p:cTn id="32" dur="500"/>
                                        <p:tgtEl>
                                          <p:spTgt spid="7363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36305"/>
                                        </p:tgtEl>
                                        <p:attrNameLst>
                                          <p:attrName>style.visibility</p:attrName>
                                        </p:attrNameLst>
                                      </p:cBhvr>
                                      <p:to>
                                        <p:strVal val="visible"/>
                                      </p:to>
                                    </p:set>
                                    <p:animEffect transition="in" filter="wipe(left)">
                                      <p:cBhvr>
                                        <p:cTn id="37" dur="500"/>
                                        <p:tgtEl>
                                          <p:spTgt spid="7363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36306"/>
                                        </p:tgtEl>
                                        <p:attrNameLst>
                                          <p:attrName>style.visibility</p:attrName>
                                        </p:attrNameLst>
                                      </p:cBhvr>
                                      <p:to>
                                        <p:strVal val="visible"/>
                                      </p:to>
                                    </p:set>
                                    <p:animEffect transition="in" filter="wipe(left)">
                                      <p:cBhvr>
                                        <p:cTn id="42" dur="500"/>
                                        <p:tgtEl>
                                          <p:spTgt spid="736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300" grpId="0"/>
      <p:bldP spid="736301" grpId="0"/>
      <p:bldP spid="736305" grpId="0"/>
      <p:bldP spid="73630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Text Box 2">
            <a:extLst>
              <a:ext uri="{FF2B5EF4-FFF2-40B4-BE49-F238E27FC236}">
                <a16:creationId xmlns:a16="http://schemas.microsoft.com/office/drawing/2014/main" id="{674F0155-C490-3386-AD6C-12825433DDD4}"/>
              </a:ext>
            </a:extLst>
          </p:cNvPr>
          <p:cNvSpPr txBox="1">
            <a:spLocks noChangeArrowheads="1"/>
          </p:cNvSpPr>
          <p:nvPr/>
        </p:nvSpPr>
        <p:spPr bwMode="auto">
          <a:xfrm>
            <a:off x="409575" y="2217738"/>
            <a:ext cx="8140700" cy="968375"/>
          </a:xfrm>
          <a:prstGeom prst="rect">
            <a:avLst/>
          </a:prstGeom>
          <a:noFill/>
          <a:ln w="9525">
            <a:noFill/>
            <a:miter lim="800000"/>
            <a:headEnd/>
            <a:tailEnd/>
          </a:ln>
        </p:spPr>
        <p:txBody>
          <a:bodyPr>
            <a:spAutoFit/>
          </a:bodyPr>
          <a:lstStyle/>
          <a:p>
            <a:pPr>
              <a:lnSpc>
                <a:spcPct val="120000"/>
              </a:lnSpc>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刚体定轴转动定律是力矩的瞬时作用规律，也可以写成矢</a:t>
            </a:r>
          </a:p>
          <a:p>
            <a:pPr>
              <a:lnSpc>
                <a:spcPct val="120000"/>
              </a:lnSpc>
              <a:buClr>
                <a:srgbClr val="FFCC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量关系式，即</a:t>
            </a:r>
          </a:p>
        </p:txBody>
      </p:sp>
      <p:sp>
        <p:nvSpPr>
          <p:cNvPr id="737283" name="Text Box 3">
            <a:extLst>
              <a:ext uri="{FF2B5EF4-FFF2-40B4-BE49-F238E27FC236}">
                <a16:creationId xmlns:a16="http://schemas.microsoft.com/office/drawing/2014/main" id="{4C98476D-812E-CEF1-D99B-58AD764F8C16}"/>
              </a:ext>
            </a:extLst>
          </p:cNvPr>
          <p:cNvSpPr txBox="1">
            <a:spLocks noChangeArrowheads="1"/>
          </p:cNvSpPr>
          <p:nvPr/>
        </p:nvSpPr>
        <p:spPr bwMode="auto">
          <a:xfrm>
            <a:off x="868363" y="5541963"/>
            <a:ext cx="7745412" cy="431800"/>
          </a:xfrm>
          <a:prstGeom prst="rect">
            <a:avLst/>
          </a:prstGeom>
          <a:solidFill>
            <a:srgbClr val="00CCFF">
              <a:alpha val="25000"/>
            </a:srgbClr>
          </a:solidFill>
          <a:ln w="9525">
            <a:solidFill>
              <a:srgbClr val="FFFFFF">
                <a:alpha val="27000"/>
              </a:srgbClr>
            </a:solidFill>
            <a:miter lim="800000"/>
            <a:headEnd/>
            <a:tailEnd/>
          </a:ln>
        </p:spPr>
        <p:txBody>
          <a:bodyPr>
            <a:spAutoFit/>
          </a:bodyPr>
          <a:lstStyle/>
          <a:p>
            <a:pPr>
              <a:lnSpc>
                <a:spcPct val="120000"/>
              </a:lnSpc>
              <a:buFont typeface="Monotype Sorts" pitchFamily="2" charset="2"/>
              <a:buNone/>
              <a:defRPr/>
            </a:pPr>
            <a:r>
              <a:rPr kumimoji="1" lang="zh-CN" altLang="en-US" sz="1800">
                <a:solidFill>
                  <a:srgbClr val="FFCC00"/>
                </a:solidFill>
                <a:effectLst>
                  <a:outerShdw blurRad="38100" dist="38100" dir="2700000" algn="tl">
                    <a:srgbClr val="000000"/>
                  </a:outerShdw>
                </a:effectLst>
              </a:rPr>
              <a:t>力矩是使刚体改变转动状态的原因，是使刚体转动产生角加速度的原因。</a:t>
            </a:r>
          </a:p>
        </p:txBody>
      </p:sp>
      <p:sp>
        <p:nvSpPr>
          <p:cNvPr id="737284" name="Text Box 4">
            <a:extLst>
              <a:ext uri="{FF2B5EF4-FFF2-40B4-BE49-F238E27FC236}">
                <a16:creationId xmlns:a16="http://schemas.microsoft.com/office/drawing/2014/main" id="{E7618735-4A41-D996-8B66-A657CA37C06B}"/>
              </a:ext>
            </a:extLst>
          </p:cNvPr>
          <p:cNvSpPr txBox="1">
            <a:spLocks noChangeArrowheads="1"/>
          </p:cNvSpPr>
          <p:nvPr/>
        </p:nvSpPr>
        <p:spPr bwMode="auto">
          <a:xfrm>
            <a:off x="423863" y="4179888"/>
            <a:ext cx="8154987" cy="968375"/>
          </a:xfrm>
          <a:prstGeom prst="rect">
            <a:avLst/>
          </a:prstGeom>
          <a:noFill/>
          <a:ln w="9525">
            <a:noFill/>
            <a:miter lim="800000"/>
            <a:headEnd/>
            <a:tailEnd/>
          </a:ln>
        </p:spPr>
        <p:txBody>
          <a:bodyPr>
            <a:spAutoFit/>
          </a:bodyPr>
          <a:lstStyle/>
          <a:p>
            <a:pPr>
              <a:lnSpc>
                <a:spcPct val="120000"/>
              </a:lnSpc>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刚体定轴转动定律是刚体定轴转动动力学的基本方程，如</a:t>
            </a:r>
          </a:p>
          <a:p>
            <a:pPr>
              <a:lnSpc>
                <a:spcPct val="120000"/>
              </a:lnSpc>
              <a:buClr>
                <a:srgbClr val="FFCC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同质点力学中的                  ；</a:t>
            </a:r>
          </a:p>
        </p:txBody>
      </p:sp>
      <p:sp>
        <p:nvSpPr>
          <p:cNvPr id="737285" name="Text Box 5">
            <a:extLst>
              <a:ext uri="{FF2B5EF4-FFF2-40B4-BE49-F238E27FC236}">
                <a16:creationId xmlns:a16="http://schemas.microsoft.com/office/drawing/2014/main" id="{108F0A71-3C3B-8A56-AA3B-308673B82A5D}"/>
              </a:ext>
            </a:extLst>
          </p:cNvPr>
          <p:cNvSpPr txBox="1">
            <a:spLocks noChangeArrowheads="1"/>
          </p:cNvSpPr>
          <p:nvPr/>
        </p:nvSpPr>
        <p:spPr bwMode="auto">
          <a:xfrm>
            <a:off x="423863" y="3163888"/>
            <a:ext cx="8110537" cy="968375"/>
          </a:xfrm>
          <a:prstGeom prst="rect">
            <a:avLst/>
          </a:prstGeom>
          <a:noFill/>
          <a:ln w="9525">
            <a:noFill/>
            <a:miter lim="800000"/>
            <a:headEnd/>
            <a:tailEnd/>
          </a:ln>
        </p:spPr>
        <p:txBody>
          <a:bodyPr>
            <a:spAutoFit/>
          </a:bodyPr>
          <a:lstStyle/>
          <a:p>
            <a:pPr>
              <a:lnSpc>
                <a:spcPct val="120000"/>
              </a:lnSpc>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刚体定轴转动定律中的</a:t>
            </a:r>
            <a:r>
              <a:rPr kumimoji="1" lang="en-US" altLang="zh-CN" i="1">
                <a:solidFill>
                  <a:srgbClr val="FFCC00"/>
                </a:solidFill>
                <a:effectLst>
                  <a:outerShdw blurRad="38100" dist="38100" dir="2700000" algn="tl">
                    <a:srgbClr val="000000"/>
                  </a:outerShdw>
                </a:effectLst>
                <a:latin typeface="Times New Roman" pitchFamily="18" charset="0"/>
              </a:rPr>
              <a:t>M</a:t>
            </a:r>
            <a:r>
              <a:rPr kumimoji="1" lang="zh-CN" altLang="en-US">
                <a:effectLst>
                  <a:outerShdw blurRad="38100" dist="38100" dir="2700000" algn="tl">
                    <a:srgbClr val="000000"/>
                  </a:outerShdw>
                </a:effectLst>
                <a:latin typeface="Times New Roman" pitchFamily="18" charset="0"/>
              </a:rPr>
              <a:t>、转动惯量</a:t>
            </a:r>
            <a:r>
              <a:rPr kumimoji="1" lang="en-US" altLang="zh-CN" i="1">
                <a:solidFill>
                  <a:srgbClr val="FFCC00"/>
                </a:solidFill>
                <a:effectLst>
                  <a:outerShdw blurRad="38100" dist="38100" dir="2700000" algn="tl">
                    <a:srgbClr val="000000"/>
                  </a:outerShdw>
                </a:effectLst>
                <a:latin typeface="Times New Roman" pitchFamily="18" charset="0"/>
              </a:rPr>
              <a:t>J</a:t>
            </a:r>
            <a:r>
              <a:rPr kumimoji="1" lang="zh-CN" altLang="en-US">
                <a:effectLst>
                  <a:outerShdw blurRad="38100" dist="38100" dir="2700000" algn="tl">
                    <a:srgbClr val="000000"/>
                  </a:outerShdw>
                </a:effectLst>
                <a:latin typeface="Times New Roman" pitchFamily="18" charset="0"/>
              </a:rPr>
              <a:t>和角加速度</a:t>
            </a:r>
            <a:r>
              <a:rPr kumimoji="1" lang="zh-CN" altLang="en-US" i="1">
                <a:solidFill>
                  <a:srgbClr val="FFCC00"/>
                </a:solidFill>
                <a:effectLst>
                  <a:outerShdw blurRad="38100" dist="38100" dir="2700000" algn="tl">
                    <a:srgbClr val="000000"/>
                  </a:outerShdw>
                </a:effectLst>
                <a:latin typeface="Times New Roman" pitchFamily="18" charset="0"/>
                <a:sym typeface="Symbol" pitchFamily="18" charset="2"/>
              </a:rPr>
              <a:t></a:t>
            </a:r>
            <a:r>
              <a:rPr kumimoji="1" lang="zh-CN" altLang="en-US">
                <a:effectLst>
                  <a:outerShdw blurRad="38100" dist="38100" dir="2700000" algn="tl">
                    <a:srgbClr val="000000"/>
                  </a:outerShdw>
                </a:effectLst>
                <a:latin typeface="Times New Roman" pitchFamily="18" charset="0"/>
              </a:rPr>
              <a:t>三个物</a:t>
            </a:r>
          </a:p>
          <a:p>
            <a:pPr>
              <a:lnSpc>
                <a:spcPct val="120000"/>
              </a:lnSpc>
              <a:buClr>
                <a:srgbClr val="FFCC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理量都是相对于同一转轴而言的；</a:t>
            </a:r>
          </a:p>
        </p:txBody>
      </p:sp>
      <p:graphicFrame>
        <p:nvGraphicFramePr>
          <p:cNvPr id="737286" name="Object 2">
            <a:extLst>
              <a:ext uri="{FF2B5EF4-FFF2-40B4-BE49-F238E27FC236}">
                <a16:creationId xmlns:a16="http://schemas.microsoft.com/office/drawing/2014/main" id="{70EDB9B3-5943-1431-0648-77344522282E}"/>
              </a:ext>
            </a:extLst>
          </p:cNvPr>
          <p:cNvGraphicFramePr>
            <a:graphicFrameLocks noChangeAspect="1"/>
          </p:cNvGraphicFramePr>
          <p:nvPr/>
        </p:nvGraphicFramePr>
        <p:xfrm>
          <a:off x="3270250" y="2762250"/>
          <a:ext cx="1003300" cy="368300"/>
        </p:xfrm>
        <a:graphic>
          <a:graphicData uri="http://schemas.openxmlformats.org/presentationml/2006/ole">
            <mc:AlternateContent xmlns:mc="http://schemas.openxmlformats.org/markup-compatibility/2006">
              <mc:Choice xmlns:v="urn:schemas-microsoft-com:vml" Requires="v">
                <p:oleObj name="公式" r:id="rId2" imgW="998251" imgH="358112" progId="Equation.3">
                  <p:embed/>
                </p:oleObj>
              </mc:Choice>
              <mc:Fallback>
                <p:oleObj name="公式" r:id="rId2" imgW="998251" imgH="358112"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0250" y="2762250"/>
                        <a:ext cx="1003300" cy="3683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287" name="Object 3">
            <a:extLst>
              <a:ext uri="{FF2B5EF4-FFF2-40B4-BE49-F238E27FC236}">
                <a16:creationId xmlns:a16="http://schemas.microsoft.com/office/drawing/2014/main" id="{81117DDB-C275-098C-0DA0-BF55299BE6A6}"/>
              </a:ext>
            </a:extLst>
          </p:cNvPr>
          <p:cNvGraphicFramePr>
            <a:graphicFrameLocks noChangeAspect="1"/>
          </p:cNvGraphicFramePr>
          <p:nvPr/>
        </p:nvGraphicFramePr>
        <p:xfrm>
          <a:off x="3081338" y="4764088"/>
          <a:ext cx="965200" cy="317500"/>
        </p:xfrm>
        <a:graphic>
          <a:graphicData uri="http://schemas.openxmlformats.org/presentationml/2006/ole">
            <mc:AlternateContent xmlns:mc="http://schemas.openxmlformats.org/markup-compatibility/2006">
              <mc:Choice xmlns:v="urn:schemas-microsoft-com:vml" Requires="v">
                <p:oleObj name="公式" r:id="rId4" imgW="959933" imgH="312226" progId="Equation.3">
                  <p:embed/>
                </p:oleObj>
              </mc:Choice>
              <mc:Fallback>
                <p:oleObj name="公式" r:id="rId4" imgW="959933" imgH="312226"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1338" y="4764088"/>
                        <a:ext cx="965200" cy="3175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288" name="Object 4">
            <a:extLst>
              <a:ext uri="{FF2B5EF4-FFF2-40B4-BE49-F238E27FC236}">
                <a16:creationId xmlns:a16="http://schemas.microsoft.com/office/drawing/2014/main" id="{A9CF1A2E-AC27-BA10-F956-65CB5F9AEC48}"/>
              </a:ext>
            </a:extLst>
          </p:cNvPr>
          <p:cNvGraphicFramePr>
            <a:graphicFrameLocks noChangeAspect="1"/>
          </p:cNvGraphicFramePr>
          <p:nvPr/>
        </p:nvGraphicFramePr>
        <p:xfrm>
          <a:off x="3130550" y="457200"/>
          <a:ext cx="1812925" cy="596900"/>
        </p:xfrm>
        <a:graphic>
          <a:graphicData uri="http://schemas.openxmlformats.org/presentationml/2006/ole">
            <mc:AlternateContent xmlns:mc="http://schemas.openxmlformats.org/markup-compatibility/2006">
              <mc:Choice xmlns:v="urn:schemas-microsoft-com:vml" Requires="v">
                <p:oleObj name="公式" r:id="rId6" imgW="998251" imgH="320206" progId="Equation.3">
                  <p:embed/>
                </p:oleObj>
              </mc:Choice>
              <mc:Fallback>
                <p:oleObj name="公式" r:id="rId6" imgW="998251" imgH="320206"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0550" y="457200"/>
                        <a:ext cx="1812925" cy="596900"/>
                      </a:xfrm>
                      <a:prstGeom prst="rect">
                        <a:avLst/>
                      </a:prstGeom>
                      <a:solidFill>
                        <a:srgbClr val="00FFFF">
                          <a:alpha val="25882"/>
                        </a:srgbClr>
                      </a:solidFill>
                      <a:ln w="9525">
                        <a:solidFill>
                          <a:srgbClr val="FFFFFF">
                            <a:alpha val="25098"/>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289" name="Text Box 9">
            <a:extLst>
              <a:ext uri="{FF2B5EF4-FFF2-40B4-BE49-F238E27FC236}">
                <a16:creationId xmlns:a16="http://schemas.microsoft.com/office/drawing/2014/main" id="{F8ABF66B-72D5-3DC0-7B34-F660BAB10B72}"/>
              </a:ext>
            </a:extLst>
          </p:cNvPr>
          <p:cNvSpPr txBox="1">
            <a:spLocks noChangeArrowheads="1"/>
          </p:cNvSpPr>
          <p:nvPr/>
        </p:nvSpPr>
        <p:spPr bwMode="auto">
          <a:xfrm>
            <a:off x="347663" y="804863"/>
            <a:ext cx="2700337" cy="530225"/>
          </a:xfrm>
          <a:prstGeom prst="rect">
            <a:avLst/>
          </a:prstGeom>
          <a:noFill/>
          <a:ln w="9525">
            <a:noFill/>
            <a:miter lim="800000"/>
            <a:headEnd/>
            <a:tailEnd/>
          </a:ln>
          <a:effectLst/>
        </p:spPr>
        <p:txBody>
          <a:bodyPr>
            <a:spAutoFit/>
          </a:bodyPr>
          <a:lstStyle/>
          <a:p>
            <a:pPr eaLnBrk="1" hangingPunct="1">
              <a:lnSpc>
                <a:spcPct val="120000"/>
              </a:lnSpc>
              <a:buClr>
                <a:srgbClr val="FFFF00"/>
              </a:buClr>
              <a:buFont typeface="Wingdings" pitchFamily="2" charset="2"/>
              <a:buChar char="Ø"/>
              <a:defRPr/>
            </a:pPr>
            <a:r>
              <a:rPr kumimoji="1" lang="en-US" altLang="zh-CN">
                <a:solidFill>
                  <a:srgbClr val="00FFFF"/>
                </a:solidFill>
                <a:effectLst>
                  <a:outerShdw blurRad="38100" dist="38100" dir="2700000" algn="tl">
                    <a:srgbClr val="000000"/>
                  </a:outerShdw>
                </a:effectLst>
                <a:latin typeface="Times New Roman" pitchFamily="18" charset="0"/>
                <a:ea typeface="宋体" pitchFamily="2" charset="-122"/>
              </a:rPr>
              <a:t> </a:t>
            </a:r>
            <a:r>
              <a:rPr kumimoji="1" lang="zh-CN" altLang="en-US">
                <a:solidFill>
                  <a:srgbClr val="00FFFF"/>
                </a:solidFill>
                <a:effectLst>
                  <a:outerShdw blurRad="38100" dist="38100" dir="2700000" algn="tl">
                    <a:srgbClr val="000000"/>
                  </a:outerShdw>
                </a:effectLst>
                <a:latin typeface="Times New Roman" pitchFamily="18" charset="0"/>
                <a:ea typeface="宋体" pitchFamily="2" charset="-122"/>
              </a:rPr>
              <a:t>讨论</a:t>
            </a:r>
          </a:p>
        </p:txBody>
      </p:sp>
      <p:sp>
        <p:nvSpPr>
          <p:cNvPr id="737290" name="Text Box 10">
            <a:extLst>
              <a:ext uri="{FF2B5EF4-FFF2-40B4-BE49-F238E27FC236}">
                <a16:creationId xmlns:a16="http://schemas.microsoft.com/office/drawing/2014/main" id="{A566FC4F-1788-33F1-FF61-20CA9C918F77}"/>
              </a:ext>
            </a:extLst>
          </p:cNvPr>
          <p:cNvSpPr txBox="1">
            <a:spLocks noChangeArrowheads="1"/>
          </p:cNvSpPr>
          <p:nvPr/>
        </p:nvSpPr>
        <p:spPr bwMode="auto">
          <a:xfrm>
            <a:off x="411163" y="1295400"/>
            <a:ext cx="8021637" cy="1406525"/>
          </a:xfrm>
          <a:prstGeom prst="rect">
            <a:avLst/>
          </a:prstGeom>
          <a:noFill/>
          <a:ln w="9525">
            <a:noFill/>
            <a:miter lim="800000"/>
            <a:headEnd/>
            <a:tailEnd/>
          </a:ln>
        </p:spPr>
        <p:txBody>
          <a:bodyPr>
            <a:spAutoFit/>
          </a:bodyPr>
          <a:lstStyle/>
          <a:p>
            <a:pPr>
              <a:lnSpc>
                <a:spcPct val="120000"/>
              </a:lnSpc>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刚体定轴转动定律中的</a:t>
            </a:r>
            <a:r>
              <a:rPr kumimoji="1" lang="en-US" altLang="zh-CN" i="1">
                <a:solidFill>
                  <a:srgbClr val="FFCC00"/>
                </a:solidFill>
                <a:effectLst>
                  <a:outerShdw blurRad="38100" dist="38100" dir="2700000" algn="tl">
                    <a:srgbClr val="000000"/>
                  </a:outerShdw>
                </a:effectLst>
                <a:latin typeface="Times New Roman" pitchFamily="18" charset="0"/>
              </a:rPr>
              <a:t>M</a:t>
            </a:r>
            <a:r>
              <a:rPr kumimoji="1" lang="zh-CN" altLang="en-US">
                <a:effectLst>
                  <a:outerShdw blurRad="38100" dist="38100" dir="2700000" algn="tl">
                    <a:srgbClr val="000000"/>
                  </a:outerShdw>
                </a:effectLst>
                <a:latin typeface="Times New Roman" pitchFamily="18" charset="0"/>
              </a:rPr>
              <a:t>是作用在刚体上的合外力矩；</a:t>
            </a:r>
            <a:r>
              <a:rPr lang="zh-CN" altLang="en-US" i="1">
                <a:solidFill>
                  <a:srgbClr val="FF3300"/>
                </a:solidFill>
                <a:sym typeface="Symbol" pitchFamily="18" charset="2"/>
              </a:rPr>
              <a:t></a:t>
            </a:r>
            <a:r>
              <a:rPr lang="zh-CN" altLang="en-US"/>
              <a:t>   </a:t>
            </a:r>
          </a:p>
          <a:p>
            <a:pPr>
              <a:lnSpc>
                <a:spcPct val="120000"/>
              </a:lnSpc>
              <a:buClr>
                <a:srgbClr val="FFCC00"/>
              </a:buClr>
              <a:buSzPct val="80000"/>
              <a:buFont typeface="Wingdings" pitchFamily="2" charset="2"/>
              <a:buNone/>
              <a:defRPr/>
            </a:pPr>
            <a:r>
              <a:rPr lang="zh-CN" altLang="en-US"/>
              <a:t>  正比于 </a:t>
            </a:r>
            <a:r>
              <a:rPr lang="en-US" altLang="zh-CN" i="1">
                <a:solidFill>
                  <a:srgbClr val="FF3300"/>
                </a:solidFill>
              </a:rPr>
              <a:t>M</a:t>
            </a:r>
            <a:r>
              <a:rPr lang="en-US" altLang="zh-CN"/>
              <a:t> </a:t>
            </a:r>
            <a:r>
              <a:rPr lang="zh-CN" altLang="en-US" i="1"/>
              <a:t>，</a:t>
            </a:r>
            <a:r>
              <a:rPr lang="zh-CN" altLang="en-US"/>
              <a:t>力矩越大</a:t>
            </a:r>
            <a:r>
              <a:rPr lang="zh-CN" altLang="en-US" i="1"/>
              <a:t>，</a:t>
            </a:r>
            <a:r>
              <a:rPr lang="zh-CN" altLang="en-US"/>
              <a:t>刚体的</a:t>
            </a:r>
            <a:r>
              <a:rPr lang="zh-CN" altLang="en-US" i="1"/>
              <a:t> </a:t>
            </a:r>
            <a:r>
              <a:rPr lang="zh-CN" altLang="en-US" i="1">
                <a:solidFill>
                  <a:srgbClr val="FF3300"/>
                </a:solidFill>
                <a:sym typeface="Symbol" pitchFamily="18" charset="2"/>
              </a:rPr>
              <a:t></a:t>
            </a:r>
            <a:r>
              <a:rPr lang="zh-CN" altLang="en-US" i="1">
                <a:solidFill>
                  <a:srgbClr val="FF3300"/>
                </a:solidFill>
              </a:rPr>
              <a:t> </a:t>
            </a:r>
            <a:r>
              <a:rPr lang="zh-CN" altLang="en-US"/>
              <a:t>越大</a:t>
            </a:r>
          </a:p>
          <a:p>
            <a:pPr>
              <a:lnSpc>
                <a:spcPct val="120000"/>
              </a:lnSpc>
              <a:buClr>
                <a:srgbClr val="FFCC00"/>
              </a:buClr>
              <a:buSzPct val="80000"/>
              <a:buFont typeface="Wingdings" pitchFamily="2" charset="2"/>
              <a:buChar char="l"/>
              <a:defRPr/>
            </a:pPr>
            <a:endParaRPr kumimoji="1" lang="en-US" altLang="zh-CN">
              <a:effectLst>
                <a:outerShdw blurRad="38100" dist="38100" dir="2700000" algn="tl">
                  <a:srgbClr val="000000"/>
                </a:outerShdw>
              </a:effectLst>
              <a:latin typeface="Times New Roman" pitchFamily="18" charset="0"/>
            </a:endParaRPr>
          </a:p>
        </p:txBody>
      </p:sp>
      <p:sp>
        <p:nvSpPr>
          <p:cNvPr id="737291" name="Text Box 11">
            <a:extLst>
              <a:ext uri="{FF2B5EF4-FFF2-40B4-BE49-F238E27FC236}">
                <a16:creationId xmlns:a16="http://schemas.microsoft.com/office/drawing/2014/main" id="{FBBC34AA-78B3-C8A6-B38C-E399082A78D8}"/>
              </a:ext>
            </a:extLst>
          </p:cNvPr>
          <p:cNvSpPr txBox="1">
            <a:spLocks noChangeArrowheads="1"/>
          </p:cNvSpPr>
          <p:nvPr/>
        </p:nvSpPr>
        <p:spPr bwMode="auto">
          <a:xfrm>
            <a:off x="704850" y="5953125"/>
            <a:ext cx="8154988" cy="530225"/>
          </a:xfrm>
          <a:prstGeom prst="rect">
            <a:avLst/>
          </a:prstGeom>
          <a:noFill/>
          <a:ln w="9525">
            <a:noFill/>
            <a:miter lim="800000"/>
            <a:headEnd/>
            <a:tailEnd/>
          </a:ln>
        </p:spPr>
        <p:txBody>
          <a:bodyPr>
            <a:spAutoFit/>
          </a:bodyPr>
          <a:lstStyle/>
          <a:p>
            <a:pPr>
              <a:lnSpc>
                <a:spcPct val="120000"/>
              </a:lnSpc>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刚体定轴转动定律仅适用于惯性系。</a:t>
            </a:r>
          </a:p>
        </p:txBody>
      </p:sp>
      <p:sp>
        <p:nvSpPr>
          <p:cNvPr id="737292" name="Line 12">
            <a:extLst>
              <a:ext uri="{FF2B5EF4-FFF2-40B4-BE49-F238E27FC236}">
                <a16:creationId xmlns:a16="http://schemas.microsoft.com/office/drawing/2014/main" id="{0678BB5B-B8B5-0D09-4AFD-C7AF0B050A6C}"/>
              </a:ext>
            </a:extLst>
          </p:cNvPr>
          <p:cNvSpPr>
            <a:spLocks noChangeShapeType="1"/>
          </p:cNvSpPr>
          <p:nvPr/>
        </p:nvSpPr>
        <p:spPr bwMode="auto">
          <a:xfrm>
            <a:off x="3917950" y="3265488"/>
            <a:ext cx="246063" cy="0"/>
          </a:xfrm>
          <a:prstGeom prst="line">
            <a:avLst/>
          </a:prstGeom>
          <a:noFill/>
          <a:ln w="9525">
            <a:solidFill>
              <a:srgbClr val="FFCC00"/>
            </a:solidFill>
            <a:round/>
            <a:headEnd/>
            <a:tailEnd type="triangle" w="sm"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7293" name="Line 13">
            <a:extLst>
              <a:ext uri="{FF2B5EF4-FFF2-40B4-BE49-F238E27FC236}">
                <a16:creationId xmlns:a16="http://schemas.microsoft.com/office/drawing/2014/main" id="{406A091D-341A-6550-5400-BC8A4E777113}"/>
              </a:ext>
            </a:extLst>
          </p:cNvPr>
          <p:cNvSpPr>
            <a:spLocks noChangeShapeType="1"/>
          </p:cNvSpPr>
          <p:nvPr/>
        </p:nvSpPr>
        <p:spPr bwMode="auto">
          <a:xfrm>
            <a:off x="7391400" y="3252788"/>
            <a:ext cx="173038" cy="0"/>
          </a:xfrm>
          <a:prstGeom prst="line">
            <a:avLst/>
          </a:prstGeom>
          <a:noFill/>
          <a:ln w="9525">
            <a:solidFill>
              <a:srgbClr val="FFCC00"/>
            </a:solidFill>
            <a:round/>
            <a:headEnd/>
            <a:tailEnd type="triangle" w="sm"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7294" name="Text Box 14">
            <a:extLst>
              <a:ext uri="{FF2B5EF4-FFF2-40B4-BE49-F238E27FC236}">
                <a16:creationId xmlns:a16="http://schemas.microsoft.com/office/drawing/2014/main" id="{974B50FE-8E6F-06D5-C38F-F5699D0213C3}"/>
              </a:ext>
            </a:extLst>
          </p:cNvPr>
          <p:cNvSpPr txBox="1">
            <a:spLocks noChangeArrowheads="1"/>
          </p:cNvSpPr>
          <p:nvPr/>
        </p:nvSpPr>
        <p:spPr bwMode="auto">
          <a:xfrm>
            <a:off x="895350" y="5081588"/>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楷体_GB2312" pitchFamily="49" charset="-122"/>
              </a:rPr>
              <a:t>与牛顿定律比较：</a:t>
            </a:r>
          </a:p>
        </p:txBody>
      </p:sp>
      <p:graphicFrame>
        <p:nvGraphicFramePr>
          <p:cNvPr id="737295" name="Object 5">
            <a:extLst>
              <a:ext uri="{FF2B5EF4-FFF2-40B4-BE49-F238E27FC236}">
                <a16:creationId xmlns:a16="http://schemas.microsoft.com/office/drawing/2014/main" id="{E4B37A29-7F30-1691-BCB9-B2BC6561D049}"/>
              </a:ext>
            </a:extLst>
          </p:cNvPr>
          <p:cNvGraphicFramePr>
            <a:graphicFrameLocks noChangeAspect="1"/>
          </p:cNvGraphicFramePr>
          <p:nvPr/>
        </p:nvGraphicFramePr>
        <p:xfrm>
          <a:off x="3362325" y="5168900"/>
          <a:ext cx="3352800" cy="393700"/>
        </p:xfrm>
        <a:graphic>
          <a:graphicData uri="http://schemas.openxmlformats.org/presentationml/2006/ole">
            <mc:AlternateContent xmlns:mc="http://schemas.openxmlformats.org/markup-compatibility/2006">
              <mc:Choice xmlns:v="urn:schemas-microsoft-com:vml" Requires="v">
                <p:oleObj name="Equation" r:id="rId8" imgW="3345087" imgH="388537" progId="Equation.3">
                  <p:embed/>
                </p:oleObj>
              </mc:Choice>
              <mc:Fallback>
                <p:oleObj name="Equation" r:id="rId8" imgW="3345087" imgH="388537"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62325" y="5168900"/>
                        <a:ext cx="3352800" cy="3937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7288"/>
                                        </p:tgtEl>
                                        <p:attrNameLst>
                                          <p:attrName>style.visibility</p:attrName>
                                        </p:attrNameLst>
                                      </p:cBhvr>
                                      <p:to>
                                        <p:strVal val="visible"/>
                                      </p:to>
                                    </p:set>
                                    <p:animEffect transition="in" filter="wipe(left)">
                                      <p:cBhvr>
                                        <p:cTn id="7" dur="500"/>
                                        <p:tgtEl>
                                          <p:spTgt spid="7372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7289"/>
                                        </p:tgtEl>
                                        <p:attrNameLst>
                                          <p:attrName>style.visibility</p:attrName>
                                        </p:attrNameLst>
                                      </p:cBhvr>
                                      <p:to>
                                        <p:strVal val="visible"/>
                                      </p:to>
                                    </p:set>
                                    <p:animEffect transition="in" filter="wipe(left)">
                                      <p:cBhvr>
                                        <p:cTn id="12" dur="500"/>
                                        <p:tgtEl>
                                          <p:spTgt spid="7372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7290"/>
                                        </p:tgtEl>
                                        <p:attrNameLst>
                                          <p:attrName>style.visibility</p:attrName>
                                        </p:attrNameLst>
                                      </p:cBhvr>
                                      <p:to>
                                        <p:strVal val="visible"/>
                                      </p:to>
                                    </p:set>
                                    <p:animEffect transition="in" filter="wipe(left)">
                                      <p:cBhvr>
                                        <p:cTn id="17" dur="500"/>
                                        <p:tgtEl>
                                          <p:spTgt spid="7372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7282"/>
                                        </p:tgtEl>
                                        <p:attrNameLst>
                                          <p:attrName>style.visibility</p:attrName>
                                        </p:attrNameLst>
                                      </p:cBhvr>
                                      <p:to>
                                        <p:strVal val="visible"/>
                                      </p:to>
                                    </p:set>
                                    <p:animEffect transition="in" filter="wipe(left)">
                                      <p:cBhvr>
                                        <p:cTn id="22" dur="500"/>
                                        <p:tgtEl>
                                          <p:spTgt spid="7372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37286"/>
                                        </p:tgtEl>
                                        <p:attrNameLst>
                                          <p:attrName>style.visibility</p:attrName>
                                        </p:attrNameLst>
                                      </p:cBhvr>
                                      <p:to>
                                        <p:strVal val="visible"/>
                                      </p:to>
                                    </p:set>
                                    <p:animEffect transition="in" filter="wipe(left)">
                                      <p:cBhvr>
                                        <p:cTn id="27" dur="500"/>
                                        <p:tgtEl>
                                          <p:spTgt spid="7372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7285"/>
                                        </p:tgtEl>
                                        <p:attrNameLst>
                                          <p:attrName>style.visibility</p:attrName>
                                        </p:attrNameLst>
                                      </p:cBhvr>
                                      <p:to>
                                        <p:strVal val="visible"/>
                                      </p:to>
                                    </p:set>
                                    <p:animEffect transition="in" filter="wipe(left)">
                                      <p:cBhvr>
                                        <p:cTn id="32" dur="500"/>
                                        <p:tgtEl>
                                          <p:spTgt spid="737285"/>
                                        </p:tgtEl>
                                      </p:cBhvr>
                                    </p:animEffect>
                                  </p:childTnLst>
                                </p:cTn>
                              </p:par>
                              <p:par>
                                <p:cTn id="33" presetID="22" presetClass="entr" presetSubtype="4" fill="hold" nodeType="withEffect">
                                  <p:stCondLst>
                                    <p:cond delay="0"/>
                                  </p:stCondLst>
                                  <p:childTnLst>
                                    <p:set>
                                      <p:cBhvr>
                                        <p:cTn id="34" dur="1" fill="hold">
                                          <p:stCondLst>
                                            <p:cond delay="0"/>
                                          </p:stCondLst>
                                        </p:cTn>
                                        <p:tgtEl>
                                          <p:spTgt spid="737292"/>
                                        </p:tgtEl>
                                        <p:attrNameLst>
                                          <p:attrName>style.visibility</p:attrName>
                                        </p:attrNameLst>
                                      </p:cBhvr>
                                      <p:to>
                                        <p:strVal val="visible"/>
                                      </p:to>
                                    </p:set>
                                    <p:animEffect transition="in" filter="wipe(down)">
                                      <p:cBhvr>
                                        <p:cTn id="35" dur="500"/>
                                        <p:tgtEl>
                                          <p:spTgt spid="737292"/>
                                        </p:tgtEl>
                                      </p:cBhvr>
                                    </p:animEffect>
                                  </p:childTnLst>
                                </p:cTn>
                              </p:par>
                              <p:par>
                                <p:cTn id="36" presetID="22" presetClass="entr" presetSubtype="4" fill="hold" nodeType="withEffect">
                                  <p:stCondLst>
                                    <p:cond delay="0"/>
                                  </p:stCondLst>
                                  <p:childTnLst>
                                    <p:set>
                                      <p:cBhvr>
                                        <p:cTn id="37" dur="1" fill="hold">
                                          <p:stCondLst>
                                            <p:cond delay="0"/>
                                          </p:stCondLst>
                                        </p:cTn>
                                        <p:tgtEl>
                                          <p:spTgt spid="737293"/>
                                        </p:tgtEl>
                                        <p:attrNameLst>
                                          <p:attrName>style.visibility</p:attrName>
                                        </p:attrNameLst>
                                      </p:cBhvr>
                                      <p:to>
                                        <p:strVal val="visible"/>
                                      </p:to>
                                    </p:set>
                                    <p:animEffect transition="in" filter="wipe(down)">
                                      <p:cBhvr>
                                        <p:cTn id="38" dur="500"/>
                                        <p:tgtEl>
                                          <p:spTgt spid="73729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37284"/>
                                        </p:tgtEl>
                                        <p:attrNameLst>
                                          <p:attrName>style.visibility</p:attrName>
                                        </p:attrNameLst>
                                      </p:cBhvr>
                                      <p:to>
                                        <p:strVal val="visible"/>
                                      </p:to>
                                    </p:set>
                                    <p:animEffect transition="in" filter="wipe(left)">
                                      <p:cBhvr>
                                        <p:cTn id="43" dur="500"/>
                                        <p:tgtEl>
                                          <p:spTgt spid="737284"/>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737287"/>
                                        </p:tgtEl>
                                        <p:attrNameLst>
                                          <p:attrName>style.visibility</p:attrName>
                                        </p:attrNameLst>
                                      </p:cBhvr>
                                      <p:to>
                                        <p:strVal val="visible"/>
                                      </p:to>
                                    </p:set>
                                    <p:animEffect transition="in" filter="wipe(left)">
                                      <p:cBhvr>
                                        <p:cTn id="47" dur="500"/>
                                        <p:tgtEl>
                                          <p:spTgt spid="7372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37294"/>
                                        </p:tgtEl>
                                        <p:attrNameLst>
                                          <p:attrName>style.visibility</p:attrName>
                                        </p:attrNameLst>
                                      </p:cBhvr>
                                      <p:to>
                                        <p:strVal val="visible"/>
                                      </p:to>
                                    </p:set>
                                    <p:animEffect transition="in" filter="wipe(left)">
                                      <p:cBhvr>
                                        <p:cTn id="52" dur="500"/>
                                        <p:tgtEl>
                                          <p:spTgt spid="737294"/>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737295"/>
                                        </p:tgtEl>
                                        <p:attrNameLst>
                                          <p:attrName>style.visibility</p:attrName>
                                        </p:attrNameLst>
                                      </p:cBhvr>
                                      <p:to>
                                        <p:strVal val="visible"/>
                                      </p:to>
                                    </p:set>
                                    <p:animEffect transition="in" filter="wipe(left)">
                                      <p:cBhvr>
                                        <p:cTn id="56" dur="500"/>
                                        <p:tgtEl>
                                          <p:spTgt spid="73729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737283"/>
                                        </p:tgtEl>
                                        <p:attrNameLst>
                                          <p:attrName>style.visibility</p:attrName>
                                        </p:attrNameLst>
                                      </p:cBhvr>
                                      <p:to>
                                        <p:strVal val="visible"/>
                                      </p:to>
                                    </p:set>
                                    <p:animEffect transition="in" filter="wipe(left)">
                                      <p:cBhvr>
                                        <p:cTn id="61" dur="500"/>
                                        <p:tgtEl>
                                          <p:spTgt spid="73728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37291"/>
                                        </p:tgtEl>
                                        <p:attrNameLst>
                                          <p:attrName>style.visibility</p:attrName>
                                        </p:attrNameLst>
                                      </p:cBhvr>
                                      <p:to>
                                        <p:strVal val="visible"/>
                                      </p:to>
                                    </p:set>
                                    <p:animEffect transition="in" filter="wipe(left)">
                                      <p:cBhvr>
                                        <p:cTn id="66" dur="500"/>
                                        <p:tgtEl>
                                          <p:spTgt spid="737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82" grpId="0"/>
      <p:bldP spid="737283" grpId="0" animBg="1" autoUpdateAnimBg="0"/>
      <p:bldP spid="737284" grpId="0" autoUpdateAnimBg="0"/>
      <p:bldP spid="737285" grpId="0" autoUpdateAnimBg="0"/>
      <p:bldP spid="737289" grpId="0" autoUpdateAnimBg="0"/>
      <p:bldP spid="737290" grpId="0" autoUpdateAnimBg="0"/>
      <p:bldP spid="737291" grpId="0" autoUpdateAnimBg="0"/>
      <p:bldP spid="73729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a:extLst>
              <a:ext uri="{FF2B5EF4-FFF2-40B4-BE49-F238E27FC236}">
                <a16:creationId xmlns:a16="http://schemas.microsoft.com/office/drawing/2014/main" id="{8E5E9957-24EC-6896-BB2B-193D0409B788}"/>
              </a:ext>
            </a:extLst>
          </p:cNvPr>
          <p:cNvSpPr>
            <a:spLocks noChangeArrowheads="1"/>
          </p:cNvSpPr>
          <p:nvPr/>
        </p:nvSpPr>
        <p:spPr bwMode="auto">
          <a:xfrm>
            <a:off x="271463" y="298450"/>
            <a:ext cx="33448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800">
                <a:solidFill>
                  <a:srgbClr val="00FF00"/>
                </a:solidFill>
              </a:rPr>
              <a:t>三</a:t>
            </a:r>
            <a:r>
              <a:rPr lang="en-US" altLang="zh-CN" sz="2800">
                <a:solidFill>
                  <a:srgbClr val="00FF00"/>
                </a:solidFill>
              </a:rPr>
              <a:t>. </a:t>
            </a:r>
            <a:r>
              <a:rPr lang="zh-CN" altLang="en-US" sz="2800">
                <a:solidFill>
                  <a:srgbClr val="00FF00"/>
                </a:solidFill>
              </a:rPr>
              <a:t>转动惯量</a:t>
            </a:r>
          </a:p>
        </p:txBody>
      </p:sp>
      <p:sp>
        <p:nvSpPr>
          <p:cNvPr id="739331" name="Text Box 3">
            <a:extLst>
              <a:ext uri="{FF2B5EF4-FFF2-40B4-BE49-F238E27FC236}">
                <a16:creationId xmlns:a16="http://schemas.microsoft.com/office/drawing/2014/main" id="{82FA91A0-5402-C6AE-73A3-B0648A5AE6A1}"/>
              </a:ext>
            </a:extLst>
          </p:cNvPr>
          <p:cNvSpPr txBox="1">
            <a:spLocks noChangeArrowheads="1"/>
          </p:cNvSpPr>
          <p:nvPr/>
        </p:nvSpPr>
        <p:spPr bwMode="auto">
          <a:xfrm>
            <a:off x="638175" y="3584575"/>
            <a:ext cx="3736975" cy="457200"/>
          </a:xfrm>
          <a:prstGeom prst="rect">
            <a:avLst/>
          </a:prstGeom>
          <a:noFill/>
          <a:ln w="12700">
            <a:noFill/>
            <a:miter lim="800000"/>
            <a:headEnd type="none" w="sm" len="sm"/>
            <a:tailEnd type="none" w="sm" len="sm"/>
          </a:ln>
          <a:effectLst/>
        </p:spPr>
        <p:txBody>
          <a:bodyPr>
            <a:spAutoFit/>
          </a:bodyPr>
          <a:lstStyle/>
          <a:p>
            <a:pPr>
              <a:spcBef>
                <a:spcPct val="50000"/>
              </a:spcBef>
              <a:buClr>
                <a:schemeClr val="hlink"/>
              </a:buClr>
              <a:buSzPct val="75000"/>
              <a:buFont typeface="Monotype Sorts" pitchFamily="2" charset="2"/>
              <a:buNone/>
              <a:defRPr/>
            </a:pPr>
            <a:r>
              <a:rPr kumimoji="1" lang="zh-CN" altLang="en-US">
                <a:effectLst>
                  <a:outerShdw blurRad="38100" dist="38100" dir="2700000" algn="tl">
                    <a:srgbClr val="000000"/>
                  </a:outerShdw>
                </a:effectLst>
                <a:latin typeface="Times New Roman" pitchFamily="18" charset="0"/>
              </a:rPr>
              <a:t>对质量连续分布的刚体</a:t>
            </a:r>
          </a:p>
        </p:txBody>
      </p:sp>
      <p:sp>
        <p:nvSpPr>
          <p:cNvPr id="739332" name="Text Box 4">
            <a:extLst>
              <a:ext uri="{FF2B5EF4-FFF2-40B4-BE49-F238E27FC236}">
                <a16:creationId xmlns:a16="http://schemas.microsoft.com/office/drawing/2014/main" id="{A2557A78-CB06-30A1-BB35-5CFE34EE3DF9}"/>
              </a:ext>
            </a:extLst>
          </p:cNvPr>
          <p:cNvSpPr txBox="1">
            <a:spLocks noChangeArrowheads="1"/>
          </p:cNvSpPr>
          <p:nvPr/>
        </p:nvSpPr>
        <p:spPr bwMode="auto">
          <a:xfrm>
            <a:off x="638175" y="2803525"/>
            <a:ext cx="3624263" cy="457200"/>
          </a:xfrm>
          <a:prstGeom prst="rect">
            <a:avLst/>
          </a:prstGeom>
          <a:noFill/>
          <a:ln w="12700">
            <a:noFill/>
            <a:miter lim="800000"/>
            <a:headEnd type="none" w="sm" len="sm"/>
            <a:tailEnd type="none" w="sm" len="sm"/>
          </a:ln>
          <a:effectLst/>
        </p:spPr>
        <p:txBody>
          <a:bodyPr anchor="ctr">
            <a:spAutoFit/>
          </a:bodyPr>
          <a:lstStyle/>
          <a:p>
            <a:pPr>
              <a:buClr>
                <a:schemeClr val="hlink"/>
              </a:buClr>
              <a:buSzPct val="75000"/>
              <a:buFont typeface="Monotype Sorts" pitchFamily="2" charset="2"/>
              <a:buNone/>
              <a:defRPr/>
            </a:pPr>
            <a:r>
              <a:rPr kumimoji="1" lang="zh-CN" altLang="en-US">
                <a:effectLst>
                  <a:outerShdw blurRad="38100" dist="38100" dir="2700000" algn="tl">
                    <a:srgbClr val="000000"/>
                  </a:outerShdw>
                </a:effectLst>
              </a:rPr>
              <a:t>对质量离散分布的质点系</a:t>
            </a:r>
          </a:p>
        </p:txBody>
      </p:sp>
      <p:graphicFrame>
        <p:nvGraphicFramePr>
          <p:cNvPr id="739333" name="Object 2">
            <a:extLst>
              <a:ext uri="{FF2B5EF4-FFF2-40B4-BE49-F238E27FC236}">
                <a16:creationId xmlns:a16="http://schemas.microsoft.com/office/drawing/2014/main" id="{52594ADD-74AA-575B-2111-E8211FBA2E62}"/>
              </a:ext>
            </a:extLst>
          </p:cNvPr>
          <p:cNvGraphicFramePr>
            <a:graphicFrameLocks noGrp="1" noChangeAspect="1"/>
          </p:cNvGraphicFramePr>
          <p:nvPr>
            <p:ph sz="quarter" idx="1"/>
          </p:nvPr>
        </p:nvGraphicFramePr>
        <p:xfrm>
          <a:off x="4349750" y="2828925"/>
          <a:ext cx="1651000" cy="660400"/>
        </p:xfrm>
        <a:graphic>
          <a:graphicData uri="http://schemas.openxmlformats.org/presentationml/2006/ole">
            <mc:AlternateContent xmlns:mc="http://schemas.openxmlformats.org/markup-compatibility/2006">
              <mc:Choice xmlns:v="urn:schemas-microsoft-com:vml" Requires="v">
                <p:oleObj name="公式" r:id="rId2" imgW="1646169" imgH="655375" progId="Equation.3">
                  <p:embed/>
                </p:oleObj>
              </mc:Choice>
              <mc:Fallback>
                <p:oleObj name="公式" r:id="rId2" imgW="1646169" imgH="655375" progId="Equation.3">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50" y="2828925"/>
                        <a:ext cx="1651000" cy="6604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9334" name="Object 3">
            <a:extLst>
              <a:ext uri="{FF2B5EF4-FFF2-40B4-BE49-F238E27FC236}">
                <a16:creationId xmlns:a16="http://schemas.microsoft.com/office/drawing/2014/main" id="{E0CDB9E0-5456-4154-BA3D-14E017896425}"/>
              </a:ext>
            </a:extLst>
          </p:cNvPr>
          <p:cNvGraphicFramePr>
            <a:graphicFrameLocks noGrp="1" noChangeAspect="1"/>
          </p:cNvGraphicFramePr>
          <p:nvPr>
            <p:ph sz="quarter" idx="2"/>
          </p:nvPr>
        </p:nvGraphicFramePr>
        <p:xfrm>
          <a:off x="4319588" y="3582988"/>
          <a:ext cx="1333500" cy="508000"/>
        </p:xfrm>
        <a:graphic>
          <a:graphicData uri="http://schemas.openxmlformats.org/presentationml/2006/ole">
            <mc:AlternateContent xmlns:mc="http://schemas.openxmlformats.org/markup-compatibility/2006">
              <mc:Choice xmlns:v="urn:schemas-microsoft-com:vml" Requires="v">
                <p:oleObj name="公式" r:id="rId4" imgW="1325693" imgH="502754" progId="Equation.3">
                  <p:embed/>
                </p:oleObj>
              </mc:Choice>
              <mc:Fallback>
                <p:oleObj name="公式" r:id="rId4" imgW="1325693" imgH="502754" progId="Equation.3">
                  <p:embed/>
                  <p:pic>
                    <p:nvPicPr>
                      <p:cNvPr id="0"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9588" y="3582988"/>
                        <a:ext cx="1333500" cy="508000"/>
                      </a:xfrm>
                      <a:prstGeom prst="rect">
                        <a:avLst/>
                      </a:prstGeom>
                      <a:noFill/>
                      <a:ln>
                        <a:noFill/>
                      </a:ln>
                      <a:effectLst/>
                      <a:extLst>
                        <a:ext uri="{909E8E84-426E-40DD-AFC4-6F175D3DCCD1}">
                          <a14:hiddenFill xmlns:a14="http://schemas.microsoft.com/office/drawing/2010/main">
                            <a:solidFill>
                              <a:srgbClr val="00FFFF">
                                <a:alpha val="27843"/>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9335" name="Object 4">
            <a:extLst>
              <a:ext uri="{FF2B5EF4-FFF2-40B4-BE49-F238E27FC236}">
                <a16:creationId xmlns:a16="http://schemas.microsoft.com/office/drawing/2014/main" id="{837247E6-762E-2FC6-D47D-BC21CD1FAEBF}"/>
              </a:ext>
            </a:extLst>
          </p:cNvPr>
          <p:cNvGraphicFramePr>
            <a:graphicFrameLocks noGrp="1" noChangeAspect="1"/>
          </p:cNvGraphicFramePr>
          <p:nvPr>
            <p:ph sz="quarter" idx="3"/>
          </p:nvPr>
        </p:nvGraphicFramePr>
        <p:xfrm>
          <a:off x="854075" y="5145088"/>
          <a:ext cx="469900" cy="279400"/>
        </p:xfrm>
        <a:graphic>
          <a:graphicData uri="http://schemas.openxmlformats.org/presentationml/2006/ole">
            <mc:AlternateContent xmlns:mc="http://schemas.openxmlformats.org/markup-compatibility/2006">
              <mc:Choice xmlns:v="urn:schemas-microsoft-com:vml" Requires="v">
                <p:oleObj name="公式" r:id="rId6" imgW="464789" imgH="274320" progId="Equation.3">
                  <p:embed/>
                </p:oleObj>
              </mc:Choice>
              <mc:Fallback>
                <p:oleObj name="公式" r:id="rId6" imgW="464789" imgH="274320" progId="Equation.3">
                  <p:embed/>
                  <p:pic>
                    <p:nvPicPr>
                      <p:cNvPr id="0" name="Object 4"/>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4075" y="5145088"/>
                        <a:ext cx="469900" cy="2794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9336" name="Object 5">
            <a:extLst>
              <a:ext uri="{FF2B5EF4-FFF2-40B4-BE49-F238E27FC236}">
                <a16:creationId xmlns:a16="http://schemas.microsoft.com/office/drawing/2014/main" id="{3AB273CE-F69A-EF8B-AFDB-4311B6D41310}"/>
              </a:ext>
            </a:extLst>
          </p:cNvPr>
          <p:cNvGraphicFramePr>
            <a:graphicFrameLocks noChangeAspect="1"/>
          </p:cNvGraphicFramePr>
          <p:nvPr/>
        </p:nvGraphicFramePr>
        <p:xfrm>
          <a:off x="1811338" y="4368800"/>
          <a:ext cx="889000" cy="533400"/>
        </p:xfrm>
        <a:graphic>
          <a:graphicData uri="http://schemas.openxmlformats.org/presentationml/2006/ole">
            <mc:AlternateContent xmlns:mc="http://schemas.openxmlformats.org/markup-compatibility/2006">
              <mc:Choice xmlns:v="urn:schemas-microsoft-com:vml" Requires="v">
                <p:oleObj name="公式" r:id="rId8" imgW="883796" imgH="525697" progId="Equation.3">
                  <p:embed/>
                </p:oleObj>
              </mc:Choice>
              <mc:Fallback>
                <p:oleObj name="公式" r:id="rId8" imgW="883796" imgH="525697"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1338" y="4368800"/>
                        <a:ext cx="889000" cy="5334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9337" name="Text Box 9">
            <a:extLst>
              <a:ext uri="{FF2B5EF4-FFF2-40B4-BE49-F238E27FC236}">
                <a16:creationId xmlns:a16="http://schemas.microsoft.com/office/drawing/2014/main" id="{6C0F85BD-FE20-D8DC-BA64-FA0B62994048}"/>
              </a:ext>
            </a:extLst>
          </p:cNvPr>
          <p:cNvSpPr txBox="1">
            <a:spLocks noChangeArrowheads="1"/>
          </p:cNvSpPr>
          <p:nvPr/>
        </p:nvSpPr>
        <p:spPr bwMode="auto">
          <a:xfrm>
            <a:off x="303213" y="779463"/>
            <a:ext cx="400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CC"/>
              </a:buClr>
              <a:buFont typeface="Wingdings" panose="05000000000000000000" pitchFamily="2" charset="2"/>
              <a:buChar char="u"/>
            </a:pPr>
            <a:r>
              <a:rPr lang="zh-CN" altLang="en-US">
                <a:solidFill>
                  <a:srgbClr val="00FFFF"/>
                </a:solidFill>
                <a:latin typeface="Times New Roman" panose="02020603050405020304" pitchFamily="18" charset="0"/>
                <a:ea typeface="宋体" panose="02010600030101010101" pitchFamily="2" charset="-122"/>
              </a:rPr>
              <a:t>转动惯量的定义</a:t>
            </a:r>
          </a:p>
        </p:txBody>
      </p:sp>
      <p:sp>
        <p:nvSpPr>
          <p:cNvPr id="739338" name="Text Box 10">
            <a:extLst>
              <a:ext uri="{FF2B5EF4-FFF2-40B4-BE49-F238E27FC236}">
                <a16:creationId xmlns:a16="http://schemas.microsoft.com/office/drawing/2014/main" id="{65BCCD6C-CB8E-FE0E-2762-BFFCDC3E1C85}"/>
              </a:ext>
            </a:extLst>
          </p:cNvPr>
          <p:cNvSpPr txBox="1">
            <a:spLocks noChangeArrowheads="1"/>
          </p:cNvSpPr>
          <p:nvPr/>
        </p:nvSpPr>
        <p:spPr bwMode="auto">
          <a:xfrm>
            <a:off x="687388" y="1230313"/>
            <a:ext cx="7896225" cy="933450"/>
          </a:xfrm>
          <a:prstGeom prst="rect">
            <a:avLst/>
          </a:prstGeom>
          <a:noFill/>
          <a:ln w="12700">
            <a:noFill/>
            <a:miter lim="800000"/>
            <a:headEnd type="none" w="sm" len="sm"/>
            <a:tailEnd type="none" w="sm" len="sm"/>
          </a:ln>
          <a:effectLst/>
        </p:spPr>
        <p:txBody>
          <a:bodyPr>
            <a:spAutoFit/>
          </a:bodyPr>
          <a:lstStyle/>
          <a:p>
            <a:pPr>
              <a:lnSpc>
                <a:spcPct val="115000"/>
              </a:lnSpc>
              <a:buClr>
                <a:schemeClr val="hlink"/>
              </a:buClr>
              <a:buSzPct val="75000"/>
              <a:buFont typeface="Monotype Sorts" pitchFamily="2" charset="2"/>
              <a:buNone/>
              <a:defRPr/>
            </a:pPr>
            <a:r>
              <a:rPr kumimoji="1" lang="en-US" altLang="zh-CN">
                <a:effectLst>
                  <a:outerShdw blurRad="38100" dist="38100" dir="2700000" algn="tl">
                    <a:srgbClr val="000000"/>
                  </a:outerShdw>
                </a:effectLst>
              </a:rPr>
              <a:t>    </a:t>
            </a:r>
            <a:r>
              <a:rPr kumimoji="1" lang="zh-CN" altLang="en-US">
                <a:effectLst>
                  <a:outerShdw blurRad="38100" dist="38100" dir="2700000" algn="tl">
                    <a:srgbClr val="000000"/>
                  </a:outerShdw>
                </a:effectLst>
              </a:rPr>
              <a:t>刚体对某转轴的转动惯量</a:t>
            </a:r>
            <a:r>
              <a:rPr kumimoji="1" lang="zh-CN" altLang="en-US">
                <a:effectLst>
                  <a:outerShdw blurRad="38100" dist="38100" dir="2700000" algn="tl">
                    <a:srgbClr val="000000"/>
                  </a:outerShdw>
                </a:effectLst>
                <a:latin typeface="Times New Roman" pitchFamily="18" charset="0"/>
              </a:rPr>
              <a:t> </a:t>
            </a:r>
            <a:r>
              <a:rPr kumimoji="1" lang="en-US" altLang="zh-CN" i="1">
                <a:solidFill>
                  <a:srgbClr val="FFCC00"/>
                </a:solidFill>
                <a:effectLst>
                  <a:outerShdw blurRad="38100" dist="38100" dir="2700000" algn="tl">
                    <a:srgbClr val="000000"/>
                  </a:outerShdw>
                </a:effectLst>
                <a:latin typeface="Times New Roman" pitchFamily="18" charset="0"/>
              </a:rPr>
              <a:t>J </a:t>
            </a:r>
            <a:r>
              <a:rPr kumimoji="1" lang="zh-CN" altLang="en-US">
                <a:effectLst>
                  <a:outerShdw blurRad="38100" dist="38100" dir="2700000" algn="tl">
                    <a:srgbClr val="000000"/>
                  </a:outerShdw>
                </a:effectLst>
              </a:rPr>
              <a:t>等于刚体内每个质点的质量与这个质点到该转轴垂直距离平方乘积之和。</a:t>
            </a:r>
            <a:r>
              <a:rPr kumimoji="1" lang="zh-CN" altLang="en-US"/>
              <a:t> </a:t>
            </a:r>
          </a:p>
        </p:txBody>
      </p:sp>
      <p:sp>
        <p:nvSpPr>
          <p:cNvPr id="739339" name="Text Box 11">
            <a:extLst>
              <a:ext uri="{FF2B5EF4-FFF2-40B4-BE49-F238E27FC236}">
                <a16:creationId xmlns:a16="http://schemas.microsoft.com/office/drawing/2014/main" id="{F938BE11-0CE3-FF05-2CA7-715AC9FE4945}"/>
              </a:ext>
            </a:extLst>
          </p:cNvPr>
          <p:cNvSpPr txBox="1">
            <a:spLocks noChangeArrowheads="1"/>
          </p:cNvSpPr>
          <p:nvPr/>
        </p:nvSpPr>
        <p:spPr bwMode="auto">
          <a:xfrm>
            <a:off x="303213" y="2252663"/>
            <a:ext cx="4624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CC"/>
              </a:buClr>
              <a:buFont typeface="Wingdings" panose="05000000000000000000" pitchFamily="2" charset="2"/>
              <a:buChar char="u"/>
            </a:pPr>
            <a:r>
              <a:rPr lang="zh-CN" altLang="en-US">
                <a:solidFill>
                  <a:srgbClr val="00FFFF"/>
                </a:solidFill>
                <a:latin typeface="Times New Roman" panose="02020603050405020304" pitchFamily="18" charset="0"/>
                <a:ea typeface="宋体" panose="02010600030101010101" pitchFamily="2" charset="-122"/>
              </a:rPr>
              <a:t>计算转动惯量的基本公式</a:t>
            </a:r>
          </a:p>
        </p:txBody>
      </p:sp>
      <p:graphicFrame>
        <p:nvGraphicFramePr>
          <p:cNvPr id="739340" name="Object 6">
            <a:extLst>
              <a:ext uri="{FF2B5EF4-FFF2-40B4-BE49-F238E27FC236}">
                <a16:creationId xmlns:a16="http://schemas.microsoft.com/office/drawing/2014/main" id="{B0D7BE3A-C3BB-A60E-D6AB-B4E4DE842556}"/>
              </a:ext>
            </a:extLst>
          </p:cNvPr>
          <p:cNvGraphicFramePr>
            <a:graphicFrameLocks noChangeAspect="1"/>
          </p:cNvGraphicFramePr>
          <p:nvPr/>
        </p:nvGraphicFramePr>
        <p:xfrm>
          <a:off x="1455738" y="4606925"/>
          <a:ext cx="393700" cy="1485900"/>
        </p:xfrm>
        <a:graphic>
          <a:graphicData uri="http://schemas.openxmlformats.org/presentationml/2006/ole">
            <mc:AlternateContent xmlns:mc="http://schemas.openxmlformats.org/markup-compatibility/2006">
              <mc:Choice xmlns:v="urn:schemas-microsoft-com:vml" Requires="v">
                <p:oleObj name="公式" r:id="rId10" imgW="388651" imgH="1478335" progId="Equation.3">
                  <p:embed/>
                </p:oleObj>
              </mc:Choice>
              <mc:Fallback>
                <p:oleObj name="公式" r:id="rId10" imgW="388651" imgH="1478335"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5738" y="4606925"/>
                        <a:ext cx="393700" cy="14859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3">
            <a:extLst>
              <a:ext uri="{FF2B5EF4-FFF2-40B4-BE49-F238E27FC236}">
                <a16:creationId xmlns:a16="http://schemas.microsoft.com/office/drawing/2014/main" id="{13E3B032-F21B-C422-C835-226F7D3517C7}"/>
              </a:ext>
            </a:extLst>
          </p:cNvPr>
          <p:cNvGrpSpPr>
            <a:grpSpLocks/>
          </p:cNvGrpSpPr>
          <p:nvPr/>
        </p:nvGrpSpPr>
        <p:grpSpPr bwMode="auto">
          <a:xfrm>
            <a:off x="6070600" y="1844675"/>
            <a:ext cx="2590800" cy="2636838"/>
            <a:chOff x="3879" y="45"/>
            <a:chExt cx="1632" cy="1661"/>
          </a:xfrm>
        </p:grpSpPr>
        <p:sp>
          <p:nvSpPr>
            <p:cNvPr id="739342" name="Line 14">
              <a:extLst>
                <a:ext uri="{FF2B5EF4-FFF2-40B4-BE49-F238E27FC236}">
                  <a16:creationId xmlns:a16="http://schemas.microsoft.com/office/drawing/2014/main" id="{6404F5BE-08F3-F838-5A66-AAE6E457A3F2}"/>
                </a:ext>
              </a:extLst>
            </p:cNvPr>
            <p:cNvSpPr>
              <a:spLocks noChangeShapeType="1"/>
            </p:cNvSpPr>
            <p:nvPr/>
          </p:nvSpPr>
          <p:spPr bwMode="auto">
            <a:xfrm flipH="1">
              <a:off x="4696" y="1292"/>
              <a:ext cx="1" cy="414"/>
            </a:xfrm>
            <a:prstGeom prst="line">
              <a:avLst/>
            </a:prstGeom>
            <a:noFill/>
            <a:ln w="50800">
              <a:solidFill>
                <a:srgbClr val="FF99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9343" name="Freeform 15">
              <a:extLst>
                <a:ext uri="{FF2B5EF4-FFF2-40B4-BE49-F238E27FC236}">
                  <a16:creationId xmlns:a16="http://schemas.microsoft.com/office/drawing/2014/main" id="{DE83317A-EF60-1F62-A20E-371481DE5EEB}"/>
                </a:ext>
              </a:extLst>
            </p:cNvPr>
            <p:cNvSpPr>
              <a:spLocks/>
            </p:cNvSpPr>
            <p:nvPr/>
          </p:nvSpPr>
          <p:spPr bwMode="auto">
            <a:xfrm>
              <a:off x="3879" y="45"/>
              <a:ext cx="1632" cy="1660"/>
            </a:xfrm>
            <a:custGeom>
              <a:avLst/>
              <a:gdLst/>
              <a:ahLst/>
              <a:cxnLst>
                <a:cxn ang="0">
                  <a:pos x="1013" y="8"/>
                </a:cxn>
                <a:cxn ang="0">
                  <a:pos x="333" y="99"/>
                </a:cxn>
                <a:cxn ang="0">
                  <a:pos x="15" y="416"/>
                </a:cxn>
                <a:cxn ang="0">
                  <a:pos x="242" y="825"/>
                </a:cxn>
                <a:cxn ang="0">
                  <a:pos x="696" y="1006"/>
                </a:cxn>
                <a:cxn ang="0">
                  <a:pos x="1058" y="961"/>
                </a:cxn>
                <a:cxn ang="0">
                  <a:pos x="1421" y="1051"/>
                </a:cxn>
                <a:cxn ang="0">
                  <a:pos x="1693" y="825"/>
                </a:cxn>
                <a:cxn ang="0">
                  <a:pos x="1648" y="144"/>
                </a:cxn>
                <a:cxn ang="0">
                  <a:pos x="1013" y="8"/>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66CCFF"/>
            </a:solidFill>
            <a:ln w="9525" cap="flat" cmpd="sng">
              <a:prstDash val="solid"/>
              <a:round/>
              <a:headEnd/>
              <a:tailEnd/>
            </a:ln>
            <a:effectLst/>
            <a:scene3d>
              <a:camera prst="legacyPerspectiveFront">
                <a:rot lat="17699998" lon="0" rev="0"/>
              </a:camera>
              <a:lightRig rig="legacyFlat2" dir="t"/>
            </a:scene3d>
            <a:sp3d extrusionH="201600" prstMaterial="legacyPlastic">
              <a:bevelT w="13500" h="13500" prst="angle"/>
              <a:bevelB w="13500" h="13500" prst="angle"/>
              <a:extrusionClr>
                <a:srgbClr val="00FF99"/>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9344" name="Line 16">
              <a:extLst>
                <a:ext uri="{FF2B5EF4-FFF2-40B4-BE49-F238E27FC236}">
                  <a16:creationId xmlns:a16="http://schemas.microsoft.com/office/drawing/2014/main" id="{32531CC4-5F56-F8E3-AEDE-DAAF968758C2}"/>
                </a:ext>
              </a:extLst>
            </p:cNvPr>
            <p:cNvSpPr>
              <a:spLocks noChangeShapeType="1"/>
            </p:cNvSpPr>
            <p:nvPr/>
          </p:nvSpPr>
          <p:spPr bwMode="auto">
            <a:xfrm flipV="1">
              <a:off x="4695" y="390"/>
              <a:ext cx="1" cy="454"/>
            </a:xfrm>
            <a:prstGeom prst="line">
              <a:avLst/>
            </a:prstGeom>
            <a:noFill/>
            <a:ln w="57150">
              <a:solidFill>
                <a:srgbClr val="FF99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9345" name="Oval 17">
              <a:extLst>
                <a:ext uri="{FF2B5EF4-FFF2-40B4-BE49-F238E27FC236}">
                  <a16:creationId xmlns:a16="http://schemas.microsoft.com/office/drawing/2014/main" id="{51339163-0C4E-5101-2DB1-4E60533BC8F5}"/>
                </a:ext>
              </a:extLst>
            </p:cNvPr>
            <p:cNvSpPr>
              <a:spLocks noChangeArrowheads="1"/>
            </p:cNvSpPr>
            <p:nvPr/>
          </p:nvSpPr>
          <p:spPr bwMode="auto">
            <a:xfrm>
              <a:off x="4196" y="618"/>
              <a:ext cx="998" cy="454"/>
            </a:xfrm>
            <a:prstGeom prst="ellipse">
              <a:avLst/>
            </a:prstGeom>
            <a:noFill/>
            <a:ln w="9525">
              <a:solidFill>
                <a:srgbClr val="FF0000"/>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9346" name="AutoShape 18">
              <a:extLst>
                <a:ext uri="{FF2B5EF4-FFF2-40B4-BE49-F238E27FC236}">
                  <a16:creationId xmlns:a16="http://schemas.microsoft.com/office/drawing/2014/main" id="{FD401169-DBFC-3BB5-10B9-DB1106E399D3}"/>
                </a:ext>
              </a:extLst>
            </p:cNvPr>
            <p:cNvSpPr>
              <a:spLocks noChangeArrowheads="1"/>
            </p:cNvSpPr>
            <p:nvPr/>
          </p:nvSpPr>
          <p:spPr bwMode="auto">
            <a:xfrm>
              <a:off x="4830" y="1008"/>
              <a:ext cx="136" cy="136"/>
            </a:xfrm>
            <a:prstGeom prst="cube">
              <a:avLst>
                <a:gd name="adj" fmla="val 38236"/>
              </a:avLst>
            </a:prstGeom>
            <a:solidFill>
              <a:srgbClr val="003366">
                <a:alpha val="50000"/>
              </a:srgbClr>
            </a:solidFill>
            <a:ln w="9525">
              <a:solidFill>
                <a:srgbClr val="FFFFFF"/>
              </a:solidFill>
              <a:prstDash val="sysDot"/>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39347" name="Line 19">
              <a:extLst>
                <a:ext uri="{FF2B5EF4-FFF2-40B4-BE49-F238E27FC236}">
                  <a16:creationId xmlns:a16="http://schemas.microsoft.com/office/drawing/2014/main" id="{A56476F6-589D-5AC7-AEB8-2A4F7C9E0C71}"/>
                </a:ext>
              </a:extLst>
            </p:cNvPr>
            <p:cNvSpPr>
              <a:spLocks noChangeShapeType="1"/>
            </p:cNvSpPr>
            <p:nvPr/>
          </p:nvSpPr>
          <p:spPr bwMode="auto">
            <a:xfrm>
              <a:off x="4712" y="854"/>
              <a:ext cx="182" cy="181"/>
            </a:xfrm>
            <a:prstGeom prst="line">
              <a:avLst/>
            </a:prstGeom>
            <a:noFill/>
            <a:ln w="9525">
              <a:solidFill>
                <a:srgbClr val="FF3300"/>
              </a:solidFill>
              <a:round/>
              <a:headEn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3340" name="Text Box 20">
              <a:extLst>
                <a:ext uri="{FF2B5EF4-FFF2-40B4-BE49-F238E27FC236}">
                  <a16:creationId xmlns:a16="http://schemas.microsoft.com/office/drawing/2014/main" id="{D2E2360B-BCBC-C583-8D0B-0B187873AD2D}"/>
                </a:ext>
              </a:extLst>
            </p:cNvPr>
            <p:cNvSpPr txBox="1">
              <a:spLocks noChangeArrowheads="1"/>
            </p:cNvSpPr>
            <p:nvPr/>
          </p:nvSpPr>
          <p:spPr bwMode="auto">
            <a:xfrm>
              <a:off x="4758" y="7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3300"/>
                  </a:solidFill>
                  <a:latin typeface="Times New Roman" panose="02020603050405020304" pitchFamily="18" charset="0"/>
                  <a:ea typeface="宋体" panose="02010600030101010101" pitchFamily="2" charset="-122"/>
                </a:rPr>
                <a:t>r</a:t>
              </a:r>
            </a:p>
          </p:txBody>
        </p:sp>
      </p:grpSp>
      <p:sp>
        <p:nvSpPr>
          <p:cNvPr id="739349" name="Text Box 21">
            <a:extLst>
              <a:ext uri="{FF2B5EF4-FFF2-40B4-BE49-F238E27FC236}">
                <a16:creationId xmlns:a16="http://schemas.microsoft.com/office/drawing/2014/main" id="{842FA1E4-8AFA-12E0-9A45-DA4E8160E6BC}"/>
              </a:ext>
            </a:extLst>
          </p:cNvPr>
          <p:cNvSpPr txBox="1">
            <a:spLocks noChangeArrowheads="1"/>
          </p:cNvSpPr>
          <p:nvPr/>
        </p:nvSpPr>
        <p:spPr bwMode="auto">
          <a:xfrm>
            <a:off x="2786063" y="4391025"/>
            <a:ext cx="4027487" cy="39687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sz="2000">
                <a:effectLst>
                  <a:outerShdw blurRad="38100" dist="38100" dir="2700000" algn="tl">
                    <a:srgbClr val="000000"/>
                  </a:outerShdw>
                </a:effectLst>
              </a:rPr>
              <a:t>质量线分布，</a:t>
            </a:r>
            <a:r>
              <a:rPr kumimoji="1" lang="zh-CN" altLang="en-US" sz="2000" i="1">
                <a:solidFill>
                  <a:srgbClr val="FFCC00"/>
                </a:solidFill>
                <a:effectLst>
                  <a:outerShdw blurRad="38100" dist="38100" dir="2700000" algn="tl">
                    <a:srgbClr val="000000"/>
                  </a:outerShdw>
                </a:effectLst>
                <a:sym typeface="Symbol" pitchFamily="18" charset="2"/>
              </a:rPr>
              <a:t></a:t>
            </a:r>
            <a:r>
              <a:rPr kumimoji="1" lang="zh-CN" altLang="en-US" sz="2000">
                <a:effectLst>
                  <a:outerShdw blurRad="38100" dist="38100" dir="2700000" algn="tl">
                    <a:srgbClr val="000000"/>
                  </a:outerShdw>
                </a:effectLst>
              </a:rPr>
              <a:t>为线密度</a:t>
            </a:r>
            <a:r>
              <a:rPr kumimoji="1" lang="en-US" altLang="zh-CN" sz="2000">
                <a:solidFill>
                  <a:srgbClr val="FFCC00"/>
                </a:solidFill>
                <a:effectLst>
                  <a:outerShdw blurRad="38100" dist="38100" dir="2700000" algn="tl">
                    <a:srgbClr val="000000"/>
                  </a:outerShdw>
                </a:effectLst>
              </a:rPr>
              <a:t>(</a:t>
            </a:r>
            <a:r>
              <a:rPr kumimoji="1" lang="en-US" altLang="zh-CN" sz="2000">
                <a:effectLst>
                  <a:outerShdw blurRad="38100" dist="38100" dir="2700000" algn="tl">
                    <a:srgbClr val="000000"/>
                  </a:outerShdw>
                </a:effectLst>
              </a:rPr>
              <a:t>      </a:t>
            </a:r>
            <a:r>
              <a:rPr kumimoji="1" lang="en-US" altLang="zh-CN" sz="2000">
                <a:solidFill>
                  <a:srgbClr val="FFCC00"/>
                </a:solidFill>
                <a:effectLst>
                  <a:outerShdw blurRad="38100" dist="38100" dir="2700000" algn="tl">
                    <a:srgbClr val="000000"/>
                  </a:outerShdw>
                </a:effectLst>
              </a:rPr>
              <a:t>)</a:t>
            </a:r>
            <a:endParaRPr kumimoji="1" lang="en-US" altLang="zh-CN" sz="2000">
              <a:solidFill>
                <a:srgbClr val="FFCC00"/>
              </a:solidFill>
            </a:endParaRPr>
          </a:p>
        </p:txBody>
      </p:sp>
      <p:graphicFrame>
        <p:nvGraphicFramePr>
          <p:cNvPr id="739350" name="Object 7">
            <a:extLst>
              <a:ext uri="{FF2B5EF4-FFF2-40B4-BE49-F238E27FC236}">
                <a16:creationId xmlns:a16="http://schemas.microsoft.com/office/drawing/2014/main" id="{275ACC86-B5D7-B60A-121A-20EEC4ED8844}"/>
              </a:ext>
            </a:extLst>
          </p:cNvPr>
          <p:cNvGraphicFramePr>
            <a:graphicFrameLocks noChangeAspect="1"/>
          </p:cNvGraphicFramePr>
          <p:nvPr/>
        </p:nvGraphicFramePr>
        <p:xfrm>
          <a:off x="5746750" y="4286250"/>
          <a:ext cx="665163" cy="611188"/>
        </p:xfrm>
        <a:graphic>
          <a:graphicData uri="http://schemas.openxmlformats.org/presentationml/2006/ole">
            <mc:AlternateContent xmlns:mc="http://schemas.openxmlformats.org/markup-compatibility/2006">
              <mc:Choice xmlns:v="urn:schemas-microsoft-com:vml" Requires="v">
                <p:oleObj name="公式" r:id="rId12" imgW="945004" imgH="868846" progId="Equation.3">
                  <p:embed/>
                </p:oleObj>
              </mc:Choice>
              <mc:Fallback>
                <p:oleObj name="公式" r:id="rId12" imgW="945004" imgH="868846"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46750" y="4286250"/>
                        <a:ext cx="665163" cy="611188"/>
                      </a:xfrm>
                      <a:prstGeom prst="rect">
                        <a:avLst/>
                      </a:prstGeom>
                      <a:noFill/>
                      <a:ln>
                        <a:noFill/>
                      </a:ln>
                      <a:effectLst/>
                      <a:extLst>
                        <a:ext uri="{909E8E84-426E-40DD-AFC4-6F175D3DCCD1}">
                          <a14:hiddenFill xmlns:a14="http://schemas.microsoft.com/office/drawing/2010/main">
                            <a:solidFill>
                              <a:srgbClr val="00FFFF">
                                <a:alpha val="27843"/>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9351" name="Object 8">
            <a:extLst>
              <a:ext uri="{FF2B5EF4-FFF2-40B4-BE49-F238E27FC236}">
                <a16:creationId xmlns:a16="http://schemas.microsoft.com/office/drawing/2014/main" id="{CCA31F7A-95EC-1584-7A9B-27EC6D4FB103}"/>
              </a:ext>
            </a:extLst>
          </p:cNvPr>
          <p:cNvGraphicFramePr>
            <a:graphicFrameLocks noChangeAspect="1"/>
          </p:cNvGraphicFramePr>
          <p:nvPr/>
        </p:nvGraphicFramePr>
        <p:xfrm>
          <a:off x="1760538" y="5130800"/>
          <a:ext cx="965200" cy="533400"/>
        </p:xfrm>
        <a:graphic>
          <a:graphicData uri="http://schemas.openxmlformats.org/presentationml/2006/ole">
            <mc:AlternateContent xmlns:mc="http://schemas.openxmlformats.org/markup-compatibility/2006">
              <mc:Choice xmlns:v="urn:schemas-microsoft-com:vml" Requires="v">
                <p:oleObj name="公式" r:id="rId14" imgW="959933" imgH="525697" progId="Equation.3">
                  <p:embed/>
                </p:oleObj>
              </mc:Choice>
              <mc:Fallback>
                <p:oleObj name="公式" r:id="rId14" imgW="959933" imgH="525697"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60538" y="5130800"/>
                        <a:ext cx="965200" cy="5334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9352" name="Text Box 24">
            <a:extLst>
              <a:ext uri="{FF2B5EF4-FFF2-40B4-BE49-F238E27FC236}">
                <a16:creationId xmlns:a16="http://schemas.microsoft.com/office/drawing/2014/main" id="{646EAE86-3BC8-B6B6-8C1F-915F7DB602BA}"/>
              </a:ext>
            </a:extLst>
          </p:cNvPr>
          <p:cNvSpPr txBox="1">
            <a:spLocks noChangeArrowheads="1"/>
          </p:cNvSpPr>
          <p:nvPr/>
        </p:nvSpPr>
        <p:spPr bwMode="auto">
          <a:xfrm>
            <a:off x="2789238" y="5126038"/>
            <a:ext cx="4210050" cy="39687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sz="2000">
                <a:effectLst>
                  <a:outerShdw blurRad="38100" dist="38100" dir="2700000" algn="tl">
                    <a:srgbClr val="000000"/>
                  </a:outerShdw>
                </a:effectLst>
                <a:latin typeface="Times New Roman" pitchFamily="18" charset="0"/>
              </a:rPr>
              <a:t>质量面分布，</a:t>
            </a:r>
            <a:r>
              <a:rPr kumimoji="1" lang="zh-CN" altLang="en-US" sz="2000" i="1">
                <a:solidFill>
                  <a:srgbClr val="FFCC00"/>
                </a:solidFill>
                <a:effectLst>
                  <a:outerShdw blurRad="38100" dist="38100" dir="2700000" algn="tl">
                    <a:srgbClr val="000000"/>
                  </a:outerShdw>
                </a:effectLst>
                <a:latin typeface="Times New Roman" pitchFamily="18" charset="0"/>
                <a:sym typeface="Symbol" pitchFamily="18" charset="2"/>
              </a:rPr>
              <a:t></a:t>
            </a:r>
            <a:r>
              <a:rPr kumimoji="1" lang="zh-CN" altLang="en-US" sz="2000">
                <a:effectLst>
                  <a:outerShdw blurRad="38100" dist="38100" dir="2700000" algn="tl">
                    <a:srgbClr val="000000"/>
                  </a:outerShdw>
                </a:effectLst>
                <a:latin typeface="Times New Roman" pitchFamily="18" charset="0"/>
              </a:rPr>
              <a:t>为面密度</a:t>
            </a:r>
            <a:r>
              <a:rPr kumimoji="1" lang="en-US" altLang="zh-CN" sz="2000">
                <a:solidFill>
                  <a:srgbClr val="FFCC00"/>
                </a:solidFill>
                <a:effectLst>
                  <a:outerShdw blurRad="38100" dist="38100" dir="2700000" algn="tl">
                    <a:srgbClr val="000000"/>
                  </a:outerShdw>
                </a:effectLst>
                <a:latin typeface="Times New Roman" pitchFamily="18" charset="0"/>
              </a:rPr>
              <a:t>(</a:t>
            </a:r>
            <a:r>
              <a:rPr kumimoji="1" lang="en-US" altLang="zh-CN" sz="2000">
                <a:effectLst>
                  <a:outerShdw blurRad="38100" dist="38100" dir="2700000" algn="tl">
                    <a:srgbClr val="000000"/>
                  </a:outerShdw>
                </a:effectLst>
                <a:latin typeface="Times New Roman" pitchFamily="18" charset="0"/>
              </a:rPr>
              <a:t>             </a:t>
            </a:r>
            <a:r>
              <a:rPr kumimoji="1" lang="en-US" altLang="zh-CN" sz="2000">
                <a:solidFill>
                  <a:srgbClr val="FFCC00"/>
                </a:solidFill>
                <a:effectLst>
                  <a:outerShdw blurRad="38100" dist="38100" dir="2700000" algn="tl">
                    <a:srgbClr val="000000"/>
                  </a:outerShdw>
                </a:effectLst>
                <a:latin typeface="Times New Roman" pitchFamily="18" charset="0"/>
              </a:rPr>
              <a:t>)</a:t>
            </a:r>
          </a:p>
        </p:txBody>
      </p:sp>
      <p:graphicFrame>
        <p:nvGraphicFramePr>
          <p:cNvPr id="739353" name="Object 9">
            <a:extLst>
              <a:ext uri="{FF2B5EF4-FFF2-40B4-BE49-F238E27FC236}">
                <a16:creationId xmlns:a16="http://schemas.microsoft.com/office/drawing/2014/main" id="{AB58A042-F5B7-3787-B381-D8C4A3CAADAF}"/>
              </a:ext>
            </a:extLst>
          </p:cNvPr>
          <p:cNvGraphicFramePr>
            <a:graphicFrameLocks noChangeAspect="1"/>
          </p:cNvGraphicFramePr>
          <p:nvPr/>
        </p:nvGraphicFramePr>
        <p:xfrm>
          <a:off x="5738813" y="5045075"/>
          <a:ext cx="682625" cy="619125"/>
        </p:xfrm>
        <a:graphic>
          <a:graphicData uri="http://schemas.openxmlformats.org/presentationml/2006/ole">
            <mc:AlternateContent xmlns:mc="http://schemas.openxmlformats.org/markup-compatibility/2006">
              <mc:Choice xmlns:v="urn:schemas-microsoft-com:vml" Requires="v">
                <p:oleObj name="公式" r:id="rId16" imgW="967896" imgH="883809" progId="Equation.3">
                  <p:embed/>
                </p:oleObj>
              </mc:Choice>
              <mc:Fallback>
                <p:oleObj name="公式" r:id="rId16" imgW="967896" imgH="883809"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38813" y="5045075"/>
                        <a:ext cx="682625" cy="619125"/>
                      </a:xfrm>
                      <a:prstGeom prst="rect">
                        <a:avLst/>
                      </a:prstGeom>
                      <a:noFill/>
                      <a:ln>
                        <a:noFill/>
                      </a:ln>
                      <a:effectLst/>
                      <a:extLst>
                        <a:ext uri="{909E8E84-426E-40DD-AFC4-6F175D3DCCD1}">
                          <a14:hiddenFill xmlns:a14="http://schemas.microsoft.com/office/drawing/2010/main">
                            <a:solidFill>
                              <a:srgbClr val="00FFFF">
                                <a:alpha val="27843"/>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9354" name="Object 10">
            <a:extLst>
              <a:ext uri="{FF2B5EF4-FFF2-40B4-BE49-F238E27FC236}">
                <a16:creationId xmlns:a16="http://schemas.microsoft.com/office/drawing/2014/main" id="{AD8DA6F2-CFB6-5127-509F-C3997D937083}"/>
              </a:ext>
            </a:extLst>
          </p:cNvPr>
          <p:cNvGraphicFramePr>
            <a:graphicFrameLocks noChangeAspect="1"/>
          </p:cNvGraphicFramePr>
          <p:nvPr/>
        </p:nvGraphicFramePr>
        <p:xfrm>
          <a:off x="1760538" y="5905500"/>
          <a:ext cx="1117600" cy="533400"/>
        </p:xfrm>
        <a:graphic>
          <a:graphicData uri="http://schemas.openxmlformats.org/presentationml/2006/ole">
            <mc:AlternateContent xmlns:mc="http://schemas.openxmlformats.org/markup-compatibility/2006">
              <mc:Choice xmlns:v="urn:schemas-microsoft-com:vml" Requires="v">
                <p:oleObj name="公式" r:id="rId18" imgW="1112707" imgH="525697" progId="Equation.3">
                  <p:embed/>
                </p:oleObj>
              </mc:Choice>
              <mc:Fallback>
                <p:oleObj name="公式" r:id="rId18" imgW="1112707" imgH="525697"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0538" y="5905500"/>
                        <a:ext cx="1117600" cy="5334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9355" name="Text Box 27">
            <a:extLst>
              <a:ext uri="{FF2B5EF4-FFF2-40B4-BE49-F238E27FC236}">
                <a16:creationId xmlns:a16="http://schemas.microsoft.com/office/drawing/2014/main" id="{D157CAB9-83B1-A04E-825B-75A5DE31F696}"/>
              </a:ext>
            </a:extLst>
          </p:cNvPr>
          <p:cNvSpPr txBox="1">
            <a:spLocks noChangeArrowheads="1"/>
          </p:cNvSpPr>
          <p:nvPr/>
        </p:nvSpPr>
        <p:spPr bwMode="auto">
          <a:xfrm>
            <a:off x="2819400" y="5889625"/>
            <a:ext cx="4676775" cy="396875"/>
          </a:xfrm>
          <a:prstGeom prst="rect">
            <a:avLst/>
          </a:prstGeom>
          <a:noFill/>
          <a:ln w="12700">
            <a:noFill/>
            <a:miter lim="800000"/>
            <a:headEnd type="none" w="sm" len="sm"/>
            <a:tailEnd type="none" w="sm" len="sm"/>
          </a:ln>
          <a:effectLst/>
        </p:spPr>
        <p:txBody>
          <a:bodyPr anchor="ctr">
            <a:spAutoFit/>
          </a:bodyPr>
          <a:lstStyle/>
          <a:p>
            <a:pPr>
              <a:spcBef>
                <a:spcPct val="50000"/>
              </a:spcBef>
              <a:defRPr/>
            </a:pPr>
            <a:r>
              <a:rPr kumimoji="1" lang="zh-CN" altLang="en-US" sz="2000">
                <a:effectLst>
                  <a:outerShdw blurRad="38100" dist="38100" dir="2700000" algn="tl">
                    <a:srgbClr val="000000"/>
                  </a:outerShdw>
                </a:effectLst>
                <a:latin typeface="Times New Roman" pitchFamily="18" charset="0"/>
              </a:rPr>
              <a:t>质量体分布，</a:t>
            </a:r>
            <a:r>
              <a:rPr kumimoji="1" lang="zh-CN" altLang="en-US" sz="2000" i="1">
                <a:solidFill>
                  <a:srgbClr val="FFCC00"/>
                </a:solidFill>
                <a:effectLst>
                  <a:outerShdw blurRad="38100" dist="38100" dir="2700000" algn="tl">
                    <a:srgbClr val="000000"/>
                  </a:outerShdw>
                </a:effectLst>
                <a:latin typeface="Times New Roman" pitchFamily="18" charset="0"/>
                <a:sym typeface="Symbol" pitchFamily="18" charset="2"/>
              </a:rPr>
              <a:t></a:t>
            </a:r>
            <a:r>
              <a:rPr kumimoji="1" lang="zh-CN" altLang="en-US" sz="2000">
                <a:effectLst>
                  <a:outerShdw blurRad="38100" dist="38100" dir="2700000" algn="tl">
                    <a:srgbClr val="000000"/>
                  </a:outerShdw>
                </a:effectLst>
                <a:latin typeface="Times New Roman" pitchFamily="18" charset="0"/>
              </a:rPr>
              <a:t>为体密度</a:t>
            </a:r>
            <a:r>
              <a:rPr kumimoji="1" lang="en-US" altLang="zh-CN" sz="2000">
                <a:solidFill>
                  <a:srgbClr val="FFCC00"/>
                </a:solidFill>
                <a:effectLst>
                  <a:outerShdw blurRad="38100" dist="38100" dir="2700000" algn="tl">
                    <a:srgbClr val="000000"/>
                  </a:outerShdw>
                </a:effectLst>
                <a:latin typeface="Times New Roman" pitchFamily="18" charset="0"/>
              </a:rPr>
              <a:t>(</a:t>
            </a:r>
            <a:r>
              <a:rPr kumimoji="1" lang="en-US" altLang="zh-CN" sz="2000">
                <a:effectLst>
                  <a:outerShdw blurRad="38100" dist="38100" dir="2700000" algn="tl">
                    <a:srgbClr val="000000"/>
                  </a:outerShdw>
                </a:effectLst>
                <a:latin typeface="Times New Roman" pitchFamily="18" charset="0"/>
              </a:rPr>
              <a:t>             </a:t>
            </a:r>
            <a:r>
              <a:rPr kumimoji="1" lang="en-US" altLang="zh-CN" sz="2000">
                <a:solidFill>
                  <a:srgbClr val="FFCC00"/>
                </a:solidFill>
                <a:effectLst>
                  <a:outerShdw blurRad="38100" dist="38100" dir="2700000" algn="tl">
                    <a:srgbClr val="000000"/>
                  </a:outerShdw>
                </a:effectLst>
                <a:latin typeface="Times New Roman" pitchFamily="18" charset="0"/>
              </a:rPr>
              <a:t>)</a:t>
            </a:r>
          </a:p>
        </p:txBody>
      </p:sp>
      <p:graphicFrame>
        <p:nvGraphicFramePr>
          <p:cNvPr id="739356" name="Object 11">
            <a:extLst>
              <a:ext uri="{FF2B5EF4-FFF2-40B4-BE49-F238E27FC236}">
                <a16:creationId xmlns:a16="http://schemas.microsoft.com/office/drawing/2014/main" id="{29AC5ABA-2FA2-5F18-DD54-E81923D890D2}"/>
              </a:ext>
            </a:extLst>
          </p:cNvPr>
          <p:cNvGraphicFramePr>
            <a:graphicFrameLocks noChangeAspect="1"/>
          </p:cNvGraphicFramePr>
          <p:nvPr/>
        </p:nvGraphicFramePr>
        <p:xfrm>
          <a:off x="5768975" y="5807075"/>
          <a:ext cx="673100" cy="619125"/>
        </p:xfrm>
        <a:graphic>
          <a:graphicData uri="http://schemas.openxmlformats.org/presentationml/2006/ole">
            <mc:AlternateContent xmlns:mc="http://schemas.openxmlformats.org/markup-compatibility/2006">
              <mc:Choice xmlns:v="urn:schemas-microsoft-com:vml" Requires="v">
                <p:oleObj name="公式" r:id="rId20" imgW="959933" imgH="883809" progId="Equation.3">
                  <p:embed/>
                </p:oleObj>
              </mc:Choice>
              <mc:Fallback>
                <p:oleObj name="公式" r:id="rId20" imgW="959933" imgH="883809"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68975" y="5807075"/>
                        <a:ext cx="673100" cy="619125"/>
                      </a:xfrm>
                      <a:prstGeom prst="rect">
                        <a:avLst/>
                      </a:prstGeom>
                      <a:noFill/>
                      <a:ln>
                        <a:noFill/>
                      </a:ln>
                      <a:effectLst/>
                      <a:extLst>
                        <a:ext uri="{909E8E84-426E-40DD-AFC4-6F175D3DCCD1}">
                          <a14:hiddenFill xmlns:a14="http://schemas.microsoft.com/office/drawing/2010/main">
                            <a:solidFill>
                              <a:srgbClr val="00FFFF">
                                <a:alpha val="27843"/>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9330"/>
                                        </p:tgtEl>
                                        <p:attrNameLst>
                                          <p:attrName>style.visibility</p:attrName>
                                        </p:attrNameLst>
                                      </p:cBhvr>
                                      <p:to>
                                        <p:strVal val="visible"/>
                                      </p:to>
                                    </p:set>
                                    <p:animEffect transition="in" filter="wipe(left)">
                                      <p:cBhvr>
                                        <p:cTn id="7" dur="500"/>
                                        <p:tgtEl>
                                          <p:spTgt spid="7393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9337"/>
                                        </p:tgtEl>
                                        <p:attrNameLst>
                                          <p:attrName>style.visibility</p:attrName>
                                        </p:attrNameLst>
                                      </p:cBhvr>
                                      <p:to>
                                        <p:strVal val="visible"/>
                                      </p:to>
                                    </p:set>
                                    <p:animEffect transition="in" filter="wipe(left)">
                                      <p:cBhvr>
                                        <p:cTn id="12" dur="500"/>
                                        <p:tgtEl>
                                          <p:spTgt spid="7393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9338"/>
                                        </p:tgtEl>
                                        <p:attrNameLst>
                                          <p:attrName>style.visibility</p:attrName>
                                        </p:attrNameLst>
                                      </p:cBhvr>
                                      <p:to>
                                        <p:strVal val="visible"/>
                                      </p:to>
                                    </p:set>
                                    <p:animEffect transition="in" filter="wipe(left)">
                                      <p:cBhvr>
                                        <p:cTn id="17" dur="500"/>
                                        <p:tgtEl>
                                          <p:spTgt spid="7393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9339"/>
                                        </p:tgtEl>
                                        <p:attrNameLst>
                                          <p:attrName>style.visibility</p:attrName>
                                        </p:attrNameLst>
                                      </p:cBhvr>
                                      <p:to>
                                        <p:strVal val="visible"/>
                                      </p:to>
                                    </p:set>
                                    <p:animEffect transition="in" filter="wipe(left)">
                                      <p:cBhvr>
                                        <p:cTn id="22" dur="500"/>
                                        <p:tgtEl>
                                          <p:spTgt spid="7393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39332"/>
                                        </p:tgtEl>
                                        <p:attrNameLst>
                                          <p:attrName>style.visibility</p:attrName>
                                        </p:attrNameLst>
                                      </p:cBhvr>
                                      <p:to>
                                        <p:strVal val="visible"/>
                                      </p:to>
                                    </p:set>
                                    <p:animEffect transition="in" filter="wipe(left)">
                                      <p:cBhvr>
                                        <p:cTn id="27" dur="500"/>
                                        <p:tgtEl>
                                          <p:spTgt spid="7393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9333"/>
                                        </p:tgtEl>
                                        <p:attrNameLst>
                                          <p:attrName>style.visibility</p:attrName>
                                        </p:attrNameLst>
                                      </p:cBhvr>
                                      <p:to>
                                        <p:strVal val="visible"/>
                                      </p:to>
                                    </p:set>
                                    <p:animEffect transition="in" filter="wipe(left)">
                                      <p:cBhvr>
                                        <p:cTn id="32" dur="500"/>
                                        <p:tgtEl>
                                          <p:spTgt spid="7393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39331"/>
                                        </p:tgtEl>
                                        <p:attrNameLst>
                                          <p:attrName>style.visibility</p:attrName>
                                        </p:attrNameLst>
                                      </p:cBhvr>
                                      <p:to>
                                        <p:strVal val="visible"/>
                                      </p:to>
                                    </p:set>
                                    <p:animEffect transition="in" filter="wipe(left)">
                                      <p:cBhvr>
                                        <p:cTn id="37" dur="500"/>
                                        <p:tgtEl>
                                          <p:spTgt spid="7393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39334"/>
                                        </p:tgtEl>
                                        <p:attrNameLst>
                                          <p:attrName>style.visibility</p:attrName>
                                        </p:attrNameLst>
                                      </p:cBhvr>
                                      <p:to>
                                        <p:strVal val="visible"/>
                                      </p:to>
                                    </p:set>
                                    <p:animEffect transition="in" filter="wipe(left)">
                                      <p:cBhvr>
                                        <p:cTn id="46" dur="500"/>
                                        <p:tgtEl>
                                          <p:spTgt spid="73933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39335"/>
                                        </p:tgtEl>
                                        <p:attrNameLst>
                                          <p:attrName>style.visibility</p:attrName>
                                        </p:attrNameLst>
                                      </p:cBhvr>
                                      <p:to>
                                        <p:strVal val="visible"/>
                                      </p:to>
                                    </p:set>
                                    <p:animEffect transition="in" filter="wipe(left)">
                                      <p:cBhvr>
                                        <p:cTn id="51" dur="500"/>
                                        <p:tgtEl>
                                          <p:spTgt spid="739335"/>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739340"/>
                                        </p:tgtEl>
                                        <p:attrNameLst>
                                          <p:attrName>style.visibility</p:attrName>
                                        </p:attrNameLst>
                                      </p:cBhvr>
                                      <p:to>
                                        <p:strVal val="visible"/>
                                      </p:to>
                                    </p:set>
                                    <p:animEffect transition="in" filter="wipe(left)">
                                      <p:cBhvr>
                                        <p:cTn id="55" dur="500"/>
                                        <p:tgtEl>
                                          <p:spTgt spid="73934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39336"/>
                                        </p:tgtEl>
                                        <p:attrNameLst>
                                          <p:attrName>style.visibility</p:attrName>
                                        </p:attrNameLst>
                                      </p:cBhvr>
                                      <p:to>
                                        <p:strVal val="visible"/>
                                      </p:to>
                                    </p:set>
                                    <p:animEffect transition="in" filter="wipe(left)">
                                      <p:cBhvr>
                                        <p:cTn id="60" dur="500"/>
                                        <p:tgtEl>
                                          <p:spTgt spid="73933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739349"/>
                                        </p:tgtEl>
                                        <p:attrNameLst>
                                          <p:attrName>style.visibility</p:attrName>
                                        </p:attrNameLst>
                                      </p:cBhvr>
                                      <p:to>
                                        <p:strVal val="visible"/>
                                      </p:to>
                                    </p:set>
                                    <p:animEffect transition="in" filter="wipe(left)">
                                      <p:cBhvr>
                                        <p:cTn id="65" dur="500"/>
                                        <p:tgtEl>
                                          <p:spTgt spid="739349"/>
                                        </p:tgtEl>
                                      </p:cBhvr>
                                    </p:animEffect>
                                  </p:childTnLst>
                                </p:cTn>
                              </p:par>
                            </p:childTnLst>
                          </p:cTn>
                        </p:par>
                        <p:par>
                          <p:cTn id="66" fill="hold" nodeType="afterGroup">
                            <p:stCondLst>
                              <p:cond delay="500"/>
                            </p:stCondLst>
                            <p:childTnLst>
                              <p:par>
                                <p:cTn id="67" presetID="22" presetClass="entr" presetSubtype="8" fill="hold" nodeType="afterEffect">
                                  <p:stCondLst>
                                    <p:cond delay="0"/>
                                  </p:stCondLst>
                                  <p:childTnLst>
                                    <p:set>
                                      <p:cBhvr>
                                        <p:cTn id="68" dur="1" fill="hold">
                                          <p:stCondLst>
                                            <p:cond delay="0"/>
                                          </p:stCondLst>
                                        </p:cTn>
                                        <p:tgtEl>
                                          <p:spTgt spid="739350"/>
                                        </p:tgtEl>
                                        <p:attrNameLst>
                                          <p:attrName>style.visibility</p:attrName>
                                        </p:attrNameLst>
                                      </p:cBhvr>
                                      <p:to>
                                        <p:strVal val="visible"/>
                                      </p:to>
                                    </p:set>
                                    <p:animEffect transition="in" filter="wipe(left)">
                                      <p:cBhvr>
                                        <p:cTn id="69" dur="500"/>
                                        <p:tgtEl>
                                          <p:spTgt spid="73935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739351"/>
                                        </p:tgtEl>
                                        <p:attrNameLst>
                                          <p:attrName>style.visibility</p:attrName>
                                        </p:attrNameLst>
                                      </p:cBhvr>
                                      <p:to>
                                        <p:strVal val="visible"/>
                                      </p:to>
                                    </p:set>
                                    <p:animEffect transition="in" filter="wipe(left)">
                                      <p:cBhvr>
                                        <p:cTn id="74" dur="500"/>
                                        <p:tgtEl>
                                          <p:spTgt spid="73935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739352"/>
                                        </p:tgtEl>
                                        <p:attrNameLst>
                                          <p:attrName>style.visibility</p:attrName>
                                        </p:attrNameLst>
                                      </p:cBhvr>
                                      <p:to>
                                        <p:strVal val="visible"/>
                                      </p:to>
                                    </p:set>
                                    <p:animEffect transition="in" filter="wipe(left)">
                                      <p:cBhvr>
                                        <p:cTn id="79" dur="500"/>
                                        <p:tgtEl>
                                          <p:spTgt spid="739352"/>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739353"/>
                                        </p:tgtEl>
                                        <p:attrNameLst>
                                          <p:attrName>style.visibility</p:attrName>
                                        </p:attrNameLst>
                                      </p:cBhvr>
                                      <p:to>
                                        <p:strVal val="visible"/>
                                      </p:to>
                                    </p:set>
                                    <p:animEffect transition="in" filter="wipe(left)">
                                      <p:cBhvr>
                                        <p:cTn id="83" dur="500"/>
                                        <p:tgtEl>
                                          <p:spTgt spid="73935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39354"/>
                                        </p:tgtEl>
                                        <p:attrNameLst>
                                          <p:attrName>style.visibility</p:attrName>
                                        </p:attrNameLst>
                                      </p:cBhvr>
                                      <p:to>
                                        <p:strVal val="visible"/>
                                      </p:to>
                                    </p:set>
                                    <p:animEffect transition="in" filter="wipe(left)">
                                      <p:cBhvr>
                                        <p:cTn id="88" dur="500"/>
                                        <p:tgtEl>
                                          <p:spTgt spid="73935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739355"/>
                                        </p:tgtEl>
                                        <p:attrNameLst>
                                          <p:attrName>style.visibility</p:attrName>
                                        </p:attrNameLst>
                                      </p:cBhvr>
                                      <p:to>
                                        <p:strVal val="visible"/>
                                      </p:to>
                                    </p:set>
                                    <p:animEffect transition="in" filter="wipe(left)">
                                      <p:cBhvr>
                                        <p:cTn id="93" dur="500"/>
                                        <p:tgtEl>
                                          <p:spTgt spid="739355"/>
                                        </p:tgtEl>
                                      </p:cBhvr>
                                    </p:animEffect>
                                  </p:childTnLst>
                                </p:cTn>
                              </p:par>
                            </p:childTnLst>
                          </p:cTn>
                        </p:par>
                        <p:par>
                          <p:cTn id="94" fill="hold" nodeType="afterGroup">
                            <p:stCondLst>
                              <p:cond delay="500"/>
                            </p:stCondLst>
                            <p:childTnLst>
                              <p:par>
                                <p:cTn id="95" presetID="22" presetClass="entr" presetSubtype="8" fill="hold" nodeType="afterEffect">
                                  <p:stCondLst>
                                    <p:cond delay="0"/>
                                  </p:stCondLst>
                                  <p:childTnLst>
                                    <p:set>
                                      <p:cBhvr>
                                        <p:cTn id="96" dur="1" fill="hold">
                                          <p:stCondLst>
                                            <p:cond delay="0"/>
                                          </p:stCondLst>
                                        </p:cTn>
                                        <p:tgtEl>
                                          <p:spTgt spid="739356"/>
                                        </p:tgtEl>
                                        <p:attrNameLst>
                                          <p:attrName>style.visibility</p:attrName>
                                        </p:attrNameLst>
                                      </p:cBhvr>
                                      <p:to>
                                        <p:strVal val="visible"/>
                                      </p:to>
                                    </p:set>
                                    <p:animEffect transition="in" filter="wipe(left)">
                                      <p:cBhvr>
                                        <p:cTn id="97" dur="500"/>
                                        <p:tgtEl>
                                          <p:spTgt spid="739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30" grpId="0" autoUpdateAnimBg="0"/>
      <p:bldP spid="739331" grpId="0" autoUpdateAnimBg="0"/>
      <p:bldP spid="739332" grpId="0" autoUpdateAnimBg="0"/>
      <p:bldP spid="739337" grpId="0"/>
      <p:bldP spid="739338" grpId="0" autoUpdateAnimBg="0"/>
      <p:bldP spid="739339" grpId="0"/>
      <p:bldP spid="739349" grpId="0" autoUpdateAnimBg="0"/>
      <p:bldP spid="739352" grpId="0" autoUpdateAnimBg="0"/>
      <p:bldP spid="73935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29" name="Text Box 17">
            <a:extLst>
              <a:ext uri="{FF2B5EF4-FFF2-40B4-BE49-F238E27FC236}">
                <a16:creationId xmlns:a16="http://schemas.microsoft.com/office/drawing/2014/main" id="{3FF59CEF-7F4A-6897-9CDB-9D14810F28E5}"/>
              </a:ext>
            </a:extLst>
          </p:cNvPr>
          <p:cNvSpPr txBox="1">
            <a:spLocks noChangeArrowheads="1"/>
          </p:cNvSpPr>
          <p:nvPr/>
        </p:nvSpPr>
        <p:spPr bwMode="auto">
          <a:xfrm>
            <a:off x="671513" y="3806825"/>
            <a:ext cx="3602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(1) </a:t>
            </a:r>
            <a:r>
              <a:rPr lang="en-US" altLang="zh-CN" i="1">
                <a:solidFill>
                  <a:srgbClr val="66FFFF"/>
                </a:solidFill>
                <a:latin typeface="Times New Roman" panose="02020603050405020304" pitchFamily="18" charset="0"/>
                <a:ea typeface="宋体" panose="02010600030101010101" pitchFamily="2" charset="-122"/>
              </a:rPr>
              <a:t>J</a:t>
            </a:r>
            <a:r>
              <a:rPr lang="en-US" altLang="zh-CN">
                <a:solidFill>
                  <a:srgbClr val="66FFFF"/>
                </a:solidFill>
                <a:latin typeface="Times New Roman" panose="02020603050405020304" pitchFamily="18" charset="0"/>
                <a:ea typeface="宋体" panose="02010600030101010101" pitchFamily="2" charset="-122"/>
              </a:rPr>
              <a:t> </a:t>
            </a:r>
            <a:r>
              <a:rPr lang="zh-CN" altLang="en-US">
                <a:solidFill>
                  <a:srgbClr val="66FFFF"/>
                </a:solidFill>
                <a:latin typeface="Times New Roman" panose="02020603050405020304" pitchFamily="18" charset="0"/>
                <a:ea typeface="宋体" panose="02010600030101010101" pitchFamily="2" charset="-122"/>
              </a:rPr>
              <a:t>与刚体的总质量有关</a:t>
            </a:r>
          </a:p>
        </p:txBody>
      </p:sp>
      <p:sp>
        <p:nvSpPr>
          <p:cNvPr id="678930" name="Text Box 18">
            <a:extLst>
              <a:ext uri="{FF2B5EF4-FFF2-40B4-BE49-F238E27FC236}">
                <a16:creationId xmlns:a16="http://schemas.microsoft.com/office/drawing/2014/main" id="{9577FE00-11FD-C2E4-3AC5-3146B1E4DA16}"/>
              </a:ext>
            </a:extLst>
          </p:cNvPr>
          <p:cNvSpPr txBox="1">
            <a:spLocks noChangeArrowheads="1"/>
          </p:cNvSpPr>
          <p:nvPr/>
        </p:nvSpPr>
        <p:spPr bwMode="auto">
          <a:xfrm>
            <a:off x="684213" y="4267200"/>
            <a:ext cx="709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例如</a:t>
            </a:r>
            <a:r>
              <a:rPr lang="zh-CN" altLang="en-US">
                <a:latin typeface="Times New Roman" panose="02020603050405020304" pitchFamily="18" charset="0"/>
                <a:ea typeface="宋体" panose="02010600030101010101" pitchFamily="2" charset="-122"/>
              </a:rPr>
              <a:t>两根等长的细木棒和细铁棒绕端点轴转动惯量</a:t>
            </a:r>
          </a:p>
        </p:txBody>
      </p:sp>
      <p:sp>
        <p:nvSpPr>
          <p:cNvPr id="678931" name="Line 19">
            <a:extLst>
              <a:ext uri="{FF2B5EF4-FFF2-40B4-BE49-F238E27FC236}">
                <a16:creationId xmlns:a16="http://schemas.microsoft.com/office/drawing/2014/main" id="{83B2B6C4-C1B0-4AB3-D076-E06BB0464303}"/>
              </a:ext>
            </a:extLst>
          </p:cNvPr>
          <p:cNvSpPr>
            <a:spLocks noChangeShapeType="1"/>
          </p:cNvSpPr>
          <p:nvPr/>
        </p:nvSpPr>
        <p:spPr bwMode="auto">
          <a:xfrm>
            <a:off x="5929313" y="4937125"/>
            <a:ext cx="0" cy="1371600"/>
          </a:xfrm>
          <a:prstGeom prst="line">
            <a:avLst/>
          </a:prstGeom>
          <a:noFill/>
          <a:ln w="222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8932" name="Rectangle 20">
            <a:extLst>
              <a:ext uri="{FF2B5EF4-FFF2-40B4-BE49-F238E27FC236}">
                <a16:creationId xmlns:a16="http://schemas.microsoft.com/office/drawing/2014/main" id="{12834F79-4403-F33F-521C-2881A82679C0}"/>
              </a:ext>
            </a:extLst>
          </p:cNvPr>
          <p:cNvSpPr>
            <a:spLocks noChangeArrowheads="1"/>
          </p:cNvSpPr>
          <p:nvPr/>
        </p:nvSpPr>
        <p:spPr bwMode="auto">
          <a:xfrm>
            <a:off x="5929313" y="5715000"/>
            <a:ext cx="2286000" cy="76200"/>
          </a:xfrm>
          <a:prstGeom prst="rect">
            <a:avLst/>
          </a:prstGeom>
          <a:solidFill>
            <a:schemeClr val="accent1"/>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8933" name="Rectangle 21">
            <a:extLst>
              <a:ext uri="{FF2B5EF4-FFF2-40B4-BE49-F238E27FC236}">
                <a16:creationId xmlns:a16="http://schemas.microsoft.com/office/drawing/2014/main" id="{89FE9C99-F5B4-8F3E-80A9-50FA31EAFC55}"/>
              </a:ext>
            </a:extLst>
          </p:cNvPr>
          <p:cNvSpPr>
            <a:spLocks noChangeArrowheads="1"/>
          </p:cNvSpPr>
          <p:nvPr/>
        </p:nvSpPr>
        <p:spPr bwMode="auto">
          <a:xfrm>
            <a:off x="6843713" y="5715000"/>
            <a:ext cx="304800" cy="76200"/>
          </a:xfrm>
          <a:prstGeom prst="rect">
            <a:avLst/>
          </a:prstGeom>
          <a:solidFill>
            <a:srgbClr val="FF0000"/>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8934" name="Text Box 22">
            <a:extLst>
              <a:ext uri="{FF2B5EF4-FFF2-40B4-BE49-F238E27FC236}">
                <a16:creationId xmlns:a16="http://schemas.microsoft.com/office/drawing/2014/main" id="{EFBB6525-CA34-1D92-9B9A-23C8707807E0}"/>
              </a:ext>
            </a:extLst>
          </p:cNvPr>
          <p:cNvSpPr txBox="1">
            <a:spLocks noChangeArrowheads="1"/>
          </p:cNvSpPr>
          <p:nvPr/>
        </p:nvSpPr>
        <p:spPr bwMode="auto">
          <a:xfrm>
            <a:off x="7605713" y="508952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L</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8935" name="Text Box 23">
            <a:extLst>
              <a:ext uri="{FF2B5EF4-FFF2-40B4-BE49-F238E27FC236}">
                <a16:creationId xmlns:a16="http://schemas.microsoft.com/office/drawing/2014/main" id="{69F7340B-72B2-4605-44BB-D827C0E87A57}"/>
              </a:ext>
            </a:extLst>
          </p:cNvPr>
          <p:cNvSpPr txBox="1">
            <a:spLocks noChangeArrowheads="1"/>
          </p:cNvSpPr>
          <p:nvPr/>
        </p:nvSpPr>
        <p:spPr bwMode="auto">
          <a:xfrm>
            <a:off x="5915025" y="462756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8936" name="Text Box 24">
            <a:extLst>
              <a:ext uri="{FF2B5EF4-FFF2-40B4-BE49-F238E27FC236}">
                <a16:creationId xmlns:a16="http://schemas.microsoft.com/office/drawing/2014/main" id="{05266AC9-A97B-AAA6-F21A-6FFA76075DD8}"/>
              </a:ext>
            </a:extLst>
          </p:cNvPr>
          <p:cNvSpPr txBox="1">
            <a:spLocks noChangeArrowheads="1"/>
          </p:cNvSpPr>
          <p:nvPr/>
        </p:nvSpPr>
        <p:spPr bwMode="auto">
          <a:xfrm>
            <a:off x="5510213" y="56689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8937" name="Line 25">
            <a:extLst>
              <a:ext uri="{FF2B5EF4-FFF2-40B4-BE49-F238E27FC236}">
                <a16:creationId xmlns:a16="http://schemas.microsoft.com/office/drawing/2014/main" id="{6932078C-AC9A-EA3B-EA6F-AB963FE86887}"/>
              </a:ext>
            </a:extLst>
          </p:cNvPr>
          <p:cNvSpPr>
            <a:spLocks noChangeShapeType="1"/>
          </p:cNvSpPr>
          <p:nvPr/>
        </p:nvSpPr>
        <p:spPr bwMode="auto">
          <a:xfrm>
            <a:off x="5929313" y="5822950"/>
            <a:ext cx="2743200" cy="0"/>
          </a:xfrm>
          <a:prstGeom prst="line">
            <a:avLst/>
          </a:prstGeom>
          <a:noFill/>
          <a:ln w="22225">
            <a:solidFill>
              <a:srgbClr val="66FF33"/>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8938" name="Text Box 26">
            <a:extLst>
              <a:ext uri="{FF2B5EF4-FFF2-40B4-BE49-F238E27FC236}">
                <a16:creationId xmlns:a16="http://schemas.microsoft.com/office/drawing/2014/main" id="{50E9B7F8-4572-3FBF-3C80-DC5486210126}"/>
              </a:ext>
            </a:extLst>
          </p:cNvPr>
          <p:cNvSpPr txBox="1">
            <a:spLocks noChangeArrowheads="1"/>
          </p:cNvSpPr>
          <p:nvPr/>
        </p:nvSpPr>
        <p:spPr bwMode="auto">
          <a:xfrm>
            <a:off x="8291513" y="57372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8939" name="Text Box 27">
            <a:extLst>
              <a:ext uri="{FF2B5EF4-FFF2-40B4-BE49-F238E27FC236}">
                <a16:creationId xmlns:a16="http://schemas.microsoft.com/office/drawing/2014/main" id="{05FE2445-BC97-0BA7-41E4-CDEFE4A3EFCE}"/>
              </a:ext>
            </a:extLst>
          </p:cNvPr>
          <p:cNvSpPr txBox="1">
            <a:spLocks noChangeArrowheads="1"/>
          </p:cNvSpPr>
          <p:nvPr/>
        </p:nvSpPr>
        <p:spPr bwMode="auto">
          <a:xfrm>
            <a:off x="6691313" y="5851525"/>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d</a:t>
            </a:r>
            <a:r>
              <a:rPr lang="en-US" altLang="zh-CN"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8940" name="Text Box 28">
            <a:extLst>
              <a:ext uri="{FF2B5EF4-FFF2-40B4-BE49-F238E27FC236}">
                <a16:creationId xmlns:a16="http://schemas.microsoft.com/office/drawing/2014/main" id="{6B0DDDF5-C19D-DB31-3CB4-6692124C87F0}"/>
              </a:ext>
            </a:extLst>
          </p:cNvPr>
          <p:cNvSpPr txBox="1">
            <a:spLocks noChangeArrowheads="1"/>
          </p:cNvSpPr>
          <p:nvPr/>
        </p:nvSpPr>
        <p:spPr bwMode="auto">
          <a:xfrm>
            <a:off x="6386513" y="5089525"/>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678941" name="Object 2">
            <a:extLst>
              <a:ext uri="{FF2B5EF4-FFF2-40B4-BE49-F238E27FC236}">
                <a16:creationId xmlns:a16="http://schemas.microsoft.com/office/drawing/2014/main" id="{7AD5ED91-7E61-AC39-45D2-BD4565387D63}"/>
              </a:ext>
            </a:extLst>
          </p:cNvPr>
          <p:cNvGraphicFramePr>
            <a:graphicFrameLocks/>
          </p:cNvGraphicFramePr>
          <p:nvPr/>
        </p:nvGraphicFramePr>
        <p:xfrm>
          <a:off x="827088" y="5026025"/>
          <a:ext cx="4273550" cy="742950"/>
        </p:xfrm>
        <a:graphic>
          <a:graphicData uri="http://schemas.openxmlformats.org/presentationml/2006/ole">
            <mc:AlternateContent xmlns:mc="http://schemas.openxmlformats.org/markup-compatibility/2006">
              <mc:Choice xmlns:v="urn:schemas-microsoft-com:vml" Requires="v">
                <p:oleObj name="公式" r:id="rId2" imgW="4739453" imgH="815479" progId="Equation.3">
                  <p:embed/>
                </p:oleObj>
              </mc:Choice>
              <mc:Fallback>
                <p:oleObj name="公式" r:id="rId2" imgW="4739453" imgH="815479"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5026025"/>
                        <a:ext cx="42735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8942" name="Object 3">
            <a:extLst>
              <a:ext uri="{FF2B5EF4-FFF2-40B4-BE49-F238E27FC236}">
                <a16:creationId xmlns:a16="http://schemas.microsoft.com/office/drawing/2014/main" id="{A5D4BA8E-B510-A9B7-61EE-E8428E3C1038}"/>
              </a:ext>
            </a:extLst>
          </p:cNvPr>
          <p:cNvGraphicFramePr>
            <a:graphicFrameLocks/>
          </p:cNvGraphicFramePr>
          <p:nvPr/>
        </p:nvGraphicFramePr>
        <p:xfrm>
          <a:off x="2305050" y="6042025"/>
          <a:ext cx="1130300" cy="411163"/>
        </p:xfrm>
        <a:graphic>
          <a:graphicData uri="http://schemas.openxmlformats.org/presentationml/2006/ole">
            <mc:AlternateContent xmlns:mc="http://schemas.openxmlformats.org/markup-compatibility/2006">
              <mc:Choice xmlns:v="urn:schemas-microsoft-com:vml" Requires="v">
                <p:oleObj name="Equation" r:id="rId4" imgW="1249556" imgH="449386" progId="Equation.3">
                  <p:embed/>
                </p:oleObj>
              </mc:Choice>
              <mc:Fallback>
                <p:oleObj name="Equation" r:id="rId4" imgW="1249556" imgH="449386"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5050" y="6042025"/>
                        <a:ext cx="113030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8944" name="Arc 32">
            <a:extLst>
              <a:ext uri="{FF2B5EF4-FFF2-40B4-BE49-F238E27FC236}">
                <a16:creationId xmlns:a16="http://schemas.microsoft.com/office/drawing/2014/main" id="{DF39FFBF-4CAF-DCE0-E306-BCC19EF5A86A}"/>
              </a:ext>
            </a:extLst>
          </p:cNvPr>
          <p:cNvSpPr>
            <a:spLocks/>
          </p:cNvSpPr>
          <p:nvPr/>
        </p:nvSpPr>
        <p:spPr bwMode="auto">
          <a:xfrm flipH="1">
            <a:off x="5686425" y="5086350"/>
            <a:ext cx="471488" cy="146050"/>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pic>
        <p:nvPicPr>
          <p:cNvPr id="678945" name="Picture 33" descr="j0293240">
            <a:extLst>
              <a:ext uri="{FF2B5EF4-FFF2-40B4-BE49-F238E27FC236}">
                <a16:creationId xmlns:a16="http://schemas.microsoft.com/office/drawing/2014/main" id="{0E21B7EA-CE33-8EE8-771A-02692FF40B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8958" name="Text Box 46">
            <a:extLst>
              <a:ext uri="{FF2B5EF4-FFF2-40B4-BE49-F238E27FC236}">
                <a16:creationId xmlns:a16="http://schemas.microsoft.com/office/drawing/2014/main" id="{AFEAFF06-58C3-8841-08B6-7D8476B017E5}"/>
              </a:ext>
            </a:extLst>
          </p:cNvPr>
          <p:cNvSpPr txBox="1">
            <a:spLocks noChangeArrowheads="1"/>
          </p:cNvSpPr>
          <p:nvPr/>
        </p:nvSpPr>
        <p:spPr bwMode="auto">
          <a:xfrm>
            <a:off x="841375" y="2184400"/>
            <a:ext cx="3213100" cy="530225"/>
          </a:xfrm>
          <a:prstGeom prst="rect">
            <a:avLst/>
          </a:prstGeom>
          <a:noFill/>
          <a:ln w="6350">
            <a:noFill/>
            <a:miter lim="800000"/>
            <a:headEnd type="none" w="sm" len="sm"/>
            <a:tailEnd type="none" w="sm" len="sm"/>
          </a:ln>
          <a:effectLst/>
        </p:spPr>
        <p:txBody>
          <a:bodyPr anchor="ctr">
            <a:spAutoFit/>
          </a:bodyPr>
          <a:lstStyle/>
          <a:p>
            <a:pPr marL="457200" indent="-457200" eaLnBrk="1" hangingPunct="1">
              <a:lnSpc>
                <a:spcPct val="120000"/>
              </a:lnSpc>
              <a:spcAft>
                <a:spcPct val="20000"/>
              </a:spcAft>
              <a:buClr>
                <a:srgbClr val="CCFF33"/>
              </a:buClr>
              <a:buSzPct val="75000"/>
              <a:buFont typeface="Monotype Sorts" pitchFamily="2" charset="2"/>
              <a:buNone/>
              <a:defRPr/>
            </a:pPr>
            <a:r>
              <a:rPr kumimoji="1" lang="en-US" altLang="zh-CN">
                <a:effectLst>
                  <a:outerShdw blurRad="38100" dist="38100" dir="2700000" algn="tl">
                    <a:srgbClr val="000000"/>
                  </a:outerShdw>
                </a:effectLst>
                <a:latin typeface="Times New Roman" pitchFamily="18" charset="0"/>
              </a:rPr>
              <a:t>(1) </a:t>
            </a:r>
            <a:r>
              <a:rPr kumimoji="1" lang="zh-CN" altLang="en-US">
                <a:effectLst>
                  <a:outerShdw blurRad="38100" dist="38100" dir="2700000" algn="tl">
                    <a:srgbClr val="000000"/>
                  </a:outerShdw>
                </a:effectLst>
                <a:latin typeface="Times New Roman" pitchFamily="18" charset="0"/>
              </a:rPr>
              <a:t>刚体的总质量：</a:t>
            </a:r>
            <a:endParaRPr kumimoji="1" lang="zh-CN" altLang="en-US" sz="2000">
              <a:effectLst>
                <a:outerShdw blurRad="38100" dist="38100" dir="2700000" algn="tl">
                  <a:srgbClr val="000000"/>
                </a:outerShdw>
              </a:effectLst>
              <a:latin typeface="Times New Roman" pitchFamily="18" charset="0"/>
            </a:endParaRPr>
          </a:p>
        </p:txBody>
      </p:sp>
      <p:sp>
        <p:nvSpPr>
          <p:cNvPr id="678959" name="Text Box 47">
            <a:extLst>
              <a:ext uri="{FF2B5EF4-FFF2-40B4-BE49-F238E27FC236}">
                <a16:creationId xmlns:a16="http://schemas.microsoft.com/office/drawing/2014/main" id="{AD90AE47-63EE-1636-C2E2-D9C741B2B6DA}"/>
              </a:ext>
            </a:extLst>
          </p:cNvPr>
          <p:cNvSpPr txBox="1">
            <a:spLocks noChangeArrowheads="1"/>
          </p:cNvSpPr>
          <p:nvPr/>
        </p:nvSpPr>
        <p:spPr bwMode="auto">
          <a:xfrm>
            <a:off x="430213" y="800100"/>
            <a:ext cx="8313737" cy="933450"/>
          </a:xfrm>
          <a:prstGeom prst="rect">
            <a:avLst/>
          </a:prstGeom>
          <a:noFill/>
          <a:ln w="12700">
            <a:noFill/>
            <a:miter lim="800000"/>
            <a:headEnd type="none" w="sm" len="sm"/>
            <a:tailEnd type="none" w="sm" len="sm"/>
          </a:ln>
          <a:effectLst/>
        </p:spPr>
        <p:txBody>
          <a:bodyPr anchor="ctr">
            <a:spAutoFit/>
          </a:bodyPr>
          <a:lstStyle/>
          <a:p>
            <a:pPr marL="263525" indent="-263525" eaLnBrk="1" hangingPunct="1">
              <a:lnSpc>
                <a:spcPct val="115000"/>
              </a:lnSpc>
              <a:buClr>
                <a:srgbClr val="FFCC00"/>
              </a:buClr>
              <a:buSzPct val="80000"/>
              <a:buFont typeface="Wingdings" pitchFamily="2" charset="2"/>
              <a:buChar char="l"/>
              <a:defRPr/>
            </a:pPr>
            <a:r>
              <a:rPr kumimoji="1" lang="zh-CN" altLang="en-US">
                <a:effectLst>
                  <a:outerShdw blurRad="38100" dist="38100" dir="2700000" algn="tl">
                    <a:srgbClr val="000000"/>
                  </a:outerShdw>
                </a:effectLst>
                <a:latin typeface="Times New Roman" pitchFamily="18" charset="0"/>
              </a:rPr>
              <a:t>转动惯量</a:t>
            </a:r>
            <a:r>
              <a:rPr kumimoji="1" lang="en-US" altLang="zh-CN" i="1">
                <a:solidFill>
                  <a:srgbClr val="FFCC00"/>
                </a:solidFill>
                <a:effectLst>
                  <a:outerShdw blurRad="38100" dist="38100" dir="2700000" algn="tl">
                    <a:srgbClr val="000000"/>
                  </a:outerShdw>
                </a:effectLst>
                <a:latin typeface="Times New Roman" pitchFamily="18" charset="0"/>
              </a:rPr>
              <a:t>J</a:t>
            </a:r>
            <a:r>
              <a:rPr kumimoji="1" lang="zh-CN" altLang="en-US">
                <a:effectLst>
                  <a:outerShdw blurRad="38100" dist="38100" dir="2700000" algn="tl">
                    <a:srgbClr val="000000"/>
                  </a:outerShdw>
                </a:effectLst>
                <a:latin typeface="Times New Roman" pitchFamily="18" charset="0"/>
              </a:rPr>
              <a:t>的物理意义：表示刚体在转动中惯性的大小的量度。</a:t>
            </a:r>
          </a:p>
        </p:txBody>
      </p:sp>
      <p:sp>
        <p:nvSpPr>
          <p:cNvPr id="678960" name="Text Box 48">
            <a:extLst>
              <a:ext uri="{FF2B5EF4-FFF2-40B4-BE49-F238E27FC236}">
                <a16:creationId xmlns:a16="http://schemas.microsoft.com/office/drawing/2014/main" id="{83B7EBF8-401A-75D9-B7A6-0CD9571650DA}"/>
              </a:ext>
            </a:extLst>
          </p:cNvPr>
          <p:cNvSpPr txBox="1">
            <a:spLocks noChangeArrowheads="1"/>
          </p:cNvSpPr>
          <p:nvPr/>
        </p:nvSpPr>
        <p:spPr bwMode="auto">
          <a:xfrm>
            <a:off x="357188" y="354013"/>
            <a:ext cx="1501775" cy="457200"/>
          </a:xfrm>
          <a:prstGeom prst="rect">
            <a:avLst/>
          </a:prstGeom>
          <a:noFill/>
          <a:ln w="12700">
            <a:noFill/>
            <a:miter lim="800000"/>
            <a:headEnd type="none" w="sm" len="sm"/>
            <a:tailEnd type="none" w="sm" len="sm"/>
          </a:ln>
          <a:effectLst/>
        </p:spPr>
        <p:txBody>
          <a:bodyPr>
            <a:spAutoFit/>
          </a:bodyPr>
          <a:lstStyle/>
          <a:p>
            <a:pPr>
              <a:spcBef>
                <a:spcPct val="50000"/>
              </a:spcBef>
              <a:buClr>
                <a:srgbClr val="FFFF00"/>
              </a:buClr>
              <a:buFont typeface="Wingdings" pitchFamily="2" charset="2"/>
              <a:buChar char="Ø"/>
              <a:defRPr/>
            </a:pPr>
            <a:r>
              <a:rPr kumimoji="1" lang="en-US" altLang="zh-CN">
                <a:solidFill>
                  <a:srgbClr val="00FFFF"/>
                </a:solidFill>
                <a:effectLst>
                  <a:outerShdw blurRad="38100" dist="38100" dir="2700000" algn="tl">
                    <a:srgbClr val="000000"/>
                  </a:outerShdw>
                </a:effectLst>
                <a:latin typeface="Times New Roman" pitchFamily="18" charset="0"/>
                <a:ea typeface="宋体" pitchFamily="2" charset="-122"/>
              </a:rPr>
              <a:t> </a:t>
            </a:r>
            <a:r>
              <a:rPr kumimoji="1" lang="zh-CN" altLang="en-US">
                <a:solidFill>
                  <a:srgbClr val="00FFFF"/>
                </a:solidFill>
                <a:effectLst>
                  <a:outerShdw blurRad="38100" dist="38100" dir="2700000" algn="tl">
                    <a:srgbClr val="000000"/>
                  </a:outerShdw>
                </a:effectLst>
                <a:latin typeface="Times New Roman" pitchFamily="18" charset="0"/>
                <a:ea typeface="宋体" pitchFamily="2" charset="-122"/>
              </a:rPr>
              <a:t>讨论</a:t>
            </a:r>
          </a:p>
        </p:txBody>
      </p:sp>
      <p:sp>
        <p:nvSpPr>
          <p:cNvPr id="678961" name="Text Box 49">
            <a:extLst>
              <a:ext uri="{FF2B5EF4-FFF2-40B4-BE49-F238E27FC236}">
                <a16:creationId xmlns:a16="http://schemas.microsoft.com/office/drawing/2014/main" id="{F07595B9-7EBA-68E7-5DB5-7D860D3A449F}"/>
              </a:ext>
            </a:extLst>
          </p:cNvPr>
          <p:cNvSpPr txBox="1">
            <a:spLocks noChangeArrowheads="1"/>
          </p:cNvSpPr>
          <p:nvPr/>
        </p:nvSpPr>
        <p:spPr bwMode="auto">
          <a:xfrm>
            <a:off x="1354138" y="1276350"/>
            <a:ext cx="6108700" cy="457200"/>
          </a:xfrm>
          <a:prstGeom prst="rect">
            <a:avLst/>
          </a:prstGeom>
          <a:noFill/>
          <a:ln w="12700">
            <a:noFill/>
            <a:miter lim="800000"/>
            <a:headEnd type="none" w="sm" len="sm"/>
            <a:tailEnd type="none" w="sm" len="sm"/>
          </a:ln>
          <a:effectLst/>
        </p:spPr>
        <p:txBody>
          <a:bodyPr anchor="ctr">
            <a:spAutoFit/>
          </a:bodyPr>
          <a:lstStyle/>
          <a:p>
            <a:pPr eaLnBrk="1" hangingPunct="1">
              <a:lnSpc>
                <a:spcPct val="120000"/>
              </a:lnSpc>
              <a:buClr>
                <a:srgbClr val="FFCC00"/>
              </a:buClr>
              <a:buSzPct val="80000"/>
              <a:buFont typeface="Wingdings" pitchFamily="2" charset="2"/>
              <a:buNone/>
              <a:defRPr/>
            </a:pPr>
            <a:r>
              <a:rPr kumimoji="1" lang="en-US" altLang="zh-CN" sz="2000">
                <a:effectLst>
                  <a:outerShdw blurRad="38100" dist="38100" dir="2700000" algn="tl">
                    <a:srgbClr val="000000"/>
                  </a:outerShdw>
                </a:effectLst>
                <a:latin typeface="Times New Roman" pitchFamily="18" charset="0"/>
              </a:rPr>
              <a:t>—— </a:t>
            </a:r>
            <a:r>
              <a:rPr kumimoji="1" lang="zh-CN" altLang="en-US" sz="2000">
                <a:solidFill>
                  <a:srgbClr val="FFCC00"/>
                </a:solidFill>
                <a:effectLst>
                  <a:outerShdw blurRad="38100" dist="38100" dir="2700000" algn="tl">
                    <a:srgbClr val="000000"/>
                  </a:outerShdw>
                </a:effectLst>
                <a:latin typeface="Times New Roman" pitchFamily="18" charset="0"/>
              </a:rPr>
              <a:t>转动惯量</a:t>
            </a:r>
            <a:r>
              <a:rPr kumimoji="1" lang="en-US" altLang="zh-CN" sz="2000" i="1">
                <a:effectLst>
                  <a:outerShdw blurRad="38100" dist="38100" dir="2700000" algn="tl">
                    <a:srgbClr val="000000"/>
                  </a:outerShdw>
                </a:effectLst>
                <a:latin typeface="Times New Roman" pitchFamily="18" charset="0"/>
              </a:rPr>
              <a:t>J</a:t>
            </a:r>
            <a:r>
              <a:rPr kumimoji="1" lang="zh-CN" altLang="en-US" sz="2000">
                <a:solidFill>
                  <a:srgbClr val="FFCC00"/>
                </a:solidFill>
                <a:effectLst>
                  <a:outerShdw blurRad="38100" dist="38100" dir="2700000" algn="tl">
                    <a:srgbClr val="000000"/>
                  </a:outerShdw>
                </a:effectLst>
                <a:latin typeface="Times New Roman" pitchFamily="18" charset="0"/>
              </a:rPr>
              <a:t>越大，转动状态越不容易改变。</a:t>
            </a:r>
          </a:p>
        </p:txBody>
      </p:sp>
      <p:sp>
        <p:nvSpPr>
          <p:cNvPr id="678962" name="Rectangle 50">
            <a:extLst>
              <a:ext uri="{FF2B5EF4-FFF2-40B4-BE49-F238E27FC236}">
                <a16:creationId xmlns:a16="http://schemas.microsoft.com/office/drawing/2014/main" id="{1EE1740A-5E6F-A296-99C4-E5D51616C44B}"/>
              </a:ext>
            </a:extLst>
          </p:cNvPr>
          <p:cNvSpPr>
            <a:spLocks noChangeArrowheads="1"/>
          </p:cNvSpPr>
          <p:nvPr/>
        </p:nvSpPr>
        <p:spPr bwMode="auto">
          <a:xfrm>
            <a:off x="430213" y="1776413"/>
            <a:ext cx="6113462" cy="457200"/>
          </a:xfrm>
          <a:prstGeom prst="rect">
            <a:avLst/>
          </a:prstGeom>
          <a:noFill/>
          <a:ln w="9525">
            <a:noFill/>
            <a:miter lim="800000"/>
            <a:headEnd/>
            <a:tailEnd/>
          </a:ln>
          <a:effectLst/>
        </p:spPr>
        <p:txBody>
          <a:bodyPr>
            <a:spAutoFit/>
          </a:bodyPr>
          <a:lstStyle/>
          <a:p>
            <a:pPr>
              <a:spcAft>
                <a:spcPct val="20000"/>
              </a:spcAft>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影响转动惯量</a:t>
            </a:r>
            <a:r>
              <a:rPr kumimoji="1" lang="en-US" altLang="zh-CN" i="1">
                <a:solidFill>
                  <a:srgbClr val="FFCC00"/>
                </a:solidFill>
                <a:effectLst>
                  <a:outerShdw blurRad="38100" dist="38100" dir="2700000" algn="tl">
                    <a:srgbClr val="000000"/>
                  </a:outerShdw>
                </a:effectLst>
                <a:latin typeface="Times New Roman" pitchFamily="18" charset="0"/>
              </a:rPr>
              <a:t>J</a:t>
            </a:r>
            <a:r>
              <a:rPr kumimoji="1" lang="zh-CN" altLang="en-US">
                <a:effectLst>
                  <a:outerShdw blurRad="38100" dist="38100" dir="2700000" algn="tl">
                    <a:srgbClr val="000000"/>
                  </a:outerShdw>
                </a:effectLst>
                <a:latin typeface="Times New Roman" pitchFamily="18" charset="0"/>
              </a:rPr>
              <a:t>大小的三个因素</a:t>
            </a:r>
          </a:p>
        </p:txBody>
      </p:sp>
      <p:sp>
        <p:nvSpPr>
          <p:cNvPr id="678963" name="Text Box 51">
            <a:extLst>
              <a:ext uri="{FF2B5EF4-FFF2-40B4-BE49-F238E27FC236}">
                <a16:creationId xmlns:a16="http://schemas.microsoft.com/office/drawing/2014/main" id="{E7AC5530-1C49-F944-70B1-B937FDA0120C}"/>
              </a:ext>
            </a:extLst>
          </p:cNvPr>
          <p:cNvSpPr txBox="1">
            <a:spLocks noChangeArrowheads="1"/>
          </p:cNvSpPr>
          <p:nvPr/>
        </p:nvSpPr>
        <p:spPr bwMode="auto">
          <a:xfrm>
            <a:off x="819150" y="3270250"/>
            <a:ext cx="8089900" cy="530225"/>
          </a:xfrm>
          <a:prstGeom prst="rect">
            <a:avLst/>
          </a:prstGeom>
          <a:noFill/>
          <a:ln w="6350">
            <a:noFill/>
            <a:miter lim="800000"/>
            <a:headEnd type="none" w="sm" len="sm"/>
            <a:tailEnd type="none" w="sm" len="sm"/>
          </a:ln>
          <a:effectLst/>
        </p:spPr>
        <p:txBody>
          <a:bodyPr anchor="ctr">
            <a:spAutoFit/>
          </a:bodyPr>
          <a:lstStyle/>
          <a:p>
            <a:pPr marL="457200" indent="-457200" eaLnBrk="1" hangingPunct="1">
              <a:lnSpc>
                <a:spcPct val="120000"/>
              </a:lnSpc>
              <a:spcAft>
                <a:spcPct val="20000"/>
              </a:spcAft>
              <a:buClr>
                <a:srgbClr val="CCFF33"/>
              </a:buClr>
              <a:buSzPct val="75000"/>
              <a:buFont typeface="Monotype Sorts" pitchFamily="2" charset="2"/>
              <a:buNone/>
              <a:defRPr/>
            </a:pPr>
            <a:r>
              <a:rPr kumimoji="1" lang="en-US" altLang="zh-CN" dirty="0">
                <a:effectLst>
                  <a:outerShdw blurRad="38100" dist="38100" dir="2700000" algn="tl">
                    <a:srgbClr val="000000"/>
                  </a:outerShdw>
                </a:effectLst>
                <a:latin typeface="Times New Roman" pitchFamily="18" charset="0"/>
              </a:rPr>
              <a:t>(3) </a:t>
            </a:r>
            <a:r>
              <a:rPr kumimoji="1" lang="zh-CN" altLang="en-US" dirty="0">
                <a:effectLst>
                  <a:outerShdw blurRad="38100" dist="38100" dir="2700000" algn="tl">
                    <a:srgbClr val="000000"/>
                  </a:outerShdw>
                </a:effectLst>
                <a:latin typeface="Times New Roman" pitchFamily="18" charset="0"/>
              </a:rPr>
              <a:t>刚体的转轴位置：</a:t>
            </a:r>
            <a:endParaRPr kumimoji="1" lang="zh-CN" altLang="en-US" sz="2000" dirty="0">
              <a:effectLst>
                <a:outerShdw blurRad="38100" dist="38100" dir="2700000" algn="tl">
                  <a:srgbClr val="000000"/>
                </a:outerShdw>
              </a:effectLst>
              <a:latin typeface="Times New Roman" pitchFamily="18" charset="0"/>
            </a:endParaRPr>
          </a:p>
        </p:txBody>
      </p:sp>
      <p:sp>
        <p:nvSpPr>
          <p:cNvPr id="678964" name="Text Box 52">
            <a:extLst>
              <a:ext uri="{FF2B5EF4-FFF2-40B4-BE49-F238E27FC236}">
                <a16:creationId xmlns:a16="http://schemas.microsoft.com/office/drawing/2014/main" id="{F3F2C68A-B5E5-FAB0-E3AD-D0E9D2AF6855}"/>
              </a:ext>
            </a:extLst>
          </p:cNvPr>
          <p:cNvSpPr txBox="1">
            <a:spLocks noChangeArrowheads="1"/>
          </p:cNvSpPr>
          <p:nvPr/>
        </p:nvSpPr>
        <p:spPr bwMode="auto">
          <a:xfrm>
            <a:off x="3705225" y="3327400"/>
            <a:ext cx="4635500" cy="422275"/>
          </a:xfrm>
          <a:prstGeom prst="rect">
            <a:avLst/>
          </a:prstGeom>
          <a:noFill/>
          <a:ln w="6350">
            <a:noFill/>
            <a:miter lim="800000"/>
            <a:headEnd type="none" w="sm" len="sm"/>
            <a:tailEnd type="none" w="sm" len="sm"/>
          </a:ln>
          <a:effectLst/>
        </p:spPr>
        <p:txBody>
          <a:bodyPr anchor="ctr">
            <a:spAutoFit/>
          </a:bodyPr>
          <a:lstStyle/>
          <a:p>
            <a:pPr marL="457200" indent="-457200" eaLnBrk="1" hangingPunct="1">
              <a:lnSpc>
                <a:spcPct val="120000"/>
              </a:lnSpc>
              <a:spcAft>
                <a:spcPct val="20000"/>
              </a:spcAft>
              <a:buClr>
                <a:srgbClr val="CCFF33"/>
              </a:buClr>
              <a:buSzPct val="75000"/>
              <a:buFont typeface="Monotype Sorts" pitchFamily="2" charset="2"/>
              <a:buNone/>
              <a:defRPr/>
            </a:pPr>
            <a:r>
              <a:rPr kumimoji="1" lang="zh-CN" altLang="en-US" sz="1800">
                <a:solidFill>
                  <a:srgbClr val="FFCC00"/>
                </a:solidFill>
                <a:effectLst>
                  <a:outerShdw blurRad="38100" dist="38100" dir="2700000" algn="tl">
                    <a:srgbClr val="000000"/>
                  </a:outerShdw>
                </a:effectLst>
                <a:latin typeface="Times New Roman" pitchFamily="18" charset="0"/>
              </a:rPr>
              <a:t>同一刚体依不同的转轴而有不同的</a:t>
            </a:r>
            <a:r>
              <a:rPr kumimoji="1" lang="en-US" altLang="zh-CN" sz="1800" i="1">
                <a:effectLst>
                  <a:outerShdw blurRad="38100" dist="38100" dir="2700000" algn="tl">
                    <a:srgbClr val="000000"/>
                  </a:outerShdw>
                </a:effectLst>
                <a:latin typeface="Times New Roman" pitchFamily="18" charset="0"/>
              </a:rPr>
              <a:t>J</a:t>
            </a:r>
            <a:r>
              <a:rPr kumimoji="1" lang="en-US" altLang="zh-CN" sz="1800" baseline="-25000">
                <a:effectLst>
                  <a:outerShdw blurRad="38100" dist="38100" dir="2700000" algn="tl">
                    <a:srgbClr val="000000"/>
                  </a:outerShdw>
                </a:effectLst>
                <a:latin typeface="Times New Roman" pitchFamily="18" charset="0"/>
                <a:ea typeface="宋体" pitchFamily="2" charset="-122"/>
              </a:rPr>
              <a:t> </a:t>
            </a:r>
            <a:r>
              <a:rPr kumimoji="1" lang="zh-CN" altLang="en-US" sz="1800" baseline="-25000">
                <a:solidFill>
                  <a:srgbClr val="FFCC00"/>
                </a:solidFill>
                <a:effectLst>
                  <a:outerShdw blurRad="38100" dist="38100" dir="2700000" algn="tl">
                    <a:srgbClr val="000000"/>
                  </a:outerShdw>
                </a:effectLst>
                <a:latin typeface="Times New Roman" pitchFamily="18" charset="0"/>
                <a:ea typeface="宋体" pitchFamily="2" charset="-122"/>
              </a:rPr>
              <a:t>；</a:t>
            </a:r>
            <a:endParaRPr kumimoji="1" lang="zh-CN" altLang="en-US" sz="1800">
              <a:solidFill>
                <a:srgbClr val="FFCC00"/>
              </a:solidFill>
              <a:effectLst>
                <a:outerShdw blurRad="38100" dist="38100" dir="2700000" algn="tl">
                  <a:srgbClr val="000000"/>
                </a:outerShdw>
              </a:effectLst>
              <a:latin typeface="Times New Roman" pitchFamily="18" charset="0"/>
            </a:endParaRPr>
          </a:p>
        </p:txBody>
      </p:sp>
      <p:sp>
        <p:nvSpPr>
          <p:cNvPr id="678965" name="Text Box 53">
            <a:extLst>
              <a:ext uri="{FF2B5EF4-FFF2-40B4-BE49-F238E27FC236}">
                <a16:creationId xmlns:a16="http://schemas.microsoft.com/office/drawing/2014/main" id="{31E6A985-9408-7F69-D8EF-6A6840E45C39}"/>
              </a:ext>
            </a:extLst>
          </p:cNvPr>
          <p:cNvSpPr txBox="1">
            <a:spLocks noChangeArrowheads="1"/>
          </p:cNvSpPr>
          <p:nvPr/>
        </p:nvSpPr>
        <p:spPr bwMode="auto">
          <a:xfrm>
            <a:off x="3419475" y="2251075"/>
            <a:ext cx="5130800" cy="422275"/>
          </a:xfrm>
          <a:prstGeom prst="rect">
            <a:avLst/>
          </a:prstGeom>
          <a:noFill/>
          <a:ln w="6350">
            <a:noFill/>
            <a:miter lim="800000"/>
            <a:headEnd type="none" w="sm" len="sm"/>
            <a:tailEnd type="none" w="sm" len="sm"/>
          </a:ln>
          <a:effectLst/>
        </p:spPr>
        <p:txBody>
          <a:bodyPr anchor="ctr">
            <a:spAutoFit/>
          </a:bodyPr>
          <a:lstStyle/>
          <a:p>
            <a:pPr marL="457200" indent="-457200" eaLnBrk="1" hangingPunct="1">
              <a:lnSpc>
                <a:spcPct val="120000"/>
              </a:lnSpc>
              <a:spcAft>
                <a:spcPct val="20000"/>
              </a:spcAft>
              <a:buClr>
                <a:srgbClr val="CCFF33"/>
              </a:buClr>
              <a:buSzPct val="75000"/>
              <a:buFont typeface="Monotype Sorts" pitchFamily="2" charset="2"/>
              <a:buNone/>
              <a:defRPr/>
            </a:pPr>
            <a:r>
              <a:rPr kumimoji="1" lang="zh-CN" altLang="en-US" sz="1800">
                <a:solidFill>
                  <a:srgbClr val="FFCC00"/>
                </a:solidFill>
                <a:effectLst>
                  <a:outerShdw blurRad="38100" dist="38100" dir="2700000" algn="tl">
                    <a:srgbClr val="000000"/>
                  </a:outerShdw>
                </a:effectLst>
                <a:latin typeface="Times New Roman" pitchFamily="18" charset="0"/>
              </a:rPr>
              <a:t>刚体的转动惯量与其自身的总质量成正比；</a:t>
            </a:r>
          </a:p>
        </p:txBody>
      </p:sp>
      <p:sp>
        <p:nvSpPr>
          <p:cNvPr id="678966" name="Text Box 54">
            <a:extLst>
              <a:ext uri="{FF2B5EF4-FFF2-40B4-BE49-F238E27FC236}">
                <a16:creationId xmlns:a16="http://schemas.microsoft.com/office/drawing/2014/main" id="{CBEE9FDC-B931-3A88-D0AD-71D1E6C38F12}"/>
              </a:ext>
            </a:extLst>
          </p:cNvPr>
          <p:cNvSpPr txBox="1">
            <a:spLocks noChangeArrowheads="1"/>
          </p:cNvSpPr>
          <p:nvPr/>
        </p:nvSpPr>
        <p:spPr bwMode="auto">
          <a:xfrm>
            <a:off x="841375" y="2717800"/>
            <a:ext cx="3962400" cy="530225"/>
          </a:xfrm>
          <a:prstGeom prst="rect">
            <a:avLst/>
          </a:prstGeom>
          <a:noFill/>
          <a:ln w="6350">
            <a:noFill/>
            <a:miter lim="800000"/>
            <a:headEnd type="none" w="sm" len="sm"/>
            <a:tailEnd type="none" w="sm" len="sm"/>
          </a:ln>
          <a:effectLst/>
        </p:spPr>
        <p:txBody>
          <a:bodyPr anchor="ctr">
            <a:spAutoFit/>
          </a:bodyPr>
          <a:lstStyle/>
          <a:p>
            <a:pPr marL="457200" indent="-457200" eaLnBrk="1" hangingPunct="1">
              <a:lnSpc>
                <a:spcPct val="120000"/>
              </a:lnSpc>
              <a:spcAft>
                <a:spcPct val="20000"/>
              </a:spcAft>
              <a:buClr>
                <a:srgbClr val="CCFF33"/>
              </a:buClr>
              <a:buSzPct val="75000"/>
              <a:buFont typeface="Monotype Sorts" pitchFamily="2" charset="2"/>
              <a:buNone/>
              <a:defRPr/>
            </a:pPr>
            <a:r>
              <a:rPr lang="en-US" altLang="zh-CN">
                <a:effectLst>
                  <a:outerShdw blurRad="38100" dist="38100" dir="2700000" algn="tl">
                    <a:srgbClr val="000000"/>
                  </a:outerShdw>
                </a:effectLst>
                <a:latin typeface="Times New Roman" pitchFamily="18" charset="0"/>
              </a:rPr>
              <a:t>(2) </a:t>
            </a:r>
            <a:r>
              <a:rPr lang="zh-CN" altLang="en-US">
                <a:effectLst>
                  <a:outerShdw blurRad="38100" dist="38100" dir="2700000" algn="tl">
                    <a:srgbClr val="000000"/>
                  </a:outerShdw>
                </a:effectLst>
                <a:latin typeface="Times New Roman" pitchFamily="18" charset="0"/>
              </a:rPr>
              <a:t>质</a:t>
            </a:r>
            <a:r>
              <a:rPr kumimoji="1" lang="zh-CN" altLang="en-US">
                <a:effectLst>
                  <a:outerShdw blurRad="38100" dist="38100" dir="2700000" algn="tl">
                    <a:srgbClr val="000000"/>
                  </a:outerShdw>
                </a:effectLst>
                <a:latin typeface="Times New Roman" pitchFamily="18" charset="0"/>
              </a:rPr>
              <a:t>量相对转轴的分布：</a:t>
            </a:r>
            <a:endParaRPr kumimoji="1" lang="zh-CN" altLang="en-US" sz="2000">
              <a:effectLst>
                <a:outerShdw blurRad="38100" dist="38100" dir="2700000" algn="tl">
                  <a:srgbClr val="000000"/>
                </a:outerShdw>
              </a:effectLst>
              <a:latin typeface="Times New Roman" pitchFamily="18" charset="0"/>
            </a:endParaRPr>
          </a:p>
        </p:txBody>
      </p:sp>
      <p:sp>
        <p:nvSpPr>
          <p:cNvPr id="678967" name="Text Box 55">
            <a:extLst>
              <a:ext uri="{FF2B5EF4-FFF2-40B4-BE49-F238E27FC236}">
                <a16:creationId xmlns:a16="http://schemas.microsoft.com/office/drawing/2014/main" id="{EB41B435-84A3-EDB2-ABAB-42F0CFD10A3A}"/>
              </a:ext>
            </a:extLst>
          </p:cNvPr>
          <p:cNvSpPr txBox="1">
            <a:spLocks noChangeArrowheads="1"/>
          </p:cNvSpPr>
          <p:nvPr/>
        </p:nvSpPr>
        <p:spPr bwMode="auto">
          <a:xfrm>
            <a:off x="4310063" y="2755900"/>
            <a:ext cx="4678362" cy="422275"/>
          </a:xfrm>
          <a:prstGeom prst="rect">
            <a:avLst/>
          </a:prstGeom>
          <a:noFill/>
          <a:ln w="6350">
            <a:noFill/>
            <a:miter lim="800000"/>
            <a:headEnd type="none" w="sm" len="sm"/>
            <a:tailEnd type="none" w="sm" len="sm"/>
          </a:ln>
          <a:effectLst/>
        </p:spPr>
        <p:txBody>
          <a:bodyPr anchor="ctr">
            <a:spAutoFit/>
          </a:bodyPr>
          <a:lstStyle/>
          <a:p>
            <a:pPr eaLnBrk="1" hangingPunct="1">
              <a:lnSpc>
                <a:spcPct val="120000"/>
              </a:lnSpc>
              <a:spcAft>
                <a:spcPct val="20000"/>
              </a:spcAft>
              <a:buClr>
                <a:srgbClr val="CCFF33"/>
              </a:buClr>
              <a:buSzPct val="75000"/>
              <a:buFont typeface="Monotype Sorts" pitchFamily="2" charset="2"/>
              <a:buNone/>
              <a:defRPr/>
            </a:pPr>
            <a:r>
              <a:rPr kumimoji="1" lang="zh-CN" altLang="en-US" sz="1800">
                <a:solidFill>
                  <a:srgbClr val="FFCC00"/>
                </a:solidFill>
                <a:effectLst>
                  <a:outerShdw blurRad="38100" dist="38100" dir="2700000" algn="tl">
                    <a:srgbClr val="000000"/>
                  </a:outerShdw>
                </a:effectLst>
                <a:latin typeface="Times New Roman" pitchFamily="18" charset="0"/>
              </a:rPr>
              <a:t>转动惯量与其形状、大小和密度分布有关。</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8960"/>
                                        </p:tgtEl>
                                        <p:attrNameLst>
                                          <p:attrName>style.visibility</p:attrName>
                                        </p:attrNameLst>
                                      </p:cBhvr>
                                      <p:to>
                                        <p:strVal val="visible"/>
                                      </p:to>
                                    </p:set>
                                    <p:animEffect transition="in" filter="wipe(left)">
                                      <p:cBhvr>
                                        <p:cTn id="7" dur="500"/>
                                        <p:tgtEl>
                                          <p:spTgt spid="6789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8959"/>
                                        </p:tgtEl>
                                        <p:attrNameLst>
                                          <p:attrName>style.visibility</p:attrName>
                                        </p:attrNameLst>
                                      </p:cBhvr>
                                      <p:to>
                                        <p:strVal val="visible"/>
                                      </p:to>
                                    </p:set>
                                    <p:animEffect transition="in" filter="wipe(left)">
                                      <p:cBhvr>
                                        <p:cTn id="12" dur="500"/>
                                        <p:tgtEl>
                                          <p:spTgt spid="6789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78961"/>
                                        </p:tgtEl>
                                        <p:attrNameLst>
                                          <p:attrName>style.visibility</p:attrName>
                                        </p:attrNameLst>
                                      </p:cBhvr>
                                      <p:to>
                                        <p:strVal val="visible"/>
                                      </p:to>
                                    </p:set>
                                    <p:animEffect transition="in" filter="wipe(left)">
                                      <p:cBhvr>
                                        <p:cTn id="17" dur="500"/>
                                        <p:tgtEl>
                                          <p:spTgt spid="6789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78962"/>
                                        </p:tgtEl>
                                        <p:attrNameLst>
                                          <p:attrName>style.visibility</p:attrName>
                                        </p:attrNameLst>
                                      </p:cBhvr>
                                      <p:to>
                                        <p:strVal val="visible"/>
                                      </p:to>
                                    </p:set>
                                    <p:animEffect transition="in" filter="wipe(left)">
                                      <p:cBhvr>
                                        <p:cTn id="22" dur="500"/>
                                        <p:tgtEl>
                                          <p:spTgt spid="6789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78958">
                                            <p:txEl>
                                              <p:pRg st="0" end="0"/>
                                            </p:txEl>
                                          </p:spTgt>
                                        </p:tgtEl>
                                        <p:attrNameLst>
                                          <p:attrName>style.visibility</p:attrName>
                                        </p:attrNameLst>
                                      </p:cBhvr>
                                      <p:to>
                                        <p:strVal val="visible"/>
                                      </p:to>
                                    </p:set>
                                    <p:animEffect transition="in" filter="wipe(left)">
                                      <p:cBhvr>
                                        <p:cTn id="27" dur="500"/>
                                        <p:tgtEl>
                                          <p:spTgt spid="67895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78965">
                                            <p:txEl>
                                              <p:pRg st="0" end="0"/>
                                            </p:txEl>
                                          </p:spTgt>
                                        </p:tgtEl>
                                        <p:attrNameLst>
                                          <p:attrName>style.visibility</p:attrName>
                                        </p:attrNameLst>
                                      </p:cBhvr>
                                      <p:to>
                                        <p:strVal val="visible"/>
                                      </p:to>
                                    </p:set>
                                    <p:animEffect transition="in" filter="wipe(left)">
                                      <p:cBhvr>
                                        <p:cTn id="32" dur="500"/>
                                        <p:tgtEl>
                                          <p:spTgt spid="678965">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78966">
                                            <p:txEl>
                                              <p:pRg st="0" end="0"/>
                                            </p:txEl>
                                          </p:spTgt>
                                        </p:tgtEl>
                                        <p:attrNameLst>
                                          <p:attrName>style.visibility</p:attrName>
                                        </p:attrNameLst>
                                      </p:cBhvr>
                                      <p:to>
                                        <p:strVal val="visible"/>
                                      </p:to>
                                    </p:set>
                                    <p:animEffect transition="in" filter="wipe(left)">
                                      <p:cBhvr>
                                        <p:cTn id="37" dur="500"/>
                                        <p:tgtEl>
                                          <p:spTgt spid="678966">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78967">
                                            <p:txEl>
                                              <p:pRg st="0" end="0"/>
                                            </p:txEl>
                                          </p:spTgt>
                                        </p:tgtEl>
                                        <p:attrNameLst>
                                          <p:attrName>style.visibility</p:attrName>
                                        </p:attrNameLst>
                                      </p:cBhvr>
                                      <p:to>
                                        <p:strVal val="visible"/>
                                      </p:to>
                                    </p:set>
                                    <p:animEffect transition="in" filter="wipe(left)">
                                      <p:cBhvr>
                                        <p:cTn id="42" dur="500"/>
                                        <p:tgtEl>
                                          <p:spTgt spid="678967">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78963">
                                            <p:txEl>
                                              <p:pRg st="0" end="0"/>
                                            </p:txEl>
                                          </p:spTgt>
                                        </p:tgtEl>
                                        <p:attrNameLst>
                                          <p:attrName>style.visibility</p:attrName>
                                        </p:attrNameLst>
                                      </p:cBhvr>
                                      <p:to>
                                        <p:strVal val="visible"/>
                                      </p:to>
                                    </p:set>
                                    <p:animEffect transition="in" filter="wipe(left)">
                                      <p:cBhvr>
                                        <p:cTn id="47" dur="500"/>
                                        <p:tgtEl>
                                          <p:spTgt spid="678963">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78964">
                                            <p:txEl>
                                              <p:pRg st="0" end="0"/>
                                            </p:txEl>
                                          </p:spTgt>
                                        </p:tgtEl>
                                        <p:attrNameLst>
                                          <p:attrName>style.visibility</p:attrName>
                                        </p:attrNameLst>
                                      </p:cBhvr>
                                      <p:to>
                                        <p:strVal val="visible"/>
                                      </p:to>
                                    </p:set>
                                    <p:animEffect transition="in" filter="wipe(left)">
                                      <p:cBhvr>
                                        <p:cTn id="52" dur="500"/>
                                        <p:tgtEl>
                                          <p:spTgt spid="678964">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78929"/>
                                        </p:tgtEl>
                                        <p:attrNameLst>
                                          <p:attrName>style.visibility</p:attrName>
                                        </p:attrNameLst>
                                      </p:cBhvr>
                                      <p:to>
                                        <p:strVal val="visible"/>
                                      </p:to>
                                    </p:set>
                                    <p:animEffect transition="in" filter="wipe(left)">
                                      <p:cBhvr>
                                        <p:cTn id="57" dur="500"/>
                                        <p:tgtEl>
                                          <p:spTgt spid="67892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78930"/>
                                        </p:tgtEl>
                                        <p:attrNameLst>
                                          <p:attrName>style.visibility</p:attrName>
                                        </p:attrNameLst>
                                      </p:cBhvr>
                                      <p:to>
                                        <p:strVal val="visible"/>
                                      </p:to>
                                    </p:set>
                                    <p:animEffect transition="in" filter="wipe(left)">
                                      <p:cBhvr>
                                        <p:cTn id="62" dur="500"/>
                                        <p:tgtEl>
                                          <p:spTgt spid="6789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78932"/>
                                        </p:tgtEl>
                                        <p:attrNameLst>
                                          <p:attrName>style.visibility</p:attrName>
                                        </p:attrNameLst>
                                      </p:cBhvr>
                                      <p:to>
                                        <p:strVal val="visible"/>
                                      </p:to>
                                    </p:set>
                                    <p:animEffect transition="in" filter="wipe(left)">
                                      <p:cBhvr>
                                        <p:cTn id="67" dur="500"/>
                                        <p:tgtEl>
                                          <p:spTgt spid="67893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78940"/>
                                        </p:tgtEl>
                                        <p:attrNameLst>
                                          <p:attrName>style.visibility</p:attrName>
                                        </p:attrNameLst>
                                      </p:cBhvr>
                                      <p:to>
                                        <p:strVal val="visible"/>
                                      </p:to>
                                    </p:set>
                                    <p:animEffect transition="in" filter="wipe(left)">
                                      <p:cBhvr>
                                        <p:cTn id="72" dur="500"/>
                                        <p:tgtEl>
                                          <p:spTgt spid="67894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78934"/>
                                        </p:tgtEl>
                                        <p:attrNameLst>
                                          <p:attrName>style.visibility</p:attrName>
                                        </p:attrNameLst>
                                      </p:cBhvr>
                                      <p:to>
                                        <p:strVal val="visible"/>
                                      </p:to>
                                    </p:set>
                                    <p:animEffect transition="in" filter="wipe(left)">
                                      <p:cBhvr>
                                        <p:cTn id="77" dur="500"/>
                                        <p:tgtEl>
                                          <p:spTgt spid="67893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78931"/>
                                        </p:tgtEl>
                                        <p:attrNameLst>
                                          <p:attrName>style.visibility</p:attrName>
                                        </p:attrNameLst>
                                      </p:cBhvr>
                                      <p:to>
                                        <p:strVal val="visible"/>
                                      </p:to>
                                    </p:set>
                                    <p:animEffect transition="in" filter="wipe(left)">
                                      <p:cBhvr>
                                        <p:cTn id="82" dur="500"/>
                                        <p:tgtEl>
                                          <p:spTgt spid="67893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78935"/>
                                        </p:tgtEl>
                                        <p:attrNameLst>
                                          <p:attrName>style.visibility</p:attrName>
                                        </p:attrNameLst>
                                      </p:cBhvr>
                                      <p:to>
                                        <p:strVal val="visible"/>
                                      </p:to>
                                    </p:set>
                                    <p:animEffect transition="in" filter="wipe(left)">
                                      <p:cBhvr>
                                        <p:cTn id="87" dur="500"/>
                                        <p:tgtEl>
                                          <p:spTgt spid="67893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nodeType="clickEffect">
                                  <p:stCondLst>
                                    <p:cond delay="0"/>
                                  </p:stCondLst>
                                  <p:childTnLst>
                                    <p:set>
                                      <p:cBhvr>
                                        <p:cTn id="91" dur="1" fill="hold">
                                          <p:stCondLst>
                                            <p:cond delay="0"/>
                                          </p:stCondLst>
                                        </p:cTn>
                                        <p:tgtEl>
                                          <p:spTgt spid="678944"/>
                                        </p:tgtEl>
                                        <p:attrNameLst>
                                          <p:attrName>style.visibility</p:attrName>
                                        </p:attrNameLst>
                                      </p:cBhvr>
                                      <p:to>
                                        <p:strVal val="visible"/>
                                      </p:to>
                                    </p:set>
                                    <p:animEffect transition="in" filter="wipe(down)">
                                      <p:cBhvr>
                                        <p:cTn id="92" dur="500"/>
                                        <p:tgtEl>
                                          <p:spTgt spid="67894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678937"/>
                                        </p:tgtEl>
                                        <p:attrNameLst>
                                          <p:attrName>style.visibility</p:attrName>
                                        </p:attrNameLst>
                                      </p:cBhvr>
                                      <p:to>
                                        <p:strVal val="visible"/>
                                      </p:to>
                                    </p:set>
                                    <p:animEffect transition="in" filter="wipe(left)">
                                      <p:cBhvr>
                                        <p:cTn id="97" dur="500"/>
                                        <p:tgtEl>
                                          <p:spTgt spid="67893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678936"/>
                                        </p:tgtEl>
                                        <p:attrNameLst>
                                          <p:attrName>style.visibility</p:attrName>
                                        </p:attrNameLst>
                                      </p:cBhvr>
                                      <p:to>
                                        <p:strVal val="visible"/>
                                      </p:to>
                                    </p:set>
                                    <p:animEffect transition="in" filter="wipe(left)">
                                      <p:cBhvr>
                                        <p:cTn id="102" dur="500"/>
                                        <p:tgtEl>
                                          <p:spTgt spid="67893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678938"/>
                                        </p:tgtEl>
                                        <p:attrNameLst>
                                          <p:attrName>style.visibility</p:attrName>
                                        </p:attrNameLst>
                                      </p:cBhvr>
                                      <p:to>
                                        <p:strVal val="visible"/>
                                      </p:to>
                                    </p:set>
                                    <p:animEffect transition="in" filter="wipe(left)">
                                      <p:cBhvr>
                                        <p:cTn id="107" dur="500"/>
                                        <p:tgtEl>
                                          <p:spTgt spid="67893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678933"/>
                                        </p:tgtEl>
                                        <p:attrNameLst>
                                          <p:attrName>style.visibility</p:attrName>
                                        </p:attrNameLst>
                                      </p:cBhvr>
                                      <p:to>
                                        <p:strVal val="visible"/>
                                      </p:to>
                                    </p:set>
                                    <p:animEffect transition="in" filter="wipe(left)">
                                      <p:cBhvr>
                                        <p:cTn id="112" dur="500"/>
                                        <p:tgtEl>
                                          <p:spTgt spid="678933"/>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678939"/>
                                        </p:tgtEl>
                                        <p:attrNameLst>
                                          <p:attrName>style.visibility</p:attrName>
                                        </p:attrNameLst>
                                      </p:cBhvr>
                                      <p:to>
                                        <p:strVal val="visible"/>
                                      </p:to>
                                    </p:set>
                                    <p:animEffect transition="in" filter="wipe(left)">
                                      <p:cBhvr>
                                        <p:cTn id="117" dur="500"/>
                                        <p:tgtEl>
                                          <p:spTgt spid="678939"/>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678941"/>
                                        </p:tgtEl>
                                        <p:attrNameLst>
                                          <p:attrName>style.visibility</p:attrName>
                                        </p:attrNameLst>
                                      </p:cBhvr>
                                      <p:to>
                                        <p:strVal val="visible"/>
                                      </p:to>
                                    </p:set>
                                    <p:animEffect transition="in" filter="wipe(left)">
                                      <p:cBhvr>
                                        <p:cTn id="122" dur="500"/>
                                        <p:tgtEl>
                                          <p:spTgt spid="67894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678942"/>
                                        </p:tgtEl>
                                        <p:attrNameLst>
                                          <p:attrName>style.visibility</p:attrName>
                                        </p:attrNameLst>
                                      </p:cBhvr>
                                      <p:to>
                                        <p:strVal val="visible"/>
                                      </p:to>
                                    </p:set>
                                    <p:animEffect transition="in" filter="wipe(left)">
                                      <p:cBhvr>
                                        <p:cTn id="127" dur="500"/>
                                        <p:tgtEl>
                                          <p:spTgt spid="67894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 presetClass="entr" presetSubtype="2" fill="hold" nodeType="clickEffect">
                                  <p:stCondLst>
                                    <p:cond delay="0"/>
                                  </p:stCondLst>
                                  <p:childTnLst>
                                    <p:set>
                                      <p:cBhvr>
                                        <p:cTn id="131" dur="1" fill="hold">
                                          <p:stCondLst>
                                            <p:cond delay="0"/>
                                          </p:stCondLst>
                                        </p:cTn>
                                        <p:tgtEl>
                                          <p:spTgt spid="678945"/>
                                        </p:tgtEl>
                                        <p:attrNameLst>
                                          <p:attrName>style.visibility</p:attrName>
                                        </p:attrNameLst>
                                      </p:cBhvr>
                                      <p:to>
                                        <p:strVal val="visible"/>
                                      </p:to>
                                    </p:set>
                                    <p:anim calcmode="lin" valueType="num">
                                      <p:cBhvr additive="base">
                                        <p:cTn id="132" dur="500" fill="hold"/>
                                        <p:tgtEl>
                                          <p:spTgt spid="678945"/>
                                        </p:tgtEl>
                                        <p:attrNameLst>
                                          <p:attrName>ppt_x</p:attrName>
                                        </p:attrNameLst>
                                      </p:cBhvr>
                                      <p:tavLst>
                                        <p:tav tm="0">
                                          <p:val>
                                            <p:strVal val="1+#ppt_w/2"/>
                                          </p:val>
                                        </p:tav>
                                        <p:tav tm="100000">
                                          <p:val>
                                            <p:strVal val="#ppt_x"/>
                                          </p:val>
                                        </p:tav>
                                      </p:tavLst>
                                    </p:anim>
                                    <p:anim calcmode="lin" valueType="num">
                                      <p:cBhvr additive="base">
                                        <p:cTn id="133" dur="500" fill="hold"/>
                                        <p:tgtEl>
                                          <p:spTgt spid="6789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29" grpId="0" autoUpdateAnimBg="0"/>
      <p:bldP spid="678930" grpId="0" autoUpdateAnimBg="0"/>
      <p:bldP spid="678932" grpId="0" animBg="1"/>
      <p:bldP spid="678933" grpId="0" animBg="1"/>
      <p:bldP spid="678934" grpId="0" autoUpdateAnimBg="0"/>
      <p:bldP spid="678935" grpId="0" autoUpdateAnimBg="0"/>
      <p:bldP spid="678936" grpId="0" autoUpdateAnimBg="0"/>
      <p:bldP spid="678938" grpId="0" autoUpdateAnimBg="0"/>
      <p:bldP spid="678939" grpId="0" autoUpdateAnimBg="0"/>
      <p:bldP spid="678940" grpId="0" autoUpdateAnimBg="0"/>
      <p:bldP spid="678958" grpId="0" build="p" autoUpdateAnimBg="0"/>
      <p:bldP spid="678959" grpId="0" autoUpdateAnimBg="0"/>
      <p:bldP spid="678960" grpId="0" autoUpdateAnimBg="0"/>
      <p:bldP spid="678961" grpId="0" autoUpdateAnimBg="0"/>
      <p:bldP spid="678962" grpId="0"/>
      <p:bldP spid="678963" grpId="0" build="p" autoUpdateAnimBg="0"/>
      <p:bldP spid="678964" grpId="0" build="p" autoUpdateAnimBg="0"/>
      <p:bldP spid="678965" grpId="0" build="p" autoUpdateAnimBg="0"/>
      <p:bldP spid="678966" grpId="0" build="p" autoUpdateAnimBg="0"/>
      <p:bldP spid="678967"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a:extLst>
              <a:ext uri="{FF2B5EF4-FFF2-40B4-BE49-F238E27FC236}">
                <a16:creationId xmlns:a16="http://schemas.microsoft.com/office/drawing/2014/main" id="{620C2469-F595-D305-1AED-931A3426D5CD}"/>
              </a:ext>
            </a:extLst>
          </p:cNvPr>
          <p:cNvSpPr>
            <a:spLocks noChangeArrowheads="1"/>
          </p:cNvSpPr>
          <p:nvPr/>
        </p:nvSpPr>
        <p:spPr bwMode="auto">
          <a:xfrm>
            <a:off x="738188" y="457200"/>
            <a:ext cx="2989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(2) </a:t>
            </a:r>
            <a:r>
              <a:rPr lang="en-US" altLang="zh-CN" i="1">
                <a:solidFill>
                  <a:srgbClr val="66FFFF"/>
                </a:solidFill>
                <a:latin typeface="Times New Roman" panose="02020603050405020304" pitchFamily="18" charset="0"/>
                <a:ea typeface="宋体" panose="02010600030101010101" pitchFamily="2" charset="-122"/>
              </a:rPr>
              <a:t>J</a:t>
            </a:r>
            <a:r>
              <a:rPr lang="en-US" altLang="zh-CN">
                <a:solidFill>
                  <a:srgbClr val="66FFFF"/>
                </a:solidFill>
                <a:latin typeface="Times New Roman" panose="02020603050405020304" pitchFamily="18" charset="0"/>
                <a:ea typeface="宋体" panose="02010600030101010101" pitchFamily="2" charset="-122"/>
              </a:rPr>
              <a:t> </a:t>
            </a:r>
            <a:r>
              <a:rPr lang="zh-CN" altLang="en-US">
                <a:solidFill>
                  <a:srgbClr val="66FFFF"/>
                </a:solidFill>
                <a:latin typeface="Times New Roman" panose="02020603050405020304" pitchFamily="18" charset="0"/>
                <a:ea typeface="宋体" panose="02010600030101010101" pitchFamily="2" charset="-122"/>
              </a:rPr>
              <a:t>与质量分布有关</a:t>
            </a:r>
          </a:p>
        </p:txBody>
      </p:sp>
      <p:sp>
        <p:nvSpPr>
          <p:cNvPr id="679939" name="Rectangle 3">
            <a:extLst>
              <a:ext uri="{FF2B5EF4-FFF2-40B4-BE49-F238E27FC236}">
                <a16:creationId xmlns:a16="http://schemas.microsoft.com/office/drawing/2014/main" id="{639EB62F-9CAB-68A5-4316-B8F886539A3E}"/>
              </a:ext>
            </a:extLst>
          </p:cNvPr>
          <p:cNvSpPr>
            <a:spLocks noChangeArrowheads="1"/>
          </p:cNvSpPr>
          <p:nvPr/>
        </p:nvSpPr>
        <p:spPr bwMode="auto">
          <a:xfrm>
            <a:off x="730250" y="1066800"/>
            <a:ext cx="4778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例如</a:t>
            </a:r>
            <a:r>
              <a:rPr lang="zh-CN" altLang="en-US">
                <a:latin typeface="Times New Roman" panose="02020603050405020304" pitchFamily="18" charset="0"/>
                <a:ea typeface="宋体" panose="02010600030101010101" pitchFamily="2" charset="-122"/>
              </a:rPr>
              <a:t>圆环绕中心轴旋转的转动惯量</a:t>
            </a:r>
          </a:p>
        </p:txBody>
      </p:sp>
      <p:sp>
        <p:nvSpPr>
          <p:cNvPr id="679940" name="Rectangle 4">
            <a:extLst>
              <a:ext uri="{FF2B5EF4-FFF2-40B4-BE49-F238E27FC236}">
                <a16:creationId xmlns:a16="http://schemas.microsoft.com/office/drawing/2014/main" id="{D3CDDABC-EC98-8292-5017-A9F9944AF327}"/>
              </a:ext>
            </a:extLst>
          </p:cNvPr>
          <p:cNvSpPr>
            <a:spLocks noChangeArrowheads="1"/>
          </p:cNvSpPr>
          <p:nvPr/>
        </p:nvSpPr>
        <p:spPr bwMode="auto">
          <a:xfrm>
            <a:off x="730250" y="3141663"/>
            <a:ext cx="477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例如</a:t>
            </a:r>
            <a:r>
              <a:rPr lang="zh-CN" altLang="en-US">
                <a:latin typeface="Times New Roman" panose="02020603050405020304" pitchFamily="18" charset="0"/>
                <a:ea typeface="宋体" panose="02010600030101010101" pitchFamily="2" charset="-122"/>
              </a:rPr>
              <a:t>圆盘绕中心轴旋转的转动惯量</a:t>
            </a:r>
          </a:p>
        </p:txBody>
      </p:sp>
      <p:sp>
        <p:nvSpPr>
          <p:cNvPr id="679941" name="Oval 5">
            <a:extLst>
              <a:ext uri="{FF2B5EF4-FFF2-40B4-BE49-F238E27FC236}">
                <a16:creationId xmlns:a16="http://schemas.microsoft.com/office/drawing/2014/main" id="{961DC165-377B-FE1A-703A-EF2E596A3286}"/>
              </a:ext>
            </a:extLst>
          </p:cNvPr>
          <p:cNvSpPr>
            <a:spLocks noChangeArrowheads="1"/>
          </p:cNvSpPr>
          <p:nvPr/>
        </p:nvSpPr>
        <p:spPr bwMode="auto">
          <a:xfrm>
            <a:off x="6477000" y="762000"/>
            <a:ext cx="1219200" cy="2209800"/>
          </a:xfrm>
          <a:prstGeom prst="ellipse">
            <a:avLst/>
          </a:prstGeom>
          <a:noFill/>
          <a:ln w="381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42" name="Line 6">
            <a:extLst>
              <a:ext uri="{FF2B5EF4-FFF2-40B4-BE49-F238E27FC236}">
                <a16:creationId xmlns:a16="http://schemas.microsoft.com/office/drawing/2014/main" id="{98972C51-F571-822D-3BFD-F3F234C6EF9E}"/>
              </a:ext>
            </a:extLst>
          </p:cNvPr>
          <p:cNvSpPr>
            <a:spLocks noChangeShapeType="1"/>
          </p:cNvSpPr>
          <p:nvPr/>
        </p:nvSpPr>
        <p:spPr bwMode="auto">
          <a:xfrm>
            <a:off x="7086600" y="1905000"/>
            <a:ext cx="1676400" cy="0"/>
          </a:xfrm>
          <a:prstGeom prst="line">
            <a:avLst/>
          </a:prstGeom>
          <a:noFill/>
          <a:ln w="3810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43" name="Line 7">
            <a:extLst>
              <a:ext uri="{FF2B5EF4-FFF2-40B4-BE49-F238E27FC236}">
                <a16:creationId xmlns:a16="http://schemas.microsoft.com/office/drawing/2014/main" id="{78F48D79-AD20-DFEF-A009-BC1982750BFF}"/>
              </a:ext>
            </a:extLst>
          </p:cNvPr>
          <p:cNvSpPr>
            <a:spLocks noChangeShapeType="1"/>
          </p:cNvSpPr>
          <p:nvPr/>
        </p:nvSpPr>
        <p:spPr bwMode="auto">
          <a:xfrm>
            <a:off x="5691188" y="1905000"/>
            <a:ext cx="762000"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44" name="Line 8">
            <a:extLst>
              <a:ext uri="{FF2B5EF4-FFF2-40B4-BE49-F238E27FC236}">
                <a16:creationId xmlns:a16="http://schemas.microsoft.com/office/drawing/2014/main" id="{A36529CE-3B96-B7AC-FDA7-B3DA648631BF}"/>
              </a:ext>
            </a:extLst>
          </p:cNvPr>
          <p:cNvSpPr>
            <a:spLocks noChangeShapeType="1"/>
          </p:cNvSpPr>
          <p:nvPr/>
        </p:nvSpPr>
        <p:spPr bwMode="auto">
          <a:xfrm flipV="1">
            <a:off x="7086600" y="990600"/>
            <a:ext cx="381000" cy="914400"/>
          </a:xfrm>
          <a:prstGeom prst="line">
            <a:avLst/>
          </a:prstGeom>
          <a:noFill/>
          <a:ln w="38100">
            <a:solidFill>
              <a:schemeClr val="bg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45" name="Arc 9">
            <a:extLst>
              <a:ext uri="{FF2B5EF4-FFF2-40B4-BE49-F238E27FC236}">
                <a16:creationId xmlns:a16="http://schemas.microsoft.com/office/drawing/2014/main" id="{B5644291-81B8-21CB-6FEC-455338B5C95B}"/>
              </a:ext>
            </a:extLst>
          </p:cNvPr>
          <p:cNvSpPr>
            <a:spLocks/>
          </p:cNvSpPr>
          <p:nvPr/>
        </p:nvSpPr>
        <p:spPr bwMode="auto">
          <a:xfrm rot="20854116" flipH="1">
            <a:off x="6735763" y="803275"/>
            <a:ext cx="392112" cy="571500"/>
          </a:xfrm>
          <a:custGeom>
            <a:avLst/>
            <a:gdLst>
              <a:gd name="G0" fmla="+- 0 0 0"/>
              <a:gd name="G1" fmla="+- 21070 0 0"/>
              <a:gd name="G2" fmla="+- 21600 0 0"/>
              <a:gd name="T0" fmla="*/ 4757 w 14853"/>
              <a:gd name="T1" fmla="*/ 0 h 21070"/>
              <a:gd name="T2" fmla="*/ 14853 w 14853"/>
              <a:gd name="T3" fmla="*/ 5387 h 21070"/>
              <a:gd name="T4" fmla="*/ 0 w 14853"/>
              <a:gd name="T5" fmla="*/ 21070 h 21070"/>
            </a:gdLst>
            <a:ahLst/>
            <a:cxnLst>
              <a:cxn ang="0">
                <a:pos x="T0" y="T1"/>
              </a:cxn>
              <a:cxn ang="0">
                <a:pos x="T2" y="T3"/>
              </a:cxn>
              <a:cxn ang="0">
                <a:pos x="T4" y="T5"/>
              </a:cxn>
            </a:cxnLst>
            <a:rect l="0" t="0" r="r" b="b"/>
            <a:pathLst>
              <a:path w="14853" h="21070" fill="none" extrusionOk="0">
                <a:moveTo>
                  <a:pt x="4756" y="0"/>
                </a:moveTo>
                <a:cubicBezTo>
                  <a:pt x="8545" y="855"/>
                  <a:pt x="12033" y="2716"/>
                  <a:pt x="14852" y="5387"/>
                </a:cubicBezTo>
              </a:path>
              <a:path w="14853" h="21070" stroke="0" extrusionOk="0">
                <a:moveTo>
                  <a:pt x="4756" y="0"/>
                </a:moveTo>
                <a:cubicBezTo>
                  <a:pt x="8545" y="855"/>
                  <a:pt x="12033" y="2716"/>
                  <a:pt x="14852" y="5387"/>
                </a:cubicBezTo>
                <a:lnTo>
                  <a:pt x="0" y="21070"/>
                </a:lnTo>
                <a:close/>
              </a:path>
            </a:pathLst>
          </a:custGeom>
          <a:noFill/>
          <a:ln w="381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46" name="Text Box 10">
            <a:extLst>
              <a:ext uri="{FF2B5EF4-FFF2-40B4-BE49-F238E27FC236}">
                <a16:creationId xmlns:a16="http://schemas.microsoft.com/office/drawing/2014/main" id="{875C97D5-AD43-426E-1F5E-FE1786D62FC2}"/>
              </a:ext>
            </a:extLst>
          </p:cNvPr>
          <p:cNvSpPr txBox="1">
            <a:spLocks noChangeArrowheads="1"/>
          </p:cNvSpPr>
          <p:nvPr/>
        </p:nvSpPr>
        <p:spPr bwMode="auto">
          <a:xfrm>
            <a:off x="6410325" y="4762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d</a:t>
            </a:r>
            <a:r>
              <a:rPr lang="en-US" altLang="zh-CN" b="0" i="1">
                <a:solidFill>
                  <a:srgbClr val="FFFF00"/>
                </a:solidFill>
                <a:latin typeface="Times New Roman" panose="02020603050405020304" pitchFamily="18" charset="0"/>
                <a:ea typeface="宋体" panose="02010600030101010101" pitchFamily="2" charset="-122"/>
              </a:rPr>
              <a:t>l</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9947" name="Text Box 11">
            <a:extLst>
              <a:ext uri="{FF2B5EF4-FFF2-40B4-BE49-F238E27FC236}">
                <a16:creationId xmlns:a16="http://schemas.microsoft.com/office/drawing/2014/main" id="{1D3312FB-3C36-0578-B135-F50DE507BBF3}"/>
              </a:ext>
            </a:extLst>
          </p:cNvPr>
          <p:cNvSpPr txBox="1">
            <a:spLocks noChangeArrowheads="1"/>
          </p:cNvSpPr>
          <p:nvPr/>
        </p:nvSpPr>
        <p:spPr bwMode="auto">
          <a:xfrm>
            <a:off x="6804025" y="1819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679948" name="Object 2">
            <a:extLst>
              <a:ext uri="{FF2B5EF4-FFF2-40B4-BE49-F238E27FC236}">
                <a16:creationId xmlns:a16="http://schemas.microsoft.com/office/drawing/2014/main" id="{BADDD7B1-9128-EBD7-A097-F4C98D7B57EF}"/>
              </a:ext>
            </a:extLst>
          </p:cNvPr>
          <p:cNvGraphicFramePr>
            <a:graphicFrameLocks/>
          </p:cNvGraphicFramePr>
          <p:nvPr/>
        </p:nvGraphicFramePr>
        <p:xfrm>
          <a:off x="1076325" y="1692275"/>
          <a:ext cx="2708275" cy="538163"/>
        </p:xfrm>
        <a:graphic>
          <a:graphicData uri="http://schemas.openxmlformats.org/presentationml/2006/ole">
            <mc:AlternateContent xmlns:mc="http://schemas.openxmlformats.org/markup-compatibility/2006">
              <mc:Choice xmlns:v="urn:schemas-microsoft-com:vml" Requires="v">
                <p:oleObj name="公式" r:id="rId2" imgW="3002218" imgH="586546" progId="Equation.3">
                  <p:embed/>
                </p:oleObj>
              </mc:Choice>
              <mc:Fallback>
                <p:oleObj name="公式" r:id="rId2" imgW="3002218" imgH="586546"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325" y="1692275"/>
                        <a:ext cx="27082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9949" name="Object 3">
            <a:extLst>
              <a:ext uri="{FF2B5EF4-FFF2-40B4-BE49-F238E27FC236}">
                <a16:creationId xmlns:a16="http://schemas.microsoft.com/office/drawing/2014/main" id="{6DC8C79C-8BD6-19A2-6596-6CA03F0E79CC}"/>
              </a:ext>
            </a:extLst>
          </p:cNvPr>
          <p:cNvGraphicFramePr>
            <a:graphicFrameLocks/>
          </p:cNvGraphicFramePr>
          <p:nvPr/>
        </p:nvGraphicFramePr>
        <p:xfrm>
          <a:off x="1331913" y="2427288"/>
          <a:ext cx="3473450" cy="650875"/>
        </p:xfrm>
        <a:graphic>
          <a:graphicData uri="http://schemas.openxmlformats.org/presentationml/2006/ole">
            <mc:AlternateContent xmlns:mc="http://schemas.openxmlformats.org/markup-compatibility/2006">
              <mc:Choice xmlns:v="urn:schemas-microsoft-com:vml" Requires="v">
                <p:oleObj name="公式" r:id="rId4" imgW="3855658" imgH="716225" progId="Equation.3">
                  <p:embed/>
                </p:oleObj>
              </mc:Choice>
              <mc:Fallback>
                <p:oleObj name="公式" r:id="rId4" imgW="3855658" imgH="716225"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427288"/>
                        <a:ext cx="3473450"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9950" name="Text Box 14">
            <a:extLst>
              <a:ext uri="{FF2B5EF4-FFF2-40B4-BE49-F238E27FC236}">
                <a16:creationId xmlns:a16="http://schemas.microsoft.com/office/drawing/2014/main" id="{2FD85696-2636-6C26-0010-3BE762CFF7EB}"/>
              </a:ext>
            </a:extLst>
          </p:cNvPr>
          <p:cNvSpPr txBox="1">
            <a:spLocks noChangeArrowheads="1"/>
          </p:cNvSpPr>
          <p:nvPr/>
        </p:nvSpPr>
        <p:spPr bwMode="auto">
          <a:xfrm>
            <a:off x="7543800" y="838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679951" name="Object 4">
            <a:extLst>
              <a:ext uri="{FF2B5EF4-FFF2-40B4-BE49-F238E27FC236}">
                <a16:creationId xmlns:a16="http://schemas.microsoft.com/office/drawing/2014/main" id="{D1B79937-010F-A17C-B981-F8E2C9619D15}"/>
              </a:ext>
            </a:extLst>
          </p:cNvPr>
          <p:cNvGraphicFramePr>
            <a:graphicFrameLocks noChangeAspect="1"/>
          </p:cNvGraphicFramePr>
          <p:nvPr/>
        </p:nvGraphicFramePr>
        <p:xfrm>
          <a:off x="2795588" y="3983038"/>
          <a:ext cx="263525" cy="500062"/>
        </p:xfrm>
        <a:graphic>
          <a:graphicData uri="http://schemas.openxmlformats.org/presentationml/2006/ole">
            <mc:AlternateContent xmlns:mc="http://schemas.openxmlformats.org/markup-compatibility/2006">
              <mc:Choice xmlns:v="urn:schemas-microsoft-com:vml" Requires="v">
                <p:oleObj name="Equation" r:id="rId6" imgW="106493" imgH="205989" progId="Equation.3">
                  <p:embed/>
                </p:oleObj>
              </mc:Choice>
              <mc:Fallback>
                <p:oleObj name="Equation" r:id="rId6" imgW="106493" imgH="205989"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5588" y="3983038"/>
                        <a:ext cx="263525" cy="500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9952" name="Oval 16">
            <a:extLst>
              <a:ext uri="{FF2B5EF4-FFF2-40B4-BE49-F238E27FC236}">
                <a16:creationId xmlns:a16="http://schemas.microsoft.com/office/drawing/2014/main" id="{259B0C6F-5C0D-434C-5391-0E84FEAEB97C}"/>
              </a:ext>
            </a:extLst>
          </p:cNvPr>
          <p:cNvSpPr>
            <a:spLocks noChangeArrowheads="1"/>
          </p:cNvSpPr>
          <p:nvPr/>
        </p:nvSpPr>
        <p:spPr bwMode="auto">
          <a:xfrm>
            <a:off x="6629400" y="3721100"/>
            <a:ext cx="1219200" cy="2209800"/>
          </a:xfrm>
          <a:prstGeom prst="ellipse">
            <a:avLst/>
          </a:prstGeom>
          <a:solidFill>
            <a:srgbClr val="FFCC99"/>
          </a:solidFill>
          <a:ln>
            <a:noFill/>
          </a:ln>
          <a:extLst>
            <a:ext uri="{91240B29-F687-4F45-9708-019B960494DF}">
              <a14:hiddenLine xmlns:a14="http://schemas.microsoft.com/office/drawing/2010/main" w="22225">
                <a:solidFill>
                  <a:srgbClr val="000000"/>
                </a:solidFill>
                <a:round/>
                <a:headEnd/>
                <a:tailEnd/>
              </a14:hiddenLine>
            </a:ext>
          </a:extLst>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a:solidFill>
                <a:schemeClr val="tx1"/>
              </a:solidFill>
              <a:latin typeface="Times New Roman" panose="02020603050405020304" pitchFamily="18" charset="0"/>
              <a:ea typeface="宋体" panose="02010600030101010101" pitchFamily="2" charset="-122"/>
            </a:endParaRPr>
          </a:p>
        </p:txBody>
      </p:sp>
      <p:sp>
        <p:nvSpPr>
          <p:cNvPr id="679953" name="Line 17">
            <a:extLst>
              <a:ext uri="{FF2B5EF4-FFF2-40B4-BE49-F238E27FC236}">
                <a16:creationId xmlns:a16="http://schemas.microsoft.com/office/drawing/2014/main" id="{2CF6BFFF-7672-CF53-41BB-8DA290390597}"/>
              </a:ext>
            </a:extLst>
          </p:cNvPr>
          <p:cNvSpPr>
            <a:spLocks noChangeShapeType="1"/>
          </p:cNvSpPr>
          <p:nvPr/>
        </p:nvSpPr>
        <p:spPr bwMode="auto">
          <a:xfrm>
            <a:off x="5867400" y="4864100"/>
            <a:ext cx="762000"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54" name="Text Box 18">
            <a:extLst>
              <a:ext uri="{FF2B5EF4-FFF2-40B4-BE49-F238E27FC236}">
                <a16:creationId xmlns:a16="http://schemas.microsoft.com/office/drawing/2014/main" id="{20EAB706-8E90-52F2-0247-79254C23131A}"/>
              </a:ext>
            </a:extLst>
          </p:cNvPr>
          <p:cNvSpPr txBox="1">
            <a:spLocks noChangeArrowheads="1"/>
          </p:cNvSpPr>
          <p:nvPr/>
        </p:nvSpPr>
        <p:spPr bwMode="auto">
          <a:xfrm>
            <a:off x="7086600" y="36449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2"/>
                </a:solidFill>
                <a:latin typeface="Times New Roman" panose="02020603050405020304" pitchFamily="18" charset="0"/>
                <a:ea typeface="宋体" panose="02010600030101010101" pitchFamily="2" charset="-122"/>
              </a:rPr>
              <a:t>R</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9955" name="Text Box 19">
            <a:extLst>
              <a:ext uri="{FF2B5EF4-FFF2-40B4-BE49-F238E27FC236}">
                <a16:creationId xmlns:a16="http://schemas.microsoft.com/office/drawing/2014/main" id="{8FB64556-6309-AD9C-25A4-9453D559D0B0}"/>
              </a:ext>
            </a:extLst>
          </p:cNvPr>
          <p:cNvSpPr txBox="1">
            <a:spLocks noChangeArrowheads="1"/>
          </p:cNvSpPr>
          <p:nvPr/>
        </p:nvSpPr>
        <p:spPr bwMode="auto">
          <a:xfrm>
            <a:off x="7092950" y="477202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2"/>
                </a:solidFill>
                <a:latin typeface="Times New Roman" panose="02020603050405020304" pitchFamily="18" charset="0"/>
                <a:ea typeface="宋体" panose="02010600030101010101" pitchFamily="2" charset="-122"/>
              </a:rPr>
              <a:t>O</a:t>
            </a:r>
          </a:p>
        </p:txBody>
      </p:sp>
      <p:sp>
        <p:nvSpPr>
          <p:cNvPr id="679956" name="Text Box 20">
            <a:extLst>
              <a:ext uri="{FF2B5EF4-FFF2-40B4-BE49-F238E27FC236}">
                <a16:creationId xmlns:a16="http://schemas.microsoft.com/office/drawing/2014/main" id="{0161D055-573A-48B3-B86C-2153D52E1AF9}"/>
              </a:ext>
            </a:extLst>
          </p:cNvPr>
          <p:cNvSpPr txBox="1">
            <a:spLocks noChangeArrowheads="1"/>
          </p:cNvSpPr>
          <p:nvPr/>
        </p:nvSpPr>
        <p:spPr bwMode="auto">
          <a:xfrm>
            <a:off x="7696200" y="37973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9957" name="AutoShape 21">
            <a:extLst>
              <a:ext uri="{FF2B5EF4-FFF2-40B4-BE49-F238E27FC236}">
                <a16:creationId xmlns:a16="http://schemas.microsoft.com/office/drawing/2014/main" id="{72CCACD6-4421-151B-BC52-D5B92DF4B212}"/>
              </a:ext>
            </a:extLst>
          </p:cNvPr>
          <p:cNvSpPr>
            <a:spLocks noChangeArrowheads="1"/>
          </p:cNvSpPr>
          <p:nvPr/>
        </p:nvSpPr>
        <p:spPr bwMode="auto">
          <a:xfrm>
            <a:off x="6934200" y="4102100"/>
            <a:ext cx="685800" cy="1524000"/>
          </a:xfrm>
          <a:custGeom>
            <a:avLst/>
            <a:gdLst>
              <a:gd name="G0" fmla="+- 3793 0 0"/>
              <a:gd name="G1" fmla="+- 21600 0 3793"/>
              <a:gd name="G2" fmla="+- 21600 0 3793"/>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93" y="10800"/>
                </a:moveTo>
                <a:cubicBezTo>
                  <a:pt x="3793" y="14670"/>
                  <a:pt x="6930" y="17807"/>
                  <a:pt x="10800" y="17807"/>
                </a:cubicBezTo>
                <a:cubicBezTo>
                  <a:pt x="14670" y="17807"/>
                  <a:pt x="17807" y="14670"/>
                  <a:pt x="17807" y="10800"/>
                </a:cubicBezTo>
                <a:cubicBezTo>
                  <a:pt x="17807" y="6930"/>
                  <a:pt x="14670" y="3793"/>
                  <a:pt x="10800" y="3793"/>
                </a:cubicBezTo>
                <a:cubicBezTo>
                  <a:pt x="6930" y="3793"/>
                  <a:pt x="3793" y="6930"/>
                  <a:pt x="3793" y="10800"/>
                </a:cubicBezTo>
                <a:close/>
              </a:path>
            </a:pathLst>
          </a:custGeom>
          <a:solidFill>
            <a:srgbClr val="FF3300"/>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58" name="Line 22">
            <a:extLst>
              <a:ext uri="{FF2B5EF4-FFF2-40B4-BE49-F238E27FC236}">
                <a16:creationId xmlns:a16="http://schemas.microsoft.com/office/drawing/2014/main" id="{3EF8FD5D-F1E7-E59D-5F1E-1C166A17DC62}"/>
              </a:ext>
            </a:extLst>
          </p:cNvPr>
          <p:cNvSpPr>
            <a:spLocks noChangeShapeType="1"/>
          </p:cNvSpPr>
          <p:nvPr/>
        </p:nvSpPr>
        <p:spPr bwMode="auto">
          <a:xfrm flipV="1">
            <a:off x="7239000" y="3873500"/>
            <a:ext cx="304800" cy="990600"/>
          </a:xfrm>
          <a:prstGeom prst="line">
            <a:avLst/>
          </a:prstGeom>
          <a:noFill/>
          <a:ln w="25400">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59" name="Line 23">
            <a:extLst>
              <a:ext uri="{FF2B5EF4-FFF2-40B4-BE49-F238E27FC236}">
                <a16:creationId xmlns:a16="http://schemas.microsoft.com/office/drawing/2014/main" id="{C48D971A-166C-A1C7-6F29-58CF284B5A9E}"/>
              </a:ext>
            </a:extLst>
          </p:cNvPr>
          <p:cNvSpPr>
            <a:spLocks noChangeShapeType="1"/>
          </p:cNvSpPr>
          <p:nvPr/>
        </p:nvSpPr>
        <p:spPr bwMode="auto">
          <a:xfrm flipH="1" flipV="1">
            <a:off x="7164388" y="4437063"/>
            <a:ext cx="74612" cy="427037"/>
          </a:xfrm>
          <a:prstGeom prst="line">
            <a:avLst/>
          </a:prstGeom>
          <a:noFill/>
          <a:ln w="222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60" name="Text Box 24">
            <a:extLst>
              <a:ext uri="{FF2B5EF4-FFF2-40B4-BE49-F238E27FC236}">
                <a16:creationId xmlns:a16="http://schemas.microsoft.com/office/drawing/2014/main" id="{1E09BFFB-6916-6DC0-9855-7C9ACC96C1C5}"/>
              </a:ext>
            </a:extLst>
          </p:cNvPr>
          <p:cNvSpPr txBox="1">
            <a:spLocks noChangeArrowheads="1"/>
          </p:cNvSpPr>
          <p:nvPr/>
        </p:nvSpPr>
        <p:spPr bwMode="auto">
          <a:xfrm>
            <a:off x="6986588" y="45085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2"/>
                </a:solidFill>
                <a:latin typeface="Times New Roman" panose="02020603050405020304" pitchFamily="18" charset="0"/>
                <a:ea typeface="宋体" panose="02010600030101010101" pitchFamily="2" charset="-122"/>
              </a:rPr>
              <a:t>r</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9961" name="Text Box 25">
            <a:extLst>
              <a:ext uri="{FF2B5EF4-FFF2-40B4-BE49-F238E27FC236}">
                <a16:creationId xmlns:a16="http://schemas.microsoft.com/office/drawing/2014/main" id="{A74C4EC9-3DE9-00B9-C4DE-467FCC4A5157}"/>
              </a:ext>
            </a:extLst>
          </p:cNvPr>
          <p:cNvSpPr txBox="1">
            <a:spLocks noChangeArrowheads="1"/>
          </p:cNvSpPr>
          <p:nvPr/>
        </p:nvSpPr>
        <p:spPr bwMode="auto">
          <a:xfrm>
            <a:off x="6629400" y="40259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a:solidFill>
                  <a:schemeClr val="tx2"/>
                </a:solidFill>
                <a:latin typeface="Times New Roman" panose="02020603050405020304" pitchFamily="18" charset="0"/>
                <a:ea typeface="宋体" panose="02010600030101010101" pitchFamily="2" charset="-122"/>
              </a:rPr>
              <a:t>d</a:t>
            </a:r>
            <a:r>
              <a:rPr lang="en-US" altLang="zh-CN" b="0" i="1">
                <a:solidFill>
                  <a:schemeClr val="tx2"/>
                </a:solidFill>
                <a:latin typeface="Times New Roman" panose="02020603050405020304" pitchFamily="18" charset="0"/>
                <a:ea typeface="宋体" panose="02010600030101010101" pitchFamily="2" charset="-122"/>
              </a:rPr>
              <a:t>r</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679962" name="Object 5">
            <a:extLst>
              <a:ext uri="{FF2B5EF4-FFF2-40B4-BE49-F238E27FC236}">
                <a16:creationId xmlns:a16="http://schemas.microsoft.com/office/drawing/2014/main" id="{8EF6D30C-8553-2FE3-66B1-70CDFAC3CD9C}"/>
              </a:ext>
            </a:extLst>
          </p:cNvPr>
          <p:cNvGraphicFramePr>
            <a:graphicFrameLocks/>
          </p:cNvGraphicFramePr>
          <p:nvPr/>
        </p:nvGraphicFramePr>
        <p:xfrm>
          <a:off x="1979613" y="3759200"/>
          <a:ext cx="1450975" cy="285750"/>
        </p:xfrm>
        <a:graphic>
          <a:graphicData uri="http://schemas.openxmlformats.org/presentationml/2006/ole">
            <mc:AlternateContent xmlns:mc="http://schemas.openxmlformats.org/markup-compatibility/2006">
              <mc:Choice xmlns:v="urn:schemas-microsoft-com:vml" Requires="v">
                <p:oleObj name="公式" r:id="rId8" imgW="1607851" imgH="312226" progId="Equation.3">
                  <p:embed/>
                </p:oleObj>
              </mc:Choice>
              <mc:Fallback>
                <p:oleObj name="公式" r:id="rId8" imgW="1607851" imgH="312226"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3759200"/>
                        <a:ext cx="1450975"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9963" name="Line 27">
            <a:extLst>
              <a:ext uri="{FF2B5EF4-FFF2-40B4-BE49-F238E27FC236}">
                <a16:creationId xmlns:a16="http://schemas.microsoft.com/office/drawing/2014/main" id="{A4989103-E3F3-7D78-59B3-94DB9BFE718B}"/>
              </a:ext>
            </a:extLst>
          </p:cNvPr>
          <p:cNvSpPr>
            <a:spLocks noChangeShapeType="1"/>
          </p:cNvSpPr>
          <p:nvPr/>
        </p:nvSpPr>
        <p:spPr bwMode="auto">
          <a:xfrm>
            <a:off x="7239000" y="4864100"/>
            <a:ext cx="1524000"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79964" name="Object 6">
            <a:extLst>
              <a:ext uri="{FF2B5EF4-FFF2-40B4-BE49-F238E27FC236}">
                <a16:creationId xmlns:a16="http://schemas.microsoft.com/office/drawing/2014/main" id="{61E1359E-B8CA-C9FD-0AF2-6A3F4F52D079}"/>
              </a:ext>
            </a:extLst>
          </p:cNvPr>
          <p:cNvGraphicFramePr>
            <a:graphicFrameLocks/>
          </p:cNvGraphicFramePr>
          <p:nvPr/>
        </p:nvGraphicFramePr>
        <p:xfrm>
          <a:off x="889000" y="4440238"/>
          <a:ext cx="1211263" cy="285750"/>
        </p:xfrm>
        <a:graphic>
          <a:graphicData uri="http://schemas.openxmlformats.org/presentationml/2006/ole">
            <mc:AlternateContent xmlns:mc="http://schemas.openxmlformats.org/markup-compatibility/2006">
              <mc:Choice xmlns:v="urn:schemas-microsoft-com:vml" Requires="v">
                <p:oleObj name="公式" r:id="rId10" imgW="1341120" imgH="312226" progId="Equation.3">
                  <p:embed/>
                </p:oleObj>
              </mc:Choice>
              <mc:Fallback>
                <p:oleObj name="公式" r:id="rId10" imgW="1341120" imgH="312226"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9000" y="4440238"/>
                        <a:ext cx="1211263"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9965" name="Object 7">
            <a:extLst>
              <a:ext uri="{FF2B5EF4-FFF2-40B4-BE49-F238E27FC236}">
                <a16:creationId xmlns:a16="http://schemas.microsoft.com/office/drawing/2014/main" id="{F968A644-4828-93AB-E77C-10ED668F15D8}"/>
              </a:ext>
            </a:extLst>
          </p:cNvPr>
          <p:cNvGraphicFramePr>
            <a:graphicFrameLocks/>
          </p:cNvGraphicFramePr>
          <p:nvPr/>
        </p:nvGraphicFramePr>
        <p:xfrm>
          <a:off x="889000" y="5232400"/>
          <a:ext cx="4148138" cy="742950"/>
        </p:xfrm>
        <a:graphic>
          <a:graphicData uri="http://schemas.openxmlformats.org/presentationml/2006/ole">
            <mc:AlternateContent xmlns:mc="http://schemas.openxmlformats.org/markup-compatibility/2006">
              <mc:Choice xmlns:v="urn:schemas-microsoft-com:vml" Requires="v">
                <p:oleObj name="公式" r:id="rId12" imgW="4602604" imgH="815479" progId="Equation.3">
                  <p:embed/>
                </p:oleObj>
              </mc:Choice>
              <mc:Fallback>
                <p:oleObj name="公式" r:id="rId12" imgW="4602604" imgH="815479"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9000" y="5232400"/>
                        <a:ext cx="4148138"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9966" name="Object 8">
            <a:extLst>
              <a:ext uri="{FF2B5EF4-FFF2-40B4-BE49-F238E27FC236}">
                <a16:creationId xmlns:a16="http://schemas.microsoft.com/office/drawing/2014/main" id="{C5775D5C-8C51-FF91-D423-8CDE2E1E49EF}"/>
              </a:ext>
            </a:extLst>
          </p:cNvPr>
          <p:cNvGraphicFramePr>
            <a:graphicFrameLocks/>
          </p:cNvGraphicFramePr>
          <p:nvPr/>
        </p:nvGraphicFramePr>
        <p:xfrm>
          <a:off x="2306638" y="4186238"/>
          <a:ext cx="2913062" cy="742950"/>
        </p:xfrm>
        <a:graphic>
          <a:graphicData uri="http://schemas.openxmlformats.org/presentationml/2006/ole">
            <mc:AlternateContent xmlns:mc="http://schemas.openxmlformats.org/markup-compatibility/2006">
              <mc:Choice xmlns:v="urn:schemas-microsoft-com:vml" Requires="v">
                <p:oleObj name="公式" r:id="rId14" imgW="3231129" imgH="815479" progId="Equation.3">
                  <p:embed/>
                </p:oleObj>
              </mc:Choice>
              <mc:Fallback>
                <p:oleObj name="公式" r:id="rId14" imgW="3231129" imgH="815479"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6638" y="4186238"/>
                        <a:ext cx="291306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9967" name="Text Box 31">
            <a:extLst>
              <a:ext uri="{FF2B5EF4-FFF2-40B4-BE49-F238E27FC236}">
                <a16:creationId xmlns:a16="http://schemas.microsoft.com/office/drawing/2014/main" id="{120625E6-88E0-0A7D-3C9C-0A406ACB0579}"/>
              </a:ext>
            </a:extLst>
          </p:cNvPr>
          <p:cNvSpPr txBox="1">
            <a:spLocks noChangeArrowheads="1"/>
          </p:cNvSpPr>
          <p:nvPr/>
        </p:nvSpPr>
        <p:spPr bwMode="auto">
          <a:xfrm>
            <a:off x="6910388" y="1143000"/>
            <a:ext cx="68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R</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79968" name="AutoShape 32">
            <a:extLst>
              <a:ext uri="{FF2B5EF4-FFF2-40B4-BE49-F238E27FC236}">
                <a16:creationId xmlns:a16="http://schemas.microsoft.com/office/drawing/2014/main" id="{DCA08D20-ACC2-833B-D1F2-42A0B157971F}"/>
              </a:ext>
            </a:extLst>
          </p:cNvPr>
          <p:cNvSpPr>
            <a:spLocks noChangeArrowheads="1"/>
          </p:cNvSpPr>
          <p:nvPr/>
        </p:nvSpPr>
        <p:spPr bwMode="auto">
          <a:xfrm>
            <a:off x="1763713" y="3743325"/>
            <a:ext cx="2057400" cy="381000"/>
          </a:xfrm>
          <a:prstGeom prst="wedgeRoundRectCallout">
            <a:avLst>
              <a:gd name="adj1" fmla="val -36727"/>
              <a:gd name="adj2" fmla="val 138750"/>
              <a:gd name="adj3" fmla="val 16667"/>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b="0">
              <a:solidFill>
                <a:schemeClr val="tx1"/>
              </a:solidFill>
              <a:latin typeface="Times New Roman" panose="02020603050405020304" pitchFamily="18" charset="0"/>
              <a:ea typeface="宋体" panose="02010600030101010101" pitchFamily="2" charset="-122"/>
            </a:endParaRPr>
          </a:p>
        </p:txBody>
      </p:sp>
      <p:sp>
        <p:nvSpPr>
          <p:cNvPr id="679969" name="Arc 33">
            <a:extLst>
              <a:ext uri="{FF2B5EF4-FFF2-40B4-BE49-F238E27FC236}">
                <a16:creationId xmlns:a16="http://schemas.microsoft.com/office/drawing/2014/main" id="{9D494029-0FB4-49AA-A831-15A5F826DD91}"/>
              </a:ext>
            </a:extLst>
          </p:cNvPr>
          <p:cNvSpPr>
            <a:spLocks/>
          </p:cNvSpPr>
          <p:nvPr/>
        </p:nvSpPr>
        <p:spPr bwMode="auto">
          <a:xfrm rot="5334705" flipH="1">
            <a:off x="7755732" y="1791494"/>
            <a:ext cx="471487" cy="219075"/>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70" name="Arc 34">
            <a:extLst>
              <a:ext uri="{FF2B5EF4-FFF2-40B4-BE49-F238E27FC236}">
                <a16:creationId xmlns:a16="http://schemas.microsoft.com/office/drawing/2014/main" id="{85FD12A7-C207-1D41-428A-4B2ED1568161}"/>
              </a:ext>
            </a:extLst>
          </p:cNvPr>
          <p:cNvSpPr>
            <a:spLocks/>
          </p:cNvSpPr>
          <p:nvPr/>
        </p:nvSpPr>
        <p:spPr bwMode="auto">
          <a:xfrm rot="5334705" flipH="1">
            <a:off x="7971632" y="4753769"/>
            <a:ext cx="471487" cy="219075"/>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pic>
        <p:nvPicPr>
          <p:cNvPr id="679971" name="Picture 35" descr="j0293240">
            <a:extLst>
              <a:ext uri="{FF2B5EF4-FFF2-40B4-BE49-F238E27FC236}">
                <a16:creationId xmlns:a16="http://schemas.microsoft.com/office/drawing/2014/main" id="{A5BBB88D-81B3-0319-E639-0921BB1F64C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9972" name="Line 36">
            <a:extLst>
              <a:ext uri="{FF2B5EF4-FFF2-40B4-BE49-F238E27FC236}">
                <a16:creationId xmlns:a16="http://schemas.microsoft.com/office/drawing/2014/main" id="{7248125C-EE05-0665-D35E-855130AD5227}"/>
              </a:ext>
            </a:extLst>
          </p:cNvPr>
          <p:cNvSpPr>
            <a:spLocks noChangeShapeType="1"/>
          </p:cNvSpPr>
          <p:nvPr/>
        </p:nvSpPr>
        <p:spPr bwMode="auto">
          <a:xfrm>
            <a:off x="1476375" y="2276475"/>
            <a:ext cx="1079500" cy="0"/>
          </a:xfrm>
          <a:prstGeom prst="line">
            <a:avLst/>
          </a:prstGeom>
          <a:noFill/>
          <a:ln w="28575">
            <a:solidFill>
              <a:srgbClr val="FF0000"/>
            </a:solidFill>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79973" name="Rectangle 37">
            <a:extLst>
              <a:ext uri="{FF2B5EF4-FFF2-40B4-BE49-F238E27FC236}">
                <a16:creationId xmlns:a16="http://schemas.microsoft.com/office/drawing/2014/main" id="{2DAD5B01-A8BA-A790-2169-AD2005E3129F}"/>
              </a:ext>
            </a:extLst>
          </p:cNvPr>
          <p:cNvSpPr>
            <a:spLocks noChangeArrowheads="1"/>
          </p:cNvSpPr>
          <p:nvPr/>
        </p:nvSpPr>
        <p:spPr bwMode="auto">
          <a:xfrm>
            <a:off x="827088" y="6088063"/>
            <a:ext cx="1712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FF"/>
                </a:solidFill>
                <a:latin typeface="Times New Roman" panose="02020603050405020304" pitchFamily="18" charset="0"/>
                <a:ea typeface="宋体" panose="02010600030101010101" pitchFamily="2" charset="-122"/>
              </a:rPr>
              <a:t>比较：</a:t>
            </a:r>
            <a:r>
              <a:rPr lang="en-US" altLang="zh-CN">
                <a:solidFill>
                  <a:srgbClr val="FFFFFF"/>
                </a:solidFill>
                <a:latin typeface="Times New Roman" panose="02020603050405020304" pitchFamily="18" charset="0"/>
                <a:ea typeface="宋体" panose="0201060003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9938"/>
                                        </p:tgtEl>
                                        <p:attrNameLst>
                                          <p:attrName>style.visibility</p:attrName>
                                        </p:attrNameLst>
                                      </p:cBhvr>
                                      <p:to>
                                        <p:strVal val="visible"/>
                                      </p:to>
                                    </p:set>
                                    <p:animEffect transition="in" filter="wipe(left)">
                                      <p:cBhvr>
                                        <p:cTn id="7" dur="500"/>
                                        <p:tgtEl>
                                          <p:spTgt spid="679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9939"/>
                                        </p:tgtEl>
                                        <p:attrNameLst>
                                          <p:attrName>style.visibility</p:attrName>
                                        </p:attrNameLst>
                                      </p:cBhvr>
                                      <p:to>
                                        <p:strVal val="visible"/>
                                      </p:to>
                                    </p:set>
                                    <p:animEffect transition="in" filter="wipe(left)">
                                      <p:cBhvr>
                                        <p:cTn id="12" dur="500"/>
                                        <p:tgtEl>
                                          <p:spTgt spid="6799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79941"/>
                                        </p:tgtEl>
                                        <p:attrNameLst>
                                          <p:attrName>style.visibility</p:attrName>
                                        </p:attrNameLst>
                                      </p:cBhvr>
                                      <p:to>
                                        <p:strVal val="visible"/>
                                      </p:to>
                                    </p:set>
                                    <p:animEffect transition="in" filter="wipe(left)">
                                      <p:cBhvr>
                                        <p:cTn id="17" dur="500"/>
                                        <p:tgtEl>
                                          <p:spTgt spid="6799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79942"/>
                                        </p:tgtEl>
                                        <p:attrNameLst>
                                          <p:attrName>style.visibility</p:attrName>
                                        </p:attrNameLst>
                                      </p:cBhvr>
                                      <p:to>
                                        <p:strVal val="visible"/>
                                      </p:to>
                                    </p:set>
                                    <p:animEffect transition="in" filter="wipe(left)">
                                      <p:cBhvr>
                                        <p:cTn id="22" dur="500"/>
                                        <p:tgtEl>
                                          <p:spTgt spid="6799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79943"/>
                                        </p:tgtEl>
                                        <p:attrNameLst>
                                          <p:attrName>style.visibility</p:attrName>
                                        </p:attrNameLst>
                                      </p:cBhvr>
                                      <p:to>
                                        <p:strVal val="visible"/>
                                      </p:to>
                                    </p:set>
                                    <p:animEffect transition="in" filter="wipe(left)">
                                      <p:cBhvr>
                                        <p:cTn id="27" dur="500"/>
                                        <p:tgtEl>
                                          <p:spTgt spid="6799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79969"/>
                                        </p:tgtEl>
                                        <p:attrNameLst>
                                          <p:attrName>style.visibility</p:attrName>
                                        </p:attrNameLst>
                                      </p:cBhvr>
                                      <p:to>
                                        <p:strVal val="visible"/>
                                      </p:to>
                                    </p:set>
                                    <p:animEffect transition="in" filter="wipe(up)">
                                      <p:cBhvr>
                                        <p:cTn id="32" dur="500"/>
                                        <p:tgtEl>
                                          <p:spTgt spid="6799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79944"/>
                                        </p:tgtEl>
                                        <p:attrNameLst>
                                          <p:attrName>style.visibility</p:attrName>
                                        </p:attrNameLst>
                                      </p:cBhvr>
                                      <p:to>
                                        <p:strVal val="visible"/>
                                      </p:to>
                                    </p:set>
                                    <p:animEffect transition="in" filter="wipe(left)">
                                      <p:cBhvr>
                                        <p:cTn id="37" dur="500"/>
                                        <p:tgtEl>
                                          <p:spTgt spid="6799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79967"/>
                                        </p:tgtEl>
                                        <p:attrNameLst>
                                          <p:attrName>style.visibility</p:attrName>
                                        </p:attrNameLst>
                                      </p:cBhvr>
                                      <p:to>
                                        <p:strVal val="visible"/>
                                      </p:to>
                                    </p:set>
                                    <p:animEffect transition="in" filter="wipe(left)">
                                      <p:cBhvr>
                                        <p:cTn id="42" dur="500"/>
                                        <p:tgtEl>
                                          <p:spTgt spid="67996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79950"/>
                                        </p:tgtEl>
                                        <p:attrNameLst>
                                          <p:attrName>style.visibility</p:attrName>
                                        </p:attrNameLst>
                                      </p:cBhvr>
                                      <p:to>
                                        <p:strVal val="visible"/>
                                      </p:to>
                                    </p:set>
                                    <p:animEffect transition="in" filter="wipe(left)">
                                      <p:cBhvr>
                                        <p:cTn id="47" dur="500"/>
                                        <p:tgtEl>
                                          <p:spTgt spid="67995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79947"/>
                                        </p:tgtEl>
                                        <p:attrNameLst>
                                          <p:attrName>style.visibility</p:attrName>
                                        </p:attrNameLst>
                                      </p:cBhvr>
                                      <p:to>
                                        <p:strVal val="visible"/>
                                      </p:to>
                                    </p:set>
                                    <p:animEffect transition="in" filter="wipe(left)">
                                      <p:cBhvr>
                                        <p:cTn id="52" dur="500"/>
                                        <p:tgtEl>
                                          <p:spTgt spid="67994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79945"/>
                                        </p:tgtEl>
                                        <p:attrNameLst>
                                          <p:attrName>style.visibility</p:attrName>
                                        </p:attrNameLst>
                                      </p:cBhvr>
                                      <p:to>
                                        <p:strVal val="visible"/>
                                      </p:to>
                                    </p:set>
                                    <p:animEffect transition="in" filter="wipe(left)">
                                      <p:cBhvr>
                                        <p:cTn id="57" dur="500"/>
                                        <p:tgtEl>
                                          <p:spTgt spid="67994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79946"/>
                                        </p:tgtEl>
                                        <p:attrNameLst>
                                          <p:attrName>style.visibility</p:attrName>
                                        </p:attrNameLst>
                                      </p:cBhvr>
                                      <p:to>
                                        <p:strVal val="visible"/>
                                      </p:to>
                                    </p:set>
                                    <p:animEffect transition="in" filter="wipe(left)">
                                      <p:cBhvr>
                                        <p:cTn id="62" dur="500"/>
                                        <p:tgtEl>
                                          <p:spTgt spid="6799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79948"/>
                                        </p:tgtEl>
                                        <p:attrNameLst>
                                          <p:attrName>style.visibility</p:attrName>
                                        </p:attrNameLst>
                                      </p:cBhvr>
                                      <p:to>
                                        <p:strVal val="visible"/>
                                      </p:to>
                                    </p:set>
                                    <p:animEffect transition="in" filter="wipe(left)">
                                      <p:cBhvr>
                                        <p:cTn id="67" dur="500"/>
                                        <p:tgtEl>
                                          <p:spTgt spid="6799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79949"/>
                                        </p:tgtEl>
                                        <p:attrNameLst>
                                          <p:attrName>style.visibility</p:attrName>
                                        </p:attrNameLst>
                                      </p:cBhvr>
                                      <p:to>
                                        <p:strVal val="visible"/>
                                      </p:to>
                                    </p:set>
                                    <p:animEffect transition="in" filter="wipe(left)">
                                      <p:cBhvr>
                                        <p:cTn id="72" dur="500"/>
                                        <p:tgtEl>
                                          <p:spTgt spid="67994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79972"/>
                                        </p:tgtEl>
                                        <p:attrNameLst>
                                          <p:attrName>style.visibility</p:attrName>
                                        </p:attrNameLst>
                                      </p:cBhvr>
                                      <p:to>
                                        <p:strVal val="visible"/>
                                      </p:to>
                                    </p:set>
                                    <p:animEffect transition="in" filter="wipe(left)">
                                      <p:cBhvr>
                                        <p:cTn id="77" dur="500"/>
                                        <p:tgtEl>
                                          <p:spTgt spid="67997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79940"/>
                                        </p:tgtEl>
                                        <p:attrNameLst>
                                          <p:attrName>style.visibility</p:attrName>
                                        </p:attrNameLst>
                                      </p:cBhvr>
                                      <p:to>
                                        <p:strVal val="visible"/>
                                      </p:to>
                                    </p:set>
                                    <p:animEffect transition="in" filter="wipe(left)">
                                      <p:cBhvr>
                                        <p:cTn id="82" dur="500"/>
                                        <p:tgtEl>
                                          <p:spTgt spid="67994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79952"/>
                                        </p:tgtEl>
                                        <p:attrNameLst>
                                          <p:attrName>style.visibility</p:attrName>
                                        </p:attrNameLst>
                                      </p:cBhvr>
                                      <p:to>
                                        <p:strVal val="visible"/>
                                      </p:to>
                                    </p:set>
                                    <p:animEffect transition="in" filter="wipe(left)">
                                      <p:cBhvr>
                                        <p:cTn id="87" dur="500"/>
                                        <p:tgtEl>
                                          <p:spTgt spid="67995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679963"/>
                                        </p:tgtEl>
                                        <p:attrNameLst>
                                          <p:attrName>style.visibility</p:attrName>
                                        </p:attrNameLst>
                                      </p:cBhvr>
                                      <p:to>
                                        <p:strVal val="visible"/>
                                      </p:to>
                                    </p:set>
                                    <p:animEffect transition="in" filter="wipe(left)">
                                      <p:cBhvr>
                                        <p:cTn id="92" dur="500"/>
                                        <p:tgtEl>
                                          <p:spTgt spid="67996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679953"/>
                                        </p:tgtEl>
                                        <p:attrNameLst>
                                          <p:attrName>style.visibility</p:attrName>
                                        </p:attrNameLst>
                                      </p:cBhvr>
                                      <p:to>
                                        <p:strVal val="visible"/>
                                      </p:to>
                                    </p:set>
                                    <p:animEffect transition="in" filter="wipe(left)">
                                      <p:cBhvr>
                                        <p:cTn id="97" dur="500"/>
                                        <p:tgtEl>
                                          <p:spTgt spid="67995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nodeType="clickEffect">
                                  <p:stCondLst>
                                    <p:cond delay="0"/>
                                  </p:stCondLst>
                                  <p:childTnLst>
                                    <p:set>
                                      <p:cBhvr>
                                        <p:cTn id="101" dur="1" fill="hold">
                                          <p:stCondLst>
                                            <p:cond delay="0"/>
                                          </p:stCondLst>
                                        </p:cTn>
                                        <p:tgtEl>
                                          <p:spTgt spid="679970"/>
                                        </p:tgtEl>
                                        <p:attrNameLst>
                                          <p:attrName>style.visibility</p:attrName>
                                        </p:attrNameLst>
                                      </p:cBhvr>
                                      <p:to>
                                        <p:strVal val="visible"/>
                                      </p:to>
                                    </p:set>
                                    <p:animEffect transition="in" filter="wipe(down)">
                                      <p:cBhvr>
                                        <p:cTn id="102" dur="500"/>
                                        <p:tgtEl>
                                          <p:spTgt spid="67997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679956"/>
                                        </p:tgtEl>
                                        <p:attrNameLst>
                                          <p:attrName>style.visibility</p:attrName>
                                        </p:attrNameLst>
                                      </p:cBhvr>
                                      <p:to>
                                        <p:strVal val="visible"/>
                                      </p:to>
                                    </p:set>
                                    <p:animEffect transition="in" filter="wipe(left)">
                                      <p:cBhvr>
                                        <p:cTn id="107" dur="500"/>
                                        <p:tgtEl>
                                          <p:spTgt spid="67995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679958"/>
                                        </p:tgtEl>
                                        <p:attrNameLst>
                                          <p:attrName>style.visibility</p:attrName>
                                        </p:attrNameLst>
                                      </p:cBhvr>
                                      <p:to>
                                        <p:strVal val="visible"/>
                                      </p:to>
                                    </p:set>
                                    <p:animEffect transition="in" filter="wipe(left)">
                                      <p:cBhvr>
                                        <p:cTn id="112" dur="500"/>
                                        <p:tgtEl>
                                          <p:spTgt spid="679958"/>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679954"/>
                                        </p:tgtEl>
                                        <p:attrNameLst>
                                          <p:attrName>style.visibility</p:attrName>
                                        </p:attrNameLst>
                                      </p:cBhvr>
                                      <p:to>
                                        <p:strVal val="visible"/>
                                      </p:to>
                                    </p:set>
                                    <p:animEffect transition="in" filter="wipe(left)">
                                      <p:cBhvr>
                                        <p:cTn id="117" dur="500"/>
                                        <p:tgtEl>
                                          <p:spTgt spid="67995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679955"/>
                                        </p:tgtEl>
                                        <p:attrNameLst>
                                          <p:attrName>style.visibility</p:attrName>
                                        </p:attrNameLst>
                                      </p:cBhvr>
                                      <p:to>
                                        <p:strVal val="visible"/>
                                      </p:to>
                                    </p:set>
                                    <p:animEffect transition="in" filter="wipe(left)">
                                      <p:cBhvr>
                                        <p:cTn id="122" dur="500"/>
                                        <p:tgtEl>
                                          <p:spTgt spid="679955"/>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679957"/>
                                        </p:tgtEl>
                                        <p:attrNameLst>
                                          <p:attrName>style.visibility</p:attrName>
                                        </p:attrNameLst>
                                      </p:cBhvr>
                                      <p:to>
                                        <p:strVal val="visible"/>
                                      </p:to>
                                    </p:set>
                                    <p:animEffect transition="in" filter="wipe(left)">
                                      <p:cBhvr>
                                        <p:cTn id="127" dur="500"/>
                                        <p:tgtEl>
                                          <p:spTgt spid="679957"/>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679959"/>
                                        </p:tgtEl>
                                        <p:attrNameLst>
                                          <p:attrName>style.visibility</p:attrName>
                                        </p:attrNameLst>
                                      </p:cBhvr>
                                      <p:to>
                                        <p:strVal val="visible"/>
                                      </p:to>
                                    </p:set>
                                    <p:animEffect transition="in" filter="wipe(left)">
                                      <p:cBhvr>
                                        <p:cTn id="132" dur="500"/>
                                        <p:tgtEl>
                                          <p:spTgt spid="679959"/>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679960"/>
                                        </p:tgtEl>
                                        <p:attrNameLst>
                                          <p:attrName>style.visibility</p:attrName>
                                        </p:attrNameLst>
                                      </p:cBhvr>
                                      <p:to>
                                        <p:strVal val="visible"/>
                                      </p:to>
                                    </p:set>
                                    <p:animEffect transition="in" filter="wipe(left)">
                                      <p:cBhvr>
                                        <p:cTn id="137" dur="500"/>
                                        <p:tgtEl>
                                          <p:spTgt spid="679960"/>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679961"/>
                                        </p:tgtEl>
                                        <p:attrNameLst>
                                          <p:attrName>style.visibility</p:attrName>
                                        </p:attrNameLst>
                                      </p:cBhvr>
                                      <p:to>
                                        <p:strVal val="visible"/>
                                      </p:to>
                                    </p:set>
                                    <p:animEffect transition="in" filter="wipe(left)">
                                      <p:cBhvr>
                                        <p:cTn id="142" dur="500"/>
                                        <p:tgtEl>
                                          <p:spTgt spid="67996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679964"/>
                                        </p:tgtEl>
                                        <p:attrNameLst>
                                          <p:attrName>style.visibility</p:attrName>
                                        </p:attrNameLst>
                                      </p:cBhvr>
                                      <p:to>
                                        <p:strVal val="visible"/>
                                      </p:to>
                                    </p:set>
                                    <p:animEffect transition="in" filter="wipe(left)">
                                      <p:cBhvr>
                                        <p:cTn id="147" dur="500"/>
                                        <p:tgtEl>
                                          <p:spTgt spid="67996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679968"/>
                                        </p:tgtEl>
                                        <p:attrNameLst>
                                          <p:attrName>style.visibility</p:attrName>
                                        </p:attrNameLst>
                                      </p:cBhvr>
                                      <p:to>
                                        <p:strVal val="visible"/>
                                      </p:to>
                                    </p:set>
                                    <p:animEffect transition="in" filter="wipe(left)">
                                      <p:cBhvr>
                                        <p:cTn id="152" dur="500"/>
                                        <p:tgtEl>
                                          <p:spTgt spid="679968"/>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679962"/>
                                        </p:tgtEl>
                                        <p:attrNameLst>
                                          <p:attrName>style.visibility</p:attrName>
                                        </p:attrNameLst>
                                      </p:cBhvr>
                                      <p:to>
                                        <p:strVal val="visible"/>
                                      </p:to>
                                    </p:set>
                                    <p:animEffect transition="in" filter="wipe(left)">
                                      <p:cBhvr>
                                        <p:cTn id="157" dur="500"/>
                                        <p:tgtEl>
                                          <p:spTgt spid="679962"/>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679966"/>
                                        </p:tgtEl>
                                        <p:attrNameLst>
                                          <p:attrName>style.visibility</p:attrName>
                                        </p:attrNameLst>
                                      </p:cBhvr>
                                      <p:to>
                                        <p:strVal val="visible"/>
                                      </p:to>
                                    </p:set>
                                    <p:animEffect transition="in" filter="wipe(left)">
                                      <p:cBhvr>
                                        <p:cTn id="162" dur="500"/>
                                        <p:tgtEl>
                                          <p:spTgt spid="679966"/>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679965"/>
                                        </p:tgtEl>
                                        <p:attrNameLst>
                                          <p:attrName>style.visibility</p:attrName>
                                        </p:attrNameLst>
                                      </p:cBhvr>
                                      <p:to>
                                        <p:strVal val="visible"/>
                                      </p:to>
                                    </p:set>
                                    <p:animEffect transition="in" filter="wipe(left)">
                                      <p:cBhvr>
                                        <p:cTn id="167" dur="500"/>
                                        <p:tgtEl>
                                          <p:spTgt spid="679965"/>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nodeType="clickEffect">
                                  <p:stCondLst>
                                    <p:cond delay="0"/>
                                  </p:stCondLst>
                                  <p:childTnLst>
                                    <p:set>
                                      <p:cBhvr>
                                        <p:cTn id="171" dur="1" fill="hold">
                                          <p:stCondLst>
                                            <p:cond delay="0"/>
                                          </p:stCondLst>
                                        </p:cTn>
                                        <p:tgtEl>
                                          <p:spTgt spid="679951"/>
                                        </p:tgtEl>
                                        <p:attrNameLst>
                                          <p:attrName>style.visibility</p:attrName>
                                        </p:attrNameLst>
                                      </p:cBhvr>
                                      <p:to>
                                        <p:strVal val="visible"/>
                                      </p:to>
                                    </p:set>
                                    <p:animEffect transition="in" filter="wipe(left)">
                                      <p:cBhvr>
                                        <p:cTn id="172" dur="500"/>
                                        <p:tgtEl>
                                          <p:spTgt spid="679951"/>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679973"/>
                                        </p:tgtEl>
                                        <p:attrNameLst>
                                          <p:attrName>style.visibility</p:attrName>
                                        </p:attrNameLst>
                                      </p:cBhvr>
                                      <p:to>
                                        <p:strVal val="visible"/>
                                      </p:to>
                                    </p:set>
                                    <p:animEffect transition="in" filter="wipe(left)">
                                      <p:cBhvr>
                                        <p:cTn id="177" dur="500"/>
                                        <p:tgtEl>
                                          <p:spTgt spid="679973"/>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 presetClass="entr" presetSubtype="2" fill="hold" nodeType="clickEffect">
                                  <p:stCondLst>
                                    <p:cond delay="0"/>
                                  </p:stCondLst>
                                  <p:childTnLst>
                                    <p:set>
                                      <p:cBhvr>
                                        <p:cTn id="181" dur="1" fill="hold">
                                          <p:stCondLst>
                                            <p:cond delay="0"/>
                                          </p:stCondLst>
                                        </p:cTn>
                                        <p:tgtEl>
                                          <p:spTgt spid="679971"/>
                                        </p:tgtEl>
                                        <p:attrNameLst>
                                          <p:attrName>style.visibility</p:attrName>
                                        </p:attrNameLst>
                                      </p:cBhvr>
                                      <p:to>
                                        <p:strVal val="visible"/>
                                      </p:to>
                                    </p:set>
                                    <p:anim calcmode="lin" valueType="num">
                                      <p:cBhvr additive="base">
                                        <p:cTn id="182" dur="500" fill="hold"/>
                                        <p:tgtEl>
                                          <p:spTgt spid="679971"/>
                                        </p:tgtEl>
                                        <p:attrNameLst>
                                          <p:attrName>ppt_x</p:attrName>
                                        </p:attrNameLst>
                                      </p:cBhvr>
                                      <p:tavLst>
                                        <p:tav tm="0">
                                          <p:val>
                                            <p:strVal val="1+#ppt_w/2"/>
                                          </p:val>
                                        </p:tav>
                                        <p:tav tm="100000">
                                          <p:val>
                                            <p:strVal val="#ppt_x"/>
                                          </p:val>
                                        </p:tav>
                                      </p:tavLst>
                                    </p:anim>
                                    <p:anim calcmode="lin" valueType="num">
                                      <p:cBhvr additive="base">
                                        <p:cTn id="183" dur="500" fill="hold"/>
                                        <p:tgtEl>
                                          <p:spTgt spid="6799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38" grpId="0" autoUpdateAnimBg="0"/>
      <p:bldP spid="679939" grpId="0" autoUpdateAnimBg="0"/>
      <p:bldP spid="679940" grpId="0" autoUpdateAnimBg="0"/>
      <p:bldP spid="679941" grpId="0" animBg="1"/>
      <p:bldP spid="679946" grpId="0" autoUpdateAnimBg="0"/>
      <p:bldP spid="679947" grpId="0" autoUpdateAnimBg="0"/>
      <p:bldP spid="679950" grpId="0" autoUpdateAnimBg="0"/>
      <p:bldP spid="679952" grpId="0" animBg="1" autoUpdateAnimBg="0"/>
      <p:bldP spid="679954" grpId="0" autoUpdateAnimBg="0"/>
      <p:bldP spid="679955" grpId="0" autoUpdateAnimBg="0"/>
      <p:bldP spid="679956" grpId="0" autoUpdateAnimBg="0"/>
      <p:bldP spid="679960" grpId="0" autoUpdateAnimBg="0"/>
      <p:bldP spid="679961" grpId="0" autoUpdateAnimBg="0"/>
      <p:bldP spid="679967" grpId="0" autoUpdateAnimBg="0"/>
      <p:bldP spid="679968" grpId="0" animBg="1" autoUpdateAnimBg="0"/>
      <p:bldP spid="67997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75" name="Freeform 15">
            <a:extLst>
              <a:ext uri="{FF2B5EF4-FFF2-40B4-BE49-F238E27FC236}">
                <a16:creationId xmlns:a16="http://schemas.microsoft.com/office/drawing/2014/main" id="{8282B6ED-B65B-595A-0297-09AAB980DEEF}"/>
              </a:ext>
            </a:extLst>
          </p:cNvPr>
          <p:cNvSpPr>
            <a:spLocks/>
          </p:cNvSpPr>
          <p:nvPr/>
        </p:nvSpPr>
        <p:spPr bwMode="auto">
          <a:xfrm>
            <a:off x="6300788" y="4168775"/>
            <a:ext cx="2592387" cy="2139950"/>
          </a:xfrm>
          <a:custGeom>
            <a:avLst/>
            <a:gdLst/>
            <a:ahLst/>
            <a:cxnLst>
              <a:cxn ang="0">
                <a:pos x="1013" y="8"/>
              </a:cxn>
              <a:cxn ang="0">
                <a:pos x="333" y="99"/>
              </a:cxn>
              <a:cxn ang="0">
                <a:pos x="15" y="416"/>
              </a:cxn>
              <a:cxn ang="0">
                <a:pos x="242" y="825"/>
              </a:cxn>
              <a:cxn ang="0">
                <a:pos x="696" y="1006"/>
              </a:cxn>
              <a:cxn ang="0">
                <a:pos x="1058" y="961"/>
              </a:cxn>
              <a:cxn ang="0">
                <a:pos x="1421" y="1051"/>
              </a:cxn>
              <a:cxn ang="0">
                <a:pos x="1693" y="825"/>
              </a:cxn>
              <a:cxn ang="0">
                <a:pos x="1648" y="144"/>
              </a:cxn>
              <a:cxn ang="0">
                <a:pos x="1013" y="8"/>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cap="flat" cmpd="sng">
            <a:prstDash val="solid"/>
            <a:round/>
            <a:headEnd/>
            <a:tailEnd/>
          </a:ln>
          <a:effectLst/>
          <a:scene3d>
            <a:camera prst="legacyPerspectiveFront">
              <a:rot lat="17699998" lon="0" rev="0"/>
            </a:camera>
            <a:lightRig rig="legacyFlat2" dir="t"/>
          </a:scene3d>
          <a:sp3d extrusionH="201600" prstMaterial="legacyMatte">
            <a:bevelT w="13500" h="13500" prst="angle"/>
            <a:bevelB w="13500" h="13500" prst="angle"/>
            <a:extrusionClr>
              <a:srgbClr val="339966"/>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76" name="Text Box 16">
            <a:extLst>
              <a:ext uri="{FF2B5EF4-FFF2-40B4-BE49-F238E27FC236}">
                <a16:creationId xmlns:a16="http://schemas.microsoft.com/office/drawing/2014/main" id="{F9A0F315-15D4-CAF9-DB3A-1103692B90D6}"/>
              </a:ext>
            </a:extLst>
          </p:cNvPr>
          <p:cNvSpPr txBox="1">
            <a:spLocks noChangeArrowheads="1"/>
          </p:cNvSpPr>
          <p:nvPr/>
        </p:nvSpPr>
        <p:spPr bwMode="auto">
          <a:xfrm>
            <a:off x="874713" y="16748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77" name="Line 17">
            <a:extLst>
              <a:ext uri="{FF2B5EF4-FFF2-40B4-BE49-F238E27FC236}">
                <a16:creationId xmlns:a16="http://schemas.microsoft.com/office/drawing/2014/main" id="{DD0DD76E-5947-ABAF-37FC-12B8E6C7F273}"/>
              </a:ext>
            </a:extLst>
          </p:cNvPr>
          <p:cNvSpPr>
            <a:spLocks noChangeShapeType="1"/>
          </p:cNvSpPr>
          <p:nvPr/>
        </p:nvSpPr>
        <p:spPr bwMode="auto">
          <a:xfrm>
            <a:off x="1263650" y="1027113"/>
            <a:ext cx="0" cy="1371600"/>
          </a:xfrm>
          <a:prstGeom prst="line">
            <a:avLst/>
          </a:prstGeom>
          <a:noFill/>
          <a:ln w="222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78" name="Rectangle 18">
            <a:extLst>
              <a:ext uri="{FF2B5EF4-FFF2-40B4-BE49-F238E27FC236}">
                <a16:creationId xmlns:a16="http://schemas.microsoft.com/office/drawing/2014/main" id="{B2A6C1A4-0664-69B9-FD78-600D46FE94AE}"/>
              </a:ext>
            </a:extLst>
          </p:cNvPr>
          <p:cNvSpPr>
            <a:spLocks noChangeArrowheads="1"/>
          </p:cNvSpPr>
          <p:nvPr/>
        </p:nvSpPr>
        <p:spPr bwMode="auto">
          <a:xfrm>
            <a:off x="1263650" y="1712913"/>
            <a:ext cx="2286000" cy="76200"/>
          </a:xfrm>
          <a:prstGeom prst="rect">
            <a:avLst/>
          </a:prstGeom>
          <a:solidFill>
            <a:srgbClr val="66FF33"/>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79" name="Rectangle 19">
            <a:extLst>
              <a:ext uri="{FF2B5EF4-FFF2-40B4-BE49-F238E27FC236}">
                <a16:creationId xmlns:a16="http://schemas.microsoft.com/office/drawing/2014/main" id="{A1935E06-AF96-62CF-9C46-C5146136D913}"/>
              </a:ext>
            </a:extLst>
          </p:cNvPr>
          <p:cNvSpPr>
            <a:spLocks noChangeArrowheads="1"/>
          </p:cNvSpPr>
          <p:nvPr/>
        </p:nvSpPr>
        <p:spPr bwMode="auto">
          <a:xfrm>
            <a:off x="2635250" y="1712913"/>
            <a:ext cx="304800" cy="76200"/>
          </a:xfrm>
          <a:prstGeom prst="rect">
            <a:avLst/>
          </a:prstGeom>
          <a:solidFill>
            <a:srgbClr val="FF0000"/>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80" name="Text Box 20">
            <a:extLst>
              <a:ext uri="{FF2B5EF4-FFF2-40B4-BE49-F238E27FC236}">
                <a16:creationId xmlns:a16="http://schemas.microsoft.com/office/drawing/2014/main" id="{7D24549A-D83F-0FEF-8CE4-8EFB05121959}"/>
              </a:ext>
            </a:extLst>
          </p:cNvPr>
          <p:cNvSpPr txBox="1">
            <a:spLocks noChangeArrowheads="1"/>
          </p:cNvSpPr>
          <p:nvPr/>
        </p:nvSpPr>
        <p:spPr bwMode="auto">
          <a:xfrm>
            <a:off x="2940050" y="123666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L</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81" name="Line 21">
            <a:extLst>
              <a:ext uri="{FF2B5EF4-FFF2-40B4-BE49-F238E27FC236}">
                <a16:creationId xmlns:a16="http://schemas.microsoft.com/office/drawing/2014/main" id="{9E9C9706-ECFF-27EE-6CE3-603DCF6A9F1D}"/>
              </a:ext>
            </a:extLst>
          </p:cNvPr>
          <p:cNvSpPr>
            <a:spLocks noChangeShapeType="1"/>
          </p:cNvSpPr>
          <p:nvPr/>
        </p:nvSpPr>
        <p:spPr bwMode="auto">
          <a:xfrm>
            <a:off x="1263650" y="1941513"/>
            <a:ext cx="2743200" cy="0"/>
          </a:xfrm>
          <a:prstGeom prst="line">
            <a:avLst/>
          </a:prstGeom>
          <a:noFill/>
          <a:ln w="22225">
            <a:solidFill>
              <a:srgbClr val="66FF33"/>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82" name="Text Box 22">
            <a:extLst>
              <a:ext uri="{FF2B5EF4-FFF2-40B4-BE49-F238E27FC236}">
                <a16:creationId xmlns:a16="http://schemas.microsoft.com/office/drawing/2014/main" id="{2B976B11-B652-B7C7-CC41-1921B9B134F9}"/>
              </a:ext>
            </a:extLst>
          </p:cNvPr>
          <p:cNvSpPr txBox="1">
            <a:spLocks noChangeArrowheads="1"/>
          </p:cNvSpPr>
          <p:nvPr/>
        </p:nvSpPr>
        <p:spPr bwMode="auto">
          <a:xfrm>
            <a:off x="3625850" y="1803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83" name="Text Box 23">
            <a:extLst>
              <a:ext uri="{FF2B5EF4-FFF2-40B4-BE49-F238E27FC236}">
                <a16:creationId xmlns:a16="http://schemas.microsoft.com/office/drawing/2014/main" id="{3D81C244-1F84-2337-D176-FACC1AF92424}"/>
              </a:ext>
            </a:extLst>
          </p:cNvPr>
          <p:cNvSpPr txBox="1">
            <a:spLocks noChangeArrowheads="1"/>
          </p:cNvSpPr>
          <p:nvPr/>
        </p:nvSpPr>
        <p:spPr bwMode="auto">
          <a:xfrm>
            <a:off x="2482850" y="1941513"/>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d</a:t>
            </a:r>
            <a:r>
              <a:rPr lang="en-US" altLang="zh-CN"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84" name="Text Box 24">
            <a:extLst>
              <a:ext uri="{FF2B5EF4-FFF2-40B4-BE49-F238E27FC236}">
                <a16:creationId xmlns:a16="http://schemas.microsoft.com/office/drawing/2014/main" id="{C711D59A-9D41-F614-9EDF-2BA30638A3A4}"/>
              </a:ext>
            </a:extLst>
          </p:cNvPr>
          <p:cNvSpPr txBox="1">
            <a:spLocks noChangeArrowheads="1"/>
          </p:cNvSpPr>
          <p:nvPr/>
        </p:nvSpPr>
        <p:spPr bwMode="auto">
          <a:xfrm>
            <a:off x="1720850" y="1255713"/>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85" name="Text Box 25">
            <a:extLst>
              <a:ext uri="{FF2B5EF4-FFF2-40B4-BE49-F238E27FC236}">
                <a16:creationId xmlns:a16="http://schemas.microsoft.com/office/drawing/2014/main" id="{FFE1D210-D264-145C-9A67-15B2DA5BDEB6}"/>
              </a:ext>
            </a:extLst>
          </p:cNvPr>
          <p:cNvSpPr txBox="1">
            <a:spLocks noChangeArrowheads="1"/>
          </p:cNvSpPr>
          <p:nvPr/>
        </p:nvSpPr>
        <p:spPr bwMode="auto">
          <a:xfrm>
            <a:off x="1219200" y="646113"/>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680986" name="Object 2">
            <a:extLst>
              <a:ext uri="{FF2B5EF4-FFF2-40B4-BE49-F238E27FC236}">
                <a16:creationId xmlns:a16="http://schemas.microsoft.com/office/drawing/2014/main" id="{FDE8ACB6-7D3A-B809-06F6-F0EE35F78FCA}"/>
              </a:ext>
            </a:extLst>
          </p:cNvPr>
          <p:cNvGraphicFramePr>
            <a:graphicFrameLocks/>
          </p:cNvGraphicFramePr>
          <p:nvPr/>
        </p:nvGraphicFramePr>
        <p:xfrm>
          <a:off x="1139825" y="2420938"/>
          <a:ext cx="2627313" cy="742950"/>
        </p:xfrm>
        <a:graphic>
          <a:graphicData uri="http://schemas.openxmlformats.org/presentationml/2006/ole">
            <mc:AlternateContent xmlns:mc="http://schemas.openxmlformats.org/markup-compatibility/2006">
              <mc:Choice xmlns:v="urn:schemas-microsoft-com:vml" Requires="v">
                <p:oleObj name="公式" r:id="rId2" imgW="2910653" imgH="815479" progId="Equation.3">
                  <p:embed/>
                </p:oleObj>
              </mc:Choice>
              <mc:Fallback>
                <p:oleObj name="公式" r:id="rId2" imgW="2910653" imgH="815479"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2420938"/>
                        <a:ext cx="2627313"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0987" name="AutoShape 27">
            <a:extLst>
              <a:ext uri="{FF2B5EF4-FFF2-40B4-BE49-F238E27FC236}">
                <a16:creationId xmlns:a16="http://schemas.microsoft.com/office/drawing/2014/main" id="{FAFD339C-12DE-5332-EDC5-085BFCE7CF9F}"/>
              </a:ext>
            </a:extLst>
          </p:cNvPr>
          <p:cNvSpPr>
            <a:spLocks noChangeArrowheads="1"/>
          </p:cNvSpPr>
          <p:nvPr/>
        </p:nvSpPr>
        <p:spPr bwMode="auto">
          <a:xfrm>
            <a:off x="4305300" y="1827213"/>
            <a:ext cx="762000" cy="227012"/>
          </a:xfrm>
          <a:prstGeom prst="rightArrow">
            <a:avLst>
              <a:gd name="adj1" fmla="val 50000"/>
              <a:gd name="adj2" fmla="val 8391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88" name="Line 28">
            <a:extLst>
              <a:ext uri="{FF2B5EF4-FFF2-40B4-BE49-F238E27FC236}">
                <a16:creationId xmlns:a16="http://schemas.microsoft.com/office/drawing/2014/main" id="{8E89C314-0977-FD4F-01D3-D067B22D0A68}"/>
              </a:ext>
            </a:extLst>
          </p:cNvPr>
          <p:cNvSpPr>
            <a:spLocks noChangeShapeType="1"/>
          </p:cNvSpPr>
          <p:nvPr/>
        </p:nvSpPr>
        <p:spPr bwMode="auto">
          <a:xfrm>
            <a:off x="6521450" y="1104900"/>
            <a:ext cx="0" cy="1371600"/>
          </a:xfrm>
          <a:prstGeom prst="line">
            <a:avLst/>
          </a:prstGeom>
          <a:noFill/>
          <a:ln w="222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89" name="Rectangle 29">
            <a:extLst>
              <a:ext uri="{FF2B5EF4-FFF2-40B4-BE49-F238E27FC236}">
                <a16:creationId xmlns:a16="http://schemas.microsoft.com/office/drawing/2014/main" id="{7A2B35E8-A29C-E381-38B1-4B139610CFEF}"/>
              </a:ext>
            </a:extLst>
          </p:cNvPr>
          <p:cNvSpPr>
            <a:spLocks noChangeArrowheads="1"/>
          </p:cNvSpPr>
          <p:nvPr/>
        </p:nvSpPr>
        <p:spPr bwMode="auto">
          <a:xfrm>
            <a:off x="5378450" y="1714500"/>
            <a:ext cx="2286000" cy="76200"/>
          </a:xfrm>
          <a:prstGeom prst="rect">
            <a:avLst/>
          </a:prstGeom>
          <a:solidFill>
            <a:srgbClr val="66FF33"/>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90" name="Rectangle 30">
            <a:extLst>
              <a:ext uri="{FF2B5EF4-FFF2-40B4-BE49-F238E27FC236}">
                <a16:creationId xmlns:a16="http://schemas.microsoft.com/office/drawing/2014/main" id="{5ED72B88-9447-6518-9832-08E40214F24F}"/>
              </a:ext>
            </a:extLst>
          </p:cNvPr>
          <p:cNvSpPr>
            <a:spLocks noChangeArrowheads="1"/>
          </p:cNvSpPr>
          <p:nvPr/>
        </p:nvSpPr>
        <p:spPr bwMode="auto">
          <a:xfrm>
            <a:off x="6978650" y="1714500"/>
            <a:ext cx="304800" cy="76200"/>
          </a:xfrm>
          <a:prstGeom prst="rect">
            <a:avLst/>
          </a:prstGeom>
          <a:solidFill>
            <a:srgbClr val="FF0000"/>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91" name="Text Box 31">
            <a:extLst>
              <a:ext uri="{FF2B5EF4-FFF2-40B4-BE49-F238E27FC236}">
                <a16:creationId xmlns:a16="http://schemas.microsoft.com/office/drawing/2014/main" id="{FA587D20-0EBE-3CC2-F2AB-7A2AE89D6993}"/>
              </a:ext>
            </a:extLst>
          </p:cNvPr>
          <p:cNvSpPr txBox="1">
            <a:spLocks noChangeArrowheads="1"/>
          </p:cNvSpPr>
          <p:nvPr/>
        </p:nvSpPr>
        <p:spPr bwMode="auto">
          <a:xfrm>
            <a:off x="7435850" y="11811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L</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92" name="Text Box 32">
            <a:extLst>
              <a:ext uri="{FF2B5EF4-FFF2-40B4-BE49-F238E27FC236}">
                <a16:creationId xmlns:a16="http://schemas.microsoft.com/office/drawing/2014/main" id="{E6C1F1CA-47B5-6992-D12A-A4162E9F07EA}"/>
              </a:ext>
            </a:extLst>
          </p:cNvPr>
          <p:cNvSpPr txBox="1">
            <a:spLocks noChangeArrowheads="1"/>
          </p:cNvSpPr>
          <p:nvPr/>
        </p:nvSpPr>
        <p:spPr bwMode="auto">
          <a:xfrm>
            <a:off x="6130925" y="18875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93" name="Line 33">
            <a:extLst>
              <a:ext uri="{FF2B5EF4-FFF2-40B4-BE49-F238E27FC236}">
                <a16:creationId xmlns:a16="http://schemas.microsoft.com/office/drawing/2014/main" id="{E0502D22-EE22-C787-AC0B-D44965A377E5}"/>
              </a:ext>
            </a:extLst>
          </p:cNvPr>
          <p:cNvSpPr>
            <a:spLocks noChangeShapeType="1"/>
          </p:cNvSpPr>
          <p:nvPr/>
        </p:nvSpPr>
        <p:spPr bwMode="auto">
          <a:xfrm>
            <a:off x="5378450" y="1943100"/>
            <a:ext cx="3276600" cy="0"/>
          </a:xfrm>
          <a:prstGeom prst="line">
            <a:avLst/>
          </a:prstGeom>
          <a:noFill/>
          <a:ln w="22225">
            <a:solidFill>
              <a:srgbClr val="66FF33"/>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0994" name="Text Box 34">
            <a:extLst>
              <a:ext uri="{FF2B5EF4-FFF2-40B4-BE49-F238E27FC236}">
                <a16:creationId xmlns:a16="http://schemas.microsoft.com/office/drawing/2014/main" id="{15ACD138-9E52-A01F-65A7-B80A03D3BA53}"/>
              </a:ext>
            </a:extLst>
          </p:cNvPr>
          <p:cNvSpPr txBox="1">
            <a:spLocks noChangeArrowheads="1"/>
          </p:cNvSpPr>
          <p:nvPr/>
        </p:nvSpPr>
        <p:spPr bwMode="auto">
          <a:xfrm>
            <a:off x="8350250" y="18161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95" name="Text Box 35">
            <a:extLst>
              <a:ext uri="{FF2B5EF4-FFF2-40B4-BE49-F238E27FC236}">
                <a16:creationId xmlns:a16="http://schemas.microsoft.com/office/drawing/2014/main" id="{BCAFCF3B-802A-6EAD-D995-B4F676A14088}"/>
              </a:ext>
            </a:extLst>
          </p:cNvPr>
          <p:cNvSpPr txBox="1">
            <a:spLocks noChangeArrowheads="1"/>
          </p:cNvSpPr>
          <p:nvPr/>
        </p:nvSpPr>
        <p:spPr bwMode="auto">
          <a:xfrm>
            <a:off x="6826250" y="19431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d</a:t>
            </a:r>
            <a:r>
              <a:rPr lang="en-US" altLang="zh-CN" b="0" i="1">
                <a:solidFill>
                  <a:srgbClr val="FFFF00"/>
                </a:solidFill>
                <a:latin typeface="Times New Roman" panose="02020603050405020304" pitchFamily="18" charset="0"/>
                <a:ea typeface="宋体" panose="02010600030101010101" pitchFamily="2" charset="-122"/>
              </a:rPr>
              <a:t>x</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0996" name="Text Box 36">
            <a:extLst>
              <a:ext uri="{FF2B5EF4-FFF2-40B4-BE49-F238E27FC236}">
                <a16:creationId xmlns:a16="http://schemas.microsoft.com/office/drawing/2014/main" id="{CAEF5EA2-93BB-67D8-F63D-3BC3489D1479}"/>
              </a:ext>
            </a:extLst>
          </p:cNvPr>
          <p:cNvSpPr txBox="1">
            <a:spLocks noChangeArrowheads="1"/>
          </p:cNvSpPr>
          <p:nvPr/>
        </p:nvSpPr>
        <p:spPr bwMode="auto">
          <a:xfrm>
            <a:off x="5835650" y="12573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680997" name="Object 3">
            <a:extLst>
              <a:ext uri="{FF2B5EF4-FFF2-40B4-BE49-F238E27FC236}">
                <a16:creationId xmlns:a16="http://schemas.microsoft.com/office/drawing/2014/main" id="{A6912CAF-01F5-70E0-8B73-6232E1DB837B}"/>
              </a:ext>
            </a:extLst>
          </p:cNvPr>
          <p:cNvGraphicFramePr>
            <a:graphicFrameLocks/>
          </p:cNvGraphicFramePr>
          <p:nvPr/>
        </p:nvGraphicFramePr>
        <p:xfrm>
          <a:off x="5230813" y="2420938"/>
          <a:ext cx="3051175" cy="742950"/>
        </p:xfrm>
        <a:graphic>
          <a:graphicData uri="http://schemas.openxmlformats.org/presentationml/2006/ole">
            <mc:AlternateContent xmlns:mc="http://schemas.openxmlformats.org/markup-compatibility/2006">
              <mc:Choice xmlns:v="urn:schemas-microsoft-com:vml" Requires="v">
                <p:oleObj name="公式" r:id="rId4" imgW="3383404" imgH="815479" progId="Equation.3">
                  <p:embed/>
                </p:oleObj>
              </mc:Choice>
              <mc:Fallback>
                <p:oleObj name="公式" r:id="rId4" imgW="3383404" imgH="815479"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0813" y="2420938"/>
                        <a:ext cx="305117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0998" name="Text Box 38">
            <a:extLst>
              <a:ext uri="{FF2B5EF4-FFF2-40B4-BE49-F238E27FC236}">
                <a16:creationId xmlns:a16="http://schemas.microsoft.com/office/drawing/2014/main" id="{8944D9BF-3D17-AFD7-C461-C1BB247E420E}"/>
              </a:ext>
            </a:extLst>
          </p:cNvPr>
          <p:cNvSpPr txBox="1">
            <a:spLocks noChangeArrowheads="1"/>
          </p:cNvSpPr>
          <p:nvPr/>
        </p:nvSpPr>
        <p:spPr bwMode="auto">
          <a:xfrm>
            <a:off x="182563" y="3692525"/>
            <a:ext cx="5037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800">
                <a:solidFill>
                  <a:srgbClr val="00FF00"/>
                </a:solidFill>
                <a:latin typeface="Times New Roman" panose="02020603050405020304" pitchFamily="18" charset="0"/>
                <a:ea typeface="宋体" panose="02010600030101010101" pitchFamily="2" charset="-122"/>
              </a:rPr>
              <a:t>四</a:t>
            </a:r>
            <a:r>
              <a:rPr lang="en-US" altLang="zh-CN" sz="2800">
                <a:solidFill>
                  <a:srgbClr val="00FF00"/>
                </a:solidFill>
                <a:latin typeface="Times New Roman" panose="02020603050405020304" pitchFamily="18" charset="0"/>
                <a:ea typeface="宋体" panose="02010600030101010101" pitchFamily="2" charset="-122"/>
              </a:rPr>
              <a:t>. </a:t>
            </a:r>
            <a:r>
              <a:rPr lang="zh-CN" altLang="en-US" sz="2800">
                <a:solidFill>
                  <a:srgbClr val="00FF00"/>
                </a:solidFill>
                <a:latin typeface="Times New Roman" panose="02020603050405020304" pitchFamily="18" charset="0"/>
                <a:ea typeface="宋体" panose="02010600030101010101" pitchFamily="2" charset="-122"/>
              </a:rPr>
              <a:t>平行轴定理及</a:t>
            </a:r>
            <a:r>
              <a:rPr lang="zh-CN" altLang="en-US" sz="2800">
                <a:solidFill>
                  <a:srgbClr val="00FF00"/>
                </a:solidFill>
                <a:latin typeface="Arial" panose="020B0604020202020204" pitchFamily="34" charset="0"/>
                <a:ea typeface="宋体" panose="02010600030101010101" pitchFamily="2" charset="-122"/>
              </a:rPr>
              <a:t>垂直轴定理</a:t>
            </a:r>
          </a:p>
        </p:txBody>
      </p:sp>
      <p:sp>
        <p:nvSpPr>
          <p:cNvPr id="680999" name="Line 39">
            <a:extLst>
              <a:ext uri="{FF2B5EF4-FFF2-40B4-BE49-F238E27FC236}">
                <a16:creationId xmlns:a16="http://schemas.microsoft.com/office/drawing/2014/main" id="{40E49DB5-9CDB-4B27-A442-A2D7A3DBB26F}"/>
              </a:ext>
            </a:extLst>
          </p:cNvPr>
          <p:cNvSpPr>
            <a:spLocks noChangeShapeType="1"/>
          </p:cNvSpPr>
          <p:nvPr/>
        </p:nvSpPr>
        <p:spPr bwMode="auto">
          <a:xfrm>
            <a:off x="7078663" y="3965575"/>
            <a:ext cx="0" cy="1046163"/>
          </a:xfrm>
          <a:prstGeom prst="line">
            <a:avLst/>
          </a:prstGeom>
          <a:noFill/>
          <a:ln w="508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1000" name="Line 40">
            <a:extLst>
              <a:ext uri="{FF2B5EF4-FFF2-40B4-BE49-F238E27FC236}">
                <a16:creationId xmlns:a16="http://schemas.microsoft.com/office/drawing/2014/main" id="{03D993ED-F4DB-3116-5B8C-060C9266DE75}"/>
              </a:ext>
            </a:extLst>
          </p:cNvPr>
          <p:cNvSpPr>
            <a:spLocks noChangeShapeType="1"/>
          </p:cNvSpPr>
          <p:nvPr/>
        </p:nvSpPr>
        <p:spPr bwMode="auto">
          <a:xfrm>
            <a:off x="7078663" y="5813425"/>
            <a:ext cx="0" cy="304800"/>
          </a:xfrm>
          <a:prstGeom prst="line">
            <a:avLst/>
          </a:prstGeom>
          <a:noFill/>
          <a:ln w="508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1001" name="Text Box 41">
            <a:extLst>
              <a:ext uri="{FF2B5EF4-FFF2-40B4-BE49-F238E27FC236}">
                <a16:creationId xmlns:a16="http://schemas.microsoft.com/office/drawing/2014/main" id="{94CF6C5B-8F6B-ECAE-4A1F-39B6B77DCB4F}"/>
              </a:ext>
            </a:extLst>
          </p:cNvPr>
          <p:cNvSpPr txBox="1">
            <a:spLocks noChangeArrowheads="1"/>
          </p:cNvSpPr>
          <p:nvPr/>
        </p:nvSpPr>
        <p:spPr bwMode="auto">
          <a:xfrm>
            <a:off x="7916863" y="3937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1002" name="Text Box 42">
            <a:extLst>
              <a:ext uri="{FF2B5EF4-FFF2-40B4-BE49-F238E27FC236}">
                <a16:creationId xmlns:a16="http://schemas.microsoft.com/office/drawing/2014/main" id="{28FAAA91-C54C-202A-F37C-310BFF530939}"/>
              </a:ext>
            </a:extLst>
          </p:cNvPr>
          <p:cNvSpPr txBox="1">
            <a:spLocks noChangeArrowheads="1"/>
          </p:cNvSpPr>
          <p:nvPr/>
        </p:nvSpPr>
        <p:spPr bwMode="auto">
          <a:xfrm>
            <a:off x="7307263" y="4803775"/>
            <a:ext cx="404812"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latin typeface="Times New Roman" panose="02020603050405020304" pitchFamily="18" charset="0"/>
                <a:ea typeface="宋体" panose="02010600030101010101" pitchFamily="2" charset="-122"/>
              </a:rPr>
              <a:t>L</a:t>
            </a:r>
          </a:p>
        </p:txBody>
      </p:sp>
      <p:sp>
        <p:nvSpPr>
          <p:cNvPr id="681003" name="Line 43">
            <a:extLst>
              <a:ext uri="{FF2B5EF4-FFF2-40B4-BE49-F238E27FC236}">
                <a16:creationId xmlns:a16="http://schemas.microsoft.com/office/drawing/2014/main" id="{DF55E8F7-5C3B-DCF5-3971-67B9B4F7A6D0}"/>
              </a:ext>
            </a:extLst>
          </p:cNvPr>
          <p:cNvSpPr>
            <a:spLocks noChangeShapeType="1"/>
          </p:cNvSpPr>
          <p:nvPr/>
        </p:nvSpPr>
        <p:spPr bwMode="auto">
          <a:xfrm>
            <a:off x="7840663" y="4194175"/>
            <a:ext cx="0" cy="1219200"/>
          </a:xfrm>
          <a:prstGeom prst="line">
            <a:avLst/>
          </a:prstGeom>
          <a:noFill/>
          <a:ln w="508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1004" name="Line 44">
            <a:extLst>
              <a:ext uri="{FF2B5EF4-FFF2-40B4-BE49-F238E27FC236}">
                <a16:creationId xmlns:a16="http://schemas.microsoft.com/office/drawing/2014/main" id="{249A45AD-60E7-0AF9-B874-38E1560A5F94}"/>
              </a:ext>
            </a:extLst>
          </p:cNvPr>
          <p:cNvSpPr>
            <a:spLocks noChangeShapeType="1"/>
          </p:cNvSpPr>
          <p:nvPr/>
        </p:nvSpPr>
        <p:spPr bwMode="auto">
          <a:xfrm>
            <a:off x="7840663" y="5870575"/>
            <a:ext cx="0" cy="381000"/>
          </a:xfrm>
          <a:prstGeom prst="line">
            <a:avLst/>
          </a:prstGeom>
          <a:noFill/>
          <a:ln w="508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1005" name="Text Box 45">
            <a:extLst>
              <a:ext uri="{FF2B5EF4-FFF2-40B4-BE49-F238E27FC236}">
                <a16:creationId xmlns:a16="http://schemas.microsoft.com/office/drawing/2014/main" id="{2971CEAC-775B-6E8B-F055-3A37C183EBB2}"/>
              </a:ext>
            </a:extLst>
          </p:cNvPr>
          <p:cNvSpPr txBox="1">
            <a:spLocks noChangeArrowheads="1"/>
          </p:cNvSpPr>
          <p:nvPr/>
        </p:nvSpPr>
        <p:spPr bwMode="auto">
          <a:xfrm>
            <a:off x="7812088" y="5127625"/>
            <a:ext cx="4048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latin typeface="Times New Roman" panose="02020603050405020304" pitchFamily="18" charset="0"/>
                <a:ea typeface="宋体" panose="02010600030101010101" pitchFamily="2" charset="-122"/>
              </a:rPr>
              <a:t>C</a:t>
            </a:r>
          </a:p>
        </p:txBody>
      </p:sp>
      <p:sp>
        <p:nvSpPr>
          <p:cNvPr id="681006" name="Text Box 46">
            <a:extLst>
              <a:ext uri="{FF2B5EF4-FFF2-40B4-BE49-F238E27FC236}">
                <a16:creationId xmlns:a16="http://schemas.microsoft.com/office/drawing/2014/main" id="{E66C57CC-A4C5-B3AE-33BD-61A564BAD2BA}"/>
              </a:ext>
            </a:extLst>
          </p:cNvPr>
          <p:cNvSpPr txBox="1">
            <a:spLocks noChangeArrowheads="1"/>
          </p:cNvSpPr>
          <p:nvPr/>
        </p:nvSpPr>
        <p:spPr bwMode="auto">
          <a:xfrm>
            <a:off x="8069263" y="4346575"/>
            <a:ext cx="457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1007" name="Text Box 47">
            <a:extLst>
              <a:ext uri="{FF2B5EF4-FFF2-40B4-BE49-F238E27FC236}">
                <a16:creationId xmlns:a16="http://schemas.microsoft.com/office/drawing/2014/main" id="{AA4C3E5D-17F1-FF9D-9C1F-87D3BE8B06DD}"/>
              </a:ext>
            </a:extLst>
          </p:cNvPr>
          <p:cNvSpPr txBox="1">
            <a:spLocks noChangeArrowheads="1"/>
          </p:cNvSpPr>
          <p:nvPr/>
        </p:nvSpPr>
        <p:spPr bwMode="auto">
          <a:xfrm>
            <a:off x="7154863" y="3965575"/>
            <a:ext cx="5334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1008" name="Line 48">
            <a:extLst>
              <a:ext uri="{FF2B5EF4-FFF2-40B4-BE49-F238E27FC236}">
                <a16:creationId xmlns:a16="http://schemas.microsoft.com/office/drawing/2014/main" id="{EB4095AF-C42B-2770-6107-8A682A25077F}"/>
              </a:ext>
            </a:extLst>
          </p:cNvPr>
          <p:cNvSpPr>
            <a:spLocks noChangeShapeType="1"/>
          </p:cNvSpPr>
          <p:nvPr/>
        </p:nvSpPr>
        <p:spPr bwMode="auto">
          <a:xfrm>
            <a:off x="7092950" y="5013325"/>
            <a:ext cx="747713" cy="400050"/>
          </a:xfrm>
          <a:prstGeom prst="line">
            <a:avLst/>
          </a:prstGeom>
          <a:noFill/>
          <a:ln w="31750">
            <a:solidFill>
              <a:schemeClr val="bg1"/>
            </a:solidFill>
            <a:round/>
            <a:headEnd type="triangle" w="med" len="me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81009" name="Object 4">
            <a:extLst>
              <a:ext uri="{FF2B5EF4-FFF2-40B4-BE49-F238E27FC236}">
                <a16:creationId xmlns:a16="http://schemas.microsoft.com/office/drawing/2014/main" id="{03AE1862-97BA-0EDD-6693-43F7099A2737}"/>
              </a:ext>
            </a:extLst>
          </p:cNvPr>
          <p:cNvGraphicFramePr>
            <a:graphicFrameLocks/>
          </p:cNvGraphicFramePr>
          <p:nvPr/>
        </p:nvGraphicFramePr>
        <p:xfrm>
          <a:off x="2798763" y="4238625"/>
          <a:ext cx="1851025" cy="422275"/>
        </p:xfrm>
        <a:graphic>
          <a:graphicData uri="http://schemas.openxmlformats.org/presentationml/2006/ole">
            <mc:AlternateContent xmlns:mc="http://schemas.openxmlformats.org/markup-compatibility/2006">
              <mc:Choice xmlns:v="urn:schemas-microsoft-com:vml" Requires="v">
                <p:oleObj name="公式" r:id="rId6" imgW="2049749" imgH="464848" progId="Equation.3">
                  <p:embed/>
                </p:oleObj>
              </mc:Choice>
              <mc:Fallback>
                <p:oleObj name="公式" r:id="rId6" imgW="2049749" imgH="464848"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8763" y="4238625"/>
                        <a:ext cx="1851025" cy="4222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1010" name="Text Box 50">
            <a:extLst>
              <a:ext uri="{FF2B5EF4-FFF2-40B4-BE49-F238E27FC236}">
                <a16:creationId xmlns:a16="http://schemas.microsoft.com/office/drawing/2014/main" id="{CD170F6C-4BC0-BEE5-5A57-C07BD03503B6}"/>
              </a:ext>
            </a:extLst>
          </p:cNvPr>
          <p:cNvSpPr txBox="1">
            <a:spLocks noChangeArrowheads="1"/>
          </p:cNvSpPr>
          <p:nvPr/>
        </p:nvSpPr>
        <p:spPr bwMode="auto">
          <a:xfrm>
            <a:off x="6477000" y="6588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681011" name="Rectangle 51">
            <a:extLst>
              <a:ext uri="{FF2B5EF4-FFF2-40B4-BE49-F238E27FC236}">
                <a16:creationId xmlns:a16="http://schemas.microsoft.com/office/drawing/2014/main" id="{1607CDDF-F843-972E-3F9C-A50E6D318FB2}"/>
              </a:ext>
            </a:extLst>
          </p:cNvPr>
          <p:cNvSpPr>
            <a:spLocks noChangeArrowheads="1"/>
          </p:cNvSpPr>
          <p:nvPr/>
        </p:nvSpPr>
        <p:spPr bwMode="auto">
          <a:xfrm>
            <a:off x="704850" y="320675"/>
            <a:ext cx="3371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(3)  </a:t>
            </a:r>
            <a:r>
              <a:rPr lang="en-US" altLang="zh-CN" i="1">
                <a:solidFill>
                  <a:srgbClr val="66FFFF"/>
                </a:solidFill>
                <a:latin typeface="Times New Roman" panose="02020603050405020304" pitchFamily="18" charset="0"/>
                <a:ea typeface="宋体" panose="02010600030101010101" pitchFamily="2" charset="-122"/>
              </a:rPr>
              <a:t>J</a:t>
            </a:r>
            <a:r>
              <a:rPr lang="en-US" altLang="zh-CN">
                <a:solidFill>
                  <a:srgbClr val="66FFFF"/>
                </a:solidFill>
                <a:latin typeface="Times New Roman" panose="02020603050405020304" pitchFamily="18" charset="0"/>
                <a:ea typeface="宋体" panose="02010600030101010101" pitchFamily="2" charset="-122"/>
              </a:rPr>
              <a:t> </a:t>
            </a:r>
            <a:r>
              <a:rPr lang="zh-CN" altLang="en-US">
                <a:solidFill>
                  <a:srgbClr val="66FFFF"/>
                </a:solidFill>
                <a:latin typeface="Times New Roman" panose="02020603050405020304" pitchFamily="18" charset="0"/>
                <a:ea typeface="宋体" panose="02010600030101010101" pitchFamily="2" charset="-122"/>
              </a:rPr>
              <a:t>与转轴的位置有关</a:t>
            </a:r>
          </a:p>
        </p:txBody>
      </p:sp>
      <p:sp>
        <p:nvSpPr>
          <p:cNvPr id="681012" name="Text Box 52">
            <a:extLst>
              <a:ext uri="{FF2B5EF4-FFF2-40B4-BE49-F238E27FC236}">
                <a16:creationId xmlns:a16="http://schemas.microsoft.com/office/drawing/2014/main" id="{97830E66-0560-85B8-D5BA-6EF559C27BE3}"/>
              </a:ext>
            </a:extLst>
          </p:cNvPr>
          <p:cNvSpPr txBox="1">
            <a:spLocks noChangeArrowheads="1"/>
          </p:cNvSpPr>
          <p:nvPr/>
        </p:nvSpPr>
        <p:spPr bwMode="auto">
          <a:xfrm>
            <a:off x="395288" y="4203700"/>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b="0" dirty="0">
                <a:solidFill>
                  <a:srgbClr val="66FFFF"/>
                </a:solidFill>
                <a:latin typeface="Times New Roman" panose="02020603050405020304" pitchFamily="18" charset="0"/>
                <a:ea typeface="宋体" panose="02010600030101010101" pitchFamily="2" charset="-122"/>
              </a:rPr>
              <a:t>1. </a:t>
            </a:r>
            <a:r>
              <a:rPr lang="zh-CN" altLang="en-US" dirty="0">
                <a:solidFill>
                  <a:srgbClr val="66FFFF"/>
                </a:solidFill>
                <a:latin typeface="Times New Roman" panose="02020603050405020304" pitchFamily="18" charset="0"/>
                <a:ea typeface="宋体" panose="02010600030101010101" pitchFamily="2" charset="-122"/>
              </a:rPr>
              <a:t>平行轴定理</a:t>
            </a:r>
          </a:p>
        </p:txBody>
      </p:sp>
      <p:graphicFrame>
        <p:nvGraphicFramePr>
          <p:cNvPr id="681013" name="Object 5">
            <a:extLst>
              <a:ext uri="{FF2B5EF4-FFF2-40B4-BE49-F238E27FC236}">
                <a16:creationId xmlns:a16="http://schemas.microsoft.com/office/drawing/2014/main" id="{CFFD4D65-C4F1-088E-EBEB-BAA4C8859BA8}"/>
              </a:ext>
            </a:extLst>
          </p:cNvPr>
          <p:cNvGraphicFramePr>
            <a:graphicFrameLocks noGrp="1"/>
          </p:cNvGraphicFramePr>
          <p:nvPr>
            <p:ph idx="4294967295"/>
          </p:nvPr>
        </p:nvGraphicFramePr>
        <p:xfrm>
          <a:off x="801688" y="4948238"/>
          <a:ext cx="406400" cy="420687"/>
        </p:xfrm>
        <a:graphic>
          <a:graphicData uri="http://schemas.openxmlformats.org/presentationml/2006/ole">
            <mc:AlternateContent xmlns:mc="http://schemas.openxmlformats.org/markup-compatibility/2006">
              <mc:Choice xmlns:v="urn:schemas-microsoft-com:vml" Requires="v">
                <p:oleObj name="公式" r:id="rId8" imgW="396116" imgH="411480" progId="Equation.3">
                  <p:embed/>
                </p:oleObj>
              </mc:Choice>
              <mc:Fallback>
                <p:oleObj name="公式" r:id="rId8" imgW="396116" imgH="411480" progId="Equation.3">
                  <p:embed/>
                  <p:pic>
                    <p:nvPicPr>
                      <p:cNvPr id="0" name="Object 5"/>
                      <p:cNvPicPr>
                        <a:picLocks noGrp="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1688" y="4948238"/>
                        <a:ext cx="40640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1014" name="Object 6">
            <a:extLst>
              <a:ext uri="{FF2B5EF4-FFF2-40B4-BE49-F238E27FC236}">
                <a16:creationId xmlns:a16="http://schemas.microsoft.com/office/drawing/2014/main" id="{C5F862F8-B504-9719-F784-6733794A93A6}"/>
              </a:ext>
            </a:extLst>
          </p:cNvPr>
          <p:cNvGraphicFramePr>
            <a:graphicFrameLocks/>
          </p:cNvGraphicFramePr>
          <p:nvPr/>
        </p:nvGraphicFramePr>
        <p:xfrm>
          <a:off x="839788" y="5529263"/>
          <a:ext cx="342900" cy="420687"/>
        </p:xfrm>
        <a:graphic>
          <a:graphicData uri="http://schemas.openxmlformats.org/presentationml/2006/ole">
            <mc:AlternateContent xmlns:mc="http://schemas.openxmlformats.org/markup-compatibility/2006">
              <mc:Choice xmlns:v="urn:schemas-microsoft-com:vml" Requires="v">
                <p:oleObj name="公式" r:id="rId10" imgW="335404" imgH="411480" progId="Equation.3">
                  <p:embed/>
                </p:oleObj>
              </mc:Choice>
              <mc:Fallback>
                <p:oleObj name="公式" r:id="rId10" imgW="335404" imgH="411480"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9788" y="5529263"/>
                        <a:ext cx="3429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1015" name="Object 7">
            <a:extLst>
              <a:ext uri="{FF2B5EF4-FFF2-40B4-BE49-F238E27FC236}">
                <a16:creationId xmlns:a16="http://schemas.microsoft.com/office/drawing/2014/main" id="{CE49AF15-A0EE-D093-5CC4-1AA79B3BA265}"/>
              </a:ext>
            </a:extLst>
          </p:cNvPr>
          <p:cNvGraphicFramePr>
            <a:graphicFrameLocks/>
          </p:cNvGraphicFramePr>
          <p:nvPr/>
        </p:nvGraphicFramePr>
        <p:xfrm>
          <a:off x="827088" y="6237288"/>
          <a:ext cx="254000" cy="293687"/>
        </p:xfrm>
        <a:graphic>
          <a:graphicData uri="http://schemas.openxmlformats.org/presentationml/2006/ole">
            <mc:AlternateContent xmlns:mc="http://schemas.openxmlformats.org/markup-compatibility/2006">
              <mc:Choice xmlns:v="urn:schemas-microsoft-com:vml" Requires="v">
                <p:oleObj name="公式" r:id="rId12" imgW="243840" imgH="281801" progId="Equation.3">
                  <p:embed/>
                </p:oleObj>
              </mc:Choice>
              <mc:Fallback>
                <p:oleObj name="公式" r:id="rId12" imgW="243840" imgH="281801"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7088" y="6237288"/>
                        <a:ext cx="254000"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1016" name="Text Box 56">
            <a:extLst>
              <a:ext uri="{FF2B5EF4-FFF2-40B4-BE49-F238E27FC236}">
                <a16:creationId xmlns:a16="http://schemas.microsoft.com/office/drawing/2014/main" id="{5E93BC4D-7015-B88A-9604-70C45DCBEDDF}"/>
              </a:ext>
            </a:extLst>
          </p:cNvPr>
          <p:cNvSpPr txBox="1">
            <a:spLocks noChangeArrowheads="1"/>
          </p:cNvSpPr>
          <p:nvPr/>
        </p:nvSpPr>
        <p:spPr bwMode="auto">
          <a:xfrm>
            <a:off x="1154113" y="4868863"/>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刚体绕任意轴的转动惯量</a:t>
            </a:r>
          </a:p>
        </p:txBody>
      </p:sp>
      <p:sp>
        <p:nvSpPr>
          <p:cNvPr id="681017" name="Text Box 57">
            <a:extLst>
              <a:ext uri="{FF2B5EF4-FFF2-40B4-BE49-F238E27FC236}">
                <a16:creationId xmlns:a16="http://schemas.microsoft.com/office/drawing/2014/main" id="{250909DE-4EA4-2325-8D99-0AA8AA1EB7DC}"/>
              </a:ext>
            </a:extLst>
          </p:cNvPr>
          <p:cNvSpPr txBox="1">
            <a:spLocks noChangeArrowheads="1"/>
          </p:cNvSpPr>
          <p:nvPr/>
        </p:nvSpPr>
        <p:spPr bwMode="auto">
          <a:xfrm>
            <a:off x="1098550" y="5526088"/>
            <a:ext cx="5183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 typeface="Monotype Sorts" pitchFamily="2" charset="2"/>
              <a:buNone/>
            </a:pPr>
            <a:r>
              <a:rPr lang="en-US" altLang="zh-CN" dirty="0">
                <a:latin typeface="楷体_GB2312" pitchFamily="49" charset="-122"/>
                <a:ea typeface="楷体_GB2312" pitchFamily="49" charset="-122"/>
              </a:rPr>
              <a:t>:</a:t>
            </a:r>
            <a:r>
              <a:rPr lang="zh-CN" altLang="en-US" dirty="0">
                <a:latin typeface="Arial" panose="020B0604020202020204" pitchFamily="34" charset="0"/>
                <a:ea typeface="楷体_GB2312" pitchFamily="49" charset="-122"/>
              </a:rPr>
              <a:t>刚体绕通过质心的轴</a:t>
            </a:r>
            <a:r>
              <a:rPr lang="zh-CN" altLang="en-US" dirty="0">
                <a:latin typeface="楷体_GB2312" pitchFamily="49" charset="-122"/>
                <a:ea typeface="楷体_GB2312" pitchFamily="49" charset="-122"/>
              </a:rPr>
              <a:t>转动惯量</a:t>
            </a:r>
            <a:endParaRPr lang="zh-CN" altLang="en-US" b="0" dirty="0">
              <a:latin typeface="Arial" panose="020B0604020202020204" pitchFamily="34" charset="0"/>
              <a:ea typeface="楷体_GB2312" pitchFamily="49" charset="-122"/>
            </a:endParaRPr>
          </a:p>
        </p:txBody>
      </p:sp>
      <p:sp>
        <p:nvSpPr>
          <p:cNvPr id="681018" name="Text Box 58">
            <a:extLst>
              <a:ext uri="{FF2B5EF4-FFF2-40B4-BE49-F238E27FC236}">
                <a16:creationId xmlns:a16="http://schemas.microsoft.com/office/drawing/2014/main" id="{F94C0851-0565-618F-DC1B-FBA2055A94D8}"/>
              </a:ext>
            </a:extLst>
          </p:cNvPr>
          <p:cNvSpPr txBox="1">
            <a:spLocks noChangeArrowheads="1"/>
          </p:cNvSpPr>
          <p:nvPr/>
        </p:nvSpPr>
        <p:spPr bwMode="auto">
          <a:xfrm>
            <a:off x="1146175" y="6140450"/>
            <a:ext cx="4175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两轴间垂直距离</a:t>
            </a:r>
          </a:p>
        </p:txBody>
      </p:sp>
      <p:sp>
        <p:nvSpPr>
          <p:cNvPr id="681019" name="Arc 59">
            <a:extLst>
              <a:ext uri="{FF2B5EF4-FFF2-40B4-BE49-F238E27FC236}">
                <a16:creationId xmlns:a16="http://schemas.microsoft.com/office/drawing/2014/main" id="{9046CB1B-C802-3981-891B-96E9A7897715}"/>
              </a:ext>
            </a:extLst>
          </p:cNvPr>
          <p:cNvSpPr>
            <a:spLocks/>
          </p:cNvSpPr>
          <p:nvPr/>
        </p:nvSpPr>
        <p:spPr bwMode="auto">
          <a:xfrm flipH="1">
            <a:off x="1023938" y="1268413"/>
            <a:ext cx="471487" cy="146050"/>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81020" name="Arc 60">
            <a:extLst>
              <a:ext uri="{FF2B5EF4-FFF2-40B4-BE49-F238E27FC236}">
                <a16:creationId xmlns:a16="http://schemas.microsoft.com/office/drawing/2014/main" id="{9A2EA526-5B56-F659-E136-85C5470EE029}"/>
              </a:ext>
            </a:extLst>
          </p:cNvPr>
          <p:cNvSpPr>
            <a:spLocks/>
          </p:cNvSpPr>
          <p:nvPr/>
        </p:nvSpPr>
        <p:spPr bwMode="auto">
          <a:xfrm flipH="1">
            <a:off x="6284913" y="1327150"/>
            <a:ext cx="471487" cy="146050"/>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pic>
        <p:nvPicPr>
          <p:cNvPr id="681021" name="Picture 61" descr="j0293240">
            <a:extLst>
              <a:ext uri="{FF2B5EF4-FFF2-40B4-BE49-F238E27FC236}">
                <a16:creationId xmlns:a16="http://schemas.microsoft.com/office/drawing/2014/main" id="{160E3A97-4C4E-D463-882E-D67A7B74701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1022" name="Text Box 62">
            <a:extLst>
              <a:ext uri="{FF2B5EF4-FFF2-40B4-BE49-F238E27FC236}">
                <a16:creationId xmlns:a16="http://schemas.microsoft.com/office/drawing/2014/main" id="{2795F146-DCB9-B406-1254-B2D4092623F6}"/>
              </a:ext>
            </a:extLst>
          </p:cNvPr>
          <p:cNvSpPr txBox="1">
            <a:spLocks noChangeArrowheads="1"/>
          </p:cNvSpPr>
          <p:nvPr/>
        </p:nvSpPr>
        <p:spPr bwMode="auto">
          <a:xfrm>
            <a:off x="539750" y="3171825"/>
            <a:ext cx="842486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sz="2000">
                <a:latin typeface="楷体_GB2312" pitchFamily="49" charset="-122"/>
                <a:ea typeface="楷体_GB2312" pitchFamily="49" charset="-122"/>
              </a:rPr>
              <a:t>结论：刚体的转动惯量与</a:t>
            </a:r>
            <a:r>
              <a:rPr lang="zh-CN" altLang="en-US" sz="2000">
                <a:solidFill>
                  <a:srgbClr val="FF9900"/>
                </a:solidFill>
                <a:latin typeface="楷体_GB2312" pitchFamily="49" charset="-122"/>
                <a:ea typeface="楷体_GB2312" pitchFamily="49" charset="-122"/>
              </a:rPr>
              <a:t>刚体的质量</a:t>
            </a:r>
            <a:r>
              <a:rPr lang="zh-CN" altLang="en-US" sz="2000">
                <a:latin typeface="楷体_GB2312" pitchFamily="49" charset="-122"/>
                <a:ea typeface="楷体_GB2312" pitchFamily="49" charset="-122"/>
              </a:rPr>
              <a:t>、</a:t>
            </a:r>
            <a:r>
              <a:rPr lang="zh-CN" altLang="en-US" sz="2000">
                <a:solidFill>
                  <a:srgbClr val="FF9900"/>
                </a:solidFill>
                <a:latin typeface="楷体_GB2312" pitchFamily="49" charset="-122"/>
                <a:ea typeface="楷体_GB2312" pitchFamily="49" charset="-122"/>
              </a:rPr>
              <a:t>质量分布</a:t>
            </a:r>
            <a:r>
              <a:rPr lang="zh-CN" altLang="en-US" sz="2000">
                <a:latin typeface="楷体_GB2312" pitchFamily="49" charset="-122"/>
                <a:ea typeface="楷体_GB2312" pitchFamily="49" charset="-122"/>
              </a:rPr>
              <a:t>及</a:t>
            </a:r>
            <a:r>
              <a:rPr lang="zh-CN" altLang="en-US" sz="2000">
                <a:solidFill>
                  <a:srgbClr val="FF9900"/>
                </a:solidFill>
                <a:latin typeface="楷体_GB2312" pitchFamily="49" charset="-122"/>
                <a:ea typeface="楷体_GB2312" pitchFamily="49" charset="-122"/>
              </a:rPr>
              <a:t>转轴的位置</a:t>
            </a:r>
            <a:r>
              <a:rPr lang="zh-CN" altLang="en-US" sz="2000">
                <a:latin typeface="楷体_GB2312" pitchFamily="49" charset="-122"/>
                <a:ea typeface="楷体_GB2312" pitchFamily="49" charset="-122"/>
              </a:rPr>
              <a:t>有关。</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1011"/>
                                        </p:tgtEl>
                                        <p:attrNameLst>
                                          <p:attrName>style.visibility</p:attrName>
                                        </p:attrNameLst>
                                      </p:cBhvr>
                                      <p:to>
                                        <p:strVal val="visible"/>
                                      </p:to>
                                    </p:set>
                                    <p:animEffect transition="in" filter="wipe(left)">
                                      <p:cBhvr>
                                        <p:cTn id="7" dur="500"/>
                                        <p:tgtEl>
                                          <p:spTgt spid="6810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80976"/>
                                        </p:tgtEl>
                                        <p:attrNameLst>
                                          <p:attrName>style.visibility</p:attrName>
                                        </p:attrNameLst>
                                      </p:cBhvr>
                                      <p:to>
                                        <p:strVal val="visible"/>
                                      </p:to>
                                    </p:set>
                                    <p:animEffect transition="in" filter="wipe(left)">
                                      <p:cBhvr>
                                        <p:cTn id="12" dur="500"/>
                                        <p:tgtEl>
                                          <p:spTgt spid="6809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80978"/>
                                        </p:tgtEl>
                                        <p:attrNameLst>
                                          <p:attrName>style.visibility</p:attrName>
                                        </p:attrNameLst>
                                      </p:cBhvr>
                                      <p:to>
                                        <p:strVal val="visible"/>
                                      </p:to>
                                    </p:set>
                                    <p:animEffect transition="in" filter="wipe(left)">
                                      <p:cBhvr>
                                        <p:cTn id="17" dur="500"/>
                                        <p:tgtEl>
                                          <p:spTgt spid="6809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80977"/>
                                        </p:tgtEl>
                                        <p:attrNameLst>
                                          <p:attrName>style.visibility</p:attrName>
                                        </p:attrNameLst>
                                      </p:cBhvr>
                                      <p:to>
                                        <p:strVal val="visible"/>
                                      </p:to>
                                    </p:set>
                                    <p:animEffect transition="in" filter="wipe(left)">
                                      <p:cBhvr>
                                        <p:cTn id="22" dur="500"/>
                                        <p:tgtEl>
                                          <p:spTgt spid="6809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80984"/>
                                        </p:tgtEl>
                                        <p:attrNameLst>
                                          <p:attrName>style.visibility</p:attrName>
                                        </p:attrNameLst>
                                      </p:cBhvr>
                                      <p:to>
                                        <p:strVal val="visible"/>
                                      </p:to>
                                    </p:set>
                                    <p:animEffect transition="in" filter="wipe(left)">
                                      <p:cBhvr>
                                        <p:cTn id="27" dur="500"/>
                                        <p:tgtEl>
                                          <p:spTgt spid="6809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80980"/>
                                        </p:tgtEl>
                                        <p:attrNameLst>
                                          <p:attrName>style.visibility</p:attrName>
                                        </p:attrNameLst>
                                      </p:cBhvr>
                                      <p:to>
                                        <p:strVal val="visible"/>
                                      </p:to>
                                    </p:set>
                                    <p:animEffect transition="in" filter="wipe(left)">
                                      <p:cBhvr>
                                        <p:cTn id="32" dur="500"/>
                                        <p:tgtEl>
                                          <p:spTgt spid="6809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80981"/>
                                        </p:tgtEl>
                                        <p:attrNameLst>
                                          <p:attrName>style.visibility</p:attrName>
                                        </p:attrNameLst>
                                      </p:cBhvr>
                                      <p:to>
                                        <p:strVal val="visible"/>
                                      </p:to>
                                    </p:set>
                                    <p:animEffect transition="in" filter="wipe(left)">
                                      <p:cBhvr>
                                        <p:cTn id="37" dur="500"/>
                                        <p:tgtEl>
                                          <p:spTgt spid="6809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80982"/>
                                        </p:tgtEl>
                                        <p:attrNameLst>
                                          <p:attrName>style.visibility</p:attrName>
                                        </p:attrNameLst>
                                      </p:cBhvr>
                                      <p:to>
                                        <p:strVal val="visible"/>
                                      </p:to>
                                    </p:set>
                                    <p:animEffect transition="in" filter="wipe(left)">
                                      <p:cBhvr>
                                        <p:cTn id="42" dur="500"/>
                                        <p:tgtEl>
                                          <p:spTgt spid="68098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80979"/>
                                        </p:tgtEl>
                                        <p:attrNameLst>
                                          <p:attrName>style.visibility</p:attrName>
                                        </p:attrNameLst>
                                      </p:cBhvr>
                                      <p:to>
                                        <p:strVal val="visible"/>
                                      </p:to>
                                    </p:set>
                                    <p:animEffect transition="in" filter="wipe(left)">
                                      <p:cBhvr>
                                        <p:cTn id="47" dur="500"/>
                                        <p:tgtEl>
                                          <p:spTgt spid="68097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80983"/>
                                        </p:tgtEl>
                                        <p:attrNameLst>
                                          <p:attrName>style.visibility</p:attrName>
                                        </p:attrNameLst>
                                      </p:cBhvr>
                                      <p:to>
                                        <p:strVal val="visible"/>
                                      </p:to>
                                    </p:set>
                                    <p:animEffect transition="in" filter="wipe(left)">
                                      <p:cBhvr>
                                        <p:cTn id="52" dur="500"/>
                                        <p:tgtEl>
                                          <p:spTgt spid="68098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681019"/>
                                        </p:tgtEl>
                                        <p:attrNameLst>
                                          <p:attrName>style.visibility</p:attrName>
                                        </p:attrNameLst>
                                      </p:cBhvr>
                                      <p:to>
                                        <p:strVal val="visible"/>
                                      </p:to>
                                    </p:set>
                                    <p:animEffect transition="in" filter="wipe(down)">
                                      <p:cBhvr>
                                        <p:cTn id="57" dur="500"/>
                                        <p:tgtEl>
                                          <p:spTgt spid="6810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80985"/>
                                        </p:tgtEl>
                                        <p:attrNameLst>
                                          <p:attrName>style.visibility</p:attrName>
                                        </p:attrNameLst>
                                      </p:cBhvr>
                                      <p:to>
                                        <p:strVal val="visible"/>
                                      </p:to>
                                    </p:set>
                                    <p:animEffect transition="in" filter="wipe(left)">
                                      <p:cBhvr>
                                        <p:cTn id="62" dur="500"/>
                                        <p:tgtEl>
                                          <p:spTgt spid="68098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80986"/>
                                        </p:tgtEl>
                                        <p:attrNameLst>
                                          <p:attrName>style.visibility</p:attrName>
                                        </p:attrNameLst>
                                      </p:cBhvr>
                                      <p:to>
                                        <p:strVal val="visible"/>
                                      </p:to>
                                    </p:set>
                                    <p:animEffect transition="in" filter="wipe(left)">
                                      <p:cBhvr>
                                        <p:cTn id="67" dur="500"/>
                                        <p:tgtEl>
                                          <p:spTgt spid="68098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80987"/>
                                        </p:tgtEl>
                                        <p:attrNameLst>
                                          <p:attrName>style.visibility</p:attrName>
                                        </p:attrNameLst>
                                      </p:cBhvr>
                                      <p:to>
                                        <p:strVal val="visible"/>
                                      </p:to>
                                    </p:set>
                                    <p:animEffect transition="in" filter="wipe(left)">
                                      <p:cBhvr>
                                        <p:cTn id="72" dur="500"/>
                                        <p:tgtEl>
                                          <p:spTgt spid="68098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80989"/>
                                        </p:tgtEl>
                                        <p:attrNameLst>
                                          <p:attrName>style.visibility</p:attrName>
                                        </p:attrNameLst>
                                      </p:cBhvr>
                                      <p:to>
                                        <p:strVal val="visible"/>
                                      </p:to>
                                    </p:set>
                                    <p:animEffect transition="in" filter="wipe(left)">
                                      <p:cBhvr>
                                        <p:cTn id="77" dur="500"/>
                                        <p:tgtEl>
                                          <p:spTgt spid="68098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80988"/>
                                        </p:tgtEl>
                                        <p:attrNameLst>
                                          <p:attrName>style.visibility</p:attrName>
                                        </p:attrNameLst>
                                      </p:cBhvr>
                                      <p:to>
                                        <p:strVal val="visible"/>
                                      </p:to>
                                    </p:set>
                                    <p:animEffect transition="in" filter="wipe(left)">
                                      <p:cBhvr>
                                        <p:cTn id="82" dur="500"/>
                                        <p:tgtEl>
                                          <p:spTgt spid="68098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80991"/>
                                        </p:tgtEl>
                                        <p:attrNameLst>
                                          <p:attrName>style.visibility</p:attrName>
                                        </p:attrNameLst>
                                      </p:cBhvr>
                                      <p:to>
                                        <p:strVal val="visible"/>
                                      </p:to>
                                    </p:set>
                                    <p:animEffect transition="in" filter="wipe(left)">
                                      <p:cBhvr>
                                        <p:cTn id="87" dur="500"/>
                                        <p:tgtEl>
                                          <p:spTgt spid="68099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680996"/>
                                        </p:tgtEl>
                                        <p:attrNameLst>
                                          <p:attrName>style.visibility</p:attrName>
                                        </p:attrNameLst>
                                      </p:cBhvr>
                                      <p:to>
                                        <p:strVal val="visible"/>
                                      </p:to>
                                    </p:set>
                                    <p:animEffect transition="in" filter="wipe(left)">
                                      <p:cBhvr>
                                        <p:cTn id="92" dur="500"/>
                                        <p:tgtEl>
                                          <p:spTgt spid="68099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680992"/>
                                        </p:tgtEl>
                                        <p:attrNameLst>
                                          <p:attrName>style.visibility</p:attrName>
                                        </p:attrNameLst>
                                      </p:cBhvr>
                                      <p:to>
                                        <p:strVal val="visible"/>
                                      </p:to>
                                    </p:set>
                                    <p:animEffect transition="in" filter="wipe(left)">
                                      <p:cBhvr>
                                        <p:cTn id="97" dur="500"/>
                                        <p:tgtEl>
                                          <p:spTgt spid="68099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680993"/>
                                        </p:tgtEl>
                                        <p:attrNameLst>
                                          <p:attrName>style.visibility</p:attrName>
                                        </p:attrNameLst>
                                      </p:cBhvr>
                                      <p:to>
                                        <p:strVal val="visible"/>
                                      </p:to>
                                    </p:set>
                                    <p:animEffect transition="in" filter="wipe(left)">
                                      <p:cBhvr>
                                        <p:cTn id="102" dur="500"/>
                                        <p:tgtEl>
                                          <p:spTgt spid="68099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680994"/>
                                        </p:tgtEl>
                                        <p:attrNameLst>
                                          <p:attrName>style.visibility</p:attrName>
                                        </p:attrNameLst>
                                      </p:cBhvr>
                                      <p:to>
                                        <p:strVal val="visible"/>
                                      </p:to>
                                    </p:set>
                                    <p:animEffect transition="in" filter="wipe(left)">
                                      <p:cBhvr>
                                        <p:cTn id="107" dur="500"/>
                                        <p:tgtEl>
                                          <p:spTgt spid="68099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680990"/>
                                        </p:tgtEl>
                                        <p:attrNameLst>
                                          <p:attrName>style.visibility</p:attrName>
                                        </p:attrNameLst>
                                      </p:cBhvr>
                                      <p:to>
                                        <p:strVal val="visible"/>
                                      </p:to>
                                    </p:set>
                                    <p:animEffect transition="in" filter="wipe(left)">
                                      <p:cBhvr>
                                        <p:cTn id="112" dur="500"/>
                                        <p:tgtEl>
                                          <p:spTgt spid="68099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680995"/>
                                        </p:tgtEl>
                                        <p:attrNameLst>
                                          <p:attrName>style.visibility</p:attrName>
                                        </p:attrNameLst>
                                      </p:cBhvr>
                                      <p:to>
                                        <p:strVal val="visible"/>
                                      </p:to>
                                    </p:set>
                                    <p:animEffect transition="in" filter="wipe(left)">
                                      <p:cBhvr>
                                        <p:cTn id="117" dur="500"/>
                                        <p:tgtEl>
                                          <p:spTgt spid="680995"/>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4" fill="hold" nodeType="clickEffect">
                                  <p:stCondLst>
                                    <p:cond delay="0"/>
                                  </p:stCondLst>
                                  <p:childTnLst>
                                    <p:set>
                                      <p:cBhvr>
                                        <p:cTn id="121" dur="1" fill="hold">
                                          <p:stCondLst>
                                            <p:cond delay="0"/>
                                          </p:stCondLst>
                                        </p:cTn>
                                        <p:tgtEl>
                                          <p:spTgt spid="681020"/>
                                        </p:tgtEl>
                                        <p:attrNameLst>
                                          <p:attrName>style.visibility</p:attrName>
                                        </p:attrNameLst>
                                      </p:cBhvr>
                                      <p:to>
                                        <p:strVal val="visible"/>
                                      </p:to>
                                    </p:set>
                                    <p:animEffect transition="in" filter="wipe(down)">
                                      <p:cBhvr>
                                        <p:cTn id="122" dur="500"/>
                                        <p:tgtEl>
                                          <p:spTgt spid="68102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681010"/>
                                        </p:tgtEl>
                                        <p:attrNameLst>
                                          <p:attrName>style.visibility</p:attrName>
                                        </p:attrNameLst>
                                      </p:cBhvr>
                                      <p:to>
                                        <p:strVal val="visible"/>
                                      </p:to>
                                    </p:set>
                                    <p:animEffect transition="in" filter="wipe(left)">
                                      <p:cBhvr>
                                        <p:cTn id="127" dur="500"/>
                                        <p:tgtEl>
                                          <p:spTgt spid="681010"/>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680997"/>
                                        </p:tgtEl>
                                        <p:attrNameLst>
                                          <p:attrName>style.visibility</p:attrName>
                                        </p:attrNameLst>
                                      </p:cBhvr>
                                      <p:to>
                                        <p:strVal val="visible"/>
                                      </p:to>
                                    </p:set>
                                    <p:animEffect transition="in" filter="wipe(left)">
                                      <p:cBhvr>
                                        <p:cTn id="132" dur="500"/>
                                        <p:tgtEl>
                                          <p:spTgt spid="680997"/>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681022"/>
                                        </p:tgtEl>
                                        <p:attrNameLst>
                                          <p:attrName>style.visibility</p:attrName>
                                        </p:attrNameLst>
                                      </p:cBhvr>
                                      <p:to>
                                        <p:strVal val="visible"/>
                                      </p:to>
                                    </p:set>
                                    <p:animEffect transition="in" filter="wipe(left)">
                                      <p:cBhvr>
                                        <p:cTn id="137" dur="500"/>
                                        <p:tgtEl>
                                          <p:spTgt spid="681022"/>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680998"/>
                                        </p:tgtEl>
                                        <p:attrNameLst>
                                          <p:attrName>style.visibility</p:attrName>
                                        </p:attrNameLst>
                                      </p:cBhvr>
                                      <p:to>
                                        <p:strVal val="visible"/>
                                      </p:to>
                                    </p:set>
                                    <p:animEffect transition="in" filter="wipe(left)">
                                      <p:cBhvr>
                                        <p:cTn id="142" dur="500"/>
                                        <p:tgtEl>
                                          <p:spTgt spid="680998"/>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681012"/>
                                        </p:tgtEl>
                                        <p:attrNameLst>
                                          <p:attrName>style.visibility</p:attrName>
                                        </p:attrNameLst>
                                      </p:cBhvr>
                                      <p:to>
                                        <p:strVal val="visible"/>
                                      </p:to>
                                    </p:set>
                                    <p:animEffect transition="in" filter="wipe(left)">
                                      <p:cBhvr>
                                        <p:cTn id="147" dur="500"/>
                                        <p:tgtEl>
                                          <p:spTgt spid="68101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3" presetClass="entr" presetSubtype="16" fill="hold" nodeType="clickEffect">
                                  <p:stCondLst>
                                    <p:cond delay="0"/>
                                  </p:stCondLst>
                                  <p:childTnLst>
                                    <p:set>
                                      <p:cBhvr>
                                        <p:cTn id="151" dur="1" fill="hold">
                                          <p:stCondLst>
                                            <p:cond delay="0"/>
                                          </p:stCondLst>
                                        </p:cTn>
                                        <p:tgtEl>
                                          <p:spTgt spid="680975"/>
                                        </p:tgtEl>
                                        <p:attrNameLst>
                                          <p:attrName>style.visibility</p:attrName>
                                        </p:attrNameLst>
                                      </p:cBhvr>
                                      <p:to>
                                        <p:strVal val="visible"/>
                                      </p:to>
                                    </p:set>
                                    <p:anim calcmode="lin" valueType="num">
                                      <p:cBhvr>
                                        <p:cTn id="152" dur="500" fill="hold"/>
                                        <p:tgtEl>
                                          <p:spTgt spid="680975"/>
                                        </p:tgtEl>
                                        <p:attrNameLst>
                                          <p:attrName>ppt_w</p:attrName>
                                        </p:attrNameLst>
                                      </p:cBhvr>
                                      <p:tavLst>
                                        <p:tav tm="0">
                                          <p:val>
                                            <p:fltVal val="0"/>
                                          </p:val>
                                        </p:tav>
                                        <p:tav tm="100000">
                                          <p:val>
                                            <p:strVal val="#ppt_w"/>
                                          </p:val>
                                        </p:tav>
                                      </p:tavLst>
                                    </p:anim>
                                    <p:anim calcmode="lin" valueType="num">
                                      <p:cBhvr>
                                        <p:cTn id="153" dur="500" fill="hold"/>
                                        <p:tgtEl>
                                          <p:spTgt spid="680975"/>
                                        </p:tgtEl>
                                        <p:attrNameLst>
                                          <p:attrName>ppt_h</p:attrName>
                                        </p:attrNameLst>
                                      </p:cBhvr>
                                      <p:tavLst>
                                        <p:tav tm="0">
                                          <p:val>
                                            <p:fltVal val="0"/>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nodeType="clickEffect">
                                  <p:stCondLst>
                                    <p:cond delay="0"/>
                                  </p:stCondLst>
                                  <p:childTnLst>
                                    <p:set>
                                      <p:cBhvr>
                                        <p:cTn id="157" dur="1" fill="hold">
                                          <p:stCondLst>
                                            <p:cond delay="0"/>
                                          </p:stCondLst>
                                        </p:cTn>
                                        <p:tgtEl>
                                          <p:spTgt spid="680999"/>
                                        </p:tgtEl>
                                        <p:attrNameLst>
                                          <p:attrName>style.visibility</p:attrName>
                                        </p:attrNameLst>
                                      </p:cBhvr>
                                      <p:to>
                                        <p:strVal val="visible"/>
                                      </p:to>
                                    </p:set>
                                    <p:animEffect transition="in" filter="wipe(left)">
                                      <p:cBhvr>
                                        <p:cTn id="158" dur="500"/>
                                        <p:tgtEl>
                                          <p:spTgt spid="680999"/>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nodeType="clickEffect">
                                  <p:stCondLst>
                                    <p:cond delay="0"/>
                                  </p:stCondLst>
                                  <p:childTnLst>
                                    <p:set>
                                      <p:cBhvr>
                                        <p:cTn id="162" dur="1" fill="hold">
                                          <p:stCondLst>
                                            <p:cond delay="0"/>
                                          </p:stCondLst>
                                        </p:cTn>
                                        <p:tgtEl>
                                          <p:spTgt spid="681000"/>
                                        </p:tgtEl>
                                        <p:attrNameLst>
                                          <p:attrName>style.visibility</p:attrName>
                                        </p:attrNameLst>
                                      </p:cBhvr>
                                      <p:to>
                                        <p:strVal val="visible"/>
                                      </p:to>
                                    </p:set>
                                    <p:animEffect transition="in" filter="wipe(left)">
                                      <p:cBhvr>
                                        <p:cTn id="163" dur="500"/>
                                        <p:tgtEl>
                                          <p:spTgt spid="681000"/>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8" fill="hold" nodeType="clickEffect">
                                  <p:stCondLst>
                                    <p:cond delay="0"/>
                                  </p:stCondLst>
                                  <p:childTnLst>
                                    <p:set>
                                      <p:cBhvr>
                                        <p:cTn id="167" dur="1" fill="hold">
                                          <p:stCondLst>
                                            <p:cond delay="0"/>
                                          </p:stCondLst>
                                        </p:cTn>
                                        <p:tgtEl>
                                          <p:spTgt spid="681007"/>
                                        </p:tgtEl>
                                        <p:attrNameLst>
                                          <p:attrName>style.visibility</p:attrName>
                                        </p:attrNameLst>
                                      </p:cBhvr>
                                      <p:to>
                                        <p:strVal val="visible"/>
                                      </p:to>
                                    </p:set>
                                    <p:animEffect transition="in" filter="wipe(left)">
                                      <p:cBhvr>
                                        <p:cTn id="168" dur="500"/>
                                        <p:tgtEl>
                                          <p:spTgt spid="681007"/>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2" presetClass="entr" presetSubtype="8" fill="hold" nodeType="clickEffect">
                                  <p:stCondLst>
                                    <p:cond delay="0"/>
                                  </p:stCondLst>
                                  <p:childTnLst>
                                    <p:set>
                                      <p:cBhvr>
                                        <p:cTn id="172" dur="1" fill="hold">
                                          <p:stCondLst>
                                            <p:cond delay="0"/>
                                          </p:stCondLst>
                                        </p:cTn>
                                        <p:tgtEl>
                                          <p:spTgt spid="681003"/>
                                        </p:tgtEl>
                                        <p:attrNameLst>
                                          <p:attrName>style.visibility</p:attrName>
                                        </p:attrNameLst>
                                      </p:cBhvr>
                                      <p:to>
                                        <p:strVal val="visible"/>
                                      </p:to>
                                    </p:set>
                                    <p:animEffect transition="in" filter="wipe(left)">
                                      <p:cBhvr>
                                        <p:cTn id="173" dur="500"/>
                                        <p:tgtEl>
                                          <p:spTgt spid="681003"/>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2" presetClass="entr" presetSubtype="8" fill="hold" nodeType="clickEffect">
                                  <p:stCondLst>
                                    <p:cond delay="0"/>
                                  </p:stCondLst>
                                  <p:childTnLst>
                                    <p:set>
                                      <p:cBhvr>
                                        <p:cTn id="177" dur="1" fill="hold">
                                          <p:stCondLst>
                                            <p:cond delay="0"/>
                                          </p:stCondLst>
                                        </p:cTn>
                                        <p:tgtEl>
                                          <p:spTgt spid="681004"/>
                                        </p:tgtEl>
                                        <p:attrNameLst>
                                          <p:attrName>style.visibility</p:attrName>
                                        </p:attrNameLst>
                                      </p:cBhvr>
                                      <p:to>
                                        <p:strVal val="visible"/>
                                      </p:to>
                                    </p:set>
                                    <p:animEffect transition="in" filter="wipe(left)">
                                      <p:cBhvr>
                                        <p:cTn id="178" dur="500"/>
                                        <p:tgtEl>
                                          <p:spTgt spid="681004"/>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8" fill="hold" nodeType="clickEffect">
                                  <p:stCondLst>
                                    <p:cond delay="0"/>
                                  </p:stCondLst>
                                  <p:childTnLst>
                                    <p:set>
                                      <p:cBhvr>
                                        <p:cTn id="182" dur="1" fill="hold">
                                          <p:stCondLst>
                                            <p:cond delay="0"/>
                                          </p:stCondLst>
                                        </p:cTn>
                                        <p:tgtEl>
                                          <p:spTgt spid="681001"/>
                                        </p:tgtEl>
                                        <p:attrNameLst>
                                          <p:attrName>style.visibility</p:attrName>
                                        </p:attrNameLst>
                                      </p:cBhvr>
                                      <p:to>
                                        <p:strVal val="visible"/>
                                      </p:to>
                                    </p:set>
                                    <p:animEffect transition="in" filter="wipe(left)">
                                      <p:cBhvr>
                                        <p:cTn id="183" dur="500"/>
                                        <p:tgtEl>
                                          <p:spTgt spid="681001"/>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8" fill="hold" nodeType="clickEffect">
                                  <p:stCondLst>
                                    <p:cond delay="0"/>
                                  </p:stCondLst>
                                  <p:childTnLst>
                                    <p:set>
                                      <p:cBhvr>
                                        <p:cTn id="187" dur="1" fill="hold">
                                          <p:stCondLst>
                                            <p:cond delay="0"/>
                                          </p:stCondLst>
                                        </p:cTn>
                                        <p:tgtEl>
                                          <p:spTgt spid="681005"/>
                                        </p:tgtEl>
                                        <p:attrNameLst>
                                          <p:attrName>style.visibility</p:attrName>
                                        </p:attrNameLst>
                                      </p:cBhvr>
                                      <p:to>
                                        <p:strVal val="visible"/>
                                      </p:to>
                                    </p:set>
                                    <p:animEffect transition="in" filter="wipe(left)">
                                      <p:cBhvr>
                                        <p:cTn id="188" dur="500"/>
                                        <p:tgtEl>
                                          <p:spTgt spid="681005"/>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8" fill="hold" nodeType="clickEffect">
                                  <p:stCondLst>
                                    <p:cond delay="0"/>
                                  </p:stCondLst>
                                  <p:childTnLst>
                                    <p:set>
                                      <p:cBhvr>
                                        <p:cTn id="192" dur="1" fill="hold">
                                          <p:stCondLst>
                                            <p:cond delay="0"/>
                                          </p:stCondLst>
                                        </p:cTn>
                                        <p:tgtEl>
                                          <p:spTgt spid="681006"/>
                                        </p:tgtEl>
                                        <p:attrNameLst>
                                          <p:attrName>style.visibility</p:attrName>
                                        </p:attrNameLst>
                                      </p:cBhvr>
                                      <p:to>
                                        <p:strVal val="visible"/>
                                      </p:to>
                                    </p:set>
                                    <p:animEffect transition="in" filter="wipe(left)">
                                      <p:cBhvr>
                                        <p:cTn id="193" dur="500"/>
                                        <p:tgtEl>
                                          <p:spTgt spid="681006"/>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8" fill="hold" nodeType="clickEffect">
                                  <p:stCondLst>
                                    <p:cond delay="0"/>
                                  </p:stCondLst>
                                  <p:childTnLst>
                                    <p:set>
                                      <p:cBhvr>
                                        <p:cTn id="197" dur="1" fill="hold">
                                          <p:stCondLst>
                                            <p:cond delay="0"/>
                                          </p:stCondLst>
                                        </p:cTn>
                                        <p:tgtEl>
                                          <p:spTgt spid="681008"/>
                                        </p:tgtEl>
                                        <p:attrNameLst>
                                          <p:attrName>style.visibility</p:attrName>
                                        </p:attrNameLst>
                                      </p:cBhvr>
                                      <p:to>
                                        <p:strVal val="visible"/>
                                      </p:to>
                                    </p:set>
                                    <p:animEffect transition="in" filter="wipe(left)">
                                      <p:cBhvr>
                                        <p:cTn id="198" dur="500"/>
                                        <p:tgtEl>
                                          <p:spTgt spid="681008"/>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8" fill="hold" nodeType="clickEffect">
                                  <p:stCondLst>
                                    <p:cond delay="0"/>
                                  </p:stCondLst>
                                  <p:childTnLst>
                                    <p:set>
                                      <p:cBhvr>
                                        <p:cTn id="202" dur="1" fill="hold">
                                          <p:stCondLst>
                                            <p:cond delay="0"/>
                                          </p:stCondLst>
                                        </p:cTn>
                                        <p:tgtEl>
                                          <p:spTgt spid="681002"/>
                                        </p:tgtEl>
                                        <p:attrNameLst>
                                          <p:attrName>style.visibility</p:attrName>
                                        </p:attrNameLst>
                                      </p:cBhvr>
                                      <p:to>
                                        <p:strVal val="visible"/>
                                      </p:to>
                                    </p:set>
                                    <p:animEffect transition="in" filter="wipe(left)">
                                      <p:cBhvr>
                                        <p:cTn id="203" dur="500"/>
                                        <p:tgtEl>
                                          <p:spTgt spid="681002"/>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8" fill="hold" nodeType="clickEffect">
                                  <p:stCondLst>
                                    <p:cond delay="0"/>
                                  </p:stCondLst>
                                  <p:childTnLst>
                                    <p:set>
                                      <p:cBhvr>
                                        <p:cTn id="207" dur="1" fill="hold">
                                          <p:stCondLst>
                                            <p:cond delay="0"/>
                                          </p:stCondLst>
                                        </p:cTn>
                                        <p:tgtEl>
                                          <p:spTgt spid="681009"/>
                                        </p:tgtEl>
                                        <p:attrNameLst>
                                          <p:attrName>style.visibility</p:attrName>
                                        </p:attrNameLst>
                                      </p:cBhvr>
                                      <p:to>
                                        <p:strVal val="visible"/>
                                      </p:to>
                                    </p:set>
                                    <p:animEffect transition="in" filter="wipe(left)">
                                      <p:cBhvr>
                                        <p:cTn id="208" dur="500"/>
                                        <p:tgtEl>
                                          <p:spTgt spid="681009"/>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2" presetClass="entr" presetSubtype="8" fill="hold" nodeType="clickEffect">
                                  <p:stCondLst>
                                    <p:cond delay="0"/>
                                  </p:stCondLst>
                                  <p:childTnLst>
                                    <p:set>
                                      <p:cBhvr>
                                        <p:cTn id="212" dur="1" fill="hold">
                                          <p:stCondLst>
                                            <p:cond delay="0"/>
                                          </p:stCondLst>
                                        </p:cTn>
                                        <p:tgtEl>
                                          <p:spTgt spid="681013"/>
                                        </p:tgtEl>
                                        <p:attrNameLst>
                                          <p:attrName>style.visibility</p:attrName>
                                        </p:attrNameLst>
                                      </p:cBhvr>
                                      <p:to>
                                        <p:strVal val="visible"/>
                                      </p:to>
                                    </p:set>
                                    <p:animEffect transition="in" filter="wipe(left)">
                                      <p:cBhvr>
                                        <p:cTn id="213" dur="500"/>
                                        <p:tgtEl>
                                          <p:spTgt spid="681013"/>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2" presetClass="entr" presetSubtype="8" fill="hold" nodeType="clickEffect">
                                  <p:stCondLst>
                                    <p:cond delay="0"/>
                                  </p:stCondLst>
                                  <p:childTnLst>
                                    <p:set>
                                      <p:cBhvr>
                                        <p:cTn id="217" dur="1" fill="hold">
                                          <p:stCondLst>
                                            <p:cond delay="0"/>
                                          </p:stCondLst>
                                        </p:cTn>
                                        <p:tgtEl>
                                          <p:spTgt spid="681016"/>
                                        </p:tgtEl>
                                        <p:attrNameLst>
                                          <p:attrName>style.visibility</p:attrName>
                                        </p:attrNameLst>
                                      </p:cBhvr>
                                      <p:to>
                                        <p:strVal val="visible"/>
                                      </p:to>
                                    </p:set>
                                    <p:animEffect transition="in" filter="wipe(left)">
                                      <p:cBhvr>
                                        <p:cTn id="218" dur="500"/>
                                        <p:tgtEl>
                                          <p:spTgt spid="681016"/>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2" presetClass="entr" presetSubtype="8" fill="hold" nodeType="clickEffect">
                                  <p:stCondLst>
                                    <p:cond delay="0"/>
                                  </p:stCondLst>
                                  <p:childTnLst>
                                    <p:set>
                                      <p:cBhvr>
                                        <p:cTn id="222" dur="1" fill="hold">
                                          <p:stCondLst>
                                            <p:cond delay="0"/>
                                          </p:stCondLst>
                                        </p:cTn>
                                        <p:tgtEl>
                                          <p:spTgt spid="681014"/>
                                        </p:tgtEl>
                                        <p:attrNameLst>
                                          <p:attrName>style.visibility</p:attrName>
                                        </p:attrNameLst>
                                      </p:cBhvr>
                                      <p:to>
                                        <p:strVal val="visible"/>
                                      </p:to>
                                    </p:set>
                                    <p:animEffect transition="in" filter="wipe(left)">
                                      <p:cBhvr>
                                        <p:cTn id="223" dur="500"/>
                                        <p:tgtEl>
                                          <p:spTgt spid="681014"/>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2" presetClass="entr" presetSubtype="8" fill="hold" nodeType="clickEffect">
                                  <p:stCondLst>
                                    <p:cond delay="0"/>
                                  </p:stCondLst>
                                  <p:childTnLst>
                                    <p:set>
                                      <p:cBhvr>
                                        <p:cTn id="227" dur="1" fill="hold">
                                          <p:stCondLst>
                                            <p:cond delay="0"/>
                                          </p:stCondLst>
                                        </p:cTn>
                                        <p:tgtEl>
                                          <p:spTgt spid="681017"/>
                                        </p:tgtEl>
                                        <p:attrNameLst>
                                          <p:attrName>style.visibility</p:attrName>
                                        </p:attrNameLst>
                                      </p:cBhvr>
                                      <p:to>
                                        <p:strVal val="visible"/>
                                      </p:to>
                                    </p:set>
                                    <p:animEffect transition="in" filter="wipe(left)">
                                      <p:cBhvr>
                                        <p:cTn id="228" dur="500"/>
                                        <p:tgtEl>
                                          <p:spTgt spid="681017"/>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22" presetClass="entr" presetSubtype="8" fill="hold" nodeType="clickEffect">
                                  <p:stCondLst>
                                    <p:cond delay="0"/>
                                  </p:stCondLst>
                                  <p:childTnLst>
                                    <p:set>
                                      <p:cBhvr>
                                        <p:cTn id="232" dur="1" fill="hold">
                                          <p:stCondLst>
                                            <p:cond delay="0"/>
                                          </p:stCondLst>
                                        </p:cTn>
                                        <p:tgtEl>
                                          <p:spTgt spid="681015"/>
                                        </p:tgtEl>
                                        <p:attrNameLst>
                                          <p:attrName>style.visibility</p:attrName>
                                        </p:attrNameLst>
                                      </p:cBhvr>
                                      <p:to>
                                        <p:strVal val="visible"/>
                                      </p:to>
                                    </p:set>
                                    <p:animEffect transition="in" filter="wipe(left)">
                                      <p:cBhvr>
                                        <p:cTn id="233" dur="500"/>
                                        <p:tgtEl>
                                          <p:spTgt spid="681015"/>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2" presetClass="entr" presetSubtype="8" fill="hold" nodeType="clickEffect">
                                  <p:stCondLst>
                                    <p:cond delay="0"/>
                                  </p:stCondLst>
                                  <p:childTnLst>
                                    <p:set>
                                      <p:cBhvr>
                                        <p:cTn id="237" dur="1" fill="hold">
                                          <p:stCondLst>
                                            <p:cond delay="0"/>
                                          </p:stCondLst>
                                        </p:cTn>
                                        <p:tgtEl>
                                          <p:spTgt spid="681018"/>
                                        </p:tgtEl>
                                        <p:attrNameLst>
                                          <p:attrName>style.visibility</p:attrName>
                                        </p:attrNameLst>
                                      </p:cBhvr>
                                      <p:to>
                                        <p:strVal val="visible"/>
                                      </p:to>
                                    </p:set>
                                    <p:animEffect transition="in" filter="wipe(left)">
                                      <p:cBhvr>
                                        <p:cTn id="238" dur="500"/>
                                        <p:tgtEl>
                                          <p:spTgt spid="681018"/>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 presetClass="entr" presetSubtype="2" fill="hold" nodeType="clickEffect">
                                  <p:stCondLst>
                                    <p:cond delay="0"/>
                                  </p:stCondLst>
                                  <p:childTnLst>
                                    <p:set>
                                      <p:cBhvr>
                                        <p:cTn id="242" dur="1" fill="hold">
                                          <p:stCondLst>
                                            <p:cond delay="0"/>
                                          </p:stCondLst>
                                        </p:cTn>
                                        <p:tgtEl>
                                          <p:spTgt spid="681021"/>
                                        </p:tgtEl>
                                        <p:attrNameLst>
                                          <p:attrName>style.visibility</p:attrName>
                                        </p:attrNameLst>
                                      </p:cBhvr>
                                      <p:to>
                                        <p:strVal val="visible"/>
                                      </p:to>
                                    </p:set>
                                    <p:anim calcmode="lin" valueType="num">
                                      <p:cBhvr additive="base">
                                        <p:cTn id="243" dur="500" fill="hold"/>
                                        <p:tgtEl>
                                          <p:spTgt spid="681021"/>
                                        </p:tgtEl>
                                        <p:attrNameLst>
                                          <p:attrName>ppt_x</p:attrName>
                                        </p:attrNameLst>
                                      </p:cBhvr>
                                      <p:tavLst>
                                        <p:tav tm="0">
                                          <p:val>
                                            <p:strVal val="1+#ppt_w/2"/>
                                          </p:val>
                                        </p:tav>
                                        <p:tav tm="100000">
                                          <p:val>
                                            <p:strVal val="#ppt_x"/>
                                          </p:val>
                                        </p:tav>
                                      </p:tavLst>
                                    </p:anim>
                                    <p:anim calcmode="lin" valueType="num">
                                      <p:cBhvr additive="base">
                                        <p:cTn id="244" dur="500" fill="hold"/>
                                        <p:tgtEl>
                                          <p:spTgt spid="6810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0976" grpId="0" autoUpdateAnimBg="0"/>
      <p:bldP spid="680978" grpId="0" animBg="1"/>
      <p:bldP spid="680979" grpId="0" animBg="1"/>
      <p:bldP spid="680980" grpId="0" autoUpdateAnimBg="0"/>
      <p:bldP spid="680982" grpId="0" autoUpdateAnimBg="0"/>
      <p:bldP spid="680983" grpId="0" autoUpdateAnimBg="0"/>
      <p:bldP spid="680984" grpId="0" autoUpdateAnimBg="0"/>
      <p:bldP spid="680985" grpId="0" autoUpdateAnimBg="0"/>
      <p:bldP spid="680987" grpId="0" animBg="1"/>
      <p:bldP spid="680989" grpId="0" animBg="1"/>
      <p:bldP spid="680990" grpId="0" animBg="1"/>
      <p:bldP spid="680991" grpId="0" autoUpdateAnimBg="0"/>
      <p:bldP spid="680992" grpId="0" autoUpdateAnimBg="0"/>
      <p:bldP spid="680994" grpId="0" autoUpdateAnimBg="0"/>
      <p:bldP spid="680995" grpId="0" autoUpdateAnimBg="0"/>
      <p:bldP spid="680996" grpId="0" autoUpdateAnimBg="0"/>
      <p:bldP spid="680998" grpId="0" autoUpdateAnimBg="0"/>
      <p:bldP spid="681001" grpId="0" autoUpdateAnimBg="0"/>
      <p:bldP spid="681002" grpId="0" autoUpdateAnimBg="0"/>
      <p:bldP spid="681005" grpId="0" autoUpdateAnimBg="0"/>
      <p:bldP spid="681006" grpId="0" autoUpdateAnimBg="0"/>
      <p:bldP spid="681007" grpId="0" autoUpdateAnimBg="0"/>
      <p:bldP spid="681010" grpId="0" autoUpdateAnimBg="0"/>
      <p:bldP spid="681011" grpId="0" autoUpdateAnimBg="0"/>
      <p:bldP spid="681012" grpId="0"/>
      <p:bldP spid="681016" grpId="0"/>
      <p:bldP spid="681017" grpId="0"/>
      <p:bldP spid="681018" grpId="0"/>
      <p:bldP spid="68102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Line 2">
            <a:extLst>
              <a:ext uri="{FF2B5EF4-FFF2-40B4-BE49-F238E27FC236}">
                <a16:creationId xmlns:a16="http://schemas.microsoft.com/office/drawing/2014/main" id="{8ABBDD2B-0A21-D796-875A-7EA4789BEA58}"/>
              </a:ext>
            </a:extLst>
          </p:cNvPr>
          <p:cNvSpPr>
            <a:spLocks noChangeShapeType="1"/>
          </p:cNvSpPr>
          <p:nvPr/>
        </p:nvSpPr>
        <p:spPr bwMode="auto">
          <a:xfrm flipH="1" flipV="1">
            <a:off x="5283200" y="2651125"/>
            <a:ext cx="787400" cy="15875"/>
          </a:xfrm>
          <a:prstGeom prst="line">
            <a:avLst/>
          </a:prstGeom>
          <a:noFill/>
          <a:ln w="38100">
            <a:solidFill>
              <a:srgbClr val="FF99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11" name="Rectangle 3">
            <a:extLst>
              <a:ext uri="{FF2B5EF4-FFF2-40B4-BE49-F238E27FC236}">
                <a16:creationId xmlns:a16="http://schemas.microsoft.com/office/drawing/2014/main" id="{A97DBF13-2066-06EF-BDA9-D465A48906D9}"/>
              </a:ext>
            </a:extLst>
          </p:cNvPr>
          <p:cNvSpPr>
            <a:spLocks noChangeArrowheads="1"/>
          </p:cNvSpPr>
          <p:nvPr/>
        </p:nvSpPr>
        <p:spPr bwMode="auto">
          <a:xfrm>
            <a:off x="250825" y="333375"/>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a:latin typeface="Times New Roman" panose="02020603050405020304" pitchFamily="18" charset="0"/>
                <a:ea typeface="宋体" panose="02010600030101010101" pitchFamily="2" charset="-122"/>
              </a:rPr>
              <a:t>平行轴定理证明：</a:t>
            </a:r>
          </a:p>
        </p:txBody>
      </p:sp>
      <p:sp>
        <p:nvSpPr>
          <p:cNvPr id="708612" name="Freeform 4">
            <a:extLst>
              <a:ext uri="{FF2B5EF4-FFF2-40B4-BE49-F238E27FC236}">
                <a16:creationId xmlns:a16="http://schemas.microsoft.com/office/drawing/2014/main" id="{8C899D1E-A3F0-FB86-BFD0-1ED3033EBEAA}"/>
              </a:ext>
            </a:extLst>
          </p:cNvPr>
          <p:cNvSpPr>
            <a:spLocks/>
          </p:cNvSpPr>
          <p:nvPr/>
        </p:nvSpPr>
        <p:spPr bwMode="auto">
          <a:xfrm>
            <a:off x="4572000" y="203200"/>
            <a:ext cx="4176713" cy="4594225"/>
          </a:xfrm>
          <a:custGeom>
            <a:avLst/>
            <a:gdLst/>
            <a:ahLst/>
            <a:cxnLst>
              <a:cxn ang="0">
                <a:pos x="1013" y="8"/>
              </a:cxn>
              <a:cxn ang="0">
                <a:pos x="333" y="99"/>
              </a:cxn>
              <a:cxn ang="0">
                <a:pos x="15" y="416"/>
              </a:cxn>
              <a:cxn ang="0">
                <a:pos x="242" y="825"/>
              </a:cxn>
              <a:cxn ang="0">
                <a:pos x="696" y="1006"/>
              </a:cxn>
              <a:cxn ang="0">
                <a:pos x="1058" y="961"/>
              </a:cxn>
              <a:cxn ang="0">
                <a:pos x="1421" y="1051"/>
              </a:cxn>
              <a:cxn ang="0">
                <a:pos x="1693" y="825"/>
              </a:cxn>
              <a:cxn ang="0">
                <a:pos x="1648" y="144"/>
              </a:cxn>
              <a:cxn ang="0">
                <a:pos x="1013" y="8"/>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alpha val="22000"/>
            </a:srgbClr>
          </a:solidFill>
          <a:ln w="9525" cap="flat" cmpd="sng">
            <a:prstDash val="solid"/>
            <a:round/>
            <a:headEnd/>
            <a:tailEnd/>
          </a:ln>
          <a:effectLst/>
          <a:scene3d>
            <a:camera prst="legacyPerspectiveFront">
              <a:rot lat="18000000" lon="0" rev="0"/>
            </a:camera>
            <a:lightRig rig="legacyFlat2" dir="t"/>
          </a:scene3d>
          <a:sp3d extrusionH="430200" prstMaterial="legacyMatte">
            <a:bevelT w="13500" h="13500" prst="angle"/>
            <a:bevelB w="13500" h="13500" prst="angle"/>
            <a:extrusionClr>
              <a:srgbClr val="339966"/>
            </a:extrusionClr>
          </a:sp3d>
        </p:spPr>
        <p:txBody>
          <a:bodyPr wrap="none" anchor="ctr">
            <a:flatTx/>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13" name="Oval 5">
            <a:extLst>
              <a:ext uri="{FF2B5EF4-FFF2-40B4-BE49-F238E27FC236}">
                <a16:creationId xmlns:a16="http://schemas.microsoft.com/office/drawing/2014/main" id="{3EE849A8-099D-DE95-2E1E-D6409E2569FE}"/>
              </a:ext>
            </a:extLst>
          </p:cNvPr>
          <p:cNvSpPr>
            <a:spLocks noChangeArrowheads="1"/>
          </p:cNvSpPr>
          <p:nvPr/>
        </p:nvSpPr>
        <p:spPr bwMode="auto">
          <a:xfrm>
            <a:off x="6950075" y="2579688"/>
            <a:ext cx="142875" cy="144462"/>
          </a:xfrm>
          <a:prstGeom prst="ellipse">
            <a:avLst/>
          </a:prstGeom>
          <a:solidFill>
            <a:schemeClr val="accent1"/>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14" name="Line 6">
            <a:extLst>
              <a:ext uri="{FF2B5EF4-FFF2-40B4-BE49-F238E27FC236}">
                <a16:creationId xmlns:a16="http://schemas.microsoft.com/office/drawing/2014/main" id="{5805850C-9EF6-BC63-672E-CD2CC16E8754}"/>
              </a:ext>
            </a:extLst>
          </p:cNvPr>
          <p:cNvSpPr>
            <a:spLocks noChangeShapeType="1"/>
          </p:cNvSpPr>
          <p:nvPr/>
        </p:nvSpPr>
        <p:spPr bwMode="auto">
          <a:xfrm>
            <a:off x="7019925" y="922338"/>
            <a:ext cx="0" cy="1693862"/>
          </a:xfrm>
          <a:prstGeom prst="line">
            <a:avLst/>
          </a:prstGeom>
          <a:noFill/>
          <a:ln w="508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15" name="Line 7">
            <a:extLst>
              <a:ext uri="{FF2B5EF4-FFF2-40B4-BE49-F238E27FC236}">
                <a16:creationId xmlns:a16="http://schemas.microsoft.com/office/drawing/2014/main" id="{7A5C923B-5AA8-9118-51C7-BFC132311074}"/>
              </a:ext>
            </a:extLst>
          </p:cNvPr>
          <p:cNvSpPr>
            <a:spLocks noChangeShapeType="1"/>
          </p:cNvSpPr>
          <p:nvPr/>
        </p:nvSpPr>
        <p:spPr bwMode="auto">
          <a:xfrm>
            <a:off x="7019925" y="4090988"/>
            <a:ext cx="0" cy="528637"/>
          </a:xfrm>
          <a:prstGeom prst="line">
            <a:avLst/>
          </a:prstGeom>
          <a:noFill/>
          <a:ln w="50800">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16" name="Text Box 8">
            <a:extLst>
              <a:ext uri="{FF2B5EF4-FFF2-40B4-BE49-F238E27FC236}">
                <a16:creationId xmlns:a16="http://schemas.microsoft.com/office/drawing/2014/main" id="{8A1EC942-4838-E7E1-0716-BA3BEBF92315}"/>
              </a:ext>
            </a:extLst>
          </p:cNvPr>
          <p:cNvSpPr txBox="1">
            <a:spLocks noChangeArrowheads="1"/>
          </p:cNvSpPr>
          <p:nvPr/>
        </p:nvSpPr>
        <p:spPr bwMode="auto">
          <a:xfrm>
            <a:off x="7092950" y="2435225"/>
            <a:ext cx="5032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latin typeface="Times New Roman" panose="02020603050405020304" pitchFamily="18" charset="0"/>
                <a:ea typeface="宋体" panose="02010600030101010101" pitchFamily="2" charset="-122"/>
              </a:rPr>
              <a:t>C</a:t>
            </a:r>
          </a:p>
        </p:txBody>
      </p:sp>
      <p:sp>
        <p:nvSpPr>
          <p:cNvPr id="708617" name="Text Box 9">
            <a:extLst>
              <a:ext uri="{FF2B5EF4-FFF2-40B4-BE49-F238E27FC236}">
                <a16:creationId xmlns:a16="http://schemas.microsoft.com/office/drawing/2014/main" id="{A09F0B04-40A8-381C-76CD-3BEF82699929}"/>
              </a:ext>
            </a:extLst>
          </p:cNvPr>
          <p:cNvSpPr txBox="1">
            <a:spLocks noChangeArrowheads="1"/>
          </p:cNvSpPr>
          <p:nvPr/>
        </p:nvSpPr>
        <p:spPr bwMode="auto">
          <a:xfrm>
            <a:off x="7019925" y="7540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708618" name="Text Box 10">
            <a:extLst>
              <a:ext uri="{FF2B5EF4-FFF2-40B4-BE49-F238E27FC236}">
                <a16:creationId xmlns:a16="http://schemas.microsoft.com/office/drawing/2014/main" id="{931D176E-613F-0FDE-36DE-6897579A4AF6}"/>
              </a:ext>
            </a:extLst>
          </p:cNvPr>
          <p:cNvSpPr txBox="1">
            <a:spLocks noChangeArrowheads="1"/>
          </p:cNvSpPr>
          <p:nvPr/>
        </p:nvSpPr>
        <p:spPr bwMode="auto">
          <a:xfrm>
            <a:off x="7924800" y="2776538"/>
            <a:ext cx="457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708619" name="Object 2">
            <a:extLst>
              <a:ext uri="{FF2B5EF4-FFF2-40B4-BE49-F238E27FC236}">
                <a16:creationId xmlns:a16="http://schemas.microsoft.com/office/drawing/2014/main" id="{756686CF-C3F4-139C-66D8-267714E21A26}"/>
              </a:ext>
            </a:extLst>
          </p:cNvPr>
          <p:cNvGraphicFramePr>
            <a:graphicFrameLocks/>
          </p:cNvGraphicFramePr>
          <p:nvPr/>
        </p:nvGraphicFramePr>
        <p:xfrm>
          <a:off x="6588125" y="1138238"/>
          <a:ext cx="342900" cy="420687"/>
        </p:xfrm>
        <a:graphic>
          <a:graphicData uri="http://schemas.openxmlformats.org/presentationml/2006/ole">
            <mc:AlternateContent xmlns:mc="http://schemas.openxmlformats.org/markup-compatibility/2006">
              <mc:Choice xmlns:v="urn:schemas-microsoft-com:vml" Requires="v">
                <p:oleObj name="公式" r:id="rId2" imgW="335404" imgH="411480" progId="Equation.3">
                  <p:embed/>
                </p:oleObj>
              </mc:Choice>
              <mc:Fallback>
                <p:oleObj name="公式" r:id="rId2" imgW="335404" imgH="41148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1138238"/>
                        <a:ext cx="3429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8620" name="Line 12">
            <a:extLst>
              <a:ext uri="{FF2B5EF4-FFF2-40B4-BE49-F238E27FC236}">
                <a16:creationId xmlns:a16="http://schemas.microsoft.com/office/drawing/2014/main" id="{BBAEEE79-8F97-A712-9EB5-CDBE13C13B41}"/>
              </a:ext>
            </a:extLst>
          </p:cNvPr>
          <p:cNvSpPr>
            <a:spLocks noChangeShapeType="1"/>
          </p:cNvSpPr>
          <p:nvPr/>
        </p:nvSpPr>
        <p:spPr bwMode="auto">
          <a:xfrm>
            <a:off x="5580063" y="1211263"/>
            <a:ext cx="0" cy="1454150"/>
          </a:xfrm>
          <a:prstGeom prst="line">
            <a:avLst/>
          </a:prstGeom>
          <a:noFill/>
          <a:ln w="508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21" name="Line 13">
            <a:extLst>
              <a:ext uri="{FF2B5EF4-FFF2-40B4-BE49-F238E27FC236}">
                <a16:creationId xmlns:a16="http://schemas.microsoft.com/office/drawing/2014/main" id="{92559271-1233-666F-D7D4-D769A2773847}"/>
              </a:ext>
            </a:extLst>
          </p:cNvPr>
          <p:cNvSpPr>
            <a:spLocks noChangeShapeType="1"/>
          </p:cNvSpPr>
          <p:nvPr/>
        </p:nvSpPr>
        <p:spPr bwMode="auto">
          <a:xfrm>
            <a:off x="5580063" y="4019550"/>
            <a:ext cx="0" cy="423863"/>
          </a:xfrm>
          <a:prstGeom prst="line">
            <a:avLst/>
          </a:prstGeom>
          <a:noFill/>
          <a:ln w="508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22" name="Text Box 14">
            <a:extLst>
              <a:ext uri="{FF2B5EF4-FFF2-40B4-BE49-F238E27FC236}">
                <a16:creationId xmlns:a16="http://schemas.microsoft.com/office/drawing/2014/main" id="{493710E6-0E34-F212-9473-9DBCA5DE791C}"/>
              </a:ext>
            </a:extLst>
          </p:cNvPr>
          <p:cNvSpPr txBox="1">
            <a:spLocks noChangeArrowheads="1"/>
          </p:cNvSpPr>
          <p:nvPr/>
        </p:nvSpPr>
        <p:spPr bwMode="auto">
          <a:xfrm>
            <a:off x="5622925" y="995363"/>
            <a:ext cx="5334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graphicFrame>
        <p:nvGraphicFramePr>
          <p:cNvPr id="708623" name="Object 3">
            <a:extLst>
              <a:ext uri="{FF2B5EF4-FFF2-40B4-BE49-F238E27FC236}">
                <a16:creationId xmlns:a16="http://schemas.microsoft.com/office/drawing/2014/main" id="{2DF25DD9-9594-3882-CBDA-281F5E8BE447}"/>
              </a:ext>
            </a:extLst>
          </p:cNvPr>
          <p:cNvGraphicFramePr>
            <a:graphicFrameLocks/>
          </p:cNvGraphicFramePr>
          <p:nvPr/>
        </p:nvGraphicFramePr>
        <p:xfrm>
          <a:off x="5076825" y="1354138"/>
          <a:ext cx="406400" cy="420687"/>
        </p:xfrm>
        <a:graphic>
          <a:graphicData uri="http://schemas.openxmlformats.org/presentationml/2006/ole">
            <mc:AlternateContent xmlns:mc="http://schemas.openxmlformats.org/markup-compatibility/2006">
              <mc:Choice xmlns:v="urn:schemas-microsoft-com:vml" Requires="v">
                <p:oleObj name="公式" r:id="rId4" imgW="396116" imgH="411480" progId="Equation.3">
                  <p:embed/>
                </p:oleObj>
              </mc:Choice>
              <mc:Fallback>
                <p:oleObj name="公式" r:id="rId4" imgW="396116" imgH="41148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1354138"/>
                        <a:ext cx="40640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8624" name="Text Box 16">
            <a:extLst>
              <a:ext uri="{FF2B5EF4-FFF2-40B4-BE49-F238E27FC236}">
                <a16:creationId xmlns:a16="http://schemas.microsoft.com/office/drawing/2014/main" id="{573CFE44-8DA1-04C1-C04B-B0C372C9ABBF}"/>
              </a:ext>
            </a:extLst>
          </p:cNvPr>
          <p:cNvSpPr txBox="1">
            <a:spLocks noChangeArrowheads="1"/>
          </p:cNvSpPr>
          <p:nvPr/>
        </p:nvSpPr>
        <p:spPr bwMode="auto">
          <a:xfrm>
            <a:off x="6011863" y="2506663"/>
            <a:ext cx="904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3200" i="1">
                <a:latin typeface="Times New Roman" panose="02020603050405020304" pitchFamily="18" charset="0"/>
                <a:ea typeface="宋体" panose="02010600030101010101" pitchFamily="2" charset="-122"/>
              </a:rPr>
              <a:t>r</a:t>
            </a:r>
            <a:r>
              <a:rPr kumimoji="1" lang="en-US" altLang="zh-CN" sz="3200" i="1" baseline="-25000">
                <a:latin typeface="Times New Roman" panose="02020603050405020304" pitchFamily="18" charset="0"/>
                <a:ea typeface="宋体" panose="02010600030101010101" pitchFamily="2" charset="-122"/>
              </a:rPr>
              <a:t>o</a:t>
            </a:r>
            <a:endParaRPr kumimoji="1" lang="en-US" altLang="zh-CN" sz="3200" i="1" baseline="30000">
              <a:latin typeface="Times New Roman" panose="02020603050405020304" pitchFamily="18" charset="0"/>
              <a:ea typeface="宋体" panose="02010600030101010101" pitchFamily="2" charset="-122"/>
            </a:endParaRPr>
          </a:p>
        </p:txBody>
      </p:sp>
      <p:sp>
        <p:nvSpPr>
          <p:cNvPr id="708625" name="Line 17">
            <a:extLst>
              <a:ext uri="{FF2B5EF4-FFF2-40B4-BE49-F238E27FC236}">
                <a16:creationId xmlns:a16="http://schemas.microsoft.com/office/drawing/2014/main" id="{56964CD4-D987-D5D5-986A-12BA80E42FBB}"/>
              </a:ext>
            </a:extLst>
          </p:cNvPr>
          <p:cNvSpPr>
            <a:spLocks noChangeShapeType="1"/>
          </p:cNvSpPr>
          <p:nvPr/>
        </p:nvSpPr>
        <p:spPr bwMode="auto">
          <a:xfrm rot="415295" flipH="1" flipV="1">
            <a:off x="6399213" y="2017713"/>
            <a:ext cx="654050" cy="604837"/>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26" name="Text Box 18">
            <a:extLst>
              <a:ext uri="{FF2B5EF4-FFF2-40B4-BE49-F238E27FC236}">
                <a16:creationId xmlns:a16="http://schemas.microsoft.com/office/drawing/2014/main" id="{0F137DE3-D3CE-86A8-F48C-71C880583EAF}"/>
              </a:ext>
            </a:extLst>
          </p:cNvPr>
          <p:cNvSpPr txBox="1">
            <a:spLocks noChangeArrowheads="1"/>
          </p:cNvSpPr>
          <p:nvPr/>
        </p:nvSpPr>
        <p:spPr bwMode="auto">
          <a:xfrm>
            <a:off x="6602413" y="1787525"/>
            <a:ext cx="4175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3200" i="1">
                <a:latin typeface="Times New Roman" panose="02020603050405020304" pitchFamily="18" charset="0"/>
                <a:ea typeface="宋体" panose="02010600030101010101" pitchFamily="2" charset="-122"/>
              </a:rPr>
              <a:t>r</a:t>
            </a:r>
            <a:r>
              <a:rPr kumimoji="1" lang="en-US" altLang="zh-CN" sz="3200" i="1" baseline="-25000">
                <a:latin typeface="Times New Roman" panose="02020603050405020304" pitchFamily="18" charset="0"/>
                <a:ea typeface="宋体" panose="02010600030101010101" pitchFamily="2" charset="-122"/>
              </a:rPr>
              <a:t>i</a:t>
            </a:r>
            <a:endParaRPr kumimoji="1" lang="en-US" altLang="zh-CN" sz="3200" i="1" baseline="30000">
              <a:latin typeface="Times New Roman" panose="02020603050405020304" pitchFamily="18" charset="0"/>
              <a:ea typeface="宋体" panose="02010600030101010101" pitchFamily="2" charset="-122"/>
            </a:endParaRPr>
          </a:p>
        </p:txBody>
      </p:sp>
      <p:sp>
        <p:nvSpPr>
          <p:cNvPr id="708627" name="Line 19">
            <a:extLst>
              <a:ext uri="{FF2B5EF4-FFF2-40B4-BE49-F238E27FC236}">
                <a16:creationId xmlns:a16="http://schemas.microsoft.com/office/drawing/2014/main" id="{D9711AAB-F04A-404D-F66C-E13F0572719C}"/>
              </a:ext>
            </a:extLst>
          </p:cNvPr>
          <p:cNvSpPr>
            <a:spLocks noChangeShapeType="1"/>
          </p:cNvSpPr>
          <p:nvPr/>
        </p:nvSpPr>
        <p:spPr bwMode="auto">
          <a:xfrm rot="340812" flipV="1">
            <a:off x="5591175" y="1924050"/>
            <a:ext cx="830263" cy="784225"/>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28" name="Line 20">
            <a:extLst>
              <a:ext uri="{FF2B5EF4-FFF2-40B4-BE49-F238E27FC236}">
                <a16:creationId xmlns:a16="http://schemas.microsoft.com/office/drawing/2014/main" id="{4E42470C-3027-4798-EDB0-44875B4F5BB3}"/>
              </a:ext>
            </a:extLst>
          </p:cNvPr>
          <p:cNvSpPr>
            <a:spLocks noChangeShapeType="1"/>
          </p:cNvSpPr>
          <p:nvPr/>
        </p:nvSpPr>
        <p:spPr bwMode="auto">
          <a:xfrm flipV="1">
            <a:off x="5580063" y="2651125"/>
            <a:ext cx="1368425" cy="0"/>
          </a:xfrm>
          <a:prstGeom prst="line">
            <a:avLst/>
          </a:prstGeom>
          <a:noFill/>
          <a:ln w="31750">
            <a:solidFill>
              <a:schemeClr val="bg1"/>
            </a:solidFill>
            <a:round/>
            <a:headEnd type="triangle" w="med" len="me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8629" name="Text Box 21">
            <a:extLst>
              <a:ext uri="{FF2B5EF4-FFF2-40B4-BE49-F238E27FC236}">
                <a16:creationId xmlns:a16="http://schemas.microsoft.com/office/drawing/2014/main" id="{D2CFC75A-AF8A-E191-4B7C-C4A288E74F07}"/>
              </a:ext>
            </a:extLst>
          </p:cNvPr>
          <p:cNvSpPr txBox="1">
            <a:spLocks noChangeArrowheads="1"/>
          </p:cNvSpPr>
          <p:nvPr/>
        </p:nvSpPr>
        <p:spPr bwMode="auto">
          <a:xfrm>
            <a:off x="5651500" y="1770063"/>
            <a:ext cx="506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3200" i="1">
                <a:latin typeface="Times New Roman" panose="02020603050405020304" pitchFamily="18" charset="0"/>
                <a:ea typeface="宋体" panose="02010600030101010101" pitchFamily="2" charset="-122"/>
              </a:rPr>
              <a:t>r</a:t>
            </a:r>
            <a:r>
              <a:rPr kumimoji="1" lang="en-US" altLang="zh-CN" sz="3200" i="1" baseline="-25000">
                <a:latin typeface="Times New Roman" panose="02020603050405020304" pitchFamily="18" charset="0"/>
                <a:ea typeface="宋体" panose="02010600030101010101" pitchFamily="2" charset="-122"/>
              </a:rPr>
              <a:t>i</a:t>
            </a:r>
            <a:r>
              <a:rPr kumimoji="1" lang="en-US" altLang="zh-CN" sz="3200" i="1" baseline="30000">
                <a:latin typeface="Times New Roman" panose="02020603050405020304" pitchFamily="18" charset="0"/>
                <a:ea typeface="宋体" panose="02010600030101010101" pitchFamily="2" charset="-122"/>
              </a:rPr>
              <a:t>’</a:t>
            </a:r>
          </a:p>
        </p:txBody>
      </p:sp>
      <p:sp>
        <p:nvSpPr>
          <p:cNvPr id="708630" name="Rectangle 22">
            <a:extLst>
              <a:ext uri="{FF2B5EF4-FFF2-40B4-BE49-F238E27FC236}">
                <a16:creationId xmlns:a16="http://schemas.microsoft.com/office/drawing/2014/main" id="{FCD4433A-0FA4-FBA4-1449-EDA68D717366}"/>
              </a:ext>
            </a:extLst>
          </p:cNvPr>
          <p:cNvSpPr>
            <a:spLocks noChangeArrowheads="1"/>
          </p:cNvSpPr>
          <p:nvPr/>
        </p:nvSpPr>
        <p:spPr bwMode="auto">
          <a:xfrm>
            <a:off x="6227763" y="2265363"/>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i="1">
                <a:latin typeface="Times New Roman" panose="02020603050405020304" pitchFamily="18" charset="0"/>
                <a:ea typeface="宋体" panose="02010600030101010101" pitchFamily="2" charset="-122"/>
              </a:rPr>
              <a:t>L</a:t>
            </a:r>
          </a:p>
        </p:txBody>
      </p:sp>
      <p:graphicFrame>
        <p:nvGraphicFramePr>
          <p:cNvPr id="708631" name="Object 4">
            <a:extLst>
              <a:ext uri="{FF2B5EF4-FFF2-40B4-BE49-F238E27FC236}">
                <a16:creationId xmlns:a16="http://schemas.microsoft.com/office/drawing/2014/main" id="{780CBB9D-F139-09A6-D621-08AE25E84FF7}"/>
              </a:ext>
            </a:extLst>
          </p:cNvPr>
          <p:cNvGraphicFramePr>
            <a:graphicFrameLocks noChangeAspect="1"/>
          </p:cNvGraphicFramePr>
          <p:nvPr/>
        </p:nvGraphicFramePr>
        <p:xfrm>
          <a:off x="900113" y="1268413"/>
          <a:ext cx="1954212" cy="395287"/>
        </p:xfrm>
        <a:graphic>
          <a:graphicData uri="http://schemas.openxmlformats.org/presentationml/2006/ole">
            <mc:AlternateContent xmlns:mc="http://schemas.openxmlformats.org/markup-compatibility/2006">
              <mc:Choice xmlns:v="urn:schemas-microsoft-com:vml" Requires="v">
                <p:oleObj name="公式" r:id="rId6" imgW="1325693" imgH="388537" progId="Equation.3">
                  <p:embed/>
                </p:oleObj>
              </mc:Choice>
              <mc:Fallback>
                <p:oleObj name="公式" r:id="rId6" imgW="1325693" imgH="388537"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1268413"/>
                        <a:ext cx="1954212"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8632" name="Text Box 24">
            <a:extLst>
              <a:ext uri="{FF2B5EF4-FFF2-40B4-BE49-F238E27FC236}">
                <a16:creationId xmlns:a16="http://schemas.microsoft.com/office/drawing/2014/main" id="{6D4233CA-64F1-E2DB-D4AD-5FDF5EDC956D}"/>
              </a:ext>
            </a:extLst>
          </p:cNvPr>
          <p:cNvSpPr txBox="1">
            <a:spLocks noChangeArrowheads="1"/>
          </p:cNvSpPr>
          <p:nvPr/>
        </p:nvSpPr>
        <p:spPr bwMode="auto">
          <a:xfrm>
            <a:off x="6162675" y="1484313"/>
            <a:ext cx="714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i="1">
                <a:latin typeface="Times New Roman" panose="02020603050405020304" pitchFamily="18" charset="0"/>
                <a:ea typeface="宋体" panose="02010600030101010101" pitchFamily="2" charset="-122"/>
                <a:sym typeface="Symbol" panose="05050102010706020507" pitchFamily="18" charset="2"/>
              </a:rPr>
              <a:t>m</a:t>
            </a:r>
            <a:r>
              <a:rPr kumimoji="1" lang="en-US" altLang="zh-CN" sz="2800" i="1" baseline="-25000">
                <a:latin typeface="Times New Roman" panose="02020603050405020304" pitchFamily="18" charset="0"/>
                <a:ea typeface="宋体" panose="02010600030101010101" pitchFamily="2" charset="-122"/>
                <a:sym typeface="Symbol" panose="05050102010706020507" pitchFamily="18" charset="2"/>
              </a:rPr>
              <a:t>i</a:t>
            </a:r>
          </a:p>
        </p:txBody>
      </p:sp>
      <p:sp>
        <p:nvSpPr>
          <p:cNvPr id="708633" name="Oval 25">
            <a:extLst>
              <a:ext uri="{FF2B5EF4-FFF2-40B4-BE49-F238E27FC236}">
                <a16:creationId xmlns:a16="http://schemas.microsoft.com/office/drawing/2014/main" id="{57A7E9D5-2598-3A5B-4EBB-55C4C4562E24}"/>
              </a:ext>
            </a:extLst>
          </p:cNvPr>
          <p:cNvSpPr>
            <a:spLocks noChangeArrowheads="1"/>
          </p:cNvSpPr>
          <p:nvPr/>
        </p:nvSpPr>
        <p:spPr bwMode="auto">
          <a:xfrm rot="249990" flipV="1">
            <a:off x="6372225" y="1901825"/>
            <a:ext cx="173038" cy="173038"/>
          </a:xfrm>
          <a:prstGeom prst="ellipse">
            <a:avLst/>
          </a:prstGeom>
          <a:solidFill>
            <a:srgbClr val="FF3300"/>
          </a:solidFill>
          <a:ln w="9525">
            <a:solidFill>
              <a:schemeClr val="tx1"/>
            </a:solidFill>
            <a:round/>
            <a:headEnd/>
            <a:tailEnd/>
          </a:ln>
        </p:spPr>
        <p:txBody>
          <a:bodyPr rot="10800000"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kumimoji="1" lang="zh-CN" altLang="zh-CN">
              <a:solidFill>
                <a:srgbClr val="FF3300"/>
              </a:solidFill>
              <a:latin typeface="Times New Roman" panose="02020603050405020304" pitchFamily="18" charset="0"/>
              <a:ea typeface="宋体" panose="02010600030101010101" pitchFamily="2" charset="-122"/>
            </a:endParaRPr>
          </a:p>
        </p:txBody>
      </p:sp>
      <p:graphicFrame>
        <p:nvGraphicFramePr>
          <p:cNvPr id="708634" name="Object 5">
            <a:extLst>
              <a:ext uri="{FF2B5EF4-FFF2-40B4-BE49-F238E27FC236}">
                <a16:creationId xmlns:a16="http://schemas.microsoft.com/office/drawing/2014/main" id="{FD9C7D7F-7DBA-88DE-2ADE-6EE9265E2881}"/>
              </a:ext>
            </a:extLst>
          </p:cNvPr>
          <p:cNvGraphicFramePr>
            <a:graphicFrameLocks/>
          </p:cNvGraphicFramePr>
          <p:nvPr/>
        </p:nvGraphicFramePr>
        <p:xfrm>
          <a:off x="755650" y="1844675"/>
          <a:ext cx="3078163" cy="614363"/>
        </p:xfrm>
        <a:graphic>
          <a:graphicData uri="http://schemas.openxmlformats.org/presentationml/2006/ole">
            <mc:AlternateContent xmlns:mc="http://schemas.openxmlformats.org/markup-compatibility/2006">
              <mc:Choice xmlns:v="urn:schemas-microsoft-com:vml" Requires="v">
                <p:oleObj name="公式" r:id="rId8" imgW="1272447" imgH="243895" progId="Equation.3">
                  <p:embed/>
                </p:oleObj>
              </mc:Choice>
              <mc:Fallback>
                <p:oleObj name="公式" r:id="rId8" imgW="1272447" imgH="243895"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1844675"/>
                        <a:ext cx="3078163"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8635" name="Object 6">
            <a:extLst>
              <a:ext uri="{FF2B5EF4-FFF2-40B4-BE49-F238E27FC236}">
                <a16:creationId xmlns:a16="http://schemas.microsoft.com/office/drawing/2014/main" id="{537760FC-77F1-DDFC-9F96-10609C3E3663}"/>
              </a:ext>
            </a:extLst>
          </p:cNvPr>
          <p:cNvGraphicFramePr>
            <a:graphicFrameLocks/>
          </p:cNvGraphicFramePr>
          <p:nvPr/>
        </p:nvGraphicFramePr>
        <p:xfrm>
          <a:off x="1258888" y="2628900"/>
          <a:ext cx="2335212" cy="584200"/>
        </p:xfrm>
        <a:graphic>
          <a:graphicData uri="http://schemas.openxmlformats.org/presentationml/2006/ole">
            <mc:AlternateContent xmlns:mc="http://schemas.openxmlformats.org/markup-compatibility/2006">
              <mc:Choice xmlns:v="urn:schemas-microsoft-com:vml" Requires="v">
                <p:oleObj name="公式" r:id="rId10" imgW="1005716" imgH="243895" progId="Equation.3">
                  <p:embed/>
                </p:oleObj>
              </mc:Choice>
              <mc:Fallback>
                <p:oleObj name="公式" r:id="rId10" imgW="1005716" imgH="243895"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58888" y="2628900"/>
                        <a:ext cx="233521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8636" name="Text Box 28">
            <a:extLst>
              <a:ext uri="{FF2B5EF4-FFF2-40B4-BE49-F238E27FC236}">
                <a16:creationId xmlns:a16="http://schemas.microsoft.com/office/drawing/2014/main" id="{163F465D-D69A-2ED3-B6D7-C09B143A0773}"/>
              </a:ext>
            </a:extLst>
          </p:cNvPr>
          <p:cNvSpPr txBox="1">
            <a:spLocks noChangeArrowheads="1"/>
          </p:cNvSpPr>
          <p:nvPr/>
        </p:nvSpPr>
        <p:spPr bwMode="auto">
          <a:xfrm>
            <a:off x="4883150" y="23637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x</a:t>
            </a:r>
          </a:p>
        </p:txBody>
      </p:sp>
      <p:graphicFrame>
        <p:nvGraphicFramePr>
          <p:cNvPr id="708637" name="Object 7">
            <a:extLst>
              <a:ext uri="{FF2B5EF4-FFF2-40B4-BE49-F238E27FC236}">
                <a16:creationId xmlns:a16="http://schemas.microsoft.com/office/drawing/2014/main" id="{DD34FE4D-A84C-0501-F069-0055BA27040F}"/>
              </a:ext>
            </a:extLst>
          </p:cNvPr>
          <p:cNvGraphicFramePr>
            <a:graphicFrameLocks/>
          </p:cNvGraphicFramePr>
          <p:nvPr/>
        </p:nvGraphicFramePr>
        <p:xfrm>
          <a:off x="425450" y="3533775"/>
          <a:ext cx="4291013" cy="903288"/>
        </p:xfrm>
        <a:graphic>
          <a:graphicData uri="http://schemas.openxmlformats.org/presentationml/2006/ole">
            <mc:AlternateContent xmlns:mc="http://schemas.openxmlformats.org/markup-compatibility/2006">
              <mc:Choice xmlns:v="urn:schemas-microsoft-com:vml" Requires="v">
                <p:oleObj name="公式" r:id="rId12" imgW="2141313" imgH="434423" progId="Equation.3">
                  <p:embed/>
                </p:oleObj>
              </mc:Choice>
              <mc:Fallback>
                <p:oleObj name="公式" r:id="rId12" imgW="2141313" imgH="434423"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5450" y="3533775"/>
                        <a:ext cx="4291013"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8638" name="Object 8">
            <a:extLst>
              <a:ext uri="{FF2B5EF4-FFF2-40B4-BE49-F238E27FC236}">
                <a16:creationId xmlns:a16="http://schemas.microsoft.com/office/drawing/2014/main" id="{0AD62B0F-4492-7319-1D12-6A63F612D30B}"/>
              </a:ext>
            </a:extLst>
          </p:cNvPr>
          <p:cNvGraphicFramePr>
            <a:graphicFrameLocks/>
          </p:cNvGraphicFramePr>
          <p:nvPr/>
        </p:nvGraphicFramePr>
        <p:xfrm>
          <a:off x="1692275" y="4581525"/>
          <a:ext cx="2513013" cy="482600"/>
        </p:xfrm>
        <a:graphic>
          <a:graphicData uri="http://schemas.openxmlformats.org/presentationml/2006/ole">
            <mc:AlternateContent xmlns:mc="http://schemas.openxmlformats.org/markup-compatibility/2006">
              <mc:Choice xmlns:v="urn:schemas-microsoft-com:vml" Requires="v">
                <p:oleObj name="公式" r:id="rId14" imgW="1249556" imgH="236414" progId="Equation.3">
                  <p:embed/>
                </p:oleObj>
              </mc:Choice>
              <mc:Fallback>
                <p:oleObj name="公式" r:id="rId14" imgW="1249556" imgH="236414"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2275" y="4581525"/>
                        <a:ext cx="2513013"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8639" name="Object 9">
            <a:extLst>
              <a:ext uri="{FF2B5EF4-FFF2-40B4-BE49-F238E27FC236}">
                <a16:creationId xmlns:a16="http://schemas.microsoft.com/office/drawing/2014/main" id="{E7BAE553-31CD-AE3B-25AA-69AECD069130}"/>
              </a:ext>
            </a:extLst>
          </p:cNvPr>
          <p:cNvGraphicFramePr>
            <a:graphicFrameLocks/>
          </p:cNvGraphicFramePr>
          <p:nvPr/>
        </p:nvGraphicFramePr>
        <p:xfrm>
          <a:off x="1187450" y="5373688"/>
          <a:ext cx="1984375" cy="449262"/>
        </p:xfrm>
        <a:graphic>
          <a:graphicData uri="http://schemas.openxmlformats.org/presentationml/2006/ole">
            <mc:AlternateContent xmlns:mc="http://schemas.openxmlformats.org/markup-compatibility/2006">
              <mc:Choice xmlns:v="urn:schemas-microsoft-com:vml" Requires="v">
                <p:oleObj name="公式" r:id="rId16" imgW="1973611" imgH="434423" progId="Equation.3">
                  <p:embed/>
                </p:oleObj>
              </mc:Choice>
              <mc:Fallback>
                <p:oleObj name="公式" r:id="rId16" imgW="1973611" imgH="434423"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87450" y="5373688"/>
                        <a:ext cx="1984375" cy="449262"/>
                      </a:xfrm>
                      <a:prstGeom prst="rect">
                        <a:avLst/>
                      </a:prstGeom>
                      <a:noFill/>
                      <a:ln w="28575">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8640" name="Text Box 32">
            <a:extLst>
              <a:ext uri="{FF2B5EF4-FFF2-40B4-BE49-F238E27FC236}">
                <a16:creationId xmlns:a16="http://schemas.microsoft.com/office/drawing/2014/main" id="{D3CEF261-9874-8A89-894F-824FD11C7AF7}"/>
              </a:ext>
            </a:extLst>
          </p:cNvPr>
          <p:cNvSpPr txBox="1">
            <a:spLocks noChangeArrowheads="1"/>
          </p:cNvSpPr>
          <p:nvPr/>
        </p:nvSpPr>
        <p:spPr bwMode="auto">
          <a:xfrm>
            <a:off x="6805613" y="2636838"/>
            <a:ext cx="50323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FFFF00"/>
                </a:solidFill>
                <a:latin typeface="Times New Roman" panose="02020603050405020304" pitchFamily="18" charset="0"/>
                <a:ea typeface="宋体" panose="02010600030101010101" pitchFamily="2" charset="-122"/>
              </a:rPr>
              <a:t>O</a:t>
            </a:r>
          </a:p>
        </p:txBody>
      </p:sp>
      <p:pic>
        <p:nvPicPr>
          <p:cNvPr id="708641" name="Picture 33" descr="j0293240">
            <a:extLst>
              <a:ext uri="{FF2B5EF4-FFF2-40B4-BE49-F238E27FC236}">
                <a16:creationId xmlns:a16="http://schemas.microsoft.com/office/drawing/2014/main" id="{FA11834B-B07D-1970-A0E9-2FAECC7291A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08642" name="Object 10">
            <a:extLst>
              <a:ext uri="{FF2B5EF4-FFF2-40B4-BE49-F238E27FC236}">
                <a16:creationId xmlns:a16="http://schemas.microsoft.com/office/drawing/2014/main" id="{5D7CC321-C227-826F-E485-1F27CB9562D3}"/>
              </a:ext>
            </a:extLst>
          </p:cNvPr>
          <p:cNvGraphicFramePr>
            <a:graphicFrameLocks noChangeAspect="1"/>
          </p:cNvGraphicFramePr>
          <p:nvPr/>
        </p:nvGraphicFramePr>
        <p:xfrm>
          <a:off x="3203575" y="404813"/>
          <a:ext cx="1701800" cy="787400"/>
        </p:xfrm>
        <a:graphic>
          <a:graphicData uri="http://schemas.openxmlformats.org/presentationml/2006/ole">
            <mc:AlternateContent xmlns:mc="http://schemas.openxmlformats.org/markup-compatibility/2006">
              <mc:Choice xmlns:v="urn:schemas-microsoft-com:vml" Requires="v">
                <p:oleObj name="公式" r:id="rId19" imgW="1691453" imgH="777074" progId="Equation.3">
                  <p:embed/>
                </p:oleObj>
              </mc:Choice>
              <mc:Fallback>
                <p:oleObj name="公式" r:id="rId19" imgW="1691453" imgH="777074"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3575" y="404813"/>
                        <a:ext cx="1701800" cy="787400"/>
                      </a:xfrm>
                      <a:prstGeom prst="rect">
                        <a:avLst/>
                      </a:prstGeom>
                      <a:solidFill>
                        <a:srgbClr val="00CC99">
                          <a:alpha val="39999"/>
                        </a:srgbClr>
                      </a:solidFill>
                      <a:ln>
                        <a:noFill/>
                      </a:ln>
                      <a:effectLst/>
                      <a:extLs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86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861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86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086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086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086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086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0861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0861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0862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70862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70862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70862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70862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708630"/>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708624"/>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70863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70863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70862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708626"/>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708627"/>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708629"/>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708631"/>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708634"/>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708640"/>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708610"/>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708636"/>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nodeType="clickEffect">
                                  <p:stCondLst>
                                    <p:cond delay="0"/>
                                  </p:stCondLst>
                                  <p:childTnLst>
                                    <p:set>
                                      <p:cBhvr>
                                        <p:cTn id="114" dur="1" fill="hold">
                                          <p:stCondLst>
                                            <p:cond delay="0"/>
                                          </p:stCondLst>
                                        </p:cTn>
                                        <p:tgtEl>
                                          <p:spTgt spid="708635"/>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0"/>
                                          </p:stCondLst>
                                        </p:cTn>
                                        <p:tgtEl>
                                          <p:spTgt spid="708637"/>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nodeType="clickEffect">
                                  <p:stCondLst>
                                    <p:cond delay="0"/>
                                  </p:stCondLst>
                                  <p:childTnLst>
                                    <p:set>
                                      <p:cBhvr>
                                        <p:cTn id="122" dur="1" fill="hold">
                                          <p:stCondLst>
                                            <p:cond delay="0"/>
                                          </p:stCondLst>
                                        </p:cTn>
                                        <p:tgtEl>
                                          <p:spTgt spid="708642"/>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0"/>
                                          </p:stCondLst>
                                        </p:cTn>
                                        <p:tgtEl>
                                          <p:spTgt spid="708638"/>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708639"/>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 presetClass="entr" presetSubtype="2" fill="hold" nodeType="clickEffect">
                                  <p:stCondLst>
                                    <p:cond delay="0"/>
                                  </p:stCondLst>
                                  <p:childTnLst>
                                    <p:set>
                                      <p:cBhvr>
                                        <p:cTn id="134" dur="1" fill="hold">
                                          <p:stCondLst>
                                            <p:cond delay="0"/>
                                          </p:stCondLst>
                                        </p:cTn>
                                        <p:tgtEl>
                                          <p:spTgt spid="708641"/>
                                        </p:tgtEl>
                                        <p:attrNameLst>
                                          <p:attrName>style.visibility</p:attrName>
                                        </p:attrNameLst>
                                      </p:cBhvr>
                                      <p:to>
                                        <p:strVal val="visible"/>
                                      </p:to>
                                    </p:set>
                                    <p:anim calcmode="lin" valueType="num">
                                      <p:cBhvr additive="base">
                                        <p:cTn id="135" dur="500" fill="hold"/>
                                        <p:tgtEl>
                                          <p:spTgt spid="708641"/>
                                        </p:tgtEl>
                                        <p:attrNameLst>
                                          <p:attrName>ppt_x</p:attrName>
                                        </p:attrNameLst>
                                      </p:cBhvr>
                                      <p:tavLst>
                                        <p:tav tm="0">
                                          <p:val>
                                            <p:strVal val="1+#ppt_w/2"/>
                                          </p:val>
                                        </p:tav>
                                        <p:tav tm="100000">
                                          <p:val>
                                            <p:strVal val="#ppt_x"/>
                                          </p:val>
                                        </p:tav>
                                      </p:tavLst>
                                    </p:anim>
                                    <p:anim calcmode="lin" valueType="num">
                                      <p:cBhvr additive="base">
                                        <p:cTn id="136" dur="500" fill="hold"/>
                                        <p:tgtEl>
                                          <p:spTgt spid="7086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1" grpId="0"/>
      <p:bldP spid="708613" grpId="0" animBg="1"/>
      <p:bldP spid="708616" grpId="0"/>
      <p:bldP spid="708617" grpId="0"/>
      <p:bldP spid="708618" grpId="0"/>
      <p:bldP spid="708622" grpId="0"/>
      <p:bldP spid="708624" grpId="0"/>
      <p:bldP spid="708626" grpId="0"/>
      <p:bldP spid="708629" grpId="0"/>
      <p:bldP spid="708630" grpId="0"/>
      <p:bldP spid="708632" grpId="0"/>
      <p:bldP spid="708633" grpId="0" animBg="1"/>
      <p:bldP spid="708636" grpId="0"/>
      <p:bldP spid="7086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Text Box 2">
            <a:extLst>
              <a:ext uri="{FF2B5EF4-FFF2-40B4-BE49-F238E27FC236}">
                <a16:creationId xmlns:a16="http://schemas.microsoft.com/office/drawing/2014/main" id="{3D224B6C-618F-A166-310B-BE970884538C}"/>
              </a:ext>
            </a:extLst>
          </p:cNvPr>
          <p:cNvSpPr txBox="1">
            <a:spLocks noChangeArrowheads="1"/>
          </p:cNvSpPr>
          <p:nvPr/>
        </p:nvSpPr>
        <p:spPr bwMode="auto">
          <a:xfrm>
            <a:off x="288925" y="40005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  </a:t>
            </a:r>
            <a:r>
              <a:rPr lang="zh-CN" altLang="en-US">
                <a:latin typeface="Times New Roman" panose="02020603050405020304" pitchFamily="18" charset="0"/>
                <a:ea typeface="宋体" panose="02010600030101010101" pitchFamily="2" charset="-122"/>
              </a:rPr>
              <a:t>均匀圆盘的转动惯量</a:t>
            </a:r>
          </a:p>
        </p:txBody>
      </p:sp>
      <p:grpSp>
        <p:nvGrpSpPr>
          <p:cNvPr id="2" name="Group 3">
            <a:extLst>
              <a:ext uri="{FF2B5EF4-FFF2-40B4-BE49-F238E27FC236}">
                <a16:creationId xmlns:a16="http://schemas.microsoft.com/office/drawing/2014/main" id="{681C9601-367E-581F-2F3C-A248CA367591}"/>
              </a:ext>
            </a:extLst>
          </p:cNvPr>
          <p:cNvGrpSpPr>
            <a:grpSpLocks/>
          </p:cNvGrpSpPr>
          <p:nvPr/>
        </p:nvGrpSpPr>
        <p:grpSpPr bwMode="auto">
          <a:xfrm>
            <a:off x="5651500" y="260350"/>
            <a:ext cx="2751138" cy="1792288"/>
            <a:chOff x="3560" y="164"/>
            <a:chExt cx="1733" cy="1129"/>
          </a:xfrm>
        </p:grpSpPr>
        <p:sp>
          <p:nvSpPr>
            <p:cNvPr id="18477" name="Oval 4">
              <a:extLst>
                <a:ext uri="{FF2B5EF4-FFF2-40B4-BE49-F238E27FC236}">
                  <a16:creationId xmlns:a16="http://schemas.microsoft.com/office/drawing/2014/main" id="{38FC21F5-4BC5-EE41-E433-6FFE5FE09B73}"/>
                </a:ext>
              </a:extLst>
            </p:cNvPr>
            <p:cNvSpPr>
              <a:spLocks noChangeArrowheads="1"/>
            </p:cNvSpPr>
            <p:nvPr/>
          </p:nvSpPr>
          <p:spPr bwMode="auto">
            <a:xfrm>
              <a:off x="4059" y="331"/>
              <a:ext cx="548" cy="962"/>
            </a:xfrm>
            <a:prstGeom prst="ellipse">
              <a:avLst/>
            </a:prstGeom>
            <a:solidFill>
              <a:srgbClr val="FFCC99"/>
            </a:solidFill>
            <a:ln>
              <a:noFill/>
            </a:ln>
            <a:extLst>
              <a:ext uri="{91240B29-F687-4F45-9708-019B960494DF}">
                <a14:hiddenLine xmlns:a14="http://schemas.microsoft.com/office/drawing/2010/main" w="22225">
                  <a:solidFill>
                    <a:srgbClr val="000000"/>
                  </a:solidFill>
                  <a:round/>
                  <a:headEnd/>
                  <a:tailEnd/>
                </a14:hiddenLine>
              </a:ext>
            </a:extLst>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a:solidFill>
                  <a:schemeClr val="tx1"/>
                </a:solidFill>
                <a:latin typeface="Times New Roman" panose="02020603050405020304" pitchFamily="18" charset="0"/>
                <a:ea typeface="宋体" panose="02010600030101010101" pitchFamily="2" charset="-122"/>
              </a:endParaRPr>
            </a:p>
          </p:txBody>
        </p:sp>
        <p:sp>
          <p:nvSpPr>
            <p:cNvPr id="709637" name="Line 5">
              <a:extLst>
                <a:ext uri="{FF2B5EF4-FFF2-40B4-BE49-F238E27FC236}">
                  <a16:creationId xmlns:a16="http://schemas.microsoft.com/office/drawing/2014/main" id="{0E1FBF2F-A335-F896-5DCF-9B628F74C9D9}"/>
                </a:ext>
              </a:extLst>
            </p:cNvPr>
            <p:cNvSpPr>
              <a:spLocks noChangeShapeType="1"/>
            </p:cNvSpPr>
            <p:nvPr/>
          </p:nvSpPr>
          <p:spPr bwMode="auto">
            <a:xfrm>
              <a:off x="3560" y="836"/>
              <a:ext cx="480"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8479" name="Text Box 6">
              <a:extLst>
                <a:ext uri="{FF2B5EF4-FFF2-40B4-BE49-F238E27FC236}">
                  <a16:creationId xmlns:a16="http://schemas.microsoft.com/office/drawing/2014/main" id="{47CDFC15-9E9F-BA84-C4DD-1777DEA777BF}"/>
                </a:ext>
              </a:extLst>
            </p:cNvPr>
            <p:cNvSpPr txBox="1">
              <a:spLocks noChangeArrowheads="1"/>
            </p:cNvSpPr>
            <p:nvPr/>
          </p:nvSpPr>
          <p:spPr bwMode="auto">
            <a:xfrm>
              <a:off x="4237" y="32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2"/>
                  </a:solidFill>
                  <a:latin typeface="Times New Roman" panose="02020603050405020304" pitchFamily="18" charset="0"/>
                  <a:ea typeface="宋体" panose="02010600030101010101" pitchFamily="2" charset="-122"/>
                </a:rPr>
                <a:t>R</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18480" name="Text Box 7">
              <a:extLst>
                <a:ext uri="{FF2B5EF4-FFF2-40B4-BE49-F238E27FC236}">
                  <a16:creationId xmlns:a16="http://schemas.microsoft.com/office/drawing/2014/main" id="{133892F3-AA20-D44C-74CA-D6352CEE3BD9}"/>
                </a:ext>
              </a:extLst>
            </p:cNvPr>
            <p:cNvSpPr txBox="1">
              <a:spLocks noChangeArrowheads="1"/>
            </p:cNvSpPr>
            <p:nvPr/>
          </p:nvSpPr>
          <p:spPr bwMode="auto">
            <a:xfrm>
              <a:off x="4241" y="77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2"/>
                  </a:solidFill>
                  <a:latin typeface="Times New Roman" panose="02020603050405020304" pitchFamily="18" charset="0"/>
                  <a:ea typeface="宋体" panose="02010600030101010101" pitchFamily="2" charset="-122"/>
                </a:rPr>
                <a:t>O</a:t>
              </a:r>
            </a:p>
          </p:txBody>
        </p:sp>
        <p:sp>
          <p:nvSpPr>
            <p:cNvPr id="18481" name="Text Box 8">
              <a:extLst>
                <a:ext uri="{FF2B5EF4-FFF2-40B4-BE49-F238E27FC236}">
                  <a16:creationId xmlns:a16="http://schemas.microsoft.com/office/drawing/2014/main" id="{C9A460CF-4F4D-F300-C5FB-71B38158D104}"/>
                </a:ext>
              </a:extLst>
            </p:cNvPr>
            <p:cNvSpPr txBox="1">
              <a:spLocks noChangeArrowheads="1"/>
            </p:cNvSpPr>
            <p:nvPr/>
          </p:nvSpPr>
          <p:spPr bwMode="auto">
            <a:xfrm>
              <a:off x="4621" y="1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709641" name="Line 9">
              <a:extLst>
                <a:ext uri="{FF2B5EF4-FFF2-40B4-BE49-F238E27FC236}">
                  <a16:creationId xmlns:a16="http://schemas.microsoft.com/office/drawing/2014/main" id="{261FF986-8E2F-F55B-5F7B-BA4D0F32E54A}"/>
                </a:ext>
              </a:extLst>
            </p:cNvPr>
            <p:cNvSpPr>
              <a:spLocks noChangeShapeType="1"/>
            </p:cNvSpPr>
            <p:nvPr/>
          </p:nvSpPr>
          <p:spPr bwMode="auto">
            <a:xfrm flipV="1">
              <a:off x="4333" y="431"/>
              <a:ext cx="180" cy="405"/>
            </a:xfrm>
            <a:prstGeom prst="line">
              <a:avLst/>
            </a:prstGeom>
            <a:noFill/>
            <a:ln w="25400">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42" name="Line 10">
              <a:extLst>
                <a:ext uri="{FF2B5EF4-FFF2-40B4-BE49-F238E27FC236}">
                  <a16:creationId xmlns:a16="http://schemas.microsoft.com/office/drawing/2014/main" id="{79F225CC-97EC-014B-8966-44255BE1CFA1}"/>
                </a:ext>
              </a:extLst>
            </p:cNvPr>
            <p:cNvSpPr>
              <a:spLocks noChangeShapeType="1"/>
            </p:cNvSpPr>
            <p:nvPr/>
          </p:nvSpPr>
          <p:spPr bwMode="auto">
            <a:xfrm>
              <a:off x="4333" y="836"/>
              <a:ext cx="960"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43" name="Arc 11">
              <a:extLst>
                <a:ext uri="{FF2B5EF4-FFF2-40B4-BE49-F238E27FC236}">
                  <a16:creationId xmlns:a16="http://schemas.microsoft.com/office/drawing/2014/main" id="{29BDCD6C-EADC-3ACB-8C52-D7DCAC2CCC11}"/>
                </a:ext>
              </a:extLst>
            </p:cNvPr>
            <p:cNvSpPr>
              <a:spLocks/>
            </p:cNvSpPr>
            <p:nvPr/>
          </p:nvSpPr>
          <p:spPr bwMode="auto">
            <a:xfrm rot="5334705" flipH="1">
              <a:off x="4794" y="758"/>
              <a:ext cx="297" cy="138"/>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709644" name="Line 12">
            <a:extLst>
              <a:ext uri="{FF2B5EF4-FFF2-40B4-BE49-F238E27FC236}">
                <a16:creationId xmlns:a16="http://schemas.microsoft.com/office/drawing/2014/main" id="{CAB6E5D8-5298-0465-6E84-F5191351604F}"/>
              </a:ext>
            </a:extLst>
          </p:cNvPr>
          <p:cNvSpPr>
            <a:spLocks noChangeShapeType="1"/>
          </p:cNvSpPr>
          <p:nvPr/>
        </p:nvSpPr>
        <p:spPr bwMode="auto">
          <a:xfrm>
            <a:off x="5651500" y="2063750"/>
            <a:ext cx="2736850"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45" name="Arc 13">
            <a:extLst>
              <a:ext uri="{FF2B5EF4-FFF2-40B4-BE49-F238E27FC236}">
                <a16:creationId xmlns:a16="http://schemas.microsoft.com/office/drawing/2014/main" id="{C84CDA02-1060-0FC3-1725-6E811C92E771}"/>
              </a:ext>
            </a:extLst>
          </p:cNvPr>
          <p:cNvSpPr>
            <a:spLocks/>
          </p:cNvSpPr>
          <p:nvPr/>
        </p:nvSpPr>
        <p:spPr bwMode="auto">
          <a:xfrm rot="5334705" flipH="1">
            <a:off x="7682707" y="1934369"/>
            <a:ext cx="471487" cy="219075"/>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09646" name="Object 2">
            <a:extLst>
              <a:ext uri="{FF2B5EF4-FFF2-40B4-BE49-F238E27FC236}">
                <a16:creationId xmlns:a16="http://schemas.microsoft.com/office/drawing/2014/main" id="{6F7CF762-1079-BF7A-51E0-F07885E82E18}"/>
              </a:ext>
            </a:extLst>
          </p:cNvPr>
          <p:cNvGraphicFramePr>
            <a:graphicFrameLocks/>
          </p:cNvGraphicFramePr>
          <p:nvPr/>
        </p:nvGraphicFramePr>
        <p:xfrm>
          <a:off x="1258888" y="989013"/>
          <a:ext cx="1270000" cy="652462"/>
        </p:xfrm>
        <a:graphic>
          <a:graphicData uri="http://schemas.openxmlformats.org/presentationml/2006/ole">
            <mc:AlternateContent xmlns:mc="http://schemas.openxmlformats.org/markup-compatibility/2006">
              <mc:Choice xmlns:v="urn:schemas-microsoft-com:vml" Requires="v">
                <p:oleObj name="公式" r:id="rId2" imgW="1402329" imgH="716225" progId="Equation.3">
                  <p:embed/>
                </p:oleObj>
              </mc:Choice>
              <mc:Fallback>
                <p:oleObj name="公式" r:id="rId2" imgW="1402329" imgH="716225"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989013"/>
                        <a:ext cx="1270000" cy="652462"/>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9647" name="Object 3">
            <a:extLst>
              <a:ext uri="{FF2B5EF4-FFF2-40B4-BE49-F238E27FC236}">
                <a16:creationId xmlns:a16="http://schemas.microsoft.com/office/drawing/2014/main" id="{7EC83B1A-6B48-8120-B594-1B3C6103DD6D}"/>
              </a:ext>
            </a:extLst>
          </p:cNvPr>
          <p:cNvGraphicFramePr>
            <a:graphicFrameLocks/>
          </p:cNvGraphicFramePr>
          <p:nvPr/>
        </p:nvGraphicFramePr>
        <p:xfrm>
          <a:off x="1122363" y="1751013"/>
          <a:ext cx="2932112" cy="708025"/>
        </p:xfrm>
        <a:graphic>
          <a:graphicData uri="http://schemas.openxmlformats.org/presentationml/2006/ole">
            <mc:AlternateContent xmlns:mc="http://schemas.openxmlformats.org/markup-compatibility/2006">
              <mc:Choice xmlns:v="urn:schemas-microsoft-com:vml" Requires="v">
                <p:oleObj name="公式" r:id="rId4" imgW="1554604" imgH="388537" progId="Equation.3">
                  <p:embed/>
                </p:oleObj>
              </mc:Choice>
              <mc:Fallback>
                <p:oleObj name="公式" r:id="rId4" imgW="1554604" imgH="388537"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363" y="1751013"/>
                        <a:ext cx="2932112" cy="708025"/>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9648" name="Rectangle 16">
            <a:extLst>
              <a:ext uri="{FF2B5EF4-FFF2-40B4-BE49-F238E27FC236}">
                <a16:creationId xmlns:a16="http://schemas.microsoft.com/office/drawing/2014/main" id="{432B74BB-18CE-6DED-049B-676C829DFBF4}"/>
              </a:ext>
            </a:extLst>
          </p:cNvPr>
          <p:cNvSpPr>
            <a:spLocks noChangeArrowheads="1"/>
          </p:cNvSpPr>
          <p:nvPr/>
        </p:nvSpPr>
        <p:spPr bwMode="auto">
          <a:xfrm>
            <a:off x="395288" y="2613025"/>
            <a:ext cx="306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2. (</a:t>
            </a:r>
            <a:r>
              <a:rPr lang="zh-CN" altLang="en-US">
                <a:solidFill>
                  <a:srgbClr val="FF3300"/>
                </a:solidFill>
                <a:latin typeface="Times New Roman" panose="02020603050405020304" pitchFamily="18" charset="0"/>
                <a:ea typeface="宋体" panose="02010600030101010101" pitchFamily="2" charset="-122"/>
              </a:rPr>
              <a:t>薄板</a:t>
            </a:r>
            <a:r>
              <a:rPr lang="en-US" altLang="zh-CN">
                <a:solidFill>
                  <a:srgbClr val="66FFFF"/>
                </a:solidFill>
                <a:latin typeface="Times New Roman" panose="02020603050405020304" pitchFamily="18" charset="0"/>
                <a:ea typeface="宋体" panose="02010600030101010101" pitchFamily="2" charset="-122"/>
              </a:rPr>
              <a:t>)</a:t>
            </a:r>
            <a:r>
              <a:rPr lang="zh-CN" altLang="en-US">
                <a:solidFill>
                  <a:srgbClr val="66FFFF"/>
                </a:solidFill>
                <a:latin typeface="Times New Roman" panose="02020603050405020304" pitchFamily="18" charset="0"/>
                <a:ea typeface="宋体" panose="02010600030101010101" pitchFamily="2" charset="-122"/>
              </a:rPr>
              <a:t>垂直轴定理</a:t>
            </a:r>
          </a:p>
        </p:txBody>
      </p:sp>
      <p:graphicFrame>
        <p:nvGraphicFramePr>
          <p:cNvPr id="709649" name="Object 4">
            <a:extLst>
              <a:ext uri="{FF2B5EF4-FFF2-40B4-BE49-F238E27FC236}">
                <a16:creationId xmlns:a16="http://schemas.microsoft.com/office/drawing/2014/main" id="{93DAB271-5CBD-39A9-C934-6F715CD73521}"/>
              </a:ext>
            </a:extLst>
          </p:cNvPr>
          <p:cNvGraphicFramePr>
            <a:graphicFrameLocks/>
          </p:cNvGraphicFramePr>
          <p:nvPr/>
        </p:nvGraphicFramePr>
        <p:xfrm>
          <a:off x="1116013" y="3440113"/>
          <a:ext cx="1554162" cy="422275"/>
        </p:xfrm>
        <a:graphic>
          <a:graphicData uri="http://schemas.openxmlformats.org/presentationml/2006/ole">
            <mc:AlternateContent xmlns:mc="http://schemas.openxmlformats.org/markup-compatibility/2006">
              <mc:Choice xmlns:v="urn:schemas-microsoft-com:vml" Requires="v">
                <p:oleObj name="公式" r:id="rId6" imgW="1722307" imgH="464848" progId="Equation.3">
                  <p:embed/>
                </p:oleObj>
              </mc:Choice>
              <mc:Fallback>
                <p:oleObj name="公式" r:id="rId6" imgW="1722307" imgH="464848"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3440113"/>
                        <a:ext cx="1554162" cy="4222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2" name="Rectangle 18">
            <a:extLst>
              <a:ext uri="{FF2B5EF4-FFF2-40B4-BE49-F238E27FC236}">
                <a16:creationId xmlns:a16="http://schemas.microsoft.com/office/drawing/2014/main" id="{AC0D727B-1362-F240-DD1B-01E49C144630}"/>
              </a:ext>
            </a:extLst>
          </p:cNvPr>
          <p:cNvSpPr>
            <a:spLocks noChangeArrowheads="1"/>
          </p:cNvSpPr>
          <p:nvPr/>
        </p:nvSpPr>
        <p:spPr bwMode="auto">
          <a:xfrm>
            <a:off x="1173163" y="4602163"/>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1900" b="0">
                <a:solidFill>
                  <a:srgbClr val="000000"/>
                </a:solidFill>
                <a:latin typeface="Times New Roman" panose="02020603050405020304" pitchFamily="18" charset="0"/>
                <a:ea typeface="宋体" panose="02010600030101010101" pitchFamily="2" charset="-122"/>
              </a:rPr>
              <a:t>  </a:t>
            </a:r>
            <a:endParaRPr lang="en-US" altLang="zh-CN" b="0">
              <a:solidFill>
                <a:schemeClr val="tx1"/>
              </a:solidFill>
              <a:latin typeface="Times New Roman" panose="02020603050405020304" pitchFamily="18" charset="0"/>
              <a:ea typeface="宋体" panose="02010600030101010101" pitchFamily="2" charset="-122"/>
            </a:endParaRPr>
          </a:p>
        </p:txBody>
      </p:sp>
      <p:sp>
        <p:nvSpPr>
          <p:cNvPr id="709651" name="Rectangle 19">
            <a:extLst>
              <a:ext uri="{FF2B5EF4-FFF2-40B4-BE49-F238E27FC236}">
                <a16:creationId xmlns:a16="http://schemas.microsoft.com/office/drawing/2014/main" id="{ADAC64A7-7A63-ECE9-2509-93A4A040A8CA}"/>
              </a:ext>
            </a:extLst>
          </p:cNvPr>
          <p:cNvSpPr>
            <a:spLocks noChangeArrowheads="1"/>
          </p:cNvSpPr>
          <p:nvPr/>
        </p:nvSpPr>
        <p:spPr bwMode="auto">
          <a:xfrm>
            <a:off x="755650" y="4149725"/>
            <a:ext cx="4927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宋体" panose="02010600030101010101" pitchFamily="2" charset="-122"/>
                <a:ea typeface="宋体" panose="02010600030101010101" pitchFamily="2" charset="-122"/>
              </a:rPr>
              <a:t>例如</a:t>
            </a:r>
            <a:r>
              <a:rPr lang="zh-CN" altLang="en-US">
                <a:latin typeface="宋体" panose="02010600030101010101" pitchFamily="2" charset="-122"/>
                <a:ea typeface="宋体" panose="02010600030101010101" pitchFamily="2" charset="-122"/>
              </a:rPr>
              <a:t>求对圆盘的一条直径的转动惯量</a:t>
            </a:r>
            <a:endParaRPr lang="zh-CN" altLang="en-US">
              <a:latin typeface="Times New Roman" panose="02020603050405020304" pitchFamily="18" charset="0"/>
              <a:ea typeface="宋体" panose="02010600030101010101" pitchFamily="2" charset="-122"/>
            </a:endParaRPr>
          </a:p>
        </p:txBody>
      </p:sp>
      <p:graphicFrame>
        <p:nvGraphicFramePr>
          <p:cNvPr id="709652" name="Object 5">
            <a:extLst>
              <a:ext uri="{FF2B5EF4-FFF2-40B4-BE49-F238E27FC236}">
                <a16:creationId xmlns:a16="http://schemas.microsoft.com/office/drawing/2014/main" id="{10CA70A1-93BE-10D4-5773-D38F1C72E6BD}"/>
              </a:ext>
            </a:extLst>
          </p:cNvPr>
          <p:cNvGraphicFramePr>
            <a:graphicFrameLocks/>
          </p:cNvGraphicFramePr>
          <p:nvPr/>
        </p:nvGraphicFramePr>
        <p:xfrm>
          <a:off x="1547813" y="4665663"/>
          <a:ext cx="1428750" cy="742950"/>
        </p:xfrm>
        <a:graphic>
          <a:graphicData uri="http://schemas.openxmlformats.org/presentationml/2006/ole">
            <mc:AlternateContent xmlns:mc="http://schemas.openxmlformats.org/markup-compatibility/2006">
              <mc:Choice xmlns:v="urn:schemas-microsoft-com:vml" Requires="v">
                <p:oleObj name="Equation" r:id="rId8" imgW="1577496" imgH="815479" progId="Equation.3">
                  <p:embed/>
                </p:oleObj>
              </mc:Choice>
              <mc:Fallback>
                <p:oleObj name="Equation" r:id="rId8" imgW="1577496" imgH="815479"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4665663"/>
                        <a:ext cx="14287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9653" name="Object 6">
            <a:extLst>
              <a:ext uri="{FF2B5EF4-FFF2-40B4-BE49-F238E27FC236}">
                <a16:creationId xmlns:a16="http://schemas.microsoft.com/office/drawing/2014/main" id="{BEDF938A-1BAF-1B4D-4C86-7860BD41782B}"/>
              </a:ext>
            </a:extLst>
          </p:cNvPr>
          <p:cNvGraphicFramePr>
            <a:graphicFrameLocks/>
          </p:cNvGraphicFramePr>
          <p:nvPr/>
        </p:nvGraphicFramePr>
        <p:xfrm>
          <a:off x="1555750" y="5561013"/>
          <a:ext cx="1576388" cy="422275"/>
        </p:xfrm>
        <a:graphic>
          <a:graphicData uri="http://schemas.openxmlformats.org/presentationml/2006/ole">
            <mc:AlternateContent xmlns:mc="http://schemas.openxmlformats.org/markup-compatibility/2006">
              <mc:Choice xmlns:v="urn:schemas-microsoft-com:vml" Requires="v">
                <p:oleObj name="Equation" r:id="rId10" imgW="1745198" imgH="464848" progId="Equation.3">
                  <p:embed/>
                </p:oleObj>
              </mc:Choice>
              <mc:Fallback>
                <p:oleObj name="Equation" r:id="rId10" imgW="1745198" imgH="464848"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55750" y="5561013"/>
                        <a:ext cx="157638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9654" name="Object 7">
            <a:extLst>
              <a:ext uri="{FF2B5EF4-FFF2-40B4-BE49-F238E27FC236}">
                <a16:creationId xmlns:a16="http://schemas.microsoft.com/office/drawing/2014/main" id="{353751FC-9CC3-F8FF-282E-7D0F4C8C6D2D}"/>
              </a:ext>
            </a:extLst>
          </p:cNvPr>
          <p:cNvGraphicFramePr>
            <a:graphicFrameLocks/>
          </p:cNvGraphicFramePr>
          <p:nvPr/>
        </p:nvGraphicFramePr>
        <p:xfrm>
          <a:off x="1547813" y="6102350"/>
          <a:ext cx="971550" cy="422275"/>
        </p:xfrm>
        <a:graphic>
          <a:graphicData uri="http://schemas.openxmlformats.org/presentationml/2006/ole">
            <mc:AlternateContent xmlns:mc="http://schemas.openxmlformats.org/markup-compatibility/2006">
              <mc:Choice xmlns:v="urn:schemas-microsoft-com:vml" Requires="v">
                <p:oleObj name="Equation" r:id="rId12" imgW="1074389" imgH="464848" progId="Equation.3">
                  <p:embed/>
                </p:oleObj>
              </mc:Choice>
              <mc:Fallback>
                <p:oleObj name="Equation" r:id="rId12" imgW="1074389" imgH="464848"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47813" y="6102350"/>
                        <a:ext cx="971550"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9655" name="Text Box 23">
            <a:extLst>
              <a:ext uri="{FF2B5EF4-FFF2-40B4-BE49-F238E27FC236}">
                <a16:creationId xmlns:a16="http://schemas.microsoft.com/office/drawing/2014/main" id="{1D85F30A-EF13-8CEE-EE1C-549EDDF19471}"/>
              </a:ext>
            </a:extLst>
          </p:cNvPr>
          <p:cNvSpPr txBox="1">
            <a:spLocks noChangeArrowheads="1"/>
          </p:cNvSpPr>
          <p:nvPr/>
        </p:nvSpPr>
        <p:spPr bwMode="auto">
          <a:xfrm>
            <a:off x="684213" y="4745038"/>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已知</a:t>
            </a:r>
          </a:p>
        </p:txBody>
      </p:sp>
      <p:sp>
        <p:nvSpPr>
          <p:cNvPr id="709656" name="AutoShape 24">
            <a:extLst>
              <a:ext uri="{FF2B5EF4-FFF2-40B4-BE49-F238E27FC236}">
                <a16:creationId xmlns:a16="http://schemas.microsoft.com/office/drawing/2014/main" id="{EBF4D6E5-BB10-888B-E682-DA53365C6202}"/>
              </a:ext>
            </a:extLst>
          </p:cNvPr>
          <p:cNvSpPr>
            <a:spLocks/>
          </p:cNvSpPr>
          <p:nvPr/>
        </p:nvSpPr>
        <p:spPr bwMode="auto">
          <a:xfrm flipH="1">
            <a:off x="3133725" y="5734050"/>
            <a:ext cx="142875" cy="685800"/>
          </a:xfrm>
          <a:prstGeom prst="leftBrace">
            <a:avLst>
              <a:gd name="adj1" fmla="val 40000"/>
              <a:gd name="adj2" fmla="val 49019"/>
            </a:avLst>
          </a:prstGeom>
          <a:noFill/>
          <a:ln w="25400">
            <a:solidFill>
              <a:srgbClr val="66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kumimoji="1" lang="zh-CN" altLang="zh-CN">
              <a:latin typeface="Times New Roman" panose="02020603050405020304" pitchFamily="18" charset="0"/>
              <a:ea typeface="宋体" panose="02010600030101010101" pitchFamily="2" charset="-122"/>
            </a:endParaRPr>
          </a:p>
        </p:txBody>
      </p:sp>
      <p:graphicFrame>
        <p:nvGraphicFramePr>
          <p:cNvPr id="709657" name="Object 8">
            <a:extLst>
              <a:ext uri="{FF2B5EF4-FFF2-40B4-BE49-F238E27FC236}">
                <a16:creationId xmlns:a16="http://schemas.microsoft.com/office/drawing/2014/main" id="{1A1BC728-4033-D2F5-E61C-B1FD3E425A75}"/>
              </a:ext>
            </a:extLst>
          </p:cNvPr>
          <p:cNvGraphicFramePr>
            <a:graphicFrameLocks/>
          </p:cNvGraphicFramePr>
          <p:nvPr/>
        </p:nvGraphicFramePr>
        <p:xfrm>
          <a:off x="3355975" y="5670550"/>
          <a:ext cx="2079625" cy="742950"/>
        </p:xfrm>
        <a:graphic>
          <a:graphicData uri="http://schemas.openxmlformats.org/presentationml/2006/ole">
            <mc:AlternateContent xmlns:mc="http://schemas.openxmlformats.org/markup-compatibility/2006">
              <mc:Choice xmlns:v="urn:schemas-microsoft-com:vml" Requires="v">
                <p:oleObj name="Equation" r:id="rId14" imgW="2301053" imgH="815479" progId="Equation.3">
                  <p:embed/>
                </p:oleObj>
              </mc:Choice>
              <mc:Fallback>
                <p:oleObj name="Equation" r:id="rId14" imgW="2301053" imgH="815479"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55975" y="5670550"/>
                        <a:ext cx="207962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6">
            <a:extLst>
              <a:ext uri="{FF2B5EF4-FFF2-40B4-BE49-F238E27FC236}">
                <a16:creationId xmlns:a16="http://schemas.microsoft.com/office/drawing/2014/main" id="{4BB48834-F062-E273-E76A-0A400BD65156}"/>
              </a:ext>
            </a:extLst>
          </p:cNvPr>
          <p:cNvGrpSpPr>
            <a:grpSpLocks/>
          </p:cNvGrpSpPr>
          <p:nvPr/>
        </p:nvGrpSpPr>
        <p:grpSpPr bwMode="auto">
          <a:xfrm>
            <a:off x="5940425" y="4581525"/>
            <a:ext cx="2681288" cy="2024063"/>
            <a:chOff x="3742" y="2886"/>
            <a:chExt cx="1689" cy="1275"/>
          </a:xfrm>
        </p:grpSpPr>
        <p:sp>
          <p:nvSpPr>
            <p:cNvPr id="18464" name="Text Box 27">
              <a:extLst>
                <a:ext uri="{FF2B5EF4-FFF2-40B4-BE49-F238E27FC236}">
                  <a16:creationId xmlns:a16="http://schemas.microsoft.com/office/drawing/2014/main" id="{1D3A4D7D-DCAA-004D-B1DA-B32E332DF207}"/>
                </a:ext>
              </a:extLst>
            </p:cNvPr>
            <p:cNvSpPr txBox="1">
              <a:spLocks noChangeArrowheads="1"/>
            </p:cNvSpPr>
            <p:nvPr/>
          </p:nvSpPr>
          <p:spPr bwMode="auto">
            <a:xfrm>
              <a:off x="5128" y="3543"/>
              <a:ext cx="30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1"/>
                  </a:solidFill>
                  <a:latin typeface="Times New Roman" panose="02020603050405020304" pitchFamily="18" charset="0"/>
                  <a:ea typeface="宋体" panose="02010600030101010101" pitchFamily="2" charset="-122"/>
                </a:rPr>
                <a:t> </a:t>
              </a:r>
              <a:r>
                <a:rPr lang="en-US" altLang="zh-CN" b="0" i="1">
                  <a:solidFill>
                    <a:srgbClr val="FFFF00"/>
                  </a:solidFill>
                  <a:latin typeface="Times New Roman" panose="02020603050405020304" pitchFamily="18" charset="0"/>
                  <a:ea typeface="宋体" panose="02010600030101010101" pitchFamily="2" charset="-122"/>
                </a:rPr>
                <a:t>y</a:t>
              </a:r>
              <a:endParaRPr lang="en-US" altLang="zh-CN" b="0" i="1" baseline="-25000">
                <a:solidFill>
                  <a:srgbClr val="FFFF00"/>
                </a:solidFill>
                <a:latin typeface="Times New Roman" panose="02020603050405020304" pitchFamily="18" charset="0"/>
                <a:ea typeface="宋体" panose="02010600030101010101" pitchFamily="2" charset="-122"/>
              </a:endParaRPr>
            </a:p>
          </p:txBody>
        </p:sp>
        <p:sp>
          <p:nvSpPr>
            <p:cNvPr id="18465" name="Oval 28">
              <a:extLst>
                <a:ext uri="{FF2B5EF4-FFF2-40B4-BE49-F238E27FC236}">
                  <a16:creationId xmlns:a16="http://schemas.microsoft.com/office/drawing/2014/main" id="{CBAE8AA7-3D37-139A-F436-25E4EF6BBC4B}"/>
                </a:ext>
              </a:extLst>
            </p:cNvPr>
            <p:cNvSpPr>
              <a:spLocks noChangeArrowheads="1"/>
            </p:cNvSpPr>
            <p:nvPr/>
          </p:nvSpPr>
          <p:spPr bwMode="auto">
            <a:xfrm>
              <a:off x="3892" y="3203"/>
              <a:ext cx="1107" cy="821"/>
            </a:xfrm>
            <a:prstGeom prst="ellipse">
              <a:avLst/>
            </a:prstGeom>
            <a:solidFill>
              <a:srgbClr val="FF6600"/>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lang="zh-CN" altLang="zh-CN">
                <a:solidFill>
                  <a:schemeClr val="tx1"/>
                </a:solidFill>
                <a:latin typeface="Times New Roman" panose="02020603050405020304" pitchFamily="18" charset="0"/>
                <a:ea typeface="宋体" panose="02010600030101010101" pitchFamily="2" charset="-122"/>
              </a:endParaRPr>
            </a:p>
          </p:txBody>
        </p:sp>
        <p:sp>
          <p:nvSpPr>
            <p:cNvPr id="709661" name="Oval 29">
              <a:extLst>
                <a:ext uri="{FF2B5EF4-FFF2-40B4-BE49-F238E27FC236}">
                  <a16:creationId xmlns:a16="http://schemas.microsoft.com/office/drawing/2014/main" id="{C5B33AE9-026B-02E8-DDB5-12BB4ABBBD0C}"/>
                </a:ext>
              </a:extLst>
            </p:cNvPr>
            <p:cNvSpPr>
              <a:spLocks noChangeArrowheads="1"/>
            </p:cNvSpPr>
            <p:nvPr/>
          </p:nvSpPr>
          <p:spPr bwMode="auto">
            <a:xfrm>
              <a:off x="3892" y="3155"/>
              <a:ext cx="1107" cy="821"/>
            </a:xfrm>
            <a:prstGeom prst="ellipse">
              <a:avLst/>
            </a:prstGeom>
            <a:solidFill>
              <a:schemeClr val="bg1"/>
            </a:solidFill>
            <a:ln w="12700">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62" name="Line 30">
              <a:extLst>
                <a:ext uri="{FF2B5EF4-FFF2-40B4-BE49-F238E27FC236}">
                  <a16:creationId xmlns:a16="http://schemas.microsoft.com/office/drawing/2014/main" id="{BFAF3EB0-C12D-C977-F556-5C2A400418E9}"/>
                </a:ext>
              </a:extLst>
            </p:cNvPr>
            <p:cNvSpPr>
              <a:spLocks noChangeShapeType="1"/>
            </p:cNvSpPr>
            <p:nvPr/>
          </p:nvSpPr>
          <p:spPr bwMode="auto">
            <a:xfrm flipH="1" flipV="1">
              <a:off x="4433" y="3047"/>
              <a:ext cx="2" cy="545"/>
            </a:xfrm>
            <a:prstGeom prst="line">
              <a:avLst/>
            </a:prstGeom>
            <a:noFill/>
            <a:ln w="28575">
              <a:solidFill>
                <a:srgbClr val="FF9900"/>
              </a:solidFill>
              <a:round/>
              <a:headEnd/>
              <a:tailEnd type="triangle" w="sm" len="lg"/>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63" name="Line 31">
              <a:extLst>
                <a:ext uri="{FF2B5EF4-FFF2-40B4-BE49-F238E27FC236}">
                  <a16:creationId xmlns:a16="http://schemas.microsoft.com/office/drawing/2014/main" id="{F30C0797-8A89-F29F-415F-0DD5A0ADCE1C}"/>
                </a:ext>
              </a:extLst>
            </p:cNvPr>
            <p:cNvSpPr>
              <a:spLocks noChangeShapeType="1"/>
            </p:cNvSpPr>
            <p:nvPr/>
          </p:nvSpPr>
          <p:spPr bwMode="auto">
            <a:xfrm>
              <a:off x="4439" y="3592"/>
              <a:ext cx="708" cy="0"/>
            </a:xfrm>
            <a:prstGeom prst="line">
              <a:avLst/>
            </a:prstGeom>
            <a:noFill/>
            <a:ln w="28575">
              <a:solidFill>
                <a:srgbClr val="FF9900"/>
              </a:solidFill>
              <a:round/>
              <a:headEnd/>
              <a:tailEnd type="triangle" w="sm" len="lg"/>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8469" name="Text Box 32">
              <a:extLst>
                <a:ext uri="{FF2B5EF4-FFF2-40B4-BE49-F238E27FC236}">
                  <a16:creationId xmlns:a16="http://schemas.microsoft.com/office/drawing/2014/main" id="{08632672-A10F-4F9F-D47E-21F68AF3F62E}"/>
                </a:ext>
              </a:extLst>
            </p:cNvPr>
            <p:cNvSpPr txBox="1">
              <a:spLocks noChangeArrowheads="1"/>
            </p:cNvSpPr>
            <p:nvPr/>
          </p:nvSpPr>
          <p:spPr bwMode="auto">
            <a:xfrm>
              <a:off x="3742" y="3773"/>
              <a:ext cx="237"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x</a:t>
              </a:r>
            </a:p>
          </p:txBody>
        </p:sp>
        <p:sp>
          <p:nvSpPr>
            <p:cNvPr id="18470" name="Text Box 33">
              <a:extLst>
                <a:ext uri="{FF2B5EF4-FFF2-40B4-BE49-F238E27FC236}">
                  <a16:creationId xmlns:a16="http://schemas.microsoft.com/office/drawing/2014/main" id="{8598BD9E-0090-8F3A-C7C1-80B7672168B7}"/>
                </a:ext>
              </a:extLst>
            </p:cNvPr>
            <p:cNvSpPr txBox="1">
              <a:spLocks noChangeArrowheads="1"/>
            </p:cNvSpPr>
            <p:nvPr/>
          </p:nvSpPr>
          <p:spPr bwMode="auto">
            <a:xfrm>
              <a:off x="4148" y="2886"/>
              <a:ext cx="27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chemeClr val="tx1"/>
                  </a:solidFill>
                  <a:latin typeface="Times New Roman" panose="02020603050405020304" pitchFamily="18" charset="0"/>
                  <a:ea typeface="宋体" panose="02010600030101010101" pitchFamily="2" charset="-122"/>
                </a:rPr>
                <a:t> </a:t>
              </a:r>
              <a:r>
                <a:rPr lang="en-US" altLang="zh-CN" i="1">
                  <a:solidFill>
                    <a:srgbClr val="FFFF00"/>
                  </a:solidFill>
                  <a:latin typeface="Times New Roman" panose="02020603050405020304" pitchFamily="18" charset="0"/>
                  <a:ea typeface="宋体" panose="02010600030101010101" pitchFamily="2" charset="-122"/>
                </a:rPr>
                <a:t>z</a:t>
              </a:r>
            </a:p>
          </p:txBody>
        </p:sp>
        <p:sp>
          <p:nvSpPr>
            <p:cNvPr id="709666" name="Line 34">
              <a:extLst>
                <a:ext uri="{FF2B5EF4-FFF2-40B4-BE49-F238E27FC236}">
                  <a16:creationId xmlns:a16="http://schemas.microsoft.com/office/drawing/2014/main" id="{99D07C76-7199-4D62-32DD-7C17079414C3}"/>
                </a:ext>
              </a:extLst>
            </p:cNvPr>
            <p:cNvSpPr>
              <a:spLocks noChangeShapeType="1"/>
            </p:cNvSpPr>
            <p:nvPr/>
          </p:nvSpPr>
          <p:spPr bwMode="auto">
            <a:xfrm flipH="1">
              <a:off x="3934" y="3583"/>
              <a:ext cx="509" cy="417"/>
            </a:xfrm>
            <a:prstGeom prst="line">
              <a:avLst/>
            </a:prstGeom>
            <a:noFill/>
            <a:ln w="28575">
              <a:solidFill>
                <a:srgbClr val="FF9900"/>
              </a:solidFill>
              <a:round/>
              <a:headEnd/>
              <a:tailEnd type="triangle" w="sm" len="lg"/>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67" name="Line 35">
              <a:extLst>
                <a:ext uri="{FF2B5EF4-FFF2-40B4-BE49-F238E27FC236}">
                  <a16:creationId xmlns:a16="http://schemas.microsoft.com/office/drawing/2014/main" id="{0B89498E-D48B-9331-DD93-E02DF3DD96B2}"/>
                </a:ext>
              </a:extLst>
            </p:cNvPr>
            <p:cNvSpPr>
              <a:spLocks noChangeShapeType="1"/>
            </p:cNvSpPr>
            <p:nvPr/>
          </p:nvSpPr>
          <p:spPr bwMode="auto">
            <a:xfrm>
              <a:off x="4434" y="3590"/>
              <a:ext cx="260" cy="342"/>
            </a:xfrm>
            <a:prstGeom prst="line">
              <a:avLst/>
            </a:prstGeom>
            <a:noFill/>
            <a:ln w="22225">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8473" name="Text Box 36">
              <a:extLst>
                <a:ext uri="{FF2B5EF4-FFF2-40B4-BE49-F238E27FC236}">
                  <a16:creationId xmlns:a16="http://schemas.microsoft.com/office/drawing/2014/main" id="{8C6E63A9-7450-00AA-4D1B-E83687EE375A}"/>
                </a:ext>
              </a:extLst>
            </p:cNvPr>
            <p:cNvSpPr txBox="1">
              <a:spLocks noChangeArrowheads="1"/>
            </p:cNvSpPr>
            <p:nvPr/>
          </p:nvSpPr>
          <p:spPr bwMode="auto">
            <a:xfrm>
              <a:off x="4375" y="3251"/>
              <a:ext cx="62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000000"/>
                  </a:solidFill>
                  <a:latin typeface="Times New Roman" panose="02020603050405020304" pitchFamily="18" charset="0"/>
                  <a:ea typeface="宋体" panose="02010600030101010101" pitchFamily="2" charset="-122"/>
                </a:rPr>
                <a:t> </a:t>
              </a:r>
              <a:r>
                <a:rPr lang="zh-CN" altLang="en-US">
                  <a:solidFill>
                    <a:srgbClr val="000000"/>
                  </a:solidFill>
                  <a:latin typeface="Times New Roman" panose="02020603050405020304" pitchFamily="18" charset="0"/>
                  <a:ea typeface="宋体" panose="02010600030101010101" pitchFamily="2" charset="-122"/>
                </a:rPr>
                <a:t>圆盘</a:t>
              </a:r>
              <a:endParaRPr lang="zh-CN" altLang="en-US" baseline="-25000">
                <a:solidFill>
                  <a:srgbClr val="000000"/>
                </a:solidFill>
                <a:latin typeface="Times New Roman" panose="02020603050405020304" pitchFamily="18" charset="0"/>
                <a:ea typeface="宋体" panose="02010600030101010101" pitchFamily="2" charset="-122"/>
              </a:endParaRPr>
            </a:p>
          </p:txBody>
        </p:sp>
        <p:sp>
          <p:nvSpPr>
            <p:cNvPr id="18474" name="Text Box 37">
              <a:extLst>
                <a:ext uri="{FF2B5EF4-FFF2-40B4-BE49-F238E27FC236}">
                  <a16:creationId xmlns:a16="http://schemas.microsoft.com/office/drawing/2014/main" id="{46AB9613-A6B5-1012-9DD4-6D6CD7C5C4F0}"/>
                </a:ext>
              </a:extLst>
            </p:cNvPr>
            <p:cNvSpPr txBox="1">
              <a:spLocks noChangeArrowheads="1"/>
            </p:cNvSpPr>
            <p:nvPr/>
          </p:nvSpPr>
          <p:spPr bwMode="auto">
            <a:xfrm>
              <a:off x="4291" y="3673"/>
              <a:ext cx="42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000000"/>
                  </a:solidFill>
                  <a:latin typeface="Times New Roman" panose="02020603050405020304" pitchFamily="18" charset="0"/>
                  <a:ea typeface="宋体" panose="02010600030101010101" pitchFamily="2" charset="-122"/>
                </a:rPr>
                <a:t> </a:t>
              </a:r>
              <a:r>
                <a:rPr lang="en-US" altLang="zh-CN" b="0" i="1">
                  <a:solidFill>
                    <a:srgbClr val="000000"/>
                  </a:solidFill>
                  <a:latin typeface="Times New Roman" panose="02020603050405020304" pitchFamily="18" charset="0"/>
                  <a:ea typeface="宋体" panose="02010600030101010101" pitchFamily="2" charset="-122"/>
                </a:rPr>
                <a:t>R</a:t>
              </a:r>
              <a:endParaRPr lang="en-US" altLang="zh-CN" b="0" i="1" baseline="-25000">
                <a:solidFill>
                  <a:srgbClr val="000000"/>
                </a:solidFill>
                <a:latin typeface="Times New Roman" panose="02020603050405020304" pitchFamily="18" charset="0"/>
                <a:ea typeface="宋体" panose="02010600030101010101" pitchFamily="2" charset="-122"/>
              </a:endParaRPr>
            </a:p>
          </p:txBody>
        </p:sp>
        <p:sp>
          <p:nvSpPr>
            <p:cNvPr id="18475" name="Text Box 38">
              <a:extLst>
                <a:ext uri="{FF2B5EF4-FFF2-40B4-BE49-F238E27FC236}">
                  <a16:creationId xmlns:a16="http://schemas.microsoft.com/office/drawing/2014/main" id="{244CF9D4-FB79-F86C-FC4F-B7F5C63CB602}"/>
                </a:ext>
              </a:extLst>
            </p:cNvPr>
            <p:cNvSpPr txBox="1">
              <a:spLocks noChangeArrowheads="1"/>
            </p:cNvSpPr>
            <p:nvPr/>
          </p:nvSpPr>
          <p:spPr bwMode="auto">
            <a:xfrm>
              <a:off x="4087" y="3384"/>
              <a:ext cx="62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i="1">
                  <a:solidFill>
                    <a:srgbClr val="FF0000"/>
                  </a:solidFill>
                  <a:latin typeface="Times New Roman" panose="02020603050405020304" pitchFamily="18" charset="0"/>
                  <a:ea typeface="宋体" panose="02010600030101010101" pitchFamily="2" charset="-122"/>
                </a:rPr>
                <a:t> </a:t>
              </a:r>
              <a:r>
                <a:rPr lang="en-US" altLang="zh-CN" b="0">
                  <a:solidFill>
                    <a:srgbClr val="FF0000"/>
                  </a:solidFill>
                  <a:latin typeface="Times New Roman" panose="02020603050405020304" pitchFamily="18" charset="0"/>
                  <a:ea typeface="宋体" panose="02010600030101010101" pitchFamily="2" charset="-122"/>
                </a:rPr>
                <a:t>C</a:t>
              </a:r>
              <a:endParaRPr lang="en-US" altLang="zh-CN" b="0" baseline="-25000">
                <a:solidFill>
                  <a:srgbClr val="FF0000"/>
                </a:solidFill>
                <a:latin typeface="Times New Roman" panose="02020603050405020304" pitchFamily="18" charset="0"/>
                <a:ea typeface="宋体" panose="02010600030101010101" pitchFamily="2" charset="-122"/>
              </a:endParaRPr>
            </a:p>
          </p:txBody>
        </p:sp>
        <p:sp>
          <p:nvSpPr>
            <p:cNvPr id="18476" name="Text Box 39">
              <a:extLst>
                <a:ext uri="{FF2B5EF4-FFF2-40B4-BE49-F238E27FC236}">
                  <a16:creationId xmlns:a16="http://schemas.microsoft.com/office/drawing/2014/main" id="{8EDF7638-B657-2A86-A0C1-CC746DDBB076}"/>
                </a:ext>
              </a:extLst>
            </p:cNvPr>
            <p:cNvSpPr txBox="1">
              <a:spLocks noChangeArrowheads="1"/>
            </p:cNvSpPr>
            <p:nvPr/>
          </p:nvSpPr>
          <p:spPr bwMode="auto">
            <a:xfrm>
              <a:off x="4615" y="2933"/>
              <a:ext cx="35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tx1"/>
                  </a:solidFill>
                  <a:latin typeface="Times New Roman" panose="02020603050405020304" pitchFamily="18" charset="0"/>
                  <a:ea typeface="宋体" panose="02010600030101010101" pitchFamily="2" charset="-122"/>
                </a:rPr>
                <a:t> </a:t>
              </a:r>
              <a:r>
                <a:rPr lang="en-US" altLang="zh-CN" b="0" i="1">
                  <a:solidFill>
                    <a:srgbClr val="FFFF00"/>
                  </a:solidFill>
                  <a:latin typeface="Times New Roman" panose="02020603050405020304" pitchFamily="18" charset="0"/>
                  <a:ea typeface="宋体" panose="02010600030101010101" pitchFamily="2" charset="-122"/>
                </a:rPr>
                <a:t>m</a:t>
              </a:r>
              <a:endParaRPr lang="en-US" altLang="zh-CN" b="0" i="1" baseline="-25000">
                <a:solidFill>
                  <a:srgbClr val="FFFF00"/>
                </a:solidFill>
                <a:latin typeface="Times New Roman" panose="02020603050405020304" pitchFamily="18" charset="0"/>
                <a:ea typeface="宋体" panose="02010600030101010101" pitchFamily="2" charset="-122"/>
              </a:endParaRPr>
            </a:p>
          </p:txBody>
        </p:sp>
      </p:grpSp>
      <p:sp>
        <p:nvSpPr>
          <p:cNvPr id="709672" name="Rectangle 40">
            <a:extLst>
              <a:ext uri="{FF2B5EF4-FFF2-40B4-BE49-F238E27FC236}">
                <a16:creationId xmlns:a16="http://schemas.microsoft.com/office/drawing/2014/main" id="{663B857C-2DDF-63A4-88C3-572526576E33}"/>
              </a:ext>
            </a:extLst>
          </p:cNvPr>
          <p:cNvSpPr>
            <a:spLocks noChangeArrowheads="1"/>
          </p:cNvSpPr>
          <p:nvPr/>
        </p:nvSpPr>
        <p:spPr bwMode="auto">
          <a:xfrm>
            <a:off x="3132138" y="3068638"/>
            <a:ext cx="25193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en-US" altLang="zh-CN" i="1">
                <a:solidFill>
                  <a:srgbClr val="66FFFF"/>
                </a:solidFill>
                <a:latin typeface="Times New Roman" panose="02020603050405020304" pitchFamily="18" charset="0"/>
                <a:ea typeface="宋体" panose="02010600030101010101" pitchFamily="2" charset="-122"/>
              </a:rPr>
              <a:t>x,y</a:t>
            </a:r>
            <a:r>
              <a:rPr lang="zh-CN" altLang="en-US">
                <a:latin typeface="宋体" panose="02010600030101010101" pitchFamily="2" charset="-122"/>
                <a:ea typeface="宋体" panose="02010600030101010101" pitchFamily="2" charset="-122"/>
              </a:rPr>
              <a:t>轴在薄板内；</a:t>
            </a:r>
          </a:p>
          <a:p>
            <a:pPr algn="l">
              <a:lnSpc>
                <a:spcPct val="125000"/>
              </a:lnSpc>
              <a:buClrTx/>
              <a:buFontTx/>
              <a:buNone/>
            </a:pPr>
            <a:r>
              <a:rPr lang="en-US" altLang="zh-CN" i="1">
                <a:solidFill>
                  <a:srgbClr val="66FFFF"/>
                </a:solidFill>
                <a:latin typeface="Times New Roman" panose="02020603050405020304" pitchFamily="18" charset="0"/>
                <a:ea typeface="宋体" panose="02010600030101010101" pitchFamily="2" charset="-122"/>
              </a:rPr>
              <a:t>z </a:t>
            </a:r>
            <a:r>
              <a:rPr lang="zh-CN" altLang="en-US">
                <a:latin typeface="宋体" panose="02010600030101010101" pitchFamily="2" charset="-122"/>
                <a:ea typeface="宋体" panose="02010600030101010101" pitchFamily="2" charset="-122"/>
              </a:rPr>
              <a:t>轴垂直</a:t>
            </a:r>
            <a:r>
              <a:rPr lang="zh-CN" altLang="en-US">
                <a:latin typeface="Times New Roman" panose="02020603050405020304" pitchFamily="18" charset="0"/>
                <a:ea typeface="宋体" panose="02010600030101010101" pitchFamily="2" charset="-122"/>
              </a:rPr>
              <a:t>薄板。</a:t>
            </a:r>
            <a:endParaRPr lang="zh-CN" altLang="en-US">
              <a:latin typeface="宋体" panose="02010600030101010101" pitchFamily="2" charset="-122"/>
              <a:ea typeface="宋体" panose="02010600030101010101" pitchFamily="2" charset="-122"/>
            </a:endParaRPr>
          </a:p>
        </p:txBody>
      </p:sp>
      <p:grpSp>
        <p:nvGrpSpPr>
          <p:cNvPr id="4" name="Group 41">
            <a:extLst>
              <a:ext uri="{FF2B5EF4-FFF2-40B4-BE49-F238E27FC236}">
                <a16:creationId xmlns:a16="http://schemas.microsoft.com/office/drawing/2014/main" id="{576B63F5-72F3-7F22-547E-59084A885AF7}"/>
              </a:ext>
            </a:extLst>
          </p:cNvPr>
          <p:cNvGrpSpPr>
            <a:grpSpLocks/>
          </p:cNvGrpSpPr>
          <p:nvPr/>
        </p:nvGrpSpPr>
        <p:grpSpPr bwMode="auto">
          <a:xfrm>
            <a:off x="5940425" y="2133600"/>
            <a:ext cx="2667000" cy="2405063"/>
            <a:chOff x="3742" y="1343"/>
            <a:chExt cx="1680" cy="1515"/>
          </a:xfrm>
        </p:grpSpPr>
        <p:sp>
          <p:nvSpPr>
            <p:cNvPr id="709674" name="Line 42">
              <a:extLst>
                <a:ext uri="{FF2B5EF4-FFF2-40B4-BE49-F238E27FC236}">
                  <a16:creationId xmlns:a16="http://schemas.microsoft.com/office/drawing/2014/main" id="{D78EA156-4109-1D3E-7C00-E538C98E0FDC}"/>
                </a:ext>
              </a:extLst>
            </p:cNvPr>
            <p:cNvSpPr>
              <a:spLocks noChangeShapeType="1"/>
            </p:cNvSpPr>
            <p:nvPr/>
          </p:nvSpPr>
          <p:spPr bwMode="auto">
            <a:xfrm>
              <a:off x="3774" y="2176"/>
              <a:ext cx="48" cy="192"/>
            </a:xfrm>
            <a:prstGeom prst="line">
              <a:avLst/>
            </a:prstGeom>
            <a:no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75" name="Freeform 43">
              <a:extLst>
                <a:ext uri="{FF2B5EF4-FFF2-40B4-BE49-F238E27FC236}">
                  <a16:creationId xmlns:a16="http://schemas.microsoft.com/office/drawing/2014/main" id="{DF0A0CF7-9456-A2E5-212E-A3EA65C62FF4}"/>
                </a:ext>
              </a:extLst>
            </p:cNvPr>
            <p:cNvSpPr>
              <a:spLocks/>
            </p:cNvSpPr>
            <p:nvPr/>
          </p:nvSpPr>
          <p:spPr bwMode="auto">
            <a:xfrm>
              <a:off x="3742" y="1880"/>
              <a:ext cx="1680" cy="912"/>
            </a:xfrm>
            <a:custGeom>
              <a:avLst/>
              <a:gdLst/>
              <a:ahLst/>
              <a:cxnLst>
                <a:cxn ang="0">
                  <a:pos x="8" y="304"/>
                </a:cxn>
                <a:cxn ang="0">
                  <a:pos x="104" y="544"/>
                </a:cxn>
                <a:cxn ang="0">
                  <a:pos x="248" y="688"/>
                </a:cxn>
                <a:cxn ang="0">
                  <a:pos x="344" y="784"/>
                </a:cxn>
                <a:cxn ang="0">
                  <a:pos x="680" y="880"/>
                </a:cxn>
                <a:cxn ang="0">
                  <a:pos x="920" y="928"/>
                </a:cxn>
                <a:cxn ang="0">
                  <a:pos x="1112" y="976"/>
                </a:cxn>
                <a:cxn ang="0">
                  <a:pos x="1304" y="976"/>
                </a:cxn>
                <a:cxn ang="0">
                  <a:pos x="1496" y="928"/>
                </a:cxn>
                <a:cxn ang="0">
                  <a:pos x="1592" y="832"/>
                </a:cxn>
                <a:cxn ang="0">
                  <a:pos x="1688" y="736"/>
                </a:cxn>
                <a:cxn ang="0">
                  <a:pos x="1784" y="640"/>
                </a:cxn>
                <a:cxn ang="0">
                  <a:pos x="1832" y="544"/>
                </a:cxn>
                <a:cxn ang="0">
                  <a:pos x="1880" y="448"/>
                </a:cxn>
                <a:cxn ang="0">
                  <a:pos x="1880" y="400"/>
                </a:cxn>
                <a:cxn ang="0">
                  <a:pos x="1880" y="304"/>
                </a:cxn>
                <a:cxn ang="0">
                  <a:pos x="1784" y="208"/>
                </a:cxn>
                <a:cxn ang="0">
                  <a:pos x="1688" y="160"/>
                </a:cxn>
                <a:cxn ang="0">
                  <a:pos x="1544" y="112"/>
                </a:cxn>
                <a:cxn ang="0">
                  <a:pos x="1256" y="16"/>
                </a:cxn>
                <a:cxn ang="0">
                  <a:pos x="824" y="16"/>
                </a:cxn>
                <a:cxn ang="0">
                  <a:pos x="488" y="16"/>
                </a:cxn>
                <a:cxn ang="0">
                  <a:pos x="152" y="112"/>
                </a:cxn>
                <a:cxn ang="0">
                  <a:pos x="56" y="208"/>
                </a:cxn>
                <a:cxn ang="0">
                  <a:pos x="8" y="304"/>
                </a:cxn>
              </a:cxnLst>
              <a:rect l="0" t="0" r="r" b="b"/>
              <a:pathLst>
                <a:path w="1896" h="984">
                  <a:moveTo>
                    <a:pt x="8" y="304"/>
                  </a:moveTo>
                  <a:cubicBezTo>
                    <a:pt x="16" y="360"/>
                    <a:pt x="64" y="480"/>
                    <a:pt x="104" y="544"/>
                  </a:cubicBezTo>
                  <a:cubicBezTo>
                    <a:pt x="144" y="608"/>
                    <a:pt x="208" y="648"/>
                    <a:pt x="248" y="688"/>
                  </a:cubicBezTo>
                  <a:cubicBezTo>
                    <a:pt x="288" y="728"/>
                    <a:pt x="272" y="752"/>
                    <a:pt x="344" y="784"/>
                  </a:cubicBezTo>
                  <a:cubicBezTo>
                    <a:pt x="416" y="816"/>
                    <a:pt x="584" y="856"/>
                    <a:pt x="680" y="880"/>
                  </a:cubicBezTo>
                  <a:cubicBezTo>
                    <a:pt x="776" y="904"/>
                    <a:pt x="848" y="912"/>
                    <a:pt x="920" y="928"/>
                  </a:cubicBezTo>
                  <a:cubicBezTo>
                    <a:pt x="992" y="944"/>
                    <a:pt x="1048" y="968"/>
                    <a:pt x="1112" y="976"/>
                  </a:cubicBezTo>
                  <a:cubicBezTo>
                    <a:pt x="1176" y="984"/>
                    <a:pt x="1240" y="984"/>
                    <a:pt x="1304" y="976"/>
                  </a:cubicBezTo>
                  <a:cubicBezTo>
                    <a:pt x="1368" y="968"/>
                    <a:pt x="1448" y="952"/>
                    <a:pt x="1496" y="928"/>
                  </a:cubicBezTo>
                  <a:cubicBezTo>
                    <a:pt x="1544" y="904"/>
                    <a:pt x="1560" y="864"/>
                    <a:pt x="1592" y="832"/>
                  </a:cubicBezTo>
                  <a:cubicBezTo>
                    <a:pt x="1624" y="800"/>
                    <a:pt x="1656" y="768"/>
                    <a:pt x="1688" y="736"/>
                  </a:cubicBezTo>
                  <a:cubicBezTo>
                    <a:pt x="1720" y="704"/>
                    <a:pt x="1760" y="672"/>
                    <a:pt x="1784" y="640"/>
                  </a:cubicBezTo>
                  <a:cubicBezTo>
                    <a:pt x="1808" y="608"/>
                    <a:pt x="1816" y="576"/>
                    <a:pt x="1832" y="544"/>
                  </a:cubicBezTo>
                  <a:cubicBezTo>
                    <a:pt x="1848" y="512"/>
                    <a:pt x="1872" y="472"/>
                    <a:pt x="1880" y="448"/>
                  </a:cubicBezTo>
                  <a:cubicBezTo>
                    <a:pt x="1888" y="424"/>
                    <a:pt x="1880" y="424"/>
                    <a:pt x="1880" y="400"/>
                  </a:cubicBezTo>
                  <a:cubicBezTo>
                    <a:pt x="1880" y="376"/>
                    <a:pt x="1896" y="336"/>
                    <a:pt x="1880" y="304"/>
                  </a:cubicBezTo>
                  <a:cubicBezTo>
                    <a:pt x="1864" y="272"/>
                    <a:pt x="1816" y="232"/>
                    <a:pt x="1784" y="208"/>
                  </a:cubicBezTo>
                  <a:cubicBezTo>
                    <a:pt x="1752" y="184"/>
                    <a:pt x="1728" y="176"/>
                    <a:pt x="1688" y="160"/>
                  </a:cubicBezTo>
                  <a:cubicBezTo>
                    <a:pt x="1648" y="144"/>
                    <a:pt x="1616" y="136"/>
                    <a:pt x="1544" y="112"/>
                  </a:cubicBezTo>
                  <a:cubicBezTo>
                    <a:pt x="1472" y="88"/>
                    <a:pt x="1376" y="32"/>
                    <a:pt x="1256" y="16"/>
                  </a:cubicBezTo>
                  <a:cubicBezTo>
                    <a:pt x="1136" y="0"/>
                    <a:pt x="952" y="16"/>
                    <a:pt x="824" y="16"/>
                  </a:cubicBezTo>
                  <a:cubicBezTo>
                    <a:pt x="696" y="16"/>
                    <a:pt x="600" y="0"/>
                    <a:pt x="488" y="16"/>
                  </a:cubicBezTo>
                  <a:cubicBezTo>
                    <a:pt x="376" y="32"/>
                    <a:pt x="224" y="80"/>
                    <a:pt x="152" y="112"/>
                  </a:cubicBezTo>
                  <a:cubicBezTo>
                    <a:pt x="80" y="144"/>
                    <a:pt x="80" y="176"/>
                    <a:pt x="56" y="208"/>
                  </a:cubicBezTo>
                  <a:cubicBezTo>
                    <a:pt x="32" y="240"/>
                    <a:pt x="0" y="248"/>
                    <a:pt x="8" y="304"/>
                  </a:cubicBezTo>
                  <a:close/>
                </a:path>
              </a:pathLst>
            </a:custGeom>
            <a:solidFill>
              <a:srgbClr val="33CCCC"/>
            </a:solidFill>
            <a:ln w="9525">
              <a:solidFill>
                <a:schemeClr val="tx1"/>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76" name="Line 44">
              <a:extLst>
                <a:ext uri="{FF2B5EF4-FFF2-40B4-BE49-F238E27FC236}">
                  <a16:creationId xmlns:a16="http://schemas.microsoft.com/office/drawing/2014/main" id="{9AE6094C-257B-6A34-8390-2F15BB9EDFEF}"/>
                </a:ext>
              </a:extLst>
            </p:cNvPr>
            <p:cNvSpPr>
              <a:spLocks noChangeShapeType="1"/>
            </p:cNvSpPr>
            <p:nvPr/>
          </p:nvSpPr>
          <p:spPr bwMode="auto">
            <a:xfrm>
              <a:off x="4462" y="1590"/>
              <a:ext cx="0" cy="682"/>
            </a:xfrm>
            <a:prstGeom prst="line">
              <a:avLst/>
            </a:prstGeom>
            <a:noFill/>
            <a:ln w="508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77" name="Line 45">
              <a:extLst>
                <a:ext uri="{FF2B5EF4-FFF2-40B4-BE49-F238E27FC236}">
                  <a16:creationId xmlns:a16="http://schemas.microsoft.com/office/drawing/2014/main" id="{D462C591-1716-CC93-32A5-BC027D88630C}"/>
                </a:ext>
              </a:extLst>
            </p:cNvPr>
            <p:cNvSpPr>
              <a:spLocks noChangeShapeType="1"/>
            </p:cNvSpPr>
            <p:nvPr/>
          </p:nvSpPr>
          <p:spPr bwMode="auto">
            <a:xfrm>
              <a:off x="4462" y="2714"/>
              <a:ext cx="0" cy="144"/>
            </a:xfrm>
            <a:prstGeom prst="line">
              <a:avLst/>
            </a:prstGeom>
            <a:noFill/>
            <a:ln w="5080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8458" name="Text Box 46">
              <a:extLst>
                <a:ext uri="{FF2B5EF4-FFF2-40B4-BE49-F238E27FC236}">
                  <a16:creationId xmlns:a16="http://schemas.microsoft.com/office/drawing/2014/main" id="{46FABC44-8AD1-9C1D-C0B9-604C6FAA4B57}"/>
                </a:ext>
              </a:extLst>
            </p:cNvPr>
            <p:cNvSpPr txBox="1">
              <a:spLocks noChangeArrowheads="1"/>
            </p:cNvSpPr>
            <p:nvPr/>
          </p:nvSpPr>
          <p:spPr bwMode="auto">
            <a:xfrm>
              <a:off x="4300" y="1343"/>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z</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709679" name="Line 47">
              <a:extLst>
                <a:ext uri="{FF2B5EF4-FFF2-40B4-BE49-F238E27FC236}">
                  <a16:creationId xmlns:a16="http://schemas.microsoft.com/office/drawing/2014/main" id="{EC220BCA-808D-E0C8-C229-B2EC253575DA}"/>
                </a:ext>
              </a:extLst>
            </p:cNvPr>
            <p:cNvSpPr>
              <a:spLocks noChangeShapeType="1"/>
            </p:cNvSpPr>
            <p:nvPr/>
          </p:nvSpPr>
          <p:spPr bwMode="auto">
            <a:xfrm>
              <a:off x="4078" y="2264"/>
              <a:ext cx="1200" cy="0"/>
            </a:xfrm>
            <a:prstGeom prst="line">
              <a:avLst/>
            </a:prstGeom>
            <a:noFill/>
            <a:ln w="38100">
              <a:solidFill>
                <a:schemeClr val="tx2"/>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709680" name="Line 48">
              <a:extLst>
                <a:ext uri="{FF2B5EF4-FFF2-40B4-BE49-F238E27FC236}">
                  <a16:creationId xmlns:a16="http://schemas.microsoft.com/office/drawing/2014/main" id="{1AD6BF98-2BCF-7FAA-90CE-096662FB1465}"/>
                </a:ext>
              </a:extLst>
            </p:cNvPr>
            <p:cNvSpPr>
              <a:spLocks noChangeShapeType="1"/>
            </p:cNvSpPr>
            <p:nvPr/>
          </p:nvSpPr>
          <p:spPr bwMode="auto">
            <a:xfrm rot="20908065" flipH="1">
              <a:off x="4078" y="2072"/>
              <a:ext cx="768" cy="384"/>
            </a:xfrm>
            <a:prstGeom prst="line">
              <a:avLst/>
            </a:prstGeom>
            <a:noFill/>
            <a:ln w="38100">
              <a:solidFill>
                <a:schemeClr val="tx2"/>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8461" name="Text Box 49">
              <a:extLst>
                <a:ext uri="{FF2B5EF4-FFF2-40B4-BE49-F238E27FC236}">
                  <a16:creationId xmlns:a16="http://schemas.microsoft.com/office/drawing/2014/main" id="{57066DF3-EBF5-51D0-8D51-B4B36BA2D940}"/>
                </a:ext>
              </a:extLst>
            </p:cNvPr>
            <p:cNvSpPr txBox="1">
              <a:spLocks noChangeArrowheads="1"/>
            </p:cNvSpPr>
            <p:nvPr/>
          </p:nvSpPr>
          <p:spPr bwMode="auto">
            <a:xfrm>
              <a:off x="4270" y="2312"/>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2800" b="0" i="1">
                  <a:solidFill>
                    <a:schemeClr val="tx2"/>
                  </a:solidFill>
                  <a:latin typeface="Times New Roman" panose="02020603050405020304" pitchFamily="18" charset="0"/>
                  <a:ea typeface="宋体" panose="02010600030101010101" pitchFamily="2" charset="-122"/>
                </a:rPr>
                <a:t>x</a:t>
              </a:r>
              <a:endParaRPr lang="en-US" altLang="zh-CN" b="0" i="1">
                <a:solidFill>
                  <a:srgbClr val="00FF00"/>
                </a:solidFill>
                <a:latin typeface="Times New Roman" panose="02020603050405020304" pitchFamily="18" charset="0"/>
                <a:ea typeface="宋体" panose="02010600030101010101" pitchFamily="2" charset="-122"/>
              </a:endParaRPr>
            </a:p>
          </p:txBody>
        </p:sp>
        <p:sp>
          <p:nvSpPr>
            <p:cNvPr id="18462" name="Text Box 50">
              <a:extLst>
                <a:ext uri="{FF2B5EF4-FFF2-40B4-BE49-F238E27FC236}">
                  <a16:creationId xmlns:a16="http://schemas.microsoft.com/office/drawing/2014/main" id="{79774924-29A1-A18B-06BF-1141582B9D1F}"/>
                </a:ext>
              </a:extLst>
            </p:cNvPr>
            <p:cNvSpPr txBox="1">
              <a:spLocks noChangeArrowheads="1"/>
            </p:cNvSpPr>
            <p:nvPr/>
          </p:nvSpPr>
          <p:spPr bwMode="auto">
            <a:xfrm>
              <a:off x="4932" y="2210"/>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2800" b="0" i="1">
                  <a:solidFill>
                    <a:schemeClr val="tx2"/>
                  </a:solidFill>
                  <a:latin typeface="Times New Roman" panose="02020603050405020304" pitchFamily="18" charset="0"/>
                  <a:ea typeface="宋体" panose="02010600030101010101" pitchFamily="2" charset="-122"/>
                </a:rPr>
                <a:t>y</a:t>
              </a:r>
              <a:endParaRPr lang="en-US" altLang="zh-CN" b="0" i="1">
                <a:solidFill>
                  <a:srgbClr val="00FF00"/>
                </a:solidFill>
                <a:latin typeface="Times New Roman" panose="02020603050405020304" pitchFamily="18" charset="0"/>
                <a:ea typeface="宋体" panose="02010600030101010101" pitchFamily="2" charset="-122"/>
              </a:endParaRPr>
            </a:p>
          </p:txBody>
        </p:sp>
        <p:sp>
          <p:nvSpPr>
            <p:cNvPr id="709683" name="Arc 51">
              <a:extLst>
                <a:ext uri="{FF2B5EF4-FFF2-40B4-BE49-F238E27FC236}">
                  <a16:creationId xmlns:a16="http://schemas.microsoft.com/office/drawing/2014/main" id="{B6324AED-329C-0A28-B085-E0C530FED31F}"/>
                </a:ext>
              </a:extLst>
            </p:cNvPr>
            <p:cNvSpPr>
              <a:spLocks/>
            </p:cNvSpPr>
            <p:nvPr/>
          </p:nvSpPr>
          <p:spPr bwMode="auto">
            <a:xfrm flipH="1">
              <a:off x="4307" y="1660"/>
              <a:ext cx="297" cy="92"/>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pic>
        <p:nvPicPr>
          <p:cNvPr id="709684" name="Picture 52" descr="j0293240">
            <a:extLst>
              <a:ext uri="{FF2B5EF4-FFF2-40B4-BE49-F238E27FC236}">
                <a16:creationId xmlns:a16="http://schemas.microsoft.com/office/drawing/2014/main" id="{FB102B83-1151-6A9A-CCAE-10245B6F740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9634"/>
                                        </p:tgtEl>
                                        <p:attrNameLst>
                                          <p:attrName>style.visibility</p:attrName>
                                        </p:attrNameLst>
                                      </p:cBhvr>
                                      <p:to>
                                        <p:strVal val="visible"/>
                                      </p:to>
                                    </p:set>
                                    <p:animEffect transition="in" filter="wipe(left)">
                                      <p:cBhvr>
                                        <p:cTn id="7" dur="500"/>
                                        <p:tgtEl>
                                          <p:spTgt spid="7096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09646"/>
                                        </p:tgtEl>
                                        <p:attrNameLst>
                                          <p:attrName>style.visibility</p:attrName>
                                        </p:attrNameLst>
                                      </p:cBhvr>
                                      <p:to>
                                        <p:strVal val="visible"/>
                                      </p:to>
                                    </p:set>
                                    <p:animEffect transition="in" filter="wipe(left)">
                                      <p:cBhvr>
                                        <p:cTn id="17" dur="500"/>
                                        <p:tgtEl>
                                          <p:spTgt spid="7096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09644"/>
                                        </p:tgtEl>
                                        <p:attrNameLst>
                                          <p:attrName>style.visibility</p:attrName>
                                        </p:attrNameLst>
                                      </p:cBhvr>
                                      <p:to>
                                        <p:strVal val="visible"/>
                                      </p:to>
                                    </p:set>
                                    <p:animEffect transition="in" filter="wipe(left)">
                                      <p:cBhvr>
                                        <p:cTn id="22" dur="500"/>
                                        <p:tgtEl>
                                          <p:spTgt spid="7096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09645"/>
                                        </p:tgtEl>
                                        <p:attrNameLst>
                                          <p:attrName>style.visibility</p:attrName>
                                        </p:attrNameLst>
                                      </p:cBhvr>
                                      <p:to>
                                        <p:strVal val="visible"/>
                                      </p:to>
                                    </p:set>
                                    <p:animEffect transition="in" filter="wipe(up)">
                                      <p:cBhvr>
                                        <p:cTn id="27" dur="500"/>
                                        <p:tgtEl>
                                          <p:spTgt spid="7096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09647"/>
                                        </p:tgtEl>
                                        <p:attrNameLst>
                                          <p:attrName>style.visibility</p:attrName>
                                        </p:attrNameLst>
                                      </p:cBhvr>
                                      <p:to>
                                        <p:strVal val="visible"/>
                                      </p:to>
                                    </p:set>
                                    <p:animEffect transition="in" filter="wipe(left)">
                                      <p:cBhvr>
                                        <p:cTn id="32" dur="500"/>
                                        <p:tgtEl>
                                          <p:spTgt spid="7096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09648"/>
                                        </p:tgtEl>
                                        <p:attrNameLst>
                                          <p:attrName>style.visibility</p:attrName>
                                        </p:attrNameLst>
                                      </p:cBhvr>
                                      <p:to>
                                        <p:strVal val="visible"/>
                                      </p:to>
                                    </p:set>
                                    <p:animEffect transition="in" filter="wipe(left)">
                                      <p:cBhvr>
                                        <p:cTn id="37" dur="500"/>
                                        <p:tgtEl>
                                          <p:spTgt spid="7096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09649"/>
                                        </p:tgtEl>
                                        <p:attrNameLst>
                                          <p:attrName>style.visibility</p:attrName>
                                        </p:attrNameLst>
                                      </p:cBhvr>
                                      <p:to>
                                        <p:strVal val="visible"/>
                                      </p:to>
                                    </p:set>
                                    <p:animEffect transition="in" filter="wipe(left)">
                                      <p:cBhvr>
                                        <p:cTn id="48" dur="500"/>
                                        <p:tgtEl>
                                          <p:spTgt spid="709649"/>
                                        </p:tgtEl>
                                      </p:cBhvr>
                                    </p:animEffect>
                                  </p:childTnLst>
                                </p:cTn>
                              </p:par>
                            </p:childTnLst>
                          </p:cTn>
                        </p:par>
                        <p:par>
                          <p:cTn id="49" fill="hold" nodeType="afterGroup">
                            <p:stCondLst>
                              <p:cond delay="500"/>
                            </p:stCondLst>
                            <p:childTnLst>
                              <p:par>
                                <p:cTn id="50" presetID="22" presetClass="entr" presetSubtype="8" fill="hold" nodeType="afterEffect">
                                  <p:stCondLst>
                                    <p:cond delay="0"/>
                                  </p:stCondLst>
                                  <p:childTnLst>
                                    <p:set>
                                      <p:cBhvr>
                                        <p:cTn id="51" dur="1" fill="hold">
                                          <p:stCondLst>
                                            <p:cond delay="0"/>
                                          </p:stCondLst>
                                        </p:cTn>
                                        <p:tgtEl>
                                          <p:spTgt spid="709672"/>
                                        </p:tgtEl>
                                        <p:attrNameLst>
                                          <p:attrName>style.visibility</p:attrName>
                                        </p:attrNameLst>
                                      </p:cBhvr>
                                      <p:to>
                                        <p:strVal val="visible"/>
                                      </p:to>
                                    </p:set>
                                    <p:animEffect transition="in" filter="wipe(left)">
                                      <p:cBhvr>
                                        <p:cTn id="52" dur="500"/>
                                        <p:tgtEl>
                                          <p:spTgt spid="70967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09651"/>
                                        </p:tgtEl>
                                        <p:attrNameLst>
                                          <p:attrName>style.visibility</p:attrName>
                                        </p:attrNameLst>
                                      </p:cBhvr>
                                      <p:to>
                                        <p:strVal val="visible"/>
                                      </p:to>
                                    </p:set>
                                    <p:animEffect transition="in" filter="wipe(left)">
                                      <p:cBhvr>
                                        <p:cTn id="57" dur="500"/>
                                        <p:tgtEl>
                                          <p:spTgt spid="7096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16"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 calcmode="lin" valueType="num">
                                      <p:cBhvr>
                                        <p:cTn id="62" dur="500" fill="hold"/>
                                        <p:tgtEl>
                                          <p:spTgt spid="3"/>
                                        </p:tgtEl>
                                        <p:attrNameLst>
                                          <p:attrName>ppt_w</p:attrName>
                                        </p:attrNameLst>
                                      </p:cBhvr>
                                      <p:tavLst>
                                        <p:tav tm="0">
                                          <p:val>
                                            <p:fltVal val="0"/>
                                          </p:val>
                                        </p:tav>
                                        <p:tav tm="100000">
                                          <p:val>
                                            <p:strVal val="#ppt_w"/>
                                          </p:val>
                                        </p:tav>
                                      </p:tavLst>
                                    </p:anim>
                                    <p:anim calcmode="lin" valueType="num">
                                      <p:cBhvr>
                                        <p:cTn id="6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709655"/>
                                        </p:tgtEl>
                                        <p:attrNameLst>
                                          <p:attrName>style.visibility</p:attrName>
                                        </p:attrNameLst>
                                      </p:cBhvr>
                                      <p:to>
                                        <p:strVal val="visible"/>
                                      </p:to>
                                    </p:set>
                                    <p:animEffect transition="in" filter="wipe(left)">
                                      <p:cBhvr>
                                        <p:cTn id="68" dur="500"/>
                                        <p:tgtEl>
                                          <p:spTgt spid="70965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709652"/>
                                        </p:tgtEl>
                                        <p:attrNameLst>
                                          <p:attrName>style.visibility</p:attrName>
                                        </p:attrNameLst>
                                      </p:cBhvr>
                                      <p:to>
                                        <p:strVal val="visible"/>
                                      </p:to>
                                    </p:set>
                                    <p:animEffect transition="in" filter="wipe(left)">
                                      <p:cBhvr>
                                        <p:cTn id="73" dur="500"/>
                                        <p:tgtEl>
                                          <p:spTgt spid="70965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709653"/>
                                        </p:tgtEl>
                                        <p:attrNameLst>
                                          <p:attrName>style.visibility</p:attrName>
                                        </p:attrNameLst>
                                      </p:cBhvr>
                                      <p:to>
                                        <p:strVal val="visible"/>
                                      </p:to>
                                    </p:set>
                                    <p:animEffect transition="in" filter="wipe(left)">
                                      <p:cBhvr>
                                        <p:cTn id="78" dur="500"/>
                                        <p:tgtEl>
                                          <p:spTgt spid="70965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09654"/>
                                        </p:tgtEl>
                                        <p:attrNameLst>
                                          <p:attrName>style.visibility</p:attrName>
                                        </p:attrNameLst>
                                      </p:cBhvr>
                                      <p:to>
                                        <p:strVal val="visible"/>
                                      </p:to>
                                    </p:set>
                                    <p:animEffect transition="in" filter="wipe(left)">
                                      <p:cBhvr>
                                        <p:cTn id="83" dur="500"/>
                                        <p:tgtEl>
                                          <p:spTgt spid="70965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09656"/>
                                        </p:tgtEl>
                                        <p:attrNameLst>
                                          <p:attrName>style.visibility</p:attrName>
                                        </p:attrNameLst>
                                      </p:cBhvr>
                                      <p:to>
                                        <p:strVal val="visible"/>
                                      </p:to>
                                    </p:set>
                                    <p:animEffect transition="in" filter="wipe(left)">
                                      <p:cBhvr>
                                        <p:cTn id="88" dur="500"/>
                                        <p:tgtEl>
                                          <p:spTgt spid="70965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709657"/>
                                        </p:tgtEl>
                                        <p:attrNameLst>
                                          <p:attrName>style.visibility</p:attrName>
                                        </p:attrNameLst>
                                      </p:cBhvr>
                                      <p:to>
                                        <p:strVal val="visible"/>
                                      </p:to>
                                    </p:set>
                                    <p:animEffect transition="in" filter="wipe(left)">
                                      <p:cBhvr>
                                        <p:cTn id="93" dur="500"/>
                                        <p:tgtEl>
                                          <p:spTgt spid="709657"/>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2" fill="hold" nodeType="clickEffect">
                                  <p:stCondLst>
                                    <p:cond delay="0"/>
                                  </p:stCondLst>
                                  <p:childTnLst>
                                    <p:set>
                                      <p:cBhvr>
                                        <p:cTn id="97" dur="1" fill="hold">
                                          <p:stCondLst>
                                            <p:cond delay="0"/>
                                          </p:stCondLst>
                                        </p:cTn>
                                        <p:tgtEl>
                                          <p:spTgt spid="709684"/>
                                        </p:tgtEl>
                                        <p:attrNameLst>
                                          <p:attrName>style.visibility</p:attrName>
                                        </p:attrNameLst>
                                      </p:cBhvr>
                                      <p:to>
                                        <p:strVal val="visible"/>
                                      </p:to>
                                    </p:set>
                                    <p:anim calcmode="lin" valueType="num">
                                      <p:cBhvr additive="base">
                                        <p:cTn id="98" dur="500" fill="hold"/>
                                        <p:tgtEl>
                                          <p:spTgt spid="709684"/>
                                        </p:tgtEl>
                                        <p:attrNameLst>
                                          <p:attrName>ppt_x</p:attrName>
                                        </p:attrNameLst>
                                      </p:cBhvr>
                                      <p:tavLst>
                                        <p:tav tm="0">
                                          <p:val>
                                            <p:strVal val="1+#ppt_w/2"/>
                                          </p:val>
                                        </p:tav>
                                        <p:tav tm="100000">
                                          <p:val>
                                            <p:strVal val="#ppt_x"/>
                                          </p:val>
                                        </p:tav>
                                      </p:tavLst>
                                    </p:anim>
                                    <p:anim calcmode="lin" valueType="num">
                                      <p:cBhvr additive="base">
                                        <p:cTn id="99" dur="500" fill="hold"/>
                                        <p:tgtEl>
                                          <p:spTgt spid="7096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4" grpId="0" autoUpdateAnimBg="0"/>
      <p:bldP spid="709648" grpId="0" autoUpdateAnimBg="0"/>
      <p:bldP spid="709651" grpId="0" autoUpdateAnimBg="0"/>
      <p:bldP spid="709655" grpId="0" autoUpdateAnimBg="0"/>
      <p:bldP spid="709656" grpId="0" animBg="1" autoUpdateAnimBg="0"/>
      <p:bldP spid="70967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Text Box 2">
            <a:hlinkClick r:id="rId2" action="ppaction://hlinkfile"/>
            <a:extLst>
              <a:ext uri="{FF2B5EF4-FFF2-40B4-BE49-F238E27FC236}">
                <a16:creationId xmlns:a16="http://schemas.microsoft.com/office/drawing/2014/main" id="{FC577D10-DE5D-D68E-4114-B145F206E194}"/>
              </a:ext>
            </a:extLst>
          </p:cNvPr>
          <p:cNvSpPr txBox="1">
            <a:spLocks noChangeArrowheads="1"/>
          </p:cNvSpPr>
          <p:nvPr/>
        </p:nvSpPr>
        <p:spPr bwMode="auto">
          <a:xfrm>
            <a:off x="304800" y="1384300"/>
            <a:ext cx="568325" cy="3378200"/>
          </a:xfrm>
          <a:prstGeom prst="rect">
            <a:avLst/>
          </a:prstGeom>
          <a:noFill/>
          <a:ln w="12700">
            <a:noFill/>
            <a:miter lim="800000"/>
            <a:headEnd type="none" w="sm" len="sm"/>
            <a:tailEnd type="none" w="sm" len="sm"/>
          </a:ln>
          <a:effectLst/>
        </p:spPr>
        <p:txBody>
          <a:bodyPr anchor="ctr">
            <a:spAutoFit/>
          </a:bodyPr>
          <a:lstStyle/>
          <a:p>
            <a:pPr algn="ctr">
              <a:spcBef>
                <a:spcPct val="50000"/>
              </a:spcBef>
              <a:defRPr/>
            </a:pPr>
            <a:r>
              <a:rPr kumimoji="1" lang="zh-CN" altLang="en-US">
                <a:solidFill>
                  <a:srgbClr val="FF9900"/>
                </a:solidFill>
                <a:effectLst>
                  <a:outerShdw blurRad="38100" dist="38100" dir="2700000" algn="tl">
                    <a:srgbClr val="000000"/>
                  </a:outerShdw>
                </a:effectLst>
                <a:latin typeface="Times New Roman" pitchFamily="18" charset="0"/>
                <a:ea typeface="隶书" pitchFamily="49" charset="-122"/>
              </a:rPr>
              <a:t>常见刚体的转动惯量</a:t>
            </a:r>
          </a:p>
        </p:txBody>
      </p:sp>
      <p:graphicFrame>
        <p:nvGraphicFramePr>
          <p:cNvPr id="738307" name="Group 3">
            <a:extLst>
              <a:ext uri="{FF2B5EF4-FFF2-40B4-BE49-F238E27FC236}">
                <a16:creationId xmlns:a16="http://schemas.microsoft.com/office/drawing/2014/main" id="{CAB2708C-6939-B28C-D202-DB93DC8077CA}"/>
              </a:ext>
            </a:extLst>
          </p:cNvPr>
          <p:cNvGraphicFramePr>
            <a:graphicFrameLocks noGrp="1"/>
          </p:cNvGraphicFramePr>
          <p:nvPr/>
        </p:nvGraphicFramePr>
        <p:xfrm>
          <a:off x="1001713" y="254000"/>
          <a:ext cx="7812087" cy="6291264"/>
        </p:xfrm>
        <a:graphic>
          <a:graphicData uri="http://schemas.openxmlformats.org/drawingml/2006/table">
            <a:tbl>
              <a:tblPr/>
              <a:tblGrid>
                <a:gridCol w="2452687">
                  <a:extLst>
                    <a:ext uri="{9D8B030D-6E8A-4147-A177-3AD203B41FA5}">
                      <a16:colId xmlns:a16="http://schemas.microsoft.com/office/drawing/2014/main" val="20000"/>
                    </a:ext>
                  </a:extLst>
                </a:gridCol>
                <a:gridCol w="2655888">
                  <a:extLst>
                    <a:ext uri="{9D8B030D-6E8A-4147-A177-3AD203B41FA5}">
                      <a16:colId xmlns:a16="http://schemas.microsoft.com/office/drawing/2014/main" val="20001"/>
                    </a:ext>
                  </a:extLst>
                </a:gridCol>
                <a:gridCol w="2703512">
                  <a:extLst>
                    <a:ext uri="{9D8B030D-6E8A-4147-A177-3AD203B41FA5}">
                      <a16:colId xmlns:a16="http://schemas.microsoft.com/office/drawing/2014/main" val="20002"/>
                    </a:ext>
                  </a:extLst>
                </a:gridCol>
              </a:tblGrid>
              <a:tr h="640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刚体</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（质量为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m</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转轴位置</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rPr>
                        <a:t>转动惯量</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6176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细棒</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（棒长为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l</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通过中心与棒垂直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609662">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通过端点与棒垂直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64776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细圆环</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通过中心与环面垂直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58425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直径</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622363">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薄圆盘</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通过中心与盘面垂直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56520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直径</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640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rPr>
                        <a:t>空心圆柱</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rPr>
                        <a:t>（内外半径为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rPr>
                        <a:t>R</a:t>
                      </a:r>
                      <a:r>
                        <a:rPr kumimoji="0" lang="en-US" altLang="zh-CN" sz="1600" b="1" i="0" u="none" strike="noStrike" cap="none" normalizeH="0" baseline="-25000">
                          <a:ln>
                            <a:noFill/>
                          </a:ln>
                          <a:solidFill>
                            <a:srgbClr val="FFCC00"/>
                          </a:solidFill>
                          <a:effectLst/>
                          <a:latin typeface="Times New Roman" pitchFamily="18" charset="0"/>
                          <a:ea typeface="仿宋_GB2312" pitchFamily="49" charset="-122"/>
                        </a:rPr>
                        <a:t>1</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rPr>
                        <a:t>和</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rPr>
                        <a:t>R</a:t>
                      </a:r>
                      <a:r>
                        <a:rPr kumimoji="0" lang="en-US" altLang="zh-CN" sz="1600" b="1" i="0" u="none" strike="noStrike" cap="none" normalizeH="0" baseline="-25000">
                          <a:ln>
                            <a:noFill/>
                          </a:ln>
                          <a:solidFill>
                            <a:srgbClr val="FFCC00"/>
                          </a:solidFill>
                          <a:effectLst/>
                          <a:latin typeface="Times New Roman" pitchFamily="18" charset="0"/>
                          <a:ea typeface="仿宋_GB2312" pitchFamily="49" charset="-122"/>
                        </a:rPr>
                        <a:t>2</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rPr>
                        <a:t>对称轴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640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球壳</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中心轴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r h="7239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球体</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中心轴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9"/>
                  </a:ext>
                </a:extLst>
              </a:tr>
            </a:tbl>
          </a:graphicData>
        </a:graphic>
      </p:graphicFrame>
      <p:graphicFrame>
        <p:nvGraphicFramePr>
          <p:cNvPr id="738350" name="Object 2">
            <a:extLst>
              <a:ext uri="{FF2B5EF4-FFF2-40B4-BE49-F238E27FC236}">
                <a16:creationId xmlns:a16="http://schemas.microsoft.com/office/drawing/2014/main" id="{4094426E-387E-B965-74A6-77EE5BE4047A}"/>
              </a:ext>
            </a:extLst>
          </p:cNvPr>
          <p:cNvGraphicFramePr>
            <a:graphicFrameLocks noChangeAspect="1"/>
          </p:cNvGraphicFramePr>
          <p:nvPr/>
        </p:nvGraphicFramePr>
        <p:xfrm>
          <a:off x="6302375" y="1041400"/>
          <a:ext cx="1320800" cy="419100"/>
        </p:xfrm>
        <a:graphic>
          <a:graphicData uri="http://schemas.openxmlformats.org/presentationml/2006/ole">
            <mc:AlternateContent xmlns:mc="http://schemas.openxmlformats.org/markup-compatibility/2006">
              <mc:Choice xmlns:v="urn:schemas-microsoft-com:vml" Requires="v">
                <p:oleObj name="公式" r:id="rId3" imgW="1310764" imgH="411480" progId="Equation.3">
                  <p:embed/>
                </p:oleObj>
              </mc:Choice>
              <mc:Fallback>
                <p:oleObj name="公式" r:id="rId3" imgW="1310764" imgH="411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2375" y="1041400"/>
                        <a:ext cx="1320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1" name="Object 3">
            <a:extLst>
              <a:ext uri="{FF2B5EF4-FFF2-40B4-BE49-F238E27FC236}">
                <a16:creationId xmlns:a16="http://schemas.microsoft.com/office/drawing/2014/main" id="{04CFEA39-935B-77C0-B415-53E45380DD24}"/>
              </a:ext>
            </a:extLst>
          </p:cNvPr>
          <p:cNvGraphicFramePr>
            <a:graphicFrameLocks noChangeAspect="1"/>
          </p:cNvGraphicFramePr>
          <p:nvPr/>
        </p:nvGraphicFramePr>
        <p:xfrm>
          <a:off x="6302375" y="1647825"/>
          <a:ext cx="1257300" cy="419100"/>
        </p:xfrm>
        <a:graphic>
          <a:graphicData uri="http://schemas.openxmlformats.org/presentationml/2006/ole">
            <mc:AlternateContent xmlns:mc="http://schemas.openxmlformats.org/markup-compatibility/2006">
              <mc:Choice xmlns:v="urn:schemas-microsoft-com:vml" Requires="v">
                <p:oleObj name="公式" r:id="rId5" imgW="1249556" imgH="411480" progId="Equation.3">
                  <p:embed/>
                </p:oleObj>
              </mc:Choice>
              <mc:Fallback>
                <p:oleObj name="公式" r:id="rId5" imgW="1249556" imgH="4114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2375" y="1647825"/>
                        <a:ext cx="12573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2" name="Object 4">
            <a:extLst>
              <a:ext uri="{FF2B5EF4-FFF2-40B4-BE49-F238E27FC236}">
                <a16:creationId xmlns:a16="http://schemas.microsoft.com/office/drawing/2014/main" id="{9A97E327-ED68-5D6C-23D8-1C26B19A69C9}"/>
              </a:ext>
            </a:extLst>
          </p:cNvPr>
          <p:cNvGraphicFramePr>
            <a:graphicFrameLocks noChangeAspect="1"/>
          </p:cNvGraphicFramePr>
          <p:nvPr/>
        </p:nvGraphicFramePr>
        <p:xfrm>
          <a:off x="6302375" y="2868613"/>
          <a:ext cx="1914525" cy="438150"/>
        </p:xfrm>
        <a:graphic>
          <a:graphicData uri="http://schemas.openxmlformats.org/presentationml/2006/ole">
            <mc:AlternateContent xmlns:mc="http://schemas.openxmlformats.org/markup-compatibility/2006">
              <mc:Choice xmlns:v="urn:schemas-microsoft-com:vml" Requires="v">
                <p:oleObj name="公式" r:id="rId7" imgW="2392618" imgH="541159" progId="Equation.3">
                  <p:embed/>
                </p:oleObj>
              </mc:Choice>
              <mc:Fallback>
                <p:oleObj name="公式" r:id="rId7" imgW="2392618" imgH="541159"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2375" y="2868613"/>
                        <a:ext cx="19145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3" name="Object 5">
            <a:extLst>
              <a:ext uri="{FF2B5EF4-FFF2-40B4-BE49-F238E27FC236}">
                <a16:creationId xmlns:a16="http://schemas.microsoft.com/office/drawing/2014/main" id="{2958E462-E29D-9684-488B-129131AAE357}"/>
              </a:ext>
            </a:extLst>
          </p:cNvPr>
          <p:cNvGraphicFramePr>
            <a:graphicFrameLocks noChangeAspect="1"/>
          </p:cNvGraphicFramePr>
          <p:nvPr/>
        </p:nvGraphicFramePr>
        <p:xfrm>
          <a:off x="6302375" y="2287588"/>
          <a:ext cx="1193800" cy="419100"/>
        </p:xfrm>
        <a:graphic>
          <a:graphicData uri="http://schemas.openxmlformats.org/presentationml/2006/ole">
            <mc:AlternateContent xmlns:mc="http://schemas.openxmlformats.org/markup-compatibility/2006">
              <mc:Choice xmlns:v="urn:schemas-microsoft-com:vml" Requires="v">
                <p:oleObj name="公式" r:id="rId9" imgW="1188844" imgH="411480" progId="Equation.3">
                  <p:embed/>
                </p:oleObj>
              </mc:Choice>
              <mc:Fallback>
                <p:oleObj name="公式" r:id="rId9" imgW="1188844" imgH="41148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2375" y="2287588"/>
                        <a:ext cx="1193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4" name="Object 6">
            <a:extLst>
              <a:ext uri="{FF2B5EF4-FFF2-40B4-BE49-F238E27FC236}">
                <a16:creationId xmlns:a16="http://schemas.microsoft.com/office/drawing/2014/main" id="{2CDBFF7A-6596-205A-2792-4BA181C3DD30}"/>
              </a:ext>
            </a:extLst>
          </p:cNvPr>
          <p:cNvGraphicFramePr>
            <a:graphicFrameLocks noChangeAspect="1"/>
          </p:cNvGraphicFramePr>
          <p:nvPr/>
        </p:nvGraphicFramePr>
        <p:xfrm>
          <a:off x="6302375" y="3490913"/>
          <a:ext cx="1346200" cy="419100"/>
        </p:xfrm>
        <a:graphic>
          <a:graphicData uri="http://schemas.openxmlformats.org/presentationml/2006/ole">
            <mc:AlternateContent xmlns:mc="http://schemas.openxmlformats.org/markup-compatibility/2006">
              <mc:Choice xmlns:v="urn:schemas-microsoft-com:vml" Requires="v">
                <p:oleObj name="公式" r:id="rId11" imgW="1341120" imgH="411480" progId="Equation.3">
                  <p:embed/>
                </p:oleObj>
              </mc:Choice>
              <mc:Fallback>
                <p:oleObj name="公式" r:id="rId11" imgW="1341120" imgH="41148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02375" y="3490913"/>
                        <a:ext cx="13462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5" name="Object 7">
            <a:extLst>
              <a:ext uri="{FF2B5EF4-FFF2-40B4-BE49-F238E27FC236}">
                <a16:creationId xmlns:a16="http://schemas.microsoft.com/office/drawing/2014/main" id="{4EF74A2D-732D-F9E6-58AD-B04117C58738}"/>
              </a:ext>
            </a:extLst>
          </p:cNvPr>
          <p:cNvGraphicFramePr>
            <a:graphicFrameLocks noChangeAspect="1"/>
          </p:cNvGraphicFramePr>
          <p:nvPr/>
        </p:nvGraphicFramePr>
        <p:xfrm>
          <a:off x="6302375" y="4037013"/>
          <a:ext cx="1928813" cy="439737"/>
        </p:xfrm>
        <a:graphic>
          <a:graphicData uri="http://schemas.openxmlformats.org/presentationml/2006/ole">
            <mc:AlternateContent xmlns:mc="http://schemas.openxmlformats.org/markup-compatibility/2006">
              <mc:Choice xmlns:v="urn:schemas-microsoft-com:vml" Requires="v">
                <p:oleObj name="公式" r:id="rId13" imgW="2392618" imgH="541159" progId="Equation.3">
                  <p:embed/>
                </p:oleObj>
              </mc:Choice>
              <mc:Fallback>
                <p:oleObj name="公式" r:id="rId13" imgW="2392618" imgH="541159"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02375" y="4037013"/>
                        <a:ext cx="192881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6" name="Object 8">
            <a:extLst>
              <a:ext uri="{FF2B5EF4-FFF2-40B4-BE49-F238E27FC236}">
                <a16:creationId xmlns:a16="http://schemas.microsoft.com/office/drawing/2014/main" id="{955E9340-6D59-5220-1AB0-C86233D782F0}"/>
              </a:ext>
            </a:extLst>
          </p:cNvPr>
          <p:cNvGraphicFramePr>
            <a:graphicFrameLocks noChangeAspect="1"/>
          </p:cNvGraphicFramePr>
          <p:nvPr/>
        </p:nvGraphicFramePr>
        <p:xfrm>
          <a:off x="6302375" y="4706938"/>
          <a:ext cx="2208213" cy="419100"/>
        </p:xfrm>
        <a:graphic>
          <a:graphicData uri="http://schemas.openxmlformats.org/presentationml/2006/ole">
            <mc:AlternateContent xmlns:mc="http://schemas.openxmlformats.org/markup-compatibility/2006">
              <mc:Choice xmlns:v="urn:schemas-microsoft-com:vml" Requires="v">
                <p:oleObj name="公式" r:id="rId15" imgW="2202024" imgH="411480" progId="Equation.3">
                  <p:embed/>
                </p:oleObj>
              </mc:Choice>
              <mc:Fallback>
                <p:oleObj name="公式" r:id="rId15" imgW="2202024" imgH="41148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02375" y="4706938"/>
                        <a:ext cx="22082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7" name="Object 9">
            <a:extLst>
              <a:ext uri="{FF2B5EF4-FFF2-40B4-BE49-F238E27FC236}">
                <a16:creationId xmlns:a16="http://schemas.microsoft.com/office/drawing/2014/main" id="{DAA19D63-3916-7B7A-06DF-0D286480A8AA}"/>
              </a:ext>
            </a:extLst>
          </p:cNvPr>
          <p:cNvGraphicFramePr>
            <a:graphicFrameLocks noChangeAspect="1"/>
          </p:cNvGraphicFramePr>
          <p:nvPr/>
        </p:nvGraphicFramePr>
        <p:xfrm>
          <a:off x="6302375" y="5327650"/>
          <a:ext cx="1346200" cy="419100"/>
        </p:xfrm>
        <a:graphic>
          <a:graphicData uri="http://schemas.openxmlformats.org/presentationml/2006/ole">
            <mc:AlternateContent xmlns:mc="http://schemas.openxmlformats.org/markup-compatibility/2006">
              <mc:Choice xmlns:v="urn:schemas-microsoft-com:vml" Requires="v">
                <p:oleObj name="公式" r:id="rId17" imgW="1341120" imgH="411480" progId="Equation.3">
                  <p:embed/>
                </p:oleObj>
              </mc:Choice>
              <mc:Fallback>
                <p:oleObj name="公式" r:id="rId17" imgW="1341120" imgH="41148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02375" y="5327650"/>
                        <a:ext cx="13462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8358" name="Object 10">
            <a:extLst>
              <a:ext uri="{FF2B5EF4-FFF2-40B4-BE49-F238E27FC236}">
                <a16:creationId xmlns:a16="http://schemas.microsoft.com/office/drawing/2014/main" id="{1A500B3E-340A-EBE9-B25E-09E96CB95692}"/>
              </a:ext>
            </a:extLst>
          </p:cNvPr>
          <p:cNvGraphicFramePr>
            <a:graphicFrameLocks noChangeAspect="1"/>
          </p:cNvGraphicFramePr>
          <p:nvPr/>
        </p:nvGraphicFramePr>
        <p:xfrm>
          <a:off x="6302375" y="6026150"/>
          <a:ext cx="1346200" cy="419100"/>
        </p:xfrm>
        <a:graphic>
          <a:graphicData uri="http://schemas.openxmlformats.org/presentationml/2006/ole">
            <mc:AlternateContent xmlns:mc="http://schemas.openxmlformats.org/markup-compatibility/2006">
              <mc:Choice xmlns:v="urn:schemas-microsoft-com:vml" Requires="v">
                <p:oleObj name="公式" r:id="rId19" imgW="1341120" imgH="411480" progId="Equation.3">
                  <p:embed/>
                </p:oleObj>
              </mc:Choice>
              <mc:Fallback>
                <p:oleObj name="公式" r:id="rId19" imgW="1341120" imgH="41148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02375" y="6026150"/>
                        <a:ext cx="13462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38306"/>
                                        </p:tgtEl>
                                        <p:attrNameLst>
                                          <p:attrName>style.visibility</p:attrName>
                                        </p:attrNameLst>
                                      </p:cBhvr>
                                      <p:to>
                                        <p:strVal val="visible"/>
                                      </p:to>
                                    </p:set>
                                    <p:animEffect transition="in" filter="wipe(up)">
                                      <p:cBhvr>
                                        <p:cTn id="7" dur="500"/>
                                        <p:tgtEl>
                                          <p:spTgt spid="738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38307"/>
                                        </p:tgtEl>
                                        <p:attrNameLst>
                                          <p:attrName>style.visibility</p:attrName>
                                        </p:attrNameLst>
                                      </p:cBhvr>
                                      <p:to>
                                        <p:strVal val="visible"/>
                                      </p:to>
                                    </p:set>
                                    <p:animEffect transition="in" filter="wipe(up)">
                                      <p:cBhvr>
                                        <p:cTn id="12" dur="500"/>
                                        <p:tgtEl>
                                          <p:spTgt spid="738307"/>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738350"/>
                                        </p:tgtEl>
                                        <p:attrNameLst>
                                          <p:attrName>style.visibility</p:attrName>
                                        </p:attrNameLst>
                                      </p:cBhvr>
                                      <p:to>
                                        <p:strVal val="visible"/>
                                      </p:to>
                                    </p:set>
                                    <p:animEffect transition="in" filter="wipe(up)">
                                      <p:cBhvr>
                                        <p:cTn id="16" dur="500"/>
                                        <p:tgtEl>
                                          <p:spTgt spid="738350"/>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738351"/>
                                        </p:tgtEl>
                                        <p:attrNameLst>
                                          <p:attrName>style.visibility</p:attrName>
                                        </p:attrNameLst>
                                      </p:cBhvr>
                                      <p:to>
                                        <p:strVal val="visible"/>
                                      </p:to>
                                    </p:set>
                                    <p:animEffect transition="in" filter="wipe(up)">
                                      <p:cBhvr>
                                        <p:cTn id="20" dur="500"/>
                                        <p:tgtEl>
                                          <p:spTgt spid="738351"/>
                                        </p:tgtEl>
                                      </p:cBhvr>
                                    </p:animEffect>
                                  </p:childTnLst>
                                </p:cTn>
                              </p:par>
                            </p:childTnLst>
                          </p:cTn>
                        </p:par>
                        <p:par>
                          <p:cTn id="21" fill="hold" nodeType="afterGroup">
                            <p:stCondLst>
                              <p:cond delay="1500"/>
                            </p:stCondLst>
                            <p:childTnLst>
                              <p:par>
                                <p:cTn id="22" presetID="22" presetClass="entr" presetSubtype="1" fill="hold" nodeType="afterEffect">
                                  <p:stCondLst>
                                    <p:cond delay="0"/>
                                  </p:stCondLst>
                                  <p:childTnLst>
                                    <p:set>
                                      <p:cBhvr>
                                        <p:cTn id="23" dur="1" fill="hold">
                                          <p:stCondLst>
                                            <p:cond delay="0"/>
                                          </p:stCondLst>
                                        </p:cTn>
                                        <p:tgtEl>
                                          <p:spTgt spid="738353"/>
                                        </p:tgtEl>
                                        <p:attrNameLst>
                                          <p:attrName>style.visibility</p:attrName>
                                        </p:attrNameLst>
                                      </p:cBhvr>
                                      <p:to>
                                        <p:strVal val="visible"/>
                                      </p:to>
                                    </p:set>
                                    <p:animEffect transition="in" filter="wipe(up)">
                                      <p:cBhvr>
                                        <p:cTn id="24" dur="500"/>
                                        <p:tgtEl>
                                          <p:spTgt spid="738353"/>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738352"/>
                                        </p:tgtEl>
                                        <p:attrNameLst>
                                          <p:attrName>style.visibility</p:attrName>
                                        </p:attrNameLst>
                                      </p:cBhvr>
                                      <p:to>
                                        <p:strVal val="visible"/>
                                      </p:to>
                                    </p:set>
                                    <p:animEffect transition="in" filter="wipe(up)">
                                      <p:cBhvr>
                                        <p:cTn id="28" dur="500"/>
                                        <p:tgtEl>
                                          <p:spTgt spid="738352"/>
                                        </p:tgtEl>
                                      </p:cBhvr>
                                    </p:animEffect>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738354"/>
                                        </p:tgtEl>
                                        <p:attrNameLst>
                                          <p:attrName>style.visibility</p:attrName>
                                        </p:attrNameLst>
                                      </p:cBhvr>
                                      <p:to>
                                        <p:strVal val="visible"/>
                                      </p:to>
                                    </p:set>
                                    <p:animEffect transition="in" filter="wipe(up)">
                                      <p:cBhvr>
                                        <p:cTn id="32" dur="500"/>
                                        <p:tgtEl>
                                          <p:spTgt spid="738354"/>
                                        </p:tgtEl>
                                      </p:cBhvr>
                                    </p:animEffect>
                                  </p:childTnLst>
                                </p:cTn>
                              </p:par>
                            </p:childTnLst>
                          </p:cTn>
                        </p:par>
                        <p:par>
                          <p:cTn id="33" fill="hold" nodeType="afterGroup">
                            <p:stCondLst>
                              <p:cond delay="3000"/>
                            </p:stCondLst>
                            <p:childTnLst>
                              <p:par>
                                <p:cTn id="34" presetID="22" presetClass="entr" presetSubtype="1" fill="hold" nodeType="afterEffect">
                                  <p:stCondLst>
                                    <p:cond delay="0"/>
                                  </p:stCondLst>
                                  <p:childTnLst>
                                    <p:set>
                                      <p:cBhvr>
                                        <p:cTn id="35" dur="1" fill="hold">
                                          <p:stCondLst>
                                            <p:cond delay="0"/>
                                          </p:stCondLst>
                                        </p:cTn>
                                        <p:tgtEl>
                                          <p:spTgt spid="738355"/>
                                        </p:tgtEl>
                                        <p:attrNameLst>
                                          <p:attrName>style.visibility</p:attrName>
                                        </p:attrNameLst>
                                      </p:cBhvr>
                                      <p:to>
                                        <p:strVal val="visible"/>
                                      </p:to>
                                    </p:set>
                                    <p:animEffect transition="in" filter="wipe(up)">
                                      <p:cBhvr>
                                        <p:cTn id="36" dur="500"/>
                                        <p:tgtEl>
                                          <p:spTgt spid="738355"/>
                                        </p:tgtEl>
                                      </p:cBhvr>
                                    </p:animEffect>
                                  </p:childTnLst>
                                </p:cTn>
                              </p:par>
                            </p:childTnLst>
                          </p:cTn>
                        </p:par>
                        <p:par>
                          <p:cTn id="37" fill="hold" nodeType="afterGroup">
                            <p:stCondLst>
                              <p:cond delay="3500"/>
                            </p:stCondLst>
                            <p:childTnLst>
                              <p:par>
                                <p:cTn id="38" presetID="22" presetClass="entr" presetSubtype="1" fill="hold" nodeType="afterEffect">
                                  <p:stCondLst>
                                    <p:cond delay="0"/>
                                  </p:stCondLst>
                                  <p:childTnLst>
                                    <p:set>
                                      <p:cBhvr>
                                        <p:cTn id="39" dur="1" fill="hold">
                                          <p:stCondLst>
                                            <p:cond delay="0"/>
                                          </p:stCondLst>
                                        </p:cTn>
                                        <p:tgtEl>
                                          <p:spTgt spid="738356"/>
                                        </p:tgtEl>
                                        <p:attrNameLst>
                                          <p:attrName>style.visibility</p:attrName>
                                        </p:attrNameLst>
                                      </p:cBhvr>
                                      <p:to>
                                        <p:strVal val="visible"/>
                                      </p:to>
                                    </p:set>
                                    <p:animEffect transition="in" filter="wipe(up)">
                                      <p:cBhvr>
                                        <p:cTn id="40" dur="500"/>
                                        <p:tgtEl>
                                          <p:spTgt spid="738356"/>
                                        </p:tgtEl>
                                      </p:cBhvr>
                                    </p:animEffect>
                                  </p:childTnLst>
                                </p:cTn>
                              </p:par>
                            </p:childTnLst>
                          </p:cTn>
                        </p:par>
                        <p:par>
                          <p:cTn id="41" fill="hold" nodeType="afterGroup">
                            <p:stCondLst>
                              <p:cond delay="4000"/>
                            </p:stCondLst>
                            <p:childTnLst>
                              <p:par>
                                <p:cTn id="42" presetID="22" presetClass="entr" presetSubtype="1" fill="hold" nodeType="afterEffect">
                                  <p:stCondLst>
                                    <p:cond delay="0"/>
                                  </p:stCondLst>
                                  <p:childTnLst>
                                    <p:set>
                                      <p:cBhvr>
                                        <p:cTn id="43" dur="1" fill="hold">
                                          <p:stCondLst>
                                            <p:cond delay="0"/>
                                          </p:stCondLst>
                                        </p:cTn>
                                        <p:tgtEl>
                                          <p:spTgt spid="738357"/>
                                        </p:tgtEl>
                                        <p:attrNameLst>
                                          <p:attrName>style.visibility</p:attrName>
                                        </p:attrNameLst>
                                      </p:cBhvr>
                                      <p:to>
                                        <p:strVal val="visible"/>
                                      </p:to>
                                    </p:set>
                                    <p:animEffect transition="in" filter="wipe(up)">
                                      <p:cBhvr>
                                        <p:cTn id="44" dur="500"/>
                                        <p:tgtEl>
                                          <p:spTgt spid="738357"/>
                                        </p:tgtEl>
                                      </p:cBhvr>
                                    </p:animEffect>
                                  </p:childTnLst>
                                </p:cTn>
                              </p:par>
                            </p:childTnLst>
                          </p:cTn>
                        </p:par>
                        <p:par>
                          <p:cTn id="45" fill="hold" nodeType="afterGroup">
                            <p:stCondLst>
                              <p:cond delay="4500"/>
                            </p:stCondLst>
                            <p:childTnLst>
                              <p:par>
                                <p:cTn id="46" presetID="22" presetClass="entr" presetSubtype="1" fill="hold" nodeType="afterEffect">
                                  <p:stCondLst>
                                    <p:cond delay="0"/>
                                  </p:stCondLst>
                                  <p:childTnLst>
                                    <p:set>
                                      <p:cBhvr>
                                        <p:cTn id="47" dur="1" fill="hold">
                                          <p:stCondLst>
                                            <p:cond delay="0"/>
                                          </p:stCondLst>
                                        </p:cTn>
                                        <p:tgtEl>
                                          <p:spTgt spid="738358"/>
                                        </p:tgtEl>
                                        <p:attrNameLst>
                                          <p:attrName>style.visibility</p:attrName>
                                        </p:attrNameLst>
                                      </p:cBhvr>
                                      <p:to>
                                        <p:strVal val="visible"/>
                                      </p:to>
                                    </p:set>
                                    <p:animEffect transition="in" filter="wipe(up)">
                                      <p:cBhvr>
                                        <p:cTn id="48" dur="500"/>
                                        <p:tgtEl>
                                          <p:spTgt spid="738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0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a:extLst>
              <a:ext uri="{FF2B5EF4-FFF2-40B4-BE49-F238E27FC236}">
                <a16:creationId xmlns:a16="http://schemas.microsoft.com/office/drawing/2014/main" id="{1FB24401-ABFE-9104-693D-46D3CE579264}"/>
              </a:ext>
            </a:extLst>
          </p:cNvPr>
          <p:cNvSpPr txBox="1">
            <a:spLocks noChangeArrowheads="1"/>
          </p:cNvSpPr>
          <p:nvPr/>
        </p:nvSpPr>
        <p:spPr bwMode="auto">
          <a:xfrm>
            <a:off x="708025" y="396875"/>
            <a:ext cx="5040313" cy="492125"/>
          </a:xfrm>
          <a:prstGeom prst="rect">
            <a:avLst/>
          </a:prstGeom>
          <a:noFill/>
          <a:ln w="9525">
            <a:noFill/>
            <a:miter lim="800000"/>
            <a:headEnd/>
            <a:tailEnd/>
          </a:ln>
          <a:effectLst/>
        </p:spPr>
        <p:txBody>
          <a:bodyPr>
            <a:spAutoFit/>
          </a:bodyPr>
          <a:lstStyle/>
          <a:p>
            <a:pPr>
              <a:lnSpc>
                <a:spcPct val="120000"/>
              </a:lnSpc>
              <a:buClr>
                <a:schemeClr val="tx2"/>
              </a:buClr>
              <a:buFont typeface="Monotype Sorts" pitchFamily="2" charset="2"/>
              <a:buNone/>
              <a:defRPr/>
            </a:pPr>
            <a:r>
              <a:rPr kumimoji="1" lang="zh-CN" altLang="en-US" dirty="0">
                <a:effectLst>
                  <a:outerShdw blurRad="38100" dist="38100" dir="2700000" algn="tl">
                    <a:srgbClr val="000000">
                      <a:alpha val="43137"/>
                    </a:srgbClr>
                  </a:outerShdw>
                </a:effectLst>
                <a:latin typeface="Times New Roman" pitchFamily="18" charset="0"/>
              </a:rPr>
              <a:t>求空心圆柱绕中心轴的</a:t>
            </a:r>
            <a:r>
              <a:rPr lang="zh-CN" altLang="en-US" dirty="0">
                <a:effectLst>
                  <a:outerShdw blurRad="38100" dist="38100" dir="2700000" algn="tl">
                    <a:srgbClr val="000000">
                      <a:alpha val="43137"/>
                    </a:srgbClr>
                  </a:outerShdw>
                </a:effectLst>
                <a:latin typeface="Times New Roman" pitchFamily="18" charset="0"/>
              </a:rPr>
              <a:t>转动惯量</a:t>
            </a:r>
          </a:p>
        </p:txBody>
      </p:sp>
      <p:sp>
        <p:nvSpPr>
          <p:cNvPr id="117763" name="Rectangle 3">
            <a:extLst>
              <a:ext uri="{FF2B5EF4-FFF2-40B4-BE49-F238E27FC236}">
                <a16:creationId xmlns:a16="http://schemas.microsoft.com/office/drawing/2014/main" id="{02E9305C-29A7-A3B8-2D7D-784A330B5172}"/>
              </a:ext>
            </a:extLst>
          </p:cNvPr>
          <p:cNvSpPr>
            <a:spLocks noChangeArrowheads="1"/>
          </p:cNvSpPr>
          <p:nvPr/>
        </p:nvSpPr>
        <p:spPr bwMode="auto">
          <a:xfrm>
            <a:off x="263525" y="404813"/>
            <a:ext cx="493713"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lang="zh-CN" altLang="en-US">
                <a:solidFill>
                  <a:srgbClr val="FFFF00"/>
                </a:solidFill>
                <a:effectLst>
                  <a:outerShdw blurRad="38100" dist="38100" dir="2700000" algn="tl">
                    <a:srgbClr val="000000">
                      <a:alpha val="43137"/>
                    </a:srgbClr>
                  </a:outerShdw>
                </a:effectLst>
                <a:latin typeface="Times New Roman" pitchFamily="18" charset="0"/>
              </a:rPr>
              <a:t>例</a:t>
            </a:r>
          </a:p>
        </p:txBody>
      </p:sp>
      <p:sp>
        <p:nvSpPr>
          <p:cNvPr id="117764" name="Text Box 4">
            <a:extLst>
              <a:ext uri="{FF2B5EF4-FFF2-40B4-BE49-F238E27FC236}">
                <a16:creationId xmlns:a16="http://schemas.microsoft.com/office/drawing/2014/main" id="{001B3BAC-67D8-1E3A-92A0-C28527DD34A2}"/>
              </a:ext>
            </a:extLst>
          </p:cNvPr>
          <p:cNvSpPr txBox="1">
            <a:spLocks noChangeArrowheads="1"/>
          </p:cNvSpPr>
          <p:nvPr/>
        </p:nvSpPr>
        <p:spPr bwMode="auto">
          <a:xfrm>
            <a:off x="250825" y="1125538"/>
            <a:ext cx="493713"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solidFill>
                  <a:srgbClr val="FFFF66"/>
                </a:solidFill>
                <a:effectLst>
                  <a:outerShdw blurRad="38100" dist="38100" dir="2700000" algn="tl">
                    <a:srgbClr val="000000">
                      <a:alpha val="43137"/>
                    </a:srgbClr>
                  </a:outerShdw>
                </a:effectLst>
                <a:latin typeface="Times New Roman" pitchFamily="18" charset="0"/>
              </a:rPr>
              <a:t>解</a:t>
            </a:r>
          </a:p>
        </p:txBody>
      </p:sp>
      <p:sp>
        <p:nvSpPr>
          <p:cNvPr id="117765" name="Text Box 5">
            <a:extLst>
              <a:ext uri="{FF2B5EF4-FFF2-40B4-BE49-F238E27FC236}">
                <a16:creationId xmlns:a16="http://schemas.microsoft.com/office/drawing/2014/main" id="{64641EA2-CC69-1789-53F7-08BD6A01283E}"/>
              </a:ext>
            </a:extLst>
          </p:cNvPr>
          <p:cNvSpPr txBox="1">
            <a:spLocks noChangeArrowheads="1"/>
          </p:cNvSpPr>
          <p:nvPr/>
        </p:nvSpPr>
        <p:spPr bwMode="auto">
          <a:xfrm>
            <a:off x="676275" y="1125538"/>
            <a:ext cx="6919913" cy="493712"/>
          </a:xfrm>
          <a:prstGeom prst="rect">
            <a:avLst/>
          </a:prstGeom>
          <a:noFill/>
          <a:ln w="9525">
            <a:noFill/>
            <a:miter lim="800000"/>
            <a:headEnd/>
            <a:tailEnd/>
          </a:ln>
          <a:effectLst/>
        </p:spPr>
        <p:txBody>
          <a:bodyPr>
            <a:spAutoFit/>
          </a:bodyPr>
          <a:lstStyle/>
          <a:p>
            <a:pPr>
              <a:lnSpc>
                <a:spcPct val="120000"/>
              </a:lnSpc>
              <a:buClr>
                <a:schemeClr val="tx2"/>
              </a:buClr>
              <a:buFont typeface="Monotype Sorts" pitchFamily="2" charset="2"/>
              <a:buNone/>
              <a:defRPr/>
            </a:pPr>
            <a:r>
              <a:rPr kumimoji="1" lang="zh-CN" altLang="en-US" dirty="0">
                <a:effectLst>
                  <a:outerShdw blurRad="38100" dist="38100" dir="2700000" algn="tl">
                    <a:srgbClr val="000000">
                      <a:alpha val="43137"/>
                    </a:srgbClr>
                  </a:outerShdw>
                </a:effectLst>
                <a:latin typeface="Times New Roman" pitchFamily="18" charset="0"/>
              </a:rPr>
              <a:t>为两个实心圆柱绕中心轴的</a:t>
            </a:r>
            <a:r>
              <a:rPr lang="zh-CN" altLang="en-US" dirty="0">
                <a:effectLst>
                  <a:outerShdw blurRad="38100" dist="38100" dir="2700000" algn="tl">
                    <a:srgbClr val="000000">
                      <a:alpha val="43137"/>
                    </a:srgbClr>
                  </a:outerShdw>
                </a:effectLst>
                <a:latin typeface="Times New Roman" pitchFamily="18" charset="0"/>
              </a:rPr>
              <a:t>转动惯量的差值</a:t>
            </a:r>
          </a:p>
        </p:txBody>
      </p:sp>
      <p:sp>
        <p:nvSpPr>
          <p:cNvPr id="117766" name="Rectangle 6">
            <a:extLst>
              <a:ext uri="{FF2B5EF4-FFF2-40B4-BE49-F238E27FC236}">
                <a16:creationId xmlns:a16="http://schemas.microsoft.com/office/drawing/2014/main" id="{282A9FA2-F7D7-5836-F1FB-3C61C81C5007}"/>
              </a:ext>
            </a:extLst>
          </p:cNvPr>
          <p:cNvSpPr>
            <a:spLocks noChangeArrowheads="1"/>
          </p:cNvSpPr>
          <p:nvPr/>
        </p:nvSpPr>
        <p:spPr bwMode="auto">
          <a:xfrm>
            <a:off x="755650" y="1773238"/>
            <a:ext cx="4618038"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lang="zh-CN" altLang="en-US">
                <a:effectLst>
                  <a:outerShdw blurRad="38100" dist="38100" dir="2700000" algn="tl">
                    <a:srgbClr val="000000">
                      <a:alpha val="43137"/>
                    </a:srgbClr>
                  </a:outerShdw>
                </a:effectLst>
                <a:latin typeface="Times New Roman" pitchFamily="18" charset="0"/>
              </a:rPr>
              <a:t>圆盘绕中心轴旋转的转动惯量为</a:t>
            </a:r>
            <a:r>
              <a:rPr lang="en-US" altLang="zh-CN">
                <a:effectLst>
                  <a:outerShdw blurRad="38100" dist="38100" dir="2700000" algn="tl">
                    <a:srgbClr val="000000">
                      <a:alpha val="43137"/>
                    </a:srgbClr>
                  </a:outerShdw>
                </a:effectLst>
                <a:latin typeface="Times New Roman" pitchFamily="18" charset="0"/>
              </a:rPr>
              <a:t>:</a:t>
            </a:r>
          </a:p>
        </p:txBody>
      </p:sp>
      <p:graphicFrame>
        <p:nvGraphicFramePr>
          <p:cNvPr id="117767" name="Object 2">
            <a:extLst>
              <a:ext uri="{FF2B5EF4-FFF2-40B4-BE49-F238E27FC236}">
                <a16:creationId xmlns:a16="http://schemas.microsoft.com/office/drawing/2014/main" id="{7E96F896-DE09-6C66-FB59-BA9837EFCE9A}"/>
              </a:ext>
            </a:extLst>
          </p:cNvPr>
          <p:cNvGraphicFramePr>
            <a:graphicFrameLocks/>
          </p:cNvGraphicFramePr>
          <p:nvPr/>
        </p:nvGraphicFramePr>
        <p:xfrm>
          <a:off x="827088" y="2349500"/>
          <a:ext cx="1425575" cy="723900"/>
        </p:xfrm>
        <a:graphic>
          <a:graphicData uri="http://schemas.openxmlformats.org/presentationml/2006/ole">
            <mc:AlternateContent xmlns:mc="http://schemas.openxmlformats.org/markup-compatibility/2006">
              <mc:Choice xmlns:v="urn:schemas-microsoft-com:vml" Requires="v">
                <p:oleObj name="公式" r:id="rId2" imgW="1615316" imgH="815479" progId="Equation.3">
                  <p:embed/>
                </p:oleObj>
              </mc:Choice>
              <mc:Fallback>
                <p:oleObj name="公式" r:id="rId2" imgW="1615316" imgH="815479"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349500"/>
                        <a:ext cx="142557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68" name="Object 3">
            <a:extLst>
              <a:ext uri="{FF2B5EF4-FFF2-40B4-BE49-F238E27FC236}">
                <a16:creationId xmlns:a16="http://schemas.microsoft.com/office/drawing/2014/main" id="{496AB287-F74A-D181-9F65-6420CE985D74}"/>
              </a:ext>
            </a:extLst>
          </p:cNvPr>
          <p:cNvGraphicFramePr>
            <a:graphicFrameLocks/>
          </p:cNvGraphicFramePr>
          <p:nvPr/>
        </p:nvGraphicFramePr>
        <p:xfrm>
          <a:off x="2592388" y="2579688"/>
          <a:ext cx="1492250" cy="344487"/>
        </p:xfrm>
        <a:graphic>
          <a:graphicData uri="http://schemas.openxmlformats.org/presentationml/2006/ole">
            <mc:AlternateContent xmlns:mc="http://schemas.openxmlformats.org/markup-compatibility/2006">
              <mc:Choice xmlns:v="urn:schemas-microsoft-com:vml" Requires="v">
                <p:oleObj name="公式" r:id="rId4" imgW="1691453" imgH="388537" progId="Equation.3">
                  <p:embed/>
                </p:oleObj>
              </mc:Choice>
              <mc:Fallback>
                <p:oleObj name="公式" r:id="rId4" imgW="1691453" imgH="388537"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2388" y="2579688"/>
                        <a:ext cx="1492250" cy="34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69" name="Object 4">
            <a:extLst>
              <a:ext uri="{FF2B5EF4-FFF2-40B4-BE49-F238E27FC236}">
                <a16:creationId xmlns:a16="http://schemas.microsoft.com/office/drawing/2014/main" id="{4FB5FD08-7930-825A-55AA-138A984F2EAB}"/>
              </a:ext>
            </a:extLst>
          </p:cNvPr>
          <p:cNvGraphicFramePr>
            <a:graphicFrameLocks/>
          </p:cNvGraphicFramePr>
          <p:nvPr/>
        </p:nvGraphicFramePr>
        <p:xfrm>
          <a:off x="4149725" y="2506663"/>
          <a:ext cx="1603375" cy="411162"/>
        </p:xfrm>
        <a:graphic>
          <a:graphicData uri="http://schemas.openxmlformats.org/presentationml/2006/ole">
            <mc:AlternateContent xmlns:mc="http://schemas.openxmlformats.org/markup-compatibility/2006">
              <mc:Choice xmlns:v="urn:schemas-microsoft-com:vml" Requires="v">
                <p:oleObj name="公式" r:id="rId6" imgW="1821336" imgH="464848" progId="Equation.3">
                  <p:embed/>
                </p:oleObj>
              </mc:Choice>
              <mc:Fallback>
                <p:oleObj name="公式" r:id="rId6" imgW="1821336" imgH="464848"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9725" y="2506663"/>
                        <a:ext cx="1603375"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70" name="Rectangle 10">
            <a:extLst>
              <a:ext uri="{FF2B5EF4-FFF2-40B4-BE49-F238E27FC236}">
                <a16:creationId xmlns:a16="http://schemas.microsoft.com/office/drawing/2014/main" id="{154BC28A-4AB9-F30F-B455-90E658D3E648}"/>
              </a:ext>
            </a:extLst>
          </p:cNvPr>
          <p:cNvSpPr>
            <a:spLocks noChangeArrowheads="1"/>
          </p:cNvSpPr>
          <p:nvPr/>
        </p:nvSpPr>
        <p:spPr bwMode="auto">
          <a:xfrm>
            <a:off x="3206750" y="3429000"/>
            <a:ext cx="4618038" cy="493713"/>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dirty="0">
                <a:effectLst>
                  <a:outerShdw blurRad="38100" dist="38100" dir="2700000" algn="tl">
                    <a:srgbClr val="000000">
                      <a:alpha val="43137"/>
                    </a:srgbClr>
                  </a:outerShdw>
                </a:effectLst>
                <a:latin typeface="Times New Roman" pitchFamily="18" charset="0"/>
              </a:rPr>
              <a:t>实心圆柱绕中心轴的</a:t>
            </a:r>
            <a:r>
              <a:rPr lang="zh-CN" altLang="en-US" dirty="0">
                <a:effectLst>
                  <a:outerShdw blurRad="38100" dist="38100" dir="2700000" algn="tl">
                    <a:srgbClr val="000000">
                      <a:alpha val="43137"/>
                    </a:srgbClr>
                  </a:outerShdw>
                </a:effectLst>
                <a:latin typeface="Times New Roman" pitchFamily="18" charset="0"/>
              </a:rPr>
              <a:t>转动惯量为</a:t>
            </a:r>
            <a:r>
              <a:rPr lang="en-US" altLang="zh-CN" dirty="0">
                <a:effectLst>
                  <a:outerShdw blurRad="38100" dist="38100" dir="2700000" algn="tl">
                    <a:srgbClr val="000000">
                      <a:alpha val="43137"/>
                    </a:srgbClr>
                  </a:outerShdw>
                </a:effectLst>
                <a:latin typeface="Times New Roman" pitchFamily="18" charset="0"/>
              </a:rPr>
              <a:t>:</a:t>
            </a:r>
          </a:p>
        </p:txBody>
      </p:sp>
      <p:graphicFrame>
        <p:nvGraphicFramePr>
          <p:cNvPr id="117771" name="Object 5">
            <a:extLst>
              <a:ext uri="{FF2B5EF4-FFF2-40B4-BE49-F238E27FC236}">
                <a16:creationId xmlns:a16="http://schemas.microsoft.com/office/drawing/2014/main" id="{DD31562E-830B-9903-2763-5A990A024E3A}"/>
              </a:ext>
            </a:extLst>
          </p:cNvPr>
          <p:cNvGraphicFramePr>
            <a:graphicFrameLocks/>
          </p:cNvGraphicFramePr>
          <p:nvPr/>
        </p:nvGraphicFramePr>
        <p:xfrm>
          <a:off x="830263" y="4314825"/>
          <a:ext cx="2582862" cy="914400"/>
        </p:xfrm>
        <a:graphic>
          <a:graphicData uri="http://schemas.openxmlformats.org/presentationml/2006/ole">
            <mc:AlternateContent xmlns:mc="http://schemas.openxmlformats.org/markup-compatibility/2006">
              <mc:Choice xmlns:v="urn:schemas-microsoft-com:vml" Requires="v">
                <p:oleObj name="公式" r:id="rId8" imgW="2941507" imgH="1036431" progId="Equation.3">
                  <p:embed/>
                </p:oleObj>
              </mc:Choice>
              <mc:Fallback>
                <p:oleObj name="公式" r:id="rId8" imgW="2941507" imgH="1036431"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0263" y="4314825"/>
                        <a:ext cx="258286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72" name="Object 6">
            <a:extLst>
              <a:ext uri="{FF2B5EF4-FFF2-40B4-BE49-F238E27FC236}">
                <a16:creationId xmlns:a16="http://schemas.microsoft.com/office/drawing/2014/main" id="{5A733F64-BD36-2CCA-7D26-2947225CD57A}"/>
              </a:ext>
            </a:extLst>
          </p:cNvPr>
          <p:cNvGraphicFramePr>
            <a:graphicFrameLocks/>
          </p:cNvGraphicFramePr>
          <p:nvPr/>
        </p:nvGraphicFramePr>
        <p:xfrm>
          <a:off x="3535363" y="4375150"/>
          <a:ext cx="1481137" cy="725488"/>
        </p:xfrm>
        <a:graphic>
          <a:graphicData uri="http://schemas.openxmlformats.org/presentationml/2006/ole">
            <mc:AlternateContent xmlns:mc="http://schemas.openxmlformats.org/markup-compatibility/2006">
              <mc:Choice xmlns:v="urn:schemas-microsoft-com:vml" Requires="v">
                <p:oleObj name="公式" r:id="rId10" imgW="1683989" imgH="815479" progId="Equation.3">
                  <p:embed/>
                </p:oleObj>
              </mc:Choice>
              <mc:Fallback>
                <p:oleObj name="公式" r:id="rId10" imgW="1683989" imgH="815479"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35363" y="4375150"/>
                        <a:ext cx="1481137"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73" name="Object 7">
            <a:extLst>
              <a:ext uri="{FF2B5EF4-FFF2-40B4-BE49-F238E27FC236}">
                <a16:creationId xmlns:a16="http://schemas.microsoft.com/office/drawing/2014/main" id="{0604E1EE-94BB-D916-B05E-D7912BF27AE6}"/>
              </a:ext>
            </a:extLst>
          </p:cNvPr>
          <p:cNvGraphicFramePr>
            <a:graphicFrameLocks/>
          </p:cNvGraphicFramePr>
          <p:nvPr/>
        </p:nvGraphicFramePr>
        <p:xfrm>
          <a:off x="771525" y="3141663"/>
          <a:ext cx="2360613" cy="869950"/>
        </p:xfrm>
        <a:graphic>
          <a:graphicData uri="http://schemas.openxmlformats.org/presentationml/2006/ole">
            <mc:AlternateContent xmlns:mc="http://schemas.openxmlformats.org/markup-compatibility/2006">
              <mc:Choice xmlns:v="urn:schemas-microsoft-com:vml" Requires="v">
                <p:oleObj name="公式" r:id="rId12" imgW="2682240" imgH="983063" progId="Equation.3">
                  <p:embed/>
                </p:oleObj>
              </mc:Choice>
              <mc:Fallback>
                <p:oleObj name="公式" r:id="rId12" imgW="2682240" imgH="983063"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1525" y="3141663"/>
                        <a:ext cx="2360613"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74" name="Rectangle 14">
            <a:extLst>
              <a:ext uri="{FF2B5EF4-FFF2-40B4-BE49-F238E27FC236}">
                <a16:creationId xmlns:a16="http://schemas.microsoft.com/office/drawing/2014/main" id="{222FC4E6-BD59-9B5A-176A-8F0C75CD4F07}"/>
              </a:ext>
            </a:extLst>
          </p:cNvPr>
          <p:cNvSpPr>
            <a:spLocks noChangeArrowheads="1"/>
          </p:cNvSpPr>
          <p:nvPr/>
        </p:nvSpPr>
        <p:spPr bwMode="auto">
          <a:xfrm>
            <a:off x="754063" y="5321300"/>
            <a:ext cx="4695825" cy="493713"/>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dirty="0">
                <a:effectLst>
                  <a:outerShdw blurRad="38100" dist="38100" dir="2700000" algn="tl">
                    <a:srgbClr val="000000">
                      <a:alpha val="43137"/>
                    </a:srgbClr>
                  </a:outerShdw>
                </a:effectLst>
                <a:latin typeface="Times New Roman" pitchFamily="18" charset="0"/>
              </a:rPr>
              <a:t>空心圆柱绕中心轴的</a:t>
            </a:r>
            <a:r>
              <a:rPr lang="zh-CN" altLang="en-US" dirty="0">
                <a:effectLst>
                  <a:outerShdw blurRad="38100" dist="38100" dir="2700000" algn="tl">
                    <a:srgbClr val="000000">
                      <a:alpha val="43137"/>
                    </a:srgbClr>
                  </a:outerShdw>
                </a:effectLst>
                <a:latin typeface="Times New Roman" pitchFamily="18" charset="0"/>
              </a:rPr>
              <a:t>转动惯量为</a:t>
            </a:r>
            <a:r>
              <a:rPr lang="en-US" altLang="zh-CN" dirty="0">
                <a:effectLst>
                  <a:outerShdw blurRad="38100" dist="38100" dir="2700000" algn="tl">
                    <a:srgbClr val="000000">
                      <a:alpha val="43137"/>
                    </a:srgbClr>
                  </a:outerShdw>
                </a:effectLst>
                <a:latin typeface="Times New Roman" pitchFamily="18" charset="0"/>
              </a:rPr>
              <a:t>: </a:t>
            </a:r>
          </a:p>
        </p:txBody>
      </p:sp>
      <p:graphicFrame>
        <p:nvGraphicFramePr>
          <p:cNvPr id="117775" name="Object 8">
            <a:extLst>
              <a:ext uri="{FF2B5EF4-FFF2-40B4-BE49-F238E27FC236}">
                <a16:creationId xmlns:a16="http://schemas.microsoft.com/office/drawing/2014/main" id="{E6E63ADE-6DDD-02CF-8D10-F8327EDA5492}"/>
              </a:ext>
            </a:extLst>
          </p:cNvPr>
          <p:cNvGraphicFramePr>
            <a:graphicFrameLocks/>
          </p:cNvGraphicFramePr>
          <p:nvPr/>
        </p:nvGraphicFramePr>
        <p:xfrm>
          <a:off x="827088" y="5805488"/>
          <a:ext cx="3232150" cy="725487"/>
        </p:xfrm>
        <a:graphic>
          <a:graphicData uri="http://schemas.openxmlformats.org/presentationml/2006/ole">
            <mc:AlternateContent xmlns:mc="http://schemas.openxmlformats.org/markup-compatibility/2006">
              <mc:Choice xmlns:v="urn:schemas-microsoft-com:vml" Requires="v">
                <p:oleObj name="公式" r:id="rId14" imgW="3673027" imgH="815479" progId="Equation.3">
                  <p:embed/>
                </p:oleObj>
              </mc:Choice>
              <mc:Fallback>
                <p:oleObj name="公式" r:id="rId14" imgW="3673027" imgH="815479"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7088" y="5805488"/>
                        <a:ext cx="323215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76" name="Object 9">
            <a:extLst>
              <a:ext uri="{FF2B5EF4-FFF2-40B4-BE49-F238E27FC236}">
                <a16:creationId xmlns:a16="http://schemas.microsoft.com/office/drawing/2014/main" id="{DBAD5046-8542-FFBF-0702-2FBB2933633C}"/>
              </a:ext>
            </a:extLst>
          </p:cNvPr>
          <p:cNvGraphicFramePr>
            <a:graphicFrameLocks/>
          </p:cNvGraphicFramePr>
          <p:nvPr/>
        </p:nvGraphicFramePr>
        <p:xfrm>
          <a:off x="4067175" y="5805488"/>
          <a:ext cx="1905000" cy="725487"/>
        </p:xfrm>
        <a:graphic>
          <a:graphicData uri="http://schemas.openxmlformats.org/presentationml/2006/ole">
            <mc:AlternateContent xmlns:mc="http://schemas.openxmlformats.org/markup-compatibility/2006">
              <mc:Choice xmlns:v="urn:schemas-microsoft-com:vml" Requires="v">
                <p:oleObj name="公式" r:id="rId16" imgW="2164204" imgH="815479" progId="Equation.3">
                  <p:embed/>
                </p:oleObj>
              </mc:Choice>
              <mc:Fallback>
                <p:oleObj name="公式" r:id="rId16" imgW="2164204" imgH="815479"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67175" y="5805488"/>
                        <a:ext cx="19050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77" name="Line 17">
            <a:extLst>
              <a:ext uri="{FF2B5EF4-FFF2-40B4-BE49-F238E27FC236}">
                <a16:creationId xmlns:a16="http://schemas.microsoft.com/office/drawing/2014/main" id="{0C628E37-CD67-C718-00F5-E3B1E8103AD5}"/>
              </a:ext>
            </a:extLst>
          </p:cNvPr>
          <p:cNvSpPr>
            <a:spLocks noChangeShapeType="1"/>
          </p:cNvSpPr>
          <p:nvPr/>
        </p:nvSpPr>
        <p:spPr bwMode="auto">
          <a:xfrm>
            <a:off x="7586663" y="2976563"/>
            <a:ext cx="0" cy="381000"/>
          </a:xfrm>
          <a:prstGeom prst="line">
            <a:avLst/>
          </a:prstGeom>
          <a:noFill/>
          <a:ln w="50800">
            <a:solidFill>
              <a:srgbClr val="FFFF66"/>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2" name="Group 18">
            <a:extLst>
              <a:ext uri="{FF2B5EF4-FFF2-40B4-BE49-F238E27FC236}">
                <a16:creationId xmlns:a16="http://schemas.microsoft.com/office/drawing/2014/main" id="{5CF8CCFF-FCF9-464C-C5D0-3488937041F6}"/>
              </a:ext>
            </a:extLst>
          </p:cNvPr>
          <p:cNvGrpSpPr>
            <a:grpSpLocks/>
          </p:cNvGrpSpPr>
          <p:nvPr/>
        </p:nvGrpSpPr>
        <p:grpSpPr bwMode="auto">
          <a:xfrm>
            <a:off x="6751638" y="1536700"/>
            <a:ext cx="1655762" cy="1439863"/>
            <a:chOff x="1429" y="1013"/>
            <a:chExt cx="1043" cy="907"/>
          </a:xfrm>
        </p:grpSpPr>
        <p:sp>
          <p:nvSpPr>
            <p:cNvPr id="117779" name="AutoShape 19">
              <a:extLst>
                <a:ext uri="{FF2B5EF4-FFF2-40B4-BE49-F238E27FC236}">
                  <a16:creationId xmlns:a16="http://schemas.microsoft.com/office/drawing/2014/main" id="{A94C69ED-5DFA-8E72-F2C9-3575F60869E2}"/>
                </a:ext>
              </a:extLst>
            </p:cNvPr>
            <p:cNvSpPr>
              <a:spLocks noChangeArrowheads="1"/>
            </p:cNvSpPr>
            <p:nvPr/>
          </p:nvSpPr>
          <p:spPr bwMode="auto">
            <a:xfrm>
              <a:off x="1429" y="1013"/>
              <a:ext cx="1043" cy="907"/>
            </a:xfrm>
            <a:prstGeom prst="can">
              <a:avLst>
                <a:gd name="adj" fmla="val 41005"/>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28575">
              <a:solidFill>
                <a:srgbClr val="66FF33"/>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80" name="Oval 20">
              <a:extLst>
                <a:ext uri="{FF2B5EF4-FFF2-40B4-BE49-F238E27FC236}">
                  <a16:creationId xmlns:a16="http://schemas.microsoft.com/office/drawing/2014/main" id="{41A5D2D5-DAAC-2D3A-FC3A-1E664EC88B08}"/>
                </a:ext>
              </a:extLst>
            </p:cNvPr>
            <p:cNvSpPr>
              <a:spLocks noChangeAspect="1" noChangeArrowheads="1"/>
            </p:cNvSpPr>
            <p:nvPr/>
          </p:nvSpPr>
          <p:spPr bwMode="auto">
            <a:xfrm>
              <a:off x="1632" y="1086"/>
              <a:ext cx="626" cy="217"/>
            </a:xfrm>
            <a:prstGeom prst="ellipse">
              <a:avLst/>
            </a:prstGeom>
            <a:gradFill rotWithShape="1">
              <a:gsLst>
                <a:gs pos="0">
                  <a:schemeClr val="accent1">
                    <a:gamma/>
                    <a:shade val="46275"/>
                    <a:invGamma/>
                  </a:schemeClr>
                </a:gs>
                <a:gs pos="100000">
                  <a:schemeClr val="accent1"/>
                </a:gs>
              </a:gsLst>
              <a:lin ang="5400000" scaled="1"/>
            </a:gradFill>
            <a:ln w="28575">
              <a:solidFill>
                <a:srgbClr val="66FF33"/>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grpSp>
      <p:sp>
        <p:nvSpPr>
          <p:cNvPr id="117781" name="Text Box 21">
            <a:extLst>
              <a:ext uri="{FF2B5EF4-FFF2-40B4-BE49-F238E27FC236}">
                <a16:creationId xmlns:a16="http://schemas.microsoft.com/office/drawing/2014/main" id="{2E5C98C0-54B5-1226-042C-EC62B5AF8631}"/>
              </a:ext>
            </a:extLst>
          </p:cNvPr>
          <p:cNvSpPr txBox="1">
            <a:spLocks noChangeArrowheads="1"/>
          </p:cNvSpPr>
          <p:nvPr/>
        </p:nvSpPr>
        <p:spPr bwMode="auto">
          <a:xfrm>
            <a:off x="7040563" y="765175"/>
            <a:ext cx="457200" cy="457200"/>
          </a:xfrm>
          <a:prstGeom prst="rect">
            <a:avLst/>
          </a:prstGeom>
          <a:noFill/>
          <a:ln w="9525">
            <a:noFill/>
            <a:miter lim="800000"/>
            <a:headEnd/>
            <a:tailEnd/>
          </a:ln>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lang="en-US" altLang="zh-CN" i="1">
                <a:solidFill>
                  <a:srgbClr val="FFFF66"/>
                </a:solidFill>
                <a:effectLst>
                  <a:outerShdw blurRad="38100" dist="38100" dir="2700000" algn="tl">
                    <a:srgbClr val="000000"/>
                  </a:outerShdw>
                </a:effectLst>
                <a:latin typeface="Times New Roman" panose="02020603050405020304" pitchFamily="18" charset="0"/>
              </a:rPr>
              <a:t>z</a:t>
            </a:r>
          </a:p>
        </p:txBody>
      </p:sp>
      <p:sp>
        <p:nvSpPr>
          <p:cNvPr id="117782" name="Line 22">
            <a:extLst>
              <a:ext uri="{FF2B5EF4-FFF2-40B4-BE49-F238E27FC236}">
                <a16:creationId xmlns:a16="http://schemas.microsoft.com/office/drawing/2014/main" id="{F56976A5-C787-D638-4CA3-6C689E8D4E1C}"/>
              </a:ext>
            </a:extLst>
          </p:cNvPr>
          <p:cNvSpPr>
            <a:spLocks noChangeShapeType="1"/>
          </p:cNvSpPr>
          <p:nvPr/>
        </p:nvSpPr>
        <p:spPr bwMode="auto">
          <a:xfrm>
            <a:off x="7586663" y="981075"/>
            <a:ext cx="0" cy="860425"/>
          </a:xfrm>
          <a:prstGeom prst="line">
            <a:avLst/>
          </a:prstGeom>
          <a:noFill/>
          <a:ln w="50800">
            <a:solidFill>
              <a:srgbClr val="FFFF66"/>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83" name="Line 23">
            <a:extLst>
              <a:ext uri="{FF2B5EF4-FFF2-40B4-BE49-F238E27FC236}">
                <a16:creationId xmlns:a16="http://schemas.microsoft.com/office/drawing/2014/main" id="{06073E83-87FE-9D29-30B4-DAA5A55CA375}"/>
              </a:ext>
            </a:extLst>
          </p:cNvPr>
          <p:cNvSpPr>
            <a:spLocks noChangeShapeType="1"/>
          </p:cNvSpPr>
          <p:nvPr/>
        </p:nvSpPr>
        <p:spPr bwMode="auto">
          <a:xfrm flipV="1">
            <a:off x="8062913" y="1320800"/>
            <a:ext cx="0" cy="503238"/>
          </a:xfrm>
          <a:prstGeom prst="line">
            <a:avLst/>
          </a:prstGeom>
          <a:noFill/>
          <a:ln w="9525">
            <a:solidFill>
              <a:schemeClr val="bg1"/>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84" name="Line 24">
            <a:extLst>
              <a:ext uri="{FF2B5EF4-FFF2-40B4-BE49-F238E27FC236}">
                <a16:creationId xmlns:a16="http://schemas.microsoft.com/office/drawing/2014/main" id="{DE0E71E5-4249-688F-1A99-63A67F1CE551}"/>
              </a:ext>
            </a:extLst>
          </p:cNvPr>
          <p:cNvSpPr>
            <a:spLocks noChangeShapeType="1"/>
          </p:cNvSpPr>
          <p:nvPr/>
        </p:nvSpPr>
        <p:spPr bwMode="auto">
          <a:xfrm>
            <a:off x="7615238" y="1463675"/>
            <a:ext cx="433387" cy="0"/>
          </a:xfrm>
          <a:prstGeom prst="line">
            <a:avLst/>
          </a:prstGeom>
          <a:noFill/>
          <a:ln w="9525">
            <a:solidFill>
              <a:schemeClr val="bg1"/>
            </a:solidFill>
            <a:round/>
            <a:headEnd type="triangle" w="med" len="med"/>
            <a:tailEnd type="triangle" w="med" len="me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85" name="Line 25">
            <a:extLst>
              <a:ext uri="{FF2B5EF4-FFF2-40B4-BE49-F238E27FC236}">
                <a16:creationId xmlns:a16="http://schemas.microsoft.com/office/drawing/2014/main" id="{8F818A67-7330-E4EA-20B1-20E8D5451564}"/>
              </a:ext>
            </a:extLst>
          </p:cNvPr>
          <p:cNvSpPr>
            <a:spLocks noChangeShapeType="1"/>
          </p:cNvSpPr>
          <p:nvPr/>
        </p:nvSpPr>
        <p:spPr bwMode="auto">
          <a:xfrm flipV="1">
            <a:off x="8407400" y="981075"/>
            <a:ext cx="0" cy="842963"/>
          </a:xfrm>
          <a:prstGeom prst="line">
            <a:avLst/>
          </a:prstGeom>
          <a:noFill/>
          <a:ln w="12700">
            <a:solidFill>
              <a:schemeClr val="bg1"/>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86" name="Line 26">
            <a:extLst>
              <a:ext uri="{FF2B5EF4-FFF2-40B4-BE49-F238E27FC236}">
                <a16:creationId xmlns:a16="http://schemas.microsoft.com/office/drawing/2014/main" id="{492FE187-E38D-D8C7-C94D-6429004D5202}"/>
              </a:ext>
            </a:extLst>
          </p:cNvPr>
          <p:cNvSpPr>
            <a:spLocks noChangeShapeType="1"/>
          </p:cNvSpPr>
          <p:nvPr/>
        </p:nvSpPr>
        <p:spPr bwMode="auto">
          <a:xfrm>
            <a:off x="7615238" y="1054100"/>
            <a:ext cx="792162" cy="0"/>
          </a:xfrm>
          <a:prstGeom prst="line">
            <a:avLst/>
          </a:prstGeom>
          <a:noFill/>
          <a:ln w="9525">
            <a:solidFill>
              <a:schemeClr val="bg1"/>
            </a:solidFill>
            <a:round/>
            <a:headEnd type="triangle" w="med" len="med"/>
            <a:tailEnd type="triangle" w="med" len="me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87" name="Text Box 27">
            <a:extLst>
              <a:ext uri="{FF2B5EF4-FFF2-40B4-BE49-F238E27FC236}">
                <a16:creationId xmlns:a16="http://schemas.microsoft.com/office/drawing/2014/main" id="{8BF5CECF-F468-366E-535D-067C11EB488D}"/>
              </a:ext>
            </a:extLst>
          </p:cNvPr>
          <p:cNvSpPr txBox="1">
            <a:spLocks noChangeArrowheads="1"/>
          </p:cNvSpPr>
          <p:nvPr/>
        </p:nvSpPr>
        <p:spPr bwMode="auto">
          <a:xfrm>
            <a:off x="7543800" y="1028700"/>
            <a:ext cx="492125" cy="496888"/>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en-US" altLang="zh-CN" i="1">
                <a:effectLst>
                  <a:outerShdw blurRad="38100" dist="38100" dir="2700000" algn="tl">
                    <a:srgbClr val="000000">
                      <a:alpha val="43137"/>
                    </a:srgbClr>
                  </a:outerShdw>
                </a:effectLst>
                <a:latin typeface="Times New Roman" pitchFamily="18" charset="0"/>
              </a:rPr>
              <a:t>R</a:t>
            </a:r>
            <a:r>
              <a:rPr kumimoji="1" lang="en-US" altLang="zh-CN" baseline="-25000">
                <a:effectLst>
                  <a:outerShdw blurRad="38100" dist="38100" dir="2700000" algn="tl">
                    <a:srgbClr val="000000">
                      <a:alpha val="43137"/>
                    </a:srgbClr>
                  </a:outerShdw>
                </a:effectLst>
                <a:latin typeface="Times New Roman" pitchFamily="18" charset="0"/>
              </a:rPr>
              <a:t>1</a:t>
            </a:r>
          </a:p>
        </p:txBody>
      </p:sp>
      <p:sp>
        <p:nvSpPr>
          <p:cNvPr id="117788" name="Rectangle 28">
            <a:extLst>
              <a:ext uri="{FF2B5EF4-FFF2-40B4-BE49-F238E27FC236}">
                <a16:creationId xmlns:a16="http://schemas.microsoft.com/office/drawing/2014/main" id="{97EACB9B-26EF-4289-5030-3051F19FAB63}"/>
              </a:ext>
            </a:extLst>
          </p:cNvPr>
          <p:cNvSpPr>
            <a:spLocks noChangeArrowheads="1"/>
          </p:cNvSpPr>
          <p:nvPr/>
        </p:nvSpPr>
        <p:spPr bwMode="auto">
          <a:xfrm>
            <a:off x="7688263" y="549275"/>
            <a:ext cx="492125" cy="496888"/>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en-US" altLang="zh-CN" i="1">
                <a:effectLst>
                  <a:outerShdw blurRad="38100" dist="38100" dir="2700000" algn="tl">
                    <a:srgbClr val="000000">
                      <a:alpha val="43137"/>
                    </a:srgbClr>
                  </a:outerShdw>
                </a:effectLst>
                <a:latin typeface="Times New Roman" pitchFamily="18" charset="0"/>
              </a:rPr>
              <a:t>R</a:t>
            </a:r>
            <a:r>
              <a:rPr kumimoji="1" lang="en-US" altLang="zh-CN" i="1" baseline="-25000">
                <a:effectLst>
                  <a:outerShdw blurRad="38100" dist="38100" dir="2700000" algn="tl">
                    <a:srgbClr val="000000">
                      <a:alpha val="43137"/>
                    </a:srgbClr>
                  </a:outerShdw>
                </a:effectLst>
                <a:latin typeface="Times New Roman" pitchFamily="18" charset="0"/>
              </a:rPr>
              <a:t>2</a:t>
            </a:r>
            <a:endParaRPr kumimoji="1" lang="en-US" altLang="zh-CN" baseline="-25000">
              <a:effectLst>
                <a:outerShdw blurRad="38100" dist="38100" dir="2700000" algn="tl">
                  <a:srgbClr val="000000">
                    <a:alpha val="43137"/>
                  </a:srgbClr>
                </a:outerShdw>
              </a:effectLst>
              <a:latin typeface="Times New Roman" pitchFamily="18" charset="0"/>
            </a:endParaRPr>
          </a:p>
        </p:txBody>
      </p:sp>
      <p:sp>
        <p:nvSpPr>
          <p:cNvPr id="117789" name="Line 29">
            <a:extLst>
              <a:ext uri="{FF2B5EF4-FFF2-40B4-BE49-F238E27FC236}">
                <a16:creationId xmlns:a16="http://schemas.microsoft.com/office/drawing/2014/main" id="{EA56C2D1-546E-0977-20C5-EBCF4D25923A}"/>
              </a:ext>
            </a:extLst>
          </p:cNvPr>
          <p:cNvSpPr>
            <a:spLocks noChangeShapeType="1"/>
          </p:cNvSpPr>
          <p:nvPr/>
        </p:nvSpPr>
        <p:spPr bwMode="auto">
          <a:xfrm>
            <a:off x="8407400" y="1844675"/>
            <a:ext cx="504825" cy="0"/>
          </a:xfrm>
          <a:prstGeom prst="line">
            <a:avLst/>
          </a:prstGeom>
          <a:noFill/>
          <a:ln w="9525">
            <a:solidFill>
              <a:schemeClr val="bg1"/>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90" name="Line 30">
            <a:extLst>
              <a:ext uri="{FF2B5EF4-FFF2-40B4-BE49-F238E27FC236}">
                <a16:creationId xmlns:a16="http://schemas.microsoft.com/office/drawing/2014/main" id="{75DAC238-E984-3258-C901-CFFA1ABDC6F8}"/>
              </a:ext>
            </a:extLst>
          </p:cNvPr>
          <p:cNvSpPr>
            <a:spLocks noChangeShapeType="1"/>
          </p:cNvSpPr>
          <p:nvPr/>
        </p:nvSpPr>
        <p:spPr bwMode="auto">
          <a:xfrm>
            <a:off x="8407400" y="2709863"/>
            <a:ext cx="504825" cy="0"/>
          </a:xfrm>
          <a:prstGeom prst="line">
            <a:avLst/>
          </a:prstGeom>
          <a:noFill/>
          <a:ln w="9525">
            <a:solidFill>
              <a:schemeClr val="bg1"/>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91" name="Line 31">
            <a:extLst>
              <a:ext uri="{FF2B5EF4-FFF2-40B4-BE49-F238E27FC236}">
                <a16:creationId xmlns:a16="http://schemas.microsoft.com/office/drawing/2014/main" id="{999DB04E-0FD6-D89F-3942-AEB260DB0D7E}"/>
              </a:ext>
            </a:extLst>
          </p:cNvPr>
          <p:cNvSpPr>
            <a:spLocks noChangeShapeType="1"/>
          </p:cNvSpPr>
          <p:nvPr/>
        </p:nvSpPr>
        <p:spPr bwMode="auto">
          <a:xfrm>
            <a:off x="8767763" y="1844675"/>
            <a:ext cx="0" cy="865188"/>
          </a:xfrm>
          <a:prstGeom prst="line">
            <a:avLst/>
          </a:prstGeom>
          <a:noFill/>
          <a:ln w="9525">
            <a:solidFill>
              <a:schemeClr val="bg1"/>
            </a:solidFill>
            <a:round/>
            <a:headEnd type="triangle" w="med" len="med"/>
            <a:tailEnd type="triangle" w="med" len="me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92" name="Text Box 32">
            <a:extLst>
              <a:ext uri="{FF2B5EF4-FFF2-40B4-BE49-F238E27FC236}">
                <a16:creationId xmlns:a16="http://schemas.microsoft.com/office/drawing/2014/main" id="{CF6EC950-E1AF-C172-EE87-3007EBBCBBC8}"/>
              </a:ext>
            </a:extLst>
          </p:cNvPr>
          <p:cNvSpPr txBox="1">
            <a:spLocks noChangeArrowheads="1"/>
          </p:cNvSpPr>
          <p:nvPr/>
        </p:nvSpPr>
        <p:spPr bwMode="auto">
          <a:xfrm>
            <a:off x="8696325" y="2062163"/>
            <a:ext cx="269875" cy="496887"/>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kumimoji="1" lang="en-US" altLang="zh-CN" i="1">
                <a:effectLst>
                  <a:outerShdw blurRad="38100" dist="38100" dir="2700000" algn="tl">
                    <a:srgbClr val="000000"/>
                  </a:outerShdw>
                </a:effectLst>
                <a:latin typeface="Times New Roman" panose="02020603050405020304" pitchFamily="18" charset="0"/>
              </a:rPr>
              <a:t>l</a:t>
            </a:r>
          </a:p>
        </p:txBody>
      </p:sp>
      <p:sp>
        <p:nvSpPr>
          <p:cNvPr id="117793" name="Rectangle 33">
            <a:extLst>
              <a:ext uri="{FF2B5EF4-FFF2-40B4-BE49-F238E27FC236}">
                <a16:creationId xmlns:a16="http://schemas.microsoft.com/office/drawing/2014/main" id="{2737AE0C-39E0-F260-B331-6FE4B0AA36A3}"/>
              </a:ext>
            </a:extLst>
          </p:cNvPr>
          <p:cNvSpPr>
            <a:spLocks noChangeArrowheads="1"/>
          </p:cNvSpPr>
          <p:nvPr/>
        </p:nvSpPr>
        <p:spPr bwMode="auto">
          <a:xfrm>
            <a:off x="6607175" y="1196975"/>
            <a:ext cx="423863" cy="496888"/>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lang="en-US" altLang="zh-CN" i="1">
                <a:solidFill>
                  <a:srgbClr val="FFFF00"/>
                </a:solidFill>
                <a:effectLst>
                  <a:outerShdw blurRad="38100" dist="38100" dir="2700000" algn="tl">
                    <a:srgbClr val="000000"/>
                  </a:outerShdw>
                </a:effectLst>
                <a:latin typeface="Times New Roman" panose="02020603050405020304" pitchFamily="18" charset="0"/>
              </a:rPr>
              <a:t>m</a:t>
            </a:r>
          </a:p>
        </p:txBody>
      </p:sp>
      <p:sp>
        <p:nvSpPr>
          <p:cNvPr id="117794" name="Arc 34">
            <a:extLst>
              <a:ext uri="{FF2B5EF4-FFF2-40B4-BE49-F238E27FC236}">
                <a16:creationId xmlns:a16="http://schemas.microsoft.com/office/drawing/2014/main" id="{029CFF5D-C0B1-50B7-C898-D20977EED35B}"/>
              </a:ext>
            </a:extLst>
          </p:cNvPr>
          <p:cNvSpPr>
            <a:spLocks/>
          </p:cNvSpPr>
          <p:nvPr/>
        </p:nvSpPr>
        <p:spPr bwMode="auto">
          <a:xfrm rot="4336723">
            <a:off x="6947694" y="1172369"/>
            <a:ext cx="1079500" cy="1560512"/>
          </a:xfrm>
          <a:custGeom>
            <a:avLst/>
            <a:gdLst>
              <a:gd name="G0" fmla="+- 0 0 0"/>
              <a:gd name="G1" fmla="+- 982 0 0"/>
              <a:gd name="G2" fmla="+- 21600 0 0"/>
              <a:gd name="T0" fmla="*/ 21578 w 21600"/>
              <a:gd name="T1" fmla="*/ 0 h 19654"/>
              <a:gd name="T2" fmla="*/ 10858 w 21600"/>
              <a:gd name="T3" fmla="*/ 19654 h 19654"/>
              <a:gd name="T4" fmla="*/ 0 w 21600"/>
              <a:gd name="T5" fmla="*/ 982 h 19654"/>
            </a:gdLst>
            <a:ahLst/>
            <a:cxnLst>
              <a:cxn ang="0">
                <a:pos x="T0" y="T1"/>
              </a:cxn>
              <a:cxn ang="0">
                <a:pos x="T2" y="T3"/>
              </a:cxn>
              <a:cxn ang="0">
                <a:pos x="T4" y="T5"/>
              </a:cxn>
            </a:cxnLst>
            <a:rect l="0" t="0" r="r" b="b"/>
            <a:pathLst>
              <a:path w="21600" h="19654" fill="none" extrusionOk="0">
                <a:moveTo>
                  <a:pt x="21577" y="0"/>
                </a:moveTo>
                <a:cubicBezTo>
                  <a:pt x="21592" y="327"/>
                  <a:pt x="21600" y="654"/>
                  <a:pt x="21600" y="982"/>
                </a:cubicBezTo>
                <a:cubicBezTo>
                  <a:pt x="21600" y="8674"/>
                  <a:pt x="17508" y="15787"/>
                  <a:pt x="10858" y="19654"/>
                </a:cubicBezTo>
              </a:path>
              <a:path w="21600" h="19654" stroke="0" extrusionOk="0">
                <a:moveTo>
                  <a:pt x="21577" y="0"/>
                </a:moveTo>
                <a:cubicBezTo>
                  <a:pt x="21592" y="327"/>
                  <a:pt x="21600" y="654"/>
                  <a:pt x="21600" y="982"/>
                </a:cubicBezTo>
                <a:cubicBezTo>
                  <a:pt x="21600" y="8674"/>
                  <a:pt x="17508" y="15787"/>
                  <a:pt x="10858" y="19654"/>
                </a:cubicBezTo>
                <a:lnTo>
                  <a:pt x="0" y="982"/>
                </a:lnTo>
                <a:close/>
              </a:path>
            </a:pathLst>
          </a:custGeom>
          <a:noFill/>
          <a:ln w="28575">
            <a:solidFill>
              <a:srgbClr val="FF3300"/>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7795" name="Arc 35">
            <a:extLst>
              <a:ext uri="{FF2B5EF4-FFF2-40B4-BE49-F238E27FC236}">
                <a16:creationId xmlns:a16="http://schemas.microsoft.com/office/drawing/2014/main" id="{2C3E1EC3-765D-119E-2668-F7BC4D222689}"/>
              </a:ext>
            </a:extLst>
          </p:cNvPr>
          <p:cNvSpPr>
            <a:spLocks/>
          </p:cNvSpPr>
          <p:nvPr/>
        </p:nvSpPr>
        <p:spPr bwMode="auto">
          <a:xfrm rot="4336723">
            <a:off x="6944519" y="1229519"/>
            <a:ext cx="1079500" cy="1560512"/>
          </a:xfrm>
          <a:custGeom>
            <a:avLst/>
            <a:gdLst>
              <a:gd name="G0" fmla="+- 0 0 0"/>
              <a:gd name="G1" fmla="+- 982 0 0"/>
              <a:gd name="G2" fmla="+- 21600 0 0"/>
              <a:gd name="T0" fmla="*/ 21578 w 21600"/>
              <a:gd name="T1" fmla="*/ 0 h 19654"/>
              <a:gd name="T2" fmla="*/ 10858 w 21600"/>
              <a:gd name="T3" fmla="*/ 19654 h 19654"/>
              <a:gd name="T4" fmla="*/ 0 w 21600"/>
              <a:gd name="T5" fmla="*/ 982 h 19654"/>
            </a:gdLst>
            <a:ahLst/>
            <a:cxnLst>
              <a:cxn ang="0">
                <a:pos x="T0" y="T1"/>
              </a:cxn>
              <a:cxn ang="0">
                <a:pos x="T2" y="T3"/>
              </a:cxn>
              <a:cxn ang="0">
                <a:pos x="T4" y="T5"/>
              </a:cxn>
            </a:cxnLst>
            <a:rect l="0" t="0" r="r" b="b"/>
            <a:pathLst>
              <a:path w="21600" h="19654" fill="none" extrusionOk="0">
                <a:moveTo>
                  <a:pt x="21577" y="0"/>
                </a:moveTo>
                <a:cubicBezTo>
                  <a:pt x="21592" y="327"/>
                  <a:pt x="21600" y="654"/>
                  <a:pt x="21600" y="982"/>
                </a:cubicBezTo>
                <a:cubicBezTo>
                  <a:pt x="21600" y="8674"/>
                  <a:pt x="17508" y="15787"/>
                  <a:pt x="10858" y="19654"/>
                </a:cubicBezTo>
              </a:path>
              <a:path w="21600" h="19654" stroke="0" extrusionOk="0">
                <a:moveTo>
                  <a:pt x="21577" y="0"/>
                </a:moveTo>
                <a:cubicBezTo>
                  <a:pt x="21592" y="327"/>
                  <a:pt x="21600" y="654"/>
                  <a:pt x="21600" y="982"/>
                </a:cubicBezTo>
                <a:cubicBezTo>
                  <a:pt x="21600" y="8674"/>
                  <a:pt x="17508" y="15787"/>
                  <a:pt x="10858" y="19654"/>
                </a:cubicBezTo>
                <a:lnTo>
                  <a:pt x="0" y="982"/>
                </a:lnTo>
                <a:close/>
              </a:path>
            </a:pathLst>
          </a:custGeom>
          <a:noFill/>
          <a:ln w="28575">
            <a:solidFill>
              <a:srgbClr val="FF3300"/>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pic>
        <p:nvPicPr>
          <p:cNvPr id="117796" name="Picture 36" descr="j0293240">
            <a:extLst>
              <a:ext uri="{FF2B5EF4-FFF2-40B4-BE49-F238E27FC236}">
                <a16:creationId xmlns:a16="http://schemas.microsoft.com/office/drawing/2014/main" id="{DA586A8E-D189-F348-5DB5-D09FB22DCFB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97" name="Line 37">
            <a:extLst>
              <a:ext uri="{FF2B5EF4-FFF2-40B4-BE49-F238E27FC236}">
                <a16:creationId xmlns:a16="http://schemas.microsoft.com/office/drawing/2014/main" id="{CA7323D6-78CD-DAEE-46C7-5E9EB9A3C39D}"/>
              </a:ext>
            </a:extLst>
          </p:cNvPr>
          <p:cNvSpPr>
            <a:spLocks noChangeShapeType="1"/>
          </p:cNvSpPr>
          <p:nvPr/>
        </p:nvSpPr>
        <p:spPr bwMode="auto">
          <a:xfrm>
            <a:off x="755650" y="3141663"/>
            <a:ext cx="1655763" cy="0"/>
          </a:xfrm>
          <a:prstGeom prst="line">
            <a:avLst/>
          </a:prstGeom>
          <a:noFill/>
          <a:ln w="57150">
            <a:solidFill>
              <a:srgbClr val="00FFFF"/>
            </a:solidFill>
            <a:round/>
            <a:headEnd/>
            <a:tailEn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7763"/>
                                        </p:tgtEl>
                                        <p:attrNameLst>
                                          <p:attrName>style.visibility</p:attrName>
                                        </p:attrNameLst>
                                      </p:cBhvr>
                                      <p:to>
                                        <p:strVal val="visible"/>
                                      </p:to>
                                    </p:set>
                                    <p:animEffect transition="in" filter="wipe(left)">
                                      <p:cBhvr>
                                        <p:cTn id="7" dur="500"/>
                                        <p:tgtEl>
                                          <p:spTgt spid="117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7762"/>
                                        </p:tgtEl>
                                        <p:attrNameLst>
                                          <p:attrName>style.visibility</p:attrName>
                                        </p:attrNameLst>
                                      </p:cBhvr>
                                      <p:to>
                                        <p:strVal val="visible"/>
                                      </p:to>
                                    </p:set>
                                    <p:animEffect transition="in" filter="wipe(left)">
                                      <p:cBhvr>
                                        <p:cTn id="12" dur="500"/>
                                        <p:tgtEl>
                                          <p:spTgt spid="1177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par>
                          <p:cTn id="20" fill="hold" nodeType="afterGroup">
                            <p:stCondLst>
                              <p:cond delay="500"/>
                            </p:stCondLst>
                            <p:childTnLst>
                              <p:par>
                                <p:cTn id="21" presetID="22" presetClass="entr" presetSubtype="4" fill="hold" nodeType="afterEffect">
                                  <p:stCondLst>
                                    <p:cond delay="0"/>
                                  </p:stCondLst>
                                  <p:childTnLst>
                                    <p:set>
                                      <p:cBhvr>
                                        <p:cTn id="22" dur="1" fill="hold">
                                          <p:stCondLst>
                                            <p:cond delay="0"/>
                                          </p:stCondLst>
                                        </p:cTn>
                                        <p:tgtEl>
                                          <p:spTgt spid="117793"/>
                                        </p:tgtEl>
                                        <p:attrNameLst>
                                          <p:attrName>style.visibility</p:attrName>
                                        </p:attrNameLst>
                                      </p:cBhvr>
                                      <p:to>
                                        <p:strVal val="visible"/>
                                      </p:to>
                                    </p:set>
                                    <p:animEffect transition="in" filter="wipe(down)">
                                      <p:cBhvr>
                                        <p:cTn id="23" dur="500"/>
                                        <p:tgtEl>
                                          <p:spTgt spid="11779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17782"/>
                                        </p:tgtEl>
                                        <p:attrNameLst>
                                          <p:attrName>style.visibility</p:attrName>
                                        </p:attrNameLst>
                                      </p:cBhvr>
                                      <p:to>
                                        <p:strVal val="visible"/>
                                      </p:to>
                                    </p:set>
                                    <p:animEffect transition="in" filter="wipe(up)">
                                      <p:cBhvr>
                                        <p:cTn id="28" dur="500"/>
                                        <p:tgtEl>
                                          <p:spTgt spid="117782"/>
                                        </p:tgtEl>
                                      </p:cBhvr>
                                    </p:animEffect>
                                  </p:childTnLst>
                                </p:cTn>
                              </p:par>
                            </p:childTnLst>
                          </p:cTn>
                        </p:par>
                        <p:par>
                          <p:cTn id="29" fill="hold" nodeType="afterGroup">
                            <p:stCondLst>
                              <p:cond delay="500"/>
                            </p:stCondLst>
                            <p:childTnLst>
                              <p:par>
                                <p:cTn id="30" presetID="22" presetClass="entr" presetSubtype="1" fill="hold" nodeType="afterEffect">
                                  <p:stCondLst>
                                    <p:cond delay="0"/>
                                  </p:stCondLst>
                                  <p:childTnLst>
                                    <p:set>
                                      <p:cBhvr>
                                        <p:cTn id="31" dur="1" fill="hold">
                                          <p:stCondLst>
                                            <p:cond delay="0"/>
                                          </p:stCondLst>
                                        </p:cTn>
                                        <p:tgtEl>
                                          <p:spTgt spid="117777"/>
                                        </p:tgtEl>
                                        <p:attrNameLst>
                                          <p:attrName>style.visibility</p:attrName>
                                        </p:attrNameLst>
                                      </p:cBhvr>
                                      <p:to>
                                        <p:strVal val="visible"/>
                                      </p:to>
                                    </p:set>
                                    <p:animEffect transition="in" filter="wipe(up)">
                                      <p:cBhvr>
                                        <p:cTn id="32" dur="500"/>
                                        <p:tgtEl>
                                          <p:spTgt spid="117777"/>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117781"/>
                                        </p:tgtEl>
                                        <p:attrNameLst>
                                          <p:attrName>style.visibility</p:attrName>
                                        </p:attrNameLst>
                                      </p:cBhvr>
                                      <p:to>
                                        <p:strVal val="visible"/>
                                      </p:to>
                                    </p:set>
                                    <p:animEffect transition="in" filter="wipe(left)">
                                      <p:cBhvr>
                                        <p:cTn id="36" dur="500"/>
                                        <p:tgtEl>
                                          <p:spTgt spid="11778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17783"/>
                                        </p:tgtEl>
                                        <p:attrNameLst>
                                          <p:attrName>style.visibility</p:attrName>
                                        </p:attrNameLst>
                                      </p:cBhvr>
                                      <p:to>
                                        <p:strVal val="visible"/>
                                      </p:to>
                                    </p:set>
                                    <p:animEffect transition="in" filter="wipe(down)">
                                      <p:cBhvr>
                                        <p:cTn id="41" dur="500"/>
                                        <p:tgtEl>
                                          <p:spTgt spid="117783"/>
                                        </p:tgtEl>
                                      </p:cBhvr>
                                    </p:animEffect>
                                  </p:childTnLst>
                                </p:cTn>
                              </p:par>
                              <p:par>
                                <p:cTn id="42" presetID="22" presetClass="entr" presetSubtype="8" fill="hold" nodeType="withEffect">
                                  <p:stCondLst>
                                    <p:cond delay="0"/>
                                  </p:stCondLst>
                                  <p:childTnLst>
                                    <p:set>
                                      <p:cBhvr>
                                        <p:cTn id="43" dur="1" fill="hold">
                                          <p:stCondLst>
                                            <p:cond delay="0"/>
                                          </p:stCondLst>
                                        </p:cTn>
                                        <p:tgtEl>
                                          <p:spTgt spid="117784"/>
                                        </p:tgtEl>
                                        <p:attrNameLst>
                                          <p:attrName>style.visibility</p:attrName>
                                        </p:attrNameLst>
                                      </p:cBhvr>
                                      <p:to>
                                        <p:strVal val="visible"/>
                                      </p:to>
                                    </p:set>
                                    <p:animEffect transition="in" filter="wipe(left)">
                                      <p:cBhvr>
                                        <p:cTn id="44" dur="500"/>
                                        <p:tgtEl>
                                          <p:spTgt spid="117784"/>
                                        </p:tgtEl>
                                      </p:cBhvr>
                                    </p:animEffect>
                                  </p:childTnLst>
                                </p:cTn>
                              </p:par>
                              <p:par>
                                <p:cTn id="45" presetID="22" presetClass="entr" presetSubtype="4" fill="hold" nodeType="withEffect">
                                  <p:stCondLst>
                                    <p:cond delay="0"/>
                                  </p:stCondLst>
                                  <p:childTnLst>
                                    <p:set>
                                      <p:cBhvr>
                                        <p:cTn id="46" dur="1" fill="hold">
                                          <p:stCondLst>
                                            <p:cond delay="0"/>
                                          </p:stCondLst>
                                        </p:cTn>
                                        <p:tgtEl>
                                          <p:spTgt spid="117787"/>
                                        </p:tgtEl>
                                        <p:attrNameLst>
                                          <p:attrName>style.visibility</p:attrName>
                                        </p:attrNameLst>
                                      </p:cBhvr>
                                      <p:to>
                                        <p:strVal val="visible"/>
                                      </p:to>
                                    </p:set>
                                    <p:animEffect transition="in" filter="wipe(down)">
                                      <p:cBhvr>
                                        <p:cTn id="47" dur="500"/>
                                        <p:tgtEl>
                                          <p:spTgt spid="1177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117785"/>
                                        </p:tgtEl>
                                        <p:attrNameLst>
                                          <p:attrName>style.visibility</p:attrName>
                                        </p:attrNameLst>
                                      </p:cBhvr>
                                      <p:to>
                                        <p:strVal val="visible"/>
                                      </p:to>
                                    </p:set>
                                    <p:animEffect transition="in" filter="wipe(down)">
                                      <p:cBhvr>
                                        <p:cTn id="52" dur="500"/>
                                        <p:tgtEl>
                                          <p:spTgt spid="117785"/>
                                        </p:tgtEl>
                                      </p:cBhvr>
                                    </p:animEffect>
                                  </p:childTnLst>
                                </p:cTn>
                              </p:par>
                              <p:par>
                                <p:cTn id="53" presetID="22" presetClass="entr" presetSubtype="8" fill="hold" nodeType="withEffect">
                                  <p:stCondLst>
                                    <p:cond delay="0"/>
                                  </p:stCondLst>
                                  <p:childTnLst>
                                    <p:set>
                                      <p:cBhvr>
                                        <p:cTn id="54" dur="1" fill="hold">
                                          <p:stCondLst>
                                            <p:cond delay="0"/>
                                          </p:stCondLst>
                                        </p:cTn>
                                        <p:tgtEl>
                                          <p:spTgt spid="117786"/>
                                        </p:tgtEl>
                                        <p:attrNameLst>
                                          <p:attrName>style.visibility</p:attrName>
                                        </p:attrNameLst>
                                      </p:cBhvr>
                                      <p:to>
                                        <p:strVal val="visible"/>
                                      </p:to>
                                    </p:set>
                                    <p:animEffect transition="in" filter="wipe(left)">
                                      <p:cBhvr>
                                        <p:cTn id="55" dur="500"/>
                                        <p:tgtEl>
                                          <p:spTgt spid="117786"/>
                                        </p:tgtEl>
                                      </p:cBhvr>
                                    </p:animEffect>
                                  </p:childTnLst>
                                </p:cTn>
                              </p:par>
                              <p:par>
                                <p:cTn id="56" presetID="22" presetClass="entr" presetSubtype="8" fill="hold" nodeType="withEffect">
                                  <p:stCondLst>
                                    <p:cond delay="0"/>
                                  </p:stCondLst>
                                  <p:childTnLst>
                                    <p:set>
                                      <p:cBhvr>
                                        <p:cTn id="57" dur="1" fill="hold">
                                          <p:stCondLst>
                                            <p:cond delay="0"/>
                                          </p:stCondLst>
                                        </p:cTn>
                                        <p:tgtEl>
                                          <p:spTgt spid="117788"/>
                                        </p:tgtEl>
                                        <p:attrNameLst>
                                          <p:attrName>style.visibility</p:attrName>
                                        </p:attrNameLst>
                                      </p:cBhvr>
                                      <p:to>
                                        <p:strVal val="visible"/>
                                      </p:to>
                                    </p:set>
                                    <p:animEffect transition="in" filter="wipe(left)">
                                      <p:cBhvr>
                                        <p:cTn id="58" dur="500"/>
                                        <p:tgtEl>
                                          <p:spTgt spid="11778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17789"/>
                                        </p:tgtEl>
                                        <p:attrNameLst>
                                          <p:attrName>style.visibility</p:attrName>
                                        </p:attrNameLst>
                                      </p:cBhvr>
                                      <p:to>
                                        <p:strVal val="visible"/>
                                      </p:to>
                                    </p:set>
                                    <p:animEffect transition="in" filter="wipe(left)">
                                      <p:cBhvr>
                                        <p:cTn id="63" dur="500"/>
                                        <p:tgtEl>
                                          <p:spTgt spid="117789"/>
                                        </p:tgtEl>
                                      </p:cBhvr>
                                    </p:animEffect>
                                  </p:childTnLst>
                                </p:cTn>
                              </p:par>
                              <p:par>
                                <p:cTn id="64" presetID="22" presetClass="entr" presetSubtype="8" fill="hold" nodeType="withEffect">
                                  <p:stCondLst>
                                    <p:cond delay="0"/>
                                  </p:stCondLst>
                                  <p:childTnLst>
                                    <p:set>
                                      <p:cBhvr>
                                        <p:cTn id="65" dur="1" fill="hold">
                                          <p:stCondLst>
                                            <p:cond delay="0"/>
                                          </p:stCondLst>
                                        </p:cTn>
                                        <p:tgtEl>
                                          <p:spTgt spid="117790"/>
                                        </p:tgtEl>
                                        <p:attrNameLst>
                                          <p:attrName>style.visibility</p:attrName>
                                        </p:attrNameLst>
                                      </p:cBhvr>
                                      <p:to>
                                        <p:strVal val="visible"/>
                                      </p:to>
                                    </p:set>
                                    <p:animEffect transition="in" filter="wipe(left)">
                                      <p:cBhvr>
                                        <p:cTn id="66" dur="500"/>
                                        <p:tgtEl>
                                          <p:spTgt spid="117790"/>
                                        </p:tgtEl>
                                      </p:cBhvr>
                                    </p:animEffect>
                                  </p:childTnLst>
                                </p:cTn>
                              </p:par>
                              <p:par>
                                <p:cTn id="67" presetID="22" presetClass="entr" presetSubtype="4" fill="hold" nodeType="withEffect">
                                  <p:stCondLst>
                                    <p:cond delay="0"/>
                                  </p:stCondLst>
                                  <p:childTnLst>
                                    <p:set>
                                      <p:cBhvr>
                                        <p:cTn id="68" dur="1" fill="hold">
                                          <p:stCondLst>
                                            <p:cond delay="0"/>
                                          </p:stCondLst>
                                        </p:cTn>
                                        <p:tgtEl>
                                          <p:spTgt spid="117791"/>
                                        </p:tgtEl>
                                        <p:attrNameLst>
                                          <p:attrName>style.visibility</p:attrName>
                                        </p:attrNameLst>
                                      </p:cBhvr>
                                      <p:to>
                                        <p:strVal val="visible"/>
                                      </p:to>
                                    </p:set>
                                    <p:animEffect transition="in" filter="wipe(down)">
                                      <p:cBhvr>
                                        <p:cTn id="69" dur="500"/>
                                        <p:tgtEl>
                                          <p:spTgt spid="117791"/>
                                        </p:tgtEl>
                                      </p:cBhvr>
                                    </p:animEffect>
                                  </p:childTnLst>
                                </p:cTn>
                              </p:par>
                              <p:par>
                                <p:cTn id="70" presetID="22" presetClass="entr" presetSubtype="4" fill="hold" nodeType="withEffect">
                                  <p:stCondLst>
                                    <p:cond delay="0"/>
                                  </p:stCondLst>
                                  <p:childTnLst>
                                    <p:set>
                                      <p:cBhvr>
                                        <p:cTn id="71" dur="1" fill="hold">
                                          <p:stCondLst>
                                            <p:cond delay="0"/>
                                          </p:stCondLst>
                                        </p:cTn>
                                        <p:tgtEl>
                                          <p:spTgt spid="117792"/>
                                        </p:tgtEl>
                                        <p:attrNameLst>
                                          <p:attrName>style.visibility</p:attrName>
                                        </p:attrNameLst>
                                      </p:cBhvr>
                                      <p:to>
                                        <p:strVal val="visible"/>
                                      </p:to>
                                    </p:set>
                                    <p:animEffect transition="in" filter="wipe(down)">
                                      <p:cBhvr>
                                        <p:cTn id="72" dur="500"/>
                                        <p:tgtEl>
                                          <p:spTgt spid="11779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499"/>
                                          </p:stCondLst>
                                        </p:cTn>
                                        <p:tgtEl>
                                          <p:spTgt spid="117764"/>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17765"/>
                                        </p:tgtEl>
                                        <p:attrNameLst>
                                          <p:attrName>style.visibility</p:attrName>
                                        </p:attrNameLst>
                                      </p:cBhvr>
                                      <p:to>
                                        <p:strVal val="visible"/>
                                      </p:to>
                                    </p:set>
                                    <p:animEffect transition="in" filter="wipe(left)">
                                      <p:cBhvr>
                                        <p:cTn id="81" dur="500"/>
                                        <p:tgtEl>
                                          <p:spTgt spid="117765"/>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nodeType="clickEffect">
                                  <p:stCondLst>
                                    <p:cond delay="0"/>
                                  </p:stCondLst>
                                  <p:childTnLst>
                                    <p:set>
                                      <p:cBhvr>
                                        <p:cTn id="85" dur="1" fill="hold">
                                          <p:stCondLst>
                                            <p:cond delay="0"/>
                                          </p:stCondLst>
                                        </p:cTn>
                                        <p:tgtEl>
                                          <p:spTgt spid="117794"/>
                                        </p:tgtEl>
                                        <p:attrNameLst>
                                          <p:attrName>style.visibility</p:attrName>
                                        </p:attrNameLst>
                                      </p:cBhvr>
                                      <p:to>
                                        <p:strVal val="visible"/>
                                      </p:to>
                                    </p:set>
                                    <p:animEffect transition="in" filter="dissolve">
                                      <p:cBhvr>
                                        <p:cTn id="86" dur="500"/>
                                        <p:tgtEl>
                                          <p:spTgt spid="117794"/>
                                        </p:tgtEl>
                                      </p:cBhvr>
                                    </p:animEffect>
                                  </p:childTnLst>
                                </p:cTn>
                              </p:par>
                              <p:par>
                                <p:cTn id="87" presetID="9" presetClass="entr" presetSubtype="0" fill="hold" nodeType="withEffect">
                                  <p:stCondLst>
                                    <p:cond delay="0"/>
                                  </p:stCondLst>
                                  <p:childTnLst>
                                    <p:set>
                                      <p:cBhvr>
                                        <p:cTn id="88" dur="1" fill="hold">
                                          <p:stCondLst>
                                            <p:cond delay="0"/>
                                          </p:stCondLst>
                                        </p:cTn>
                                        <p:tgtEl>
                                          <p:spTgt spid="117795"/>
                                        </p:tgtEl>
                                        <p:attrNameLst>
                                          <p:attrName>style.visibility</p:attrName>
                                        </p:attrNameLst>
                                      </p:cBhvr>
                                      <p:to>
                                        <p:strVal val="visible"/>
                                      </p:to>
                                    </p:set>
                                    <p:animEffect transition="in" filter="dissolve">
                                      <p:cBhvr>
                                        <p:cTn id="89" dur="500"/>
                                        <p:tgtEl>
                                          <p:spTgt spid="11779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117766"/>
                                        </p:tgtEl>
                                        <p:attrNameLst>
                                          <p:attrName>style.visibility</p:attrName>
                                        </p:attrNameLst>
                                      </p:cBhvr>
                                      <p:to>
                                        <p:strVal val="visible"/>
                                      </p:to>
                                    </p:set>
                                    <p:animEffect transition="in" filter="wipe(left)">
                                      <p:cBhvr>
                                        <p:cTn id="94" dur="500"/>
                                        <p:tgtEl>
                                          <p:spTgt spid="11776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117767"/>
                                        </p:tgtEl>
                                        <p:attrNameLst>
                                          <p:attrName>style.visibility</p:attrName>
                                        </p:attrNameLst>
                                      </p:cBhvr>
                                      <p:to>
                                        <p:strVal val="visible"/>
                                      </p:to>
                                    </p:set>
                                    <p:animEffect transition="in" filter="wipe(left)">
                                      <p:cBhvr>
                                        <p:cTn id="99" dur="500"/>
                                        <p:tgtEl>
                                          <p:spTgt spid="117767"/>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117768"/>
                                        </p:tgtEl>
                                        <p:attrNameLst>
                                          <p:attrName>style.visibility</p:attrName>
                                        </p:attrNameLst>
                                      </p:cBhvr>
                                      <p:to>
                                        <p:strVal val="visible"/>
                                      </p:to>
                                    </p:set>
                                    <p:animEffect transition="in" filter="wipe(left)">
                                      <p:cBhvr>
                                        <p:cTn id="104" dur="500"/>
                                        <p:tgtEl>
                                          <p:spTgt spid="117768"/>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17769"/>
                                        </p:tgtEl>
                                        <p:attrNameLst>
                                          <p:attrName>style.visibility</p:attrName>
                                        </p:attrNameLst>
                                      </p:cBhvr>
                                      <p:to>
                                        <p:strVal val="visible"/>
                                      </p:to>
                                    </p:set>
                                    <p:animEffect transition="in" filter="wipe(left)">
                                      <p:cBhvr>
                                        <p:cTn id="109" dur="500"/>
                                        <p:tgtEl>
                                          <p:spTgt spid="117769"/>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17773"/>
                                        </p:tgtEl>
                                        <p:attrNameLst>
                                          <p:attrName>style.visibility</p:attrName>
                                        </p:attrNameLst>
                                      </p:cBhvr>
                                      <p:to>
                                        <p:strVal val="visible"/>
                                      </p:to>
                                    </p:set>
                                    <p:animEffect transition="in" filter="wipe(left)">
                                      <p:cBhvr>
                                        <p:cTn id="114" dur="500"/>
                                        <p:tgtEl>
                                          <p:spTgt spid="117773"/>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117770"/>
                                        </p:tgtEl>
                                        <p:attrNameLst>
                                          <p:attrName>style.visibility</p:attrName>
                                        </p:attrNameLst>
                                      </p:cBhvr>
                                      <p:to>
                                        <p:strVal val="visible"/>
                                      </p:to>
                                    </p:set>
                                    <p:animEffect transition="in" filter="wipe(left)">
                                      <p:cBhvr>
                                        <p:cTn id="119" dur="500"/>
                                        <p:tgtEl>
                                          <p:spTgt spid="11777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117771"/>
                                        </p:tgtEl>
                                        <p:attrNameLst>
                                          <p:attrName>style.visibility</p:attrName>
                                        </p:attrNameLst>
                                      </p:cBhvr>
                                      <p:to>
                                        <p:strVal val="visible"/>
                                      </p:to>
                                    </p:set>
                                    <p:animEffect transition="in" filter="wipe(left)">
                                      <p:cBhvr>
                                        <p:cTn id="124" dur="500"/>
                                        <p:tgtEl>
                                          <p:spTgt spid="117771"/>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17772"/>
                                        </p:tgtEl>
                                        <p:attrNameLst>
                                          <p:attrName>style.visibility</p:attrName>
                                        </p:attrNameLst>
                                      </p:cBhvr>
                                      <p:to>
                                        <p:strVal val="visible"/>
                                      </p:to>
                                    </p:set>
                                    <p:animEffect transition="in" filter="wipe(left)">
                                      <p:cBhvr>
                                        <p:cTn id="129" dur="500"/>
                                        <p:tgtEl>
                                          <p:spTgt spid="117772"/>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117797"/>
                                        </p:tgtEl>
                                        <p:attrNameLst>
                                          <p:attrName>style.visibility</p:attrName>
                                        </p:attrNameLst>
                                      </p:cBhvr>
                                      <p:to>
                                        <p:strVal val="visible"/>
                                      </p:to>
                                    </p:set>
                                    <p:animEffect transition="in" filter="wipe(left)">
                                      <p:cBhvr>
                                        <p:cTn id="134" dur="500"/>
                                        <p:tgtEl>
                                          <p:spTgt spid="117797"/>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117774"/>
                                        </p:tgtEl>
                                        <p:attrNameLst>
                                          <p:attrName>style.visibility</p:attrName>
                                        </p:attrNameLst>
                                      </p:cBhvr>
                                      <p:to>
                                        <p:strVal val="visible"/>
                                      </p:to>
                                    </p:set>
                                    <p:animEffect transition="in" filter="wipe(left)">
                                      <p:cBhvr>
                                        <p:cTn id="139" dur="500"/>
                                        <p:tgtEl>
                                          <p:spTgt spid="117774"/>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117775"/>
                                        </p:tgtEl>
                                        <p:attrNameLst>
                                          <p:attrName>style.visibility</p:attrName>
                                        </p:attrNameLst>
                                      </p:cBhvr>
                                      <p:to>
                                        <p:strVal val="visible"/>
                                      </p:to>
                                    </p:set>
                                    <p:animEffect transition="in" filter="wipe(left)">
                                      <p:cBhvr>
                                        <p:cTn id="144" dur="500"/>
                                        <p:tgtEl>
                                          <p:spTgt spid="117775"/>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117776"/>
                                        </p:tgtEl>
                                        <p:attrNameLst>
                                          <p:attrName>style.visibility</p:attrName>
                                        </p:attrNameLst>
                                      </p:cBhvr>
                                      <p:to>
                                        <p:strVal val="visible"/>
                                      </p:to>
                                    </p:set>
                                    <p:animEffect transition="in" filter="wipe(left)">
                                      <p:cBhvr>
                                        <p:cTn id="149" dur="500"/>
                                        <p:tgtEl>
                                          <p:spTgt spid="117776"/>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 presetClass="entr" presetSubtype="2" fill="hold" nodeType="clickEffect">
                                  <p:stCondLst>
                                    <p:cond delay="0"/>
                                  </p:stCondLst>
                                  <p:childTnLst>
                                    <p:set>
                                      <p:cBhvr>
                                        <p:cTn id="153" dur="1" fill="hold">
                                          <p:stCondLst>
                                            <p:cond delay="0"/>
                                          </p:stCondLst>
                                        </p:cTn>
                                        <p:tgtEl>
                                          <p:spTgt spid="117796"/>
                                        </p:tgtEl>
                                        <p:attrNameLst>
                                          <p:attrName>style.visibility</p:attrName>
                                        </p:attrNameLst>
                                      </p:cBhvr>
                                      <p:to>
                                        <p:strVal val="visible"/>
                                      </p:to>
                                    </p:set>
                                    <p:anim calcmode="lin" valueType="num">
                                      <p:cBhvr additive="base">
                                        <p:cTn id="154" dur="500" fill="hold"/>
                                        <p:tgtEl>
                                          <p:spTgt spid="117796"/>
                                        </p:tgtEl>
                                        <p:attrNameLst>
                                          <p:attrName>ppt_x</p:attrName>
                                        </p:attrNameLst>
                                      </p:cBhvr>
                                      <p:tavLst>
                                        <p:tav tm="0">
                                          <p:val>
                                            <p:strVal val="1+#ppt_w/2"/>
                                          </p:val>
                                        </p:tav>
                                        <p:tav tm="100000">
                                          <p:val>
                                            <p:strVal val="#ppt_x"/>
                                          </p:val>
                                        </p:tav>
                                      </p:tavLst>
                                    </p:anim>
                                    <p:anim calcmode="lin" valueType="num">
                                      <p:cBhvr additive="base">
                                        <p:cTn id="155" dur="500" fill="hold"/>
                                        <p:tgtEl>
                                          <p:spTgt spid="1177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P spid="117763" grpId="0"/>
      <p:bldP spid="117764" grpId="0" autoUpdateAnimBg="0"/>
      <p:bldP spid="117765" grpId="0"/>
      <p:bldP spid="117766" grpId="0"/>
      <p:bldP spid="117770" grpId="0"/>
      <p:bldP spid="117774" grpId="0"/>
      <p:bldP spid="117781" grpId="0" autoUpdateAnimBg="0"/>
      <p:bldP spid="117787" grpId="0"/>
      <p:bldP spid="117788" grpId="0"/>
      <p:bldP spid="117792" grpId="0"/>
      <p:bldP spid="11779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DCC75E93-25DE-0649-4FBF-1E7DB26A8A18}"/>
              </a:ext>
            </a:extLst>
          </p:cNvPr>
          <p:cNvSpPr txBox="1">
            <a:spLocks noChangeArrowheads="1"/>
          </p:cNvSpPr>
          <p:nvPr/>
        </p:nvSpPr>
        <p:spPr bwMode="auto">
          <a:xfrm>
            <a:off x="755650" y="404813"/>
            <a:ext cx="6056313"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Times New Roman" pitchFamily="18" charset="0"/>
              </a:rPr>
              <a:t>求均匀的薄球壳绕直径的</a:t>
            </a:r>
            <a:r>
              <a:rPr lang="zh-CN" altLang="en-US">
                <a:effectLst>
                  <a:outerShdw blurRad="38100" dist="38100" dir="2700000" algn="tl">
                    <a:srgbClr val="000000">
                      <a:alpha val="43137"/>
                    </a:srgbClr>
                  </a:outerShdw>
                </a:effectLst>
                <a:latin typeface="Times New Roman" pitchFamily="18" charset="0"/>
              </a:rPr>
              <a:t>转动惯量                </a:t>
            </a:r>
            <a:endParaRPr kumimoji="1" lang="zh-CN" altLang="en-US">
              <a:effectLst>
                <a:outerShdw blurRad="38100" dist="38100" dir="2700000" algn="tl">
                  <a:srgbClr val="000000">
                    <a:alpha val="43137"/>
                  </a:srgbClr>
                </a:outerShdw>
              </a:effectLst>
              <a:latin typeface="Times New Roman" pitchFamily="18" charset="0"/>
            </a:endParaRPr>
          </a:p>
        </p:txBody>
      </p:sp>
      <p:sp>
        <p:nvSpPr>
          <p:cNvPr id="118787" name="Rectangle 3">
            <a:extLst>
              <a:ext uri="{FF2B5EF4-FFF2-40B4-BE49-F238E27FC236}">
                <a16:creationId xmlns:a16="http://schemas.microsoft.com/office/drawing/2014/main" id="{B4F10FCE-B9A7-D782-326A-66ABCC36A26E}"/>
              </a:ext>
            </a:extLst>
          </p:cNvPr>
          <p:cNvSpPr>
            <a:spLocks noChangeArrowheads="1"/>
          </p:cNvSpPr>
          <p:nvPr/>
        </p:nvSpPr>
        <p:spPr bwMode="auto">
          <a:xfrm>
            <a:off x="263525" y="404813"/>
            <a:ext cx="493713"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lang="zh-CN" altLang="en-US">
                <a:solidFill>
                  <a:srgbClr val="FFFF00"/>
                </a:solidFill>
                <a:effectLst>
                  <a:outerShdw blurRad="38100" dist="38100" dir="2700000" algn="tl">
                    <a:srgbClr val="000000">
                      <a:alpha val="43137"/>
                    </a:srgbClr>
                  </a:outerShdw>
                </a:effectLst>
                <a:latin typeface="Times New Roman" pitchFamily="18" charset="0"/>
              </a:rPr>
              <a:t>例</a:t>
            </a:r>
          </a:p>
        </p:txBody>
      </p:sp>
      <p:sp>
        <p:nvSpPr>
          <p:cNvPr id="118788" name="Text Box 4">
            <a:extLst>
              <a:ext uri="{FF2B5EF4-FFF2-40B4-BE49-F238E27FC236}">
                <a16:creationId xmlns:a16="http://schemas.microsoft.com/office/drawing/2014/main" id="{FE06FA4F-79C7-E368-7AC5-9A9AE4F22E05}"/>
              </a:ext>
            </a:extLst>
          </p:cNvPr>
          <p:cNvSpPr txBox="1">
            <a:spLocks noChangeArrowheads="1"/>
          </p:cNvSpPr>
          <p:nvPr/>
        </p:nvSpPr>
        <p:spPr bwMode="auto">
          <a:xfrm>
            <a:off x="250825" y="1125538"/>
            <a:ext cx="493713"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solidFill>
                  <a:srgbClr val="FFFF66"/>
                </a:solidFill>
                <a:effectLst>
                  <a:outerShdw blurRad="38100" dist="38100" dir="2700000" algn="tl">
                    <a:srgbClr val="000000">
                      <a:alpha val="43137"/>
                    </a:srgbClr>
                  </a:outerShdw>
                </a:effectLst>
                <a:latin typeface="Times New Roman" pitchFamily="18" charset="0"/>
              </a:rPr>
              <a:t>解</a:t>
            </a:r>
          </a:p>
        </p:txBody>
      </p:sp>
      <p:sp>
        <p:nvSpPr>
          <p:cNvPr id="118789" name="Oval 5">
            <a:extLst>
              <a:ext uri="{FF2B5EF4-FFF2-40B4-BE49-F238E27FC236}">
                <a16:creationId xmlns:a16="http://schemas.microsoft.com/office/drawing/2014/main" id="{12361710-2932-CB4D-4E8A-4E6158E7DDAA}"/>
              </a:ext>
            </a:extLst>
          </p:cNvPr>
          <p:cNvSpPr>
            <a:spLocks noChangeAspect="1" noChangeArrowheads="1"/>
          </p:cNvSpPr>
          <p:nvPr/>
        </p:nvSpPr>
        <p:spPr bwMode="auto">
          <a:xfrm>
            <a:off x="6186488" y="1268413"/>
            <a:ext cx="1792287" cy="1792287"/>
          </a:xfrm>
          <a:prstGeom prst="ellipse">
            <a:avLst/>
          </a:prstGeom>
          <a:noFill/>
          <a:ln w="38100">
            <a:solidFill>
              <a:srgbClr val="66FFFF"/>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790" name="Line 6">
            <a:extLst>
              <a:ext uri="{FF2B5EF4-FFF2-40B4-BE49-F238E27FC236}">
                <a16:creationId xmlns:a16="http://schemas.microsoft.com/office/drawing/2014/main" id="{18E2E5C7-0D52-EAEB-93B7-A69B0A342CB3}"/>
              </a:ext>
            </a:extLst>
          </p:cNvPr>
          <p:cNvSpPr>
            <a:spLocks noChangeShapeType="1"/>
          </p:cNvSpPr>
          <p:nvPr/>
        </p:nvSpPr>
        <p:spPr bwMode="auto">
          <a:xfrm flipH="1">
            <a:off x="7064375" y="765175"/>
            <a:ext cx="14288" cy="2879725"/>
          </a:xfrm>
          <a:prstGeom prst="line">
            <a:avLst/>
          </a:prstGeom>
          <a:noFill/>
          <a:ln w="28575">
            <a:solidFill>
              <a:schemeClr val="bg1"/>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791" name="Oval 7">
            <a:extLst>
              <a:ext uri="{FF2B5EF4-FFF2-40B4-BE49-F238E27FC236}">
                <a16:creationId xmlns:a16="http://schemas.microsoft.com/office/drawing/2014/main" id="{C326E221-0F31-69AF-FBD8-15A7663782F2}"/>
              </a:ext>
            </a:extLst>
          </p:cNvPr>
          <p:cNvSpPr>
            <a:spLocks noChangeArrowheads="1"/>
          </p:cNvSpPr>
          <p:nvPr/>
        </p:nvSpPr>
        <p:spPr bwMode="auto">
          <a:xfrm>
            <a:off x="6402388" y="1484313"/>
            <a:ext cx="1368425" cy="215900"/>
          </a:xfrm>
          <a:prstGeom prst="ellipse">
            <a:avLst/>
          </a:prstGeom>
          <a:noFill/>
          <a:ln w="38100">
            <a:solidFill>
              <a:srgbClr val="66FF33"/>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792" name="Oval 8">
            <a:extLst>
              <a:ext uri="{FF2B5EF4-FFF2-40B4-BE49-F238E27FC236}">
                <a16:creationId xmlns:a16="http://schemas.microsoft.com/office/drawing/2014/main" id="{884F24D8-618F-3D93-0C5E-29E7030B3185}"/>
              </a:ext>
            </a:extLst>
          </p:cNvPr>
          <p:cNvSpPr>
            <a:spLocks noChangeArrowheads="1"/>
          </p:cNvSpPr>
          <p:nvPr/>
        </p:nvSpPr>
        <p:spPr bwMode="auto">
          <a:xfrm>
            <a:off x="6330950" y="1484313"/>
            <a:ext cx="1511300" cy="360362"/>
          </a:xfrm>
          <a:prstGeom prst="ellipse">
            <a:avLst/>
          </a:prstGeom>
          <a:noFill/>
          <a:ln w="38100">
            <a:solidFill>
              <a:srgbClr val="66FF33"/>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793" name="Line 9">
            <a:extLst>
              <a:ext uri="{FF2B5EF4-FFF2-40B4-BE49-F238E27FC236}">
                <a16:creationId xmlns:a16="http://schemas.microsoft.com/office/drawing/2014/main" id="{1853DFBB-F607-698B-18AE-21D82A03AD67}"/>
              </a:ext>
            </a:extLst>
          </p:cNvPr>
          <p:cNvSpPr>
            <a:spLocks noChangeShapeType="1"/>
          </p:cNvSpPr>
          <p:nvPr/>
        </p:nvSpPr>
        <p:spPr bwMode="auto">
          <a:xfrm flipV="1">
            <a:off x="7051675" y="1700213"/>
            <a:ext cx="790575" cy="504825"/>
          </a:xfrm>
          <a:prstGeom prst="line">
            <a:avLst/>
          </a:prstGeom>
          <a:noFill/>
          <a:ln w="19050">
            <a:solidFill>
              <a:schemeClr val="bg1"/>
            </a:solidFill>
            <a:round/>
            <a:headEnd/>
            <a:tailEnd type="triangle" w="med" len="me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794" name="Text Box 10">
            <a:extLst>
              <a:ext uri="{FF2B5EF4-FFF2-40B4-BE49-F238E27FC236}">
                <a16:creationId xmlns:a16="http://schemas.microsoft.com/office/drawing/2014/main" id="{8DBAA4FB-605E-968C-FB11-EC0263298756}"/>
              </a:ext>
            </a:extLst>
          </p:cNvPr>
          <p:cNvSpPr txBox="1">
            <a:spLocks noChangeArrowheads="1"/>
          </p:cNvSpPr>
          <p:nvPr/>
        </p:nvSpPr>
        <p:spPr bwMode="auto">
          <a:xfrm>
            <a:off x="7312025" y="1916113"/>
            <a:ext cx="390525" cy="496887"/>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kumimoji="1" lang="en-US" altLang="zh-CN" i="1">
                <a:effectLst>
                  <a:outerShdw blurRad="38100" dist="38100" dir="2700000" algn="tl">
                    <a:srgbClr val="000000"/>
                  </a:outerShdw>
                </a:effectLst>
                <a:latin typeface="Times New Roman" panose="02020603050405020304" pitchFamily="18" charset="0"/>
              </a:rPr>
              <a:t>R</a:t>
            </a:r>
          </a:p>
        </p:txBody>
      </p:sp>
      <p:sp>
        <p:nvSpPr>
          <p:cNvPr id="118795" name="Freeform 11">
            <a:extLst>
              <a:ext uri="{FF2B5EF4-FFF2-40B4-BE49-F238E27FC236}">
                <a16:creationId xmlns:a16="http://schemas.microsoft.com/office/drawing/2014/main" id="{3CDBE778-6763-3958-0D7C-82549906B97F}"/>
              </a:ext>
            </a:extLst>
          </p:cNvPr>
          <p:cNvSpPr>
            <a:spLocks/>
          </p:cNvSpPr>
          <p:nvPr/>
        </p:nvSpPr>
        <p:spPr bwMode="auto">
          <a:xfrm rot="-2340547">
            <a:off x="7123113" y="1966913"/>
            <a:ext cx="103187" cy="128587"/>
          </a:xfrm>
          <a:custGeom>
            <a:avLst/>
            <a:gdLst/>
            <a:ahLst/>
            <a:cxnLst>
              <a:cxn ang="0">
                <a:pos x="0" y="0"/>
              </a:cxn>
              <a:cxn ang="0">
                <a:pos x="90" y="68"/>
              </a:cxn>
              <a:cxn ang="0">
                <a:pos x="102" y="237"/>
              </a:cxn>
            </a:cxnLst>
            <a:rect l="0" t="0" r="r" b="b"/>
            <a:pathLst>
              <a:path w="122" h="237">
                <a:moveTo>
                  <a:pt x="0" y="0"/>
                </a:moveTo>
                <a:cubicBezTo>
                  <a:pt x="48" y="16"/>
                  <a:pt x="48" y="39"/>
                  <a:pt x="90" y="68"/>
                </a:cubicBezTo>
                <a:cubicBezTo>
                  <a:pt x="122" y="162"/>
                  <a:pt x="102" y="133"/>
                  <a:pt x="102" y="237"/>
                </a:cubicBezTo>
              </a:path>
            </a:pathLst>
          </a:custGeom>
          <a:noFill/>
          <a:ln w="28575" cap="flat" cmpd="sng">
            <a:solidFill>
              <a:srgbClr val="66FF33"/>
            </a:solidFill>
            <a:prstDash val="solid"/>
            <a:round/>
            <a:headEnd/>
            <a:tailEn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796" name="Rectangle 12">
            <a:extLst>
              <a:ext uri="{FF2B5EF4-FFF2-40B4-BE49-F238E27FC236}">
                <a16:creationId xmlns:a16="http://schemas.microsoft.com/office/drawing/2014/main" id="{AEF36153-387E-F615-2A3C-64ADFF401B1C}"/>
              </a:ext>
            </a:extLst>
          </p:cNvPr>
          <p:cNvSpPr>
            <a:spLocks noChangeArrowheads="1"/>
          </p:cNvSpPr>
          <p:nvPr/>
        </p:nvSpPr>
        <p:spPr bwMode="auto">
          <a:xfrm>
            <a:off x="6691313" y="1773238"/>
            <a:ext cx="457200" cy="495300"/>
          </a:xfrm>
          <a:prstGeom prst="rect">
            <a:avLst/>
          </a:prstGeom>
          <a:noFill/>
          <a:ln w="9525">
            <a:noFill/>
            <a:miter lim="800000"/>
            <a:headEnd/>
            <a:tailEnd/>
          </a:ln>
          <a:effectLst/>
        </p:spPr>
        <p:txBody>
          <a:bodyPr>
            <a:spAutoFit/>
          </a:bodyPr>
          <a:lstStyle/>
          <a:p>
            <a:pPr>
              <a:lnSpc>
                <a:spcPct val="120000"/>
              </a:lnSpc>
              <a:buClr>
                <a:schemeClr val="tx2"/>
              </a:buClr>
              <a:buFont typeface="Monotype Sorts" pitchFamily="2" charset="2"/>
              <a:buNone/>
              <a:defRPr/>
            </a:pPr>
            <a:r>
              <a:rPr lang="en-US" altLang="zh-CN" i="1">
                <a:effectLst>
                  <a:outerShdw blurRad="38100" dist="38100" dir="2700000" algn="tl">
                    <a:srgbClr val="000000">
                      <a:alpha val="43137"/>
                    </a:srgbClr>
                  </a:outerShdw>
                </a:effectLst>
                <a:latin typeface="Times New Roman" pitchFamily="18" charset="0"/>
                <a:sym typeface="Symbol" pitchFamily="18" charset="2"/>
              </a:rPr>
              <a:t></a:t>
            </a:r>
            <a:endParaRPr lang="en-US" altLang="zh-CN" i="1">
              <a:effectLst>
                <a:outerShdw blurRad="38100" dist="38100" dir="2700000" algn="tl">
                  <a:srgbClr val="000000">
                    <a:alpha val="43137"/>
                  </a:srgbClr>
                </a:outerShdw>
              </a:effectLst>
              <a:latin typeface="Times New Roman" pitchFamily="18" charset="0"/>
            </a:endParaRPr>
          </a:p>
        </p:txBody>
      </p:sp>
      <p:sp>
        <p:nvSpPr>
          <p:cNvPr id="118797" name="Text Box 13">
            <a:extLst>
              <a:ext uri="{FF2B5EF4-FFF2-40B4-BE49-F238E27FC236}">
                <a16:creationId xmlns:a16="http://schemas.microsoft.com/office/drawing/2014/main" id="{0B048DA0-4BEB-2E6A-914E-59123701CFCC}"/>
              </a:ext>
            </a:extLst>
          </p:cNvPr>
          <p:cNvSpPr txBox="1">
            <a:spLocks noChangeArrowheads="1"/>
          </p:cNvSpPr>
          <p:nvPr/>
        </p:nvSpPr>
        <p:spPr bwMode="auto">
          <a:xfrm>
            <a:off x="757238" y="1125538"/>
            <a:ext cx="3587750"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Times New Roman" pitchFamily="18" charset="0"/>
              </a:rPr>
              <a:t>切为许多垂直于轴的</a:t>
            </a:r>
            <a:r>
              <a:rPr kumimoji="1" lang="zh-CN" altLang="en-US">
                <a:solidFill>
                  <a:srgbClr val="66FFFF"/>
                </a:solidFill>
                <a:effectLst>
                  <a:outerShdw blurRad="38100" dist="38100" dir="2700000" algn="tl">
                    <a:srgbClr val="000000">
                      <a:alpha val="43137"/>
                    </a:srgbClr>
                  </a:outerShdw>
                </a:effectLst>
                <a:latin typeface="Times New Roman" pitchFamily="18" charset="0"/>
              </a:rPr>
              <a:t>圆环</a:t>
            </a:r>
          </a:p>
        </p:txBody>
      </p:sp>
      <p:sp>
        <p:nvSpPr>
          <p:cNvPr id="118798" name="Rectangle 14">
            <a:extLst>
              <a:ext uri="{FF2B5EF4-FFF2-40B4-BE49-F238E27FC236}">
                <a16:creationId xmlns:a16="http://schemas.microsoft.com/office/drawing/2014/main" id="{1E2F5E80-C62D-334D-963D-3217FF57411D}"/>
              </a:ext>
            </a:extLst>
          </p:cNvPr>
          <p:cNvSpPr>
            <a:spLocks noChangeArrowheads="1"/>
          </p:cNvSpPr>
          <p:nvPr/>
        </p:nvSpPr>
        <p:spPr bwMode="auto">
          <a:xfrm>
            <a:off x="6691313" y="476250"/>
            <a:ext cx="304800" cy="496888"/>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lang="en-US" altLang="zh-CN" i="1">
                <a:effectLst>
                  <a:outerShdw blurRad="38100" dist="38100" dir="2700000" algn="tl">
                    <a:srgbClr val="000000"/>
                  </a:outerShdw>
                </a:effectLst>
                <a:latin typeface="Times New Roman" panose="02020603050405020304" pitchFamily="18" charset="0"/>
              </a:rPr>
              <a:t>z</a:t>
            </a:r>
          </a:p>
        </p:txBody>
      </p:sp>
      <p:sp>
        <p:nvSpPr>
          <p:cNvPr id="118799" name="Line 15">
            <a:extLst>
              <a:ext uri="{FF2B5EF4-FFF2-40B4-BE49-F238E27FC236}">
                <a16:creationId xmlns:a16="http://schemas.microsoft.com/office/drawing/2014/main" id="{7549E131-166A-9871-655B-9668DDA98583}"/>
              </a:ext>
            </a:extLst>
          </p:cNvPr>
          <p:cNvSpPr>
            <a:spLocks noChangeShapeType="1"/>
          </p:cNvSpPr>
          <p:nvPr/>
        </p:nvSpPr>
        <p:spPr bwMode="auto">
          <a:xfrm>
            <a:off x="7770813" y="1557338"/>
            <a:ext cx="576262" cy="0"/>
          </a:xfrm>
          <a:prstGeom prst="line">
            <a:avLst/>
          </a:prstGeom>
          <a:noFill/>
          <a:ln w="9525">
            <a:solidFill>
              <a:schemeClr val="bg1"/>
            </a:solidFill>
            <a:prstDash val="dash"/>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800" name="Line 16">
            <a:extLst>
              <a:ext uri="{FF2B5EF4-FFF2-40B4-BE49-F238E27FC236}">
                <a16:creationId xmlns:a16="http://schemas.microsoft.com/office/drawing/2014/main" id="{93FFE179-ACD7-3460-AC45-CA12EFC80FDE}"/>
              </a:ext>
            </a:extLst>
          </p:cNvPr>
          <p:cNvSpPr>
            <a:spLocks noChangeShapeType="1"/>
          </p:cNvSpPr>
          <p:nvPr/>
        </p:nvSpPr>
        <p:spPr bwMode="auto">
          <a:xfrm>
            <a:off x="7842250" y="1700213"/>
            <a:ext cx="576263" cy="0"/>
          </a:xfrm>
          <a:prstGeom prst="line">
            <a:avLst/>
          </a:prstGeom>
          <a:noFill/>
          <a:ln w="9525">
            <a:solidFill>
              <a:schemeClr val="bg1"/>
            </a:solidFill>
            <a:prstDash val="dash"/>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801" name="Line 17">
            <a:extLst>
              <a:ext uri="{FF2B5EF4-FFF2-40B4-BE49-F238E27FC236}">
                <a16:creationId xmlns:a16="http://schemas.microsoft.com/office/drawing/2014/main" id="{6D9DEFD5-D8C2-9503-4BB5-5685BAC8FC44}"/>
              </a:ext>
            </a:extLst>
          </p:cNvPr>
          <p:cNvSpPr>
            <a:spLocks noChangeShapeType="1"/>
          </p:cNvSpPr>
          <p:nvPr/>
        </p:nvSpPr>
        <p:spPr bwMode="auto">
          <a:xfrm>
            <a:off x="8202613" y="1196975"/>
            <a:ext cx="0" cy="360363"/>
          </a:xfrm>
          <a:prstGeom prst="line">
            <a:avLst/>
          </a:prstGeom>
          <a:noFill/>
          <a:ln w="9525">
            <a:solidFill>
              <a:schemeClr val="bg1"/>
            </a:solidFill>
            <a:round/>
            <a:headEnd/>
            <a:tailEnd type="triangle" w="med" len="me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802" name="Line 18">
            <a:extLst>
              <a:ext uri="{FF2B5EF4-FFF2-40B4-BE49-F238E27FC236}">
                <a16:creationId xmlns:a16="http://schemas.microsoft.com/office/drawing/2014/main" id="{EF903E1D-67A6-97EB-2C28-0B33F0059826}"/>
              </a:ext>
            </a:extLst>
          </p:cNvPr>
          <p:cNvSpPr>
            <a:spLocks noChangeShapeType="1"/>
          </p:cNvSpPr>
          <p:nvPr/>
        </p:nvSpPr>
        <p:spPr bwMode="auto">
          <a:xfrm>
            <a:off x="8202613" y="1700213"/>
            <a:ext cx="0" cy="288925"/>
          </a:xfrm>
          <a:prstGeom prst="line">
            <a:avLst/>
          </a:prstGeom>
          <a:noFill/>
          <a:ln w="9525">
            <a:solidFill>
              <a:schemeClr val="bg1"/>
            </a:solidFill>
            <a:round/>
            <a:headEnd type="triangle" w="med" len="me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803" name="Text Box 19">
            <a:extLst>
              <a:ext uri="{FF2B5EF4-FFF2-40B4-BE49-F238E27FC236}">
                <a16:creationId xmlns:a16="http://schemas.microsoft.com/office/drawing/2014/main" id="{43DCF385-0586-78BA-C659-488D5C8EF693}"/>
              </a:ext>
            </a:extLst>
          </p:cNvPr>
          <p:cNvSpPr txBox="1">
            <a:spLocks noChangeArrowheads="1"/>
          </p:cNvSpPr>
          <p:nvPr/>
        </p:nvSpPr>
        <p:spPr bwMode="auto">
          <a:xfrm>
            <a:off x="8347075" y="1341438"/>
            <a:ext cx="476250" cy="496887"/>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en-US" altLang="zh-CN">
                <a:effectLst>
                  <a:outerShdw blurRad="38100" dist="38100" dir="2700000" algn="tl">
                    <a:srgbClr val="000000">
                      <a:alpha val="43137"/>
                    </a:srgbClr>
                  </a:outerShdw>
                </a:effectLst>
                <a:latin typeface="Times New Roman" pitchFamily="18" charset="0"/>
              </a:rPr>
              <a:t>d</a:t>
            </a:r>
            <a:r>
              <a:rPr kumimoji="1" lang="en-US" altLang="zh-CN" i="1">
                <a:effectLst>
                  <a:outerShdw blurRad="38100" dist="38100" dir="2700000" algn="tl">
                    <a:srgbClr val="000000">
                      <a:alpha val="43137"/>
                    </a:srgbClr>
                  </a:outerShdw>
                </a:effectLst>
                <a:latin typeface="Times New Roman" pitchFamily="18" charset="0"/>
              </a:rPr>
              <a:t>z</a:t>
            </a:r>
          </a:p>
        </p:txBody>
      </p:sp>
      <p:sp>
        <p:nvSpPr>
          <p:cNvPr id="118804" name="Rectangle 20">
            <a:extLst>
              <a:ext uri="{FF2B5EF4-FFF2-40B4-BE49-F238E27FC236}">
                <a16:creationId xmlns:a16="http://schemas.microsoft.com/office/drawing/2014/main" id="{C7F90755-8976-CC2F-0162-AC146C7EC462}"/>
              </a:ext>
            </a:extLst>
          </p:cNvPr>
          <p:cNvSpPr>
            <a:spLocks noChangeArrowheads="1"/>
          </p:cNvSpPr>
          <p:nvPr/>
        </p:nvSpPr>
        <p:spPr bwMode="auto">
          <a:xfrm>
            <a:off x="6330950" y="908050"/>
            <a:ext cx="423863" cy="496888"/>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kumimoji="1" lang="en-US" altLang="zh-CN" i="1">
                <a:solidFill>
                  <a:srgbClr val="FFFFFF"/>
                </a:solidFill>
                <a:effectLst>
                  <a:outerShdw blurRad="38100" dist="38100" dir="2700000" algn="tl">
                    <a:srgbClr val="000000"/>
                  </a:outerShdw>
                </a:effectLst>
                <a:latin typeface="Times New Roman" panose="02020603050405020304" pitchFamily="18" charset="0"/>
              </a:rPr>
              <a:t>m</a:t>
            </a:r>
          </a:p>
        </p:txBody>
      </p:sp>
      <p:graphicFrame>
        <p:nvGraphicFramePr>
          <p:cNvPr id="118805" name="Object 2">
            <a:extLst>
              <a:ext uri="{FF2B5EF4-FFF2-40B4-BE49-F238E27FC236}">
                <a16:creationId xmlns:a16="http://schemas.microsoft.com/office/drawing/2014/main" id="{F0CCC55A-71D2-0DC6-19E8-AD9956317368}"/>
              </a:ext>
            </a:extLst>
          </p:cNvPr>
          <p:cNvGraphicFramePr>
            <a:graphicFrameLocks/>
          </p:cNvGraphicFramePr>
          <p:nvPr/>
        </p:nvGraphicFramePr>
        <p:xfrm>
          <a:off x="827088" y="1844675"/>
          <a:ext cx="1481137" cy="344488"/>
        </p:xfrm>
        <a:graphic>
          <a:graphicData uri="http://schemas.openxmlformats.org/presentationml/2006/ole">
            <mc:AlternateContent xmlns:mc="http://schemas.openxmlformats.org/markup-compatibility/2006">
              <mc:Choice xmlns:v="urn:schemas-microsoft-com:vml" Requires="v">
                <p:oleObj name="公式" r:id="rId2" imgW="1683989" imgH="388537" progId="Equation.3">
                  <p:embed/>
                </p:oleObj>
              </mc:Choice>
              <mc:Fallback>
                <p:oleObj name="公式" r:id="rId2" imgW="1683989" imgH="388537"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844675"/>
                        <a:ext cx="1481137"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806" name="Line 22">
            <a:extLst>
              <a:ext uri="{FF2B5EF4-FFF2-40B4-BE49-F238E27FC236}">
                <a16:creationId xmlns:a16="http://schemas.microsoft.com/office/drawing/2014/main" id="{EE81E8C5-B2D8-70EB-886B-9A639581B1F4}"/>
              </a:ext>
            </a:extLst>
          </p:cNvPr>
          <p:cNvSpPr>
            <a:spLocks noChangeShapeType="1"/>
          </p:cNvSpPr>
          <p:nvPr/>
        </p:nvSpPr>
        <p:spPr bwMode="auto">
          <a:xfrm flipV="1">
            <a:off x="7770813" y="836613"/>
            <a:ext cx="0" cy="792162"/>
          </a:xfrm>
          <a:prstGeom prst="line">
            <a:avLst/>
          </a:prstGeom>
          <a:noFill/>
          <a:ln w="9525">
            <a:solidFill>
              <a:schemeClr val="bg1"/>
            </a:solidFill>
            <a:round/>
            <a:headEnd/>
            <a:tailEn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807" name="Line 23">
            <a:extLst>
              <a:ext uri="{FF2B5EF4-FFF2-40B4-BE49-F238E27FC236}">
                <a16:creationId xmlns:a16="http://schemas.microsoft.com/office/drawing/2014/main" id="{51BA8D03-94E2-0E4B-1929-B373DCA2DEC1}"/>
              </a:ext>
            </a:extLst>
          </p:cNvPr>
          <p:cNvSpPr>
            <a:spLocks noChangeShapeType="1"/>
          </p:cNvSpPr>
          <p:nvPr/>
        </p:nvSpPr>
        <p:spPr bwMode="auto">
          <a:xfrm>
            <a:off x="7051675" y="981075"/>
            <a:ext cx="719138" cy="0"/>
          </a:xfrm>
          <a:prstGeom prst="line">
            <a:avLst/>
          </a:prstGeom>
          <a:noFill/>
          <a:ln w="9525">
            <a:solidFill>
              <a:schemeClr val="bg1"/>
            </a:solidFill>
            <a:round/>
            <a:headEnd type="triangle" w="med" len="med"/>
            <a:tailEnd type="triangle" w="med" len="med"/>
          </a:ln>
          <a:effectLst/>
        </p:spPr>
        <p:txBody>
          <a:bodyPr wrap="none" anchor="ct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8808" name="Text Box 24">
            <a:extLst>
              <a:ext uri="{FF2B5EF4-FFF2-40B4-BE49-F238E27FC236}">
                <a16:creationId xmlns:a16="http://schemas.microsoft.com/office/drawing/2014/main" id="{E9B3E635-873D-F78D-CCB4-FDAD4D8783D9}"/>
              </a:ext>
            </a:extLst>
          </p:cNvPr>
          <p:cNvSpPr txBox="1">
            <a:spLocks noChangeArrowheads="1"/>
          </p:cNvSpPr>
          <p:nvPr/>
        </p:nvSpPr>
        <p:spPr bwMode="auto">
          <a:xfrm>
            <a:off x="7267575" y="476250"/>
            <a:ext cx="304800" cy="496888"/>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kumimoji="1" lang="en-US" altLang="zh-CN" i="1">
                <a:effectLst>
                  <a:outerShdw blurRad="38100" dist="38100" dir="2700000" algn="tl">
                    <a:srgbClr val="000000"/>
                  </a:outerShdw>
                </a:effectLst>
                <a:latin typeface="Times New Roman" panose="02020603050405020304" pitchFamily="18" charset="0"/>
              </a:rPr>
              <a:t>r</a:t>
            </a:r>
          </a:p>
        </p:txBody>
      </p:sp>
      <p:graphicFrame>
        <p:nvGraphicFramePr>
          <p:cNvPr id="118809" name="Object 3">
            <a:extLst>
              <a:ext uri="{FF2B5EF4-FFF2-40B4-BE49-F238E27FC236}">
                <a16:creationId xmlns:a16="http://schemas.microsoft.com/office/drawing/2014/main" id="{2471ADFD-629A-FA55-9CC3-A0F34A74CE10}"/>
              </a:ext>
            </a:extLst>
          </p:cNvPr>
          <p:cNvGraphicFramePr>
            <a:graphicFrameLocks/>
          </p:cNvGraphicFramePr>
          <p:nvPr/>
        </p:nvGraphicFramePr>
        <p:xfrm>
          <a:off x="827088" y="2565400"/>
          <a:ext cx="1593850" cy="411163"/>
        </p:xfrm>
        <a:graphic>
          <a:graphicData uri="http://schemas.openxmlformats.org/presentationml/2006/ole">
            <mc:AlternateContent xmlns:mc="http://schemas.openxmlformats.org/markup-compatibility/2006">
              <mc:Choice xmlns:v="urn:schemas-microsoft-com:vml" Requires="v">
                <p:oleObj name="公式" r:id="rId4" imgW="1805909" imgH="464848" progId="Equation.3">
                  <p:embed/>
                </p:oleObj>
              </mc:Choice>
              <mc:Fallback>
                <p:oleObj name="公式" r:id="rId4" imgW="1805909" imgH="464848"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565400"/>
                        <a:ext cx="15938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0" name="Object 4">
            <a:extLst>
              <a:ext uri="{FF2B5EF4-FFF2-40B4-BE49-F238E27FC236}">
                <a16:creationId xmlns:a16="http://schemas.microsoft.com/office/drawing/2014/main" id="{B2F080FE-C043-4B6B-A3E0-50BB74712001}"/>
              </a:ext>
            </a:extLst>
          </p:cNvPr>
          <p:cNvGraphicFramePr>
            <a:graphicFrameLocks/>
          </p:cNvGraphicFramePr>
          <p:nvPr/>
        </p:nvGraphicFramePr>
        <p:xfrm>
          <a:off x="2614613" y="1893888"/>
          <a:ext cx="2341562" cy="277812"/>
        </p:xfrm>
        <a:graphic>
          <a:graphicData uri="http://schemas.openxmlformats.org/presentationml/2006/ole">
            <mc:AlternateContent xmlns:mc="http://schemas.openxmlformats.org/markup-compatibility/2006">
              <mc:Choice xmlns:v="urn:schemas-microsoft-com:vml" Requires="v">
                <p:oleObj name="公式" r:id="rId6" imgW="2659349" imgH="312226" progId="Equation.3">
                  <p:embed/>
                </p:oleObj>
              </mc:Choice>
              <mc:Fallback>
                <p:oleObj name="公式" r:id="rId6" imgW="2659349" imgH="312226"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4613" y="1893888"/>
                        <a:ext cx="2341562"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1" name="Object 5">
            <a:extLst>
              <a:ext uri="{FF2B5EF4-FFF2-40B4-BE49-F238E27FC236}">
                <a16:creationId xmlns:a16="http://schemas.microsoft.com/office/drawing/2014/main" id="{0558E1CC-F7DE-B198-A6C2-29629A4221F1}"/>
              </a:ext>
            </a:extLst>
          </p:cNvPr>
          <p:cNvGraphicFramePr>
            <a:graphicFrameLocks/>
          </p:cNvGraphicFramePr>
          <p:nvPr/>
        </p:nvGraphicFramePr>
        <p:xfrm>
          <a:off x="4637088" y="5013325"/>
          <a:ext cx="1014412" cy="722313"/>
        </p:xfrm>
        <a:graphic>
          <a:graphicData uri="http://schemas.openxmlformats.org/presentationml/2006/ole">
            <mc:AlternateContent xmlns:mc="http://schemas.openxmlformats.org/markup-compatibility/2006">
              <mc:Choice xmlns:v="urn:schemas-microsoft-com:vml" Requires="v">
                <p:oleObj name="公式" r:id="rId8" imgW="1150527" imgH="815479" progId="Equation.3">
                  <p:embed/>
                </p:oleObj>
              </mc:Choice>
              <mc:Fallback>
                <p:oleObj name="公式" r:id="rId8" imgW="1150527" imgH="815479"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37088" y="5013325"/>
                        <a:ext cx="1014412"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2" name="Object 6">
            <a:extLst>
              <a:ext uri="{FF2B5EF4-FFF2-40B4-BE49-F238E27FC236}">
                <a16:creationId xmlns:a16="http://schemas.microsoft.com/office/drawing/2014/main" id="{89B10261-5A74-C9B9-C228-69D4E5296471}"/>
              </a:ext>
            </a:extLst>
          </p:cNvPr>
          <p:cNvGraphicFramePr>
            <a:graphicFrameLocks/>
          </p:cNvGraphicFramePr>
          <p:nvPr/>
        </p:nvGraphicFramePr>
        <p:xfrm>
          <a:off x="827088" y="3213100"/>
          <a:ext cx="2116137" cy="722313"/>
        </p:xfrm>
        <a:graphic>
          <a:graphicData uri="http://schemas.openxmlformats.org/presentationml/2006/ole">
            <mc:AlternateContent xmlns:mc="http://schemas.openxmlformats.org/markup-compatibility/2006">
              <mc:Choice xmlns:v="urn:schemas-microsoft-com:vml" Requires="v">
                <p:oleObj name="公式" r:id="rId10" imgW="2408044" imgH="815479" progId="Equation.3">
                  <p:embed/>
                </p:oleObj>
              </mc:Choice>
              <mc:Fallback>
                <p:oleObj name="公式" r:id="rId10" imgW="2408044" imgH="815479"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3213100"/>
                        <a:ext cx="211613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3" name="Object 7">
            <a:extLst>
              <a:ext uri="{FF2B5EF4-FFF2-40B4-BE49-F238E27FC236}">
                <a16:creationId xmlns:a16="http://schemas.microsoft.com/office/drawing/2014/main" id="{EF7A9468-B139-8FD5-550D-3D3409B13724}"/>
              </a:ext>
            </a:extLst>
          </p:cNvPr>
          <p:cNvGraphicFramePr>
            <a:graphicFrameLocks/>
          </p:cNvGraphicFramePr>
          <p:nvPr/>
        </p:nvGraphicFramePr>
        <p:xfrm>
          <a:off x="2843213" y="2636838"/>
          <a:ext cx="1314450" cy="277812"/>
        </p:xfrm>
        <a:graphic>
          <a:graphicData uri="http://schemas.openxmlformats.org/presentationml/2006/ole">
            <mc:AlternateContent xmlns:mc="http://schemas.openxmlformats.org/markup-compatibility/2006">
              <mc:Choice xmlns:v="urn:schemas-microsoft-com:vml" Requires="v">
                <p:oleObj name="公式" r:id="rId12" imgW="1493396" imgH="312226" progId="Equation.3">
                  <p:embed/>
                </p:oleObj>
              </mc:Choice>
              <mc:Fallback>
                <p:oleObj name="公式" r:id="rId12" imgW="1493396" imgH="312226"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43213" y="2636838"/>
                        <a:ext cx="1314450"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4" name="Object 8">
            <a:extLst>
              <a:ext uri="{FF2B5EF4-FFF2-40B4-BE49-F238E27FC236}">
                <a16:creationId xmlns:a16="http://schemas.microsoft.com/office/drawing/2014/main" id="{92F89B26-29FF-74A4-A219-B76F68ECBF76}"/>
              </a:ext>
            </a:extLst>
          </p:cNvPr>
          <p:cNvGraphicFramePr>
            <a:graphicFrameLocks/>
          </p:cNvGraphicFramePr>
          <p:nvPr/>
        </p:nvGraphicFramePr>
        <p:xfrm>
          <a:off x="900113" y="4078288"/>
          <a:ext cx="4200525" cy="719137"/>
        </p:xfrm>
        <a:graphic>
          <a:graphicData uri="http://schemas.openxmlformats.org/presentationml/2006/ole">
            <mc:AlternateContent xmlns:mc="http://schemas.openxmlformats.org/markup-compatibility/2006">
              <mc:Choice xmlns:v="urn:schemas-microsoft-com:vml" Requires="v">
                <p:oleObj name="公式" r:id="rId14" imgW="4206489" imgH="716225" progId="Equation.3">
                  <p:embed/>
                </p:oleObj>
              </mc:Choice>
              <mc:Fallback>
                <p:oleObj name="公式" r:id="rId14" imgW="4206489" imgH="716225"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0113" y="4078288"/>
                        <a:ext cx="420052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5" name="Object 9">
            <a:extLst>
              <a:ext uri="{FF2B5EF4-FFF2-40B4-BE49-F238E27FC236}">
                <a16:creationId xmlns:a16="http://schemas.microsoft.com/office/drawing/2014/main" id="{221F0DC1-82E2-96ED-15E3-53EDFE92CF6E}"/>
              </a:ext>
            </a:extLst>
          </p:cNvPr>
          <p:cNvGraphicFramePr>
            <a:graphicFrameLocks/>
          </p:cNvGraphicFramePr>
          <p:nvPr/>
        </p:nvGraphicFramePr>
        <p:xfrm>
          <a:off x="1042988" y="5013325"/>
          <a:ext cx="3486150" cy="722313"/>
        </p:xfrm>
        <a:graphic>
          <a:graphicData uri="http://schemas.openxmlformats.org/presentationml/2006/ole">
            <mc:AlternateContent xmlns:mc="http://schemas.openxmlformats.org/markup-compatibility/2006">
              <mc:Choice xmlns:v="urn:schemas-microsoft-com:vml" Requires="v">
                <p:oleObj name="公式" r:id="rId16" imgW="3970113" imgH="815479" progId="Equation.3">
                  <p:embed/>
                </p:oleObj>
              </mc:Choice>
              <mc:Fallback>
                <p:oleObj name="公式" r:id="rId16" imgW="3970113" imgH="815479"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42988" y="5013325"/>
                        <a:ext cx="3486150"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8816" name="Picture 32" descr="j0293240">
            <a:extLst>
              <a:ext uri="{FF2B5EF4-FFF2-40B4-BE49-F238E27FC236}">
                <a16:creationId xmlns:a16="http://schemas.microsoft.com/office/drawing/2014/main" id="{5EDE91C7-9223-4BCF-764D-F6E4C3BA76B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wipe(left)">
                                      <p:cBhvr>
                                        <p:cTn id="7" dur="500"/>
                                        <p:tgtEl>
                                          <p:spTgt spid="1187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8786"/>
                                        </p:tgtEl>
                                        <p:attrNameLst>
                                          <p:attrName>style.visibility</p:attrName>
                                        </p:attrNameLst>
                                      </p:cBhvr>
                                      <p:to>
                                        <p:strVal val="visible"/>
                                      </p:to>
                                    </p:set>
                                    <p:animEffect transition="in" filter="wipe(left)">
                                      <p:cBhvr>
                                        <p:cTn id="12" dur="500"/>
                                        <p:tgtEl>
                                          <p:spTgt spid="1187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118789"/>
                                        </p:tgtEl>
                                        <p:attrNameLst>
                                          <p:attrName>style.visibility</p:attrName>
                                        </p:attrNameLst>
                                      </p:cBhvr>
                                      <p:to>
                                        <p:strVal val="visible"/>
                                      </p:to>
                                    </p:set>
                                    <p:anim calcmode="lin" valueType="num">
                                      <p:cBhvr>
                                        <p:cTn id="17" dur="500" fill="hold"/>
                                        <p:tgtEl>
                                          <p:spTgt spid="118789"/>
                                        </p:tgtEl>
                                        <p:attrNameLst>
                                          <p:attrName>ppt_w</p:attrName>
                                        </p:attrNameLst>
                                      </p:cBhvr>
                                      <p:tavLst>
                                        <p:tav tm="0">
                                          <p:val>
                                            <p:fltVal val="0"/>
                                          </p:val>
                                        </p:tav>
                                        <p:tav tm="100000">
                                          <p:val>
                                            <p:strVal val="#ppt_w"/>
                                          </p:val>
                                        </p:tav>
                                      </p:tavLst>
                                    </p:anim>
                                    <p:anim calcmode="lin" valueType="num">
                                      <p:cBhvr>
                                        <p:cTn id="18" dur="500" fill="hold"/>
                                        <p:tgtEl>
                                          <p:spTgt spid="118789"/>
                                        </p:tgtEl>
                                        <p:attrNameLst>
                                          <p:attrName>ppt_h</p:attrName>
                                        </p:attrNameLst>
                                      </p:cBhvr>
                                      <p:tavLst>
                                        <p:tav tm="0">
                                          <p:val>
                                            <p:fltVal val="0"/>
                                          </p:val>
                                        </p:tav>
                                        <p:tav tm="100000">
                                          <p:val>
                                            <p:strVal val="#ppt_h"/>
                                          </p:val>
                                        </p:tav>
                                      </p:tavLst>
                                    </p:anim>
                                    <p:animEffect transition="in" filter="fade">
                                      <p:cBhvr>
                                        <p:cTn id="19" dur="500"/>
                                        <p:tgtEl>
                                          <p:spTgt spid="118789"/>
                                        </p:tgtEl>
                                      </p:cBhvr>
                                    </p:animEffect>
                                  </p:childTnLst>
                                </p:cTn>
                              </p:par>
                            </p:childTnLst>
                          </p:cTn>
                        </p:par>
                        <p:par>
                          <p:cTn id="20" fill="hold" nodeType="afterGroup">
                            <p:stCondLst>
                              <p:cond delay="500"/>
                            </p:stCondLst>
                            <p:childTnLst>
                              <p:par>
                                <p:cTn id="21" presetID="22" presetClass="entr" presetSubtype="4" fill="hold" nodeType="afterEffect">
                                  <p:stCondLst>
                                    <p:cond delay="0"/>
                                  </p:stCondLst>
                                  <p:childTnLst>
                                    <p:set>
                                      <p:cBhvr>
                                        <p:cTn id="22" dur="1" fill="hold">
                                          <p:stCondLst>
                                            <p:cond delay="0"/>
                                          </p:stCondLst>
                                        </p:cTn>
                                        <p:tgtEl>
                                          <p:spTgt spid="118804"/>
                                        </p:tgtEl>
                                        <p:attrNameLst>
                                          <p:attrName>style.visibility</p:attrName>
                                        </p:attrNameLst>
                                      </p:cBhvr>
                                      <p:to>
                                        <p:strVal val="visible"/>
                                      </p:to>
                                    </p:set>
                                    <p:animEffect transition="in" filter="wipe(down)">
                                      <p:cBhvr>
                                        <p:cTn id="23" dur="500"/>
                                        <p:tgtEl>
                                          <p:spTgt spid="118804"/>
                                        </p:tgtEl>
                                      </p:cBhvr>
                                    </p:animEffect>
                                  </p:childTnLst>
                                </p:cTn>
                              </p:par>
                            </p:childTnLst>
                          </p:cTn>
                        </p:par>
                        <p:par>
                          <p:cTn id="24" fill="hold" nodeType="afterGroup">
                            <p:stCondLst>
                              <p:cond delay="1000"/>
                            </p:stCondLst>
                            <p:childTnLst>
                              <p:par>
                                <p:cTn id="25" presetID="53" presetClass="entr" presetSubtype="0" fill="hold" nodeType="afterEffect">
                                  <p:stCondLst>
                                    <p:cond delay="0"/>
                                  </p:stCondLst>
                                  <p:childTnLst>
                                    <p:set>
                                      <p:cBhvr>
                                        <p:cTn id="26" dur="1" fill="hold">
                                          <p:stCondLst>
                                            <p:cond delay="0"/>
                                          </p:stCondLst>
                                        </p:cTn>
                                        <p:tgtEl>
                                          <p:spTgt spid="118790"/>
                                        </p:tgtEl>
                                        <p:attrNameLst>
                                          <p:attrName>style.visibility</p:attrName>
                                        </p:attrNameLst>
                                      </p:cBhvr>
                                      <p:to>
                                        <p:strVal val="visible"/>
                                      </p:to>
                                    </p:set>
                                    <p:anim calcmode="lin" valueType="num">
                                      <p:cBhvr>
                                        <p:cTn id="27" dur="500" fill="hold"/>
                                        <p:tgtEl>
                                          <p:spTgt spid="118790"/>
                                        </p:tgtEl>
                                        <p:attrNameLst>
                                          <p:attrName>ppt_w</p:attrName>
                                        </p:attrNameLst>
                                      </p:cBhvr>
                                      <p:tavLst>
                                        <p:tav tm="0">
                                          <p:val>
                                            <p:fltVal val="0"/>
                                          </p:val>
                                        </p:tav>
                                        <p:tav tm="100000">
                                          <p:val>
                                            <p:strVal val="#ppt_w"/>
                                          </p:val>
                                        </p:tav>
                                      </p:tavLst>
                                    </p:anim>
                                    <p:anim calcmode="lin" valueType="num">
                                      <p:cBhvr>
                                        <p:cTn id="28" dur="500" fill="hold"/>
                                        <p:tgtEl>
                                          <p:spTgt spid="118790"/>
                                        </p:tgtEl>
                                        <p:attrNameLst>
                                          <p:attrName>ppt_h</p:attrName>
                                        </p:attrNameLst>
                                      </p:cBhvr>
                                      <p:tavLst>
                                        <p:tav tm="0">
                                          <p:val>
                                            <p:fltVal val="0"/>
                                          </p:val>
                                        </p:tav>
                                        <p:tav tm="100000">
                                          <p:val>
                                            <p:strVal val="#ppt_h"/>
                                          </p:val>
                                        </p:tav>
                                      </p:tavLst>
                                    </p:anim>
                                    <p:animEffect transition="in" filter="fade">
                                      <p:cBhvr>
                                        <p:cTn id="29" dur="500"/>
                                        <p:tgtEl>
                                          <p:spTgt spid="118790"/>
                                        </p:tgtEl>
                                      </p:cBhvr>
                                    </p:animEffect>
                                  </p:childTnLst>
                                </p:cTn>
                              </p:par>
                            </p:childTnLst>
                          </p:cTn>
                        </p:par>
                        <p:par>
                          <p:cTn id="30" fill="hold" nodeType="afterGroup">
                            <p:stCondLst>
                              <p:cond delay="1500"/>
                            </p:stCondLst>
                            <p:childTnLst>
                              <p:par>
                                <p:cTn id="31" presetID="53" presetClass="entr" presetSubtype="0" fill="hold" nodeType="afterEffect">
                                  <p:stCondLst>
                                    <p:cond delay="0"/>
                                  </p:stCondLst>
                                  <p:childTnLst>
                                    <p:set>
                                      <p:cBhvr>
                                        <p:cTn id="32" dur="1" fill="hold">
                                          <p:stCondLst>
                                            <p:cond delay="0"/>
                                          </p:stCondLst>
                                        </p:cTn>
                                        <p:tgtEl>
                                          <p:spTgt spid="118798"/>
                                        </p:tgtEl>
                                        <p:attrNameLst>
                                          <p:attrName>style.visibility</p:attrName>
                                        </p:attrNameLst>
                                      </p:cBhvr>
                                      <p:to>
                                        <p:strVal val="visible"/>
                                      </p:to>
                                    </p:set>
                                    <p:anim calcmode="lin" valueType="num">
                                      <p:cBhvr>
                                        <p:cTn id="33" dur="500" fill="hold"/>
                                        <p:tgtEl>
                                          <p:spTgt spid="118798"/>
                                        </p:tgtEl>
                                        <p:attrNameLst>
                                          <p:attrName>ppt_w</p:attrName>
                                        </p:attrNameLst>
                                      </p:cBhvr>
                                      <p:tavLst>
                                        <p:tav tm="0">
                                          <p:val>
                                            <p:fltVal val="0"/>
                                          </p:val>
                                        </p:tav>
                                        <p:tav tm="100000">
                                          <p:val>
                                            <p:strVal val="#ppt_w"/>
                                          </p:val>
                                        </p:tav>
                                      </p:tavLst>
                                    </p:anim>
                                    <p:anim calcmode="lin" valueType="num">
                                      <p:cBhvr>
                                        <p:cTn id="34" dur="500" fill="hold"/>
                                        <p:tgtEl>
                                          <p:spTgt spid="118798"/>
                                        </p:tgtEl>
                                        <p:attrNameLst>
                                          <p:attrName>ppt_h</p:attrName>
                                        </p:attrNameLst>
                                      </p:cBhvr>
                                      <p:tavLst>
                                        <p:tav tm="0">
                                          <p:val>
                                            <p:fltVal val="0"/>
                                          </p:val>
                                        </p:tav>
                                        <p:tav tm="100000">
                                          <p:val>
                                            <p:strVal val="#ppt_h"/>
                                          </p:val>
                                        </p:tav>
                                      </p:tavLst>
                                    </p:anim>
                                    <p:animEffect transition="in" filter="fade">
                                      <p:cBhvr>
                                        <p:cTn id="35" dur="500"/>
                                        <p:tgtEl>
                                          <p:spTgt spid="11879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118793"/>
                                        </p:tgtEl>
                                        <p:attrNameLst>
                                          <p:attrName>style.visibility</p:attrName>
                                        </p:attrNameLst>
                                      </p:cBhvr>
                                      <p:to>
                                        <p:strVal val="visible"/>
                                      </p:to>
                                    </p:set>
                                    <p:animEffect transition="in" filter="wipe(down)">
                                      <p:cBhvr>
                                        <p:cTn id="40" dur="500"/>
                                        <p:tgtEl>
                                          <p:spTgt spid="118793"/>
                                        </p:tgtEl>
                                      </p:cBhvr>
                                    </p:animEffect>
                                  </p:childTnLst>
                                </p:cTn>
                              </p:par>
                              <p:par>
                                <p:cTn id="41" presetID="22" presetClass="entr" presetSubtype="4" fill="hold" nodeType="withEffect">
                                  <p:stCondLst>
                                    <p:cond delay="0"/>
                                  </p:stCondLst>
                                  <p:childTnLst>
                                    <p:set>
                                      <p:cBhvr>
                                        <p:cTn id="42" dur="1" fill="hold">
                                          <p:stCondLst>
                                            <p:cond delay="0"/>
                                          </p:stCondLst>
                                        </p:cTn>
                                        <p:tgtEl>
                                          <p:spTgt spid="118794"/>
                                        </p:tgtEl>
                                        <p:attrNameLst>
                                          <p:attrName>style.visibility</p:attrName>
                                        </p:attrNameLst>
                                      </p:cBhvr>
                                      <p:to>
                                        <p:strVal val="visible"/>
                                      </p:to>
                                    </p:set>
                                    <p:animEffect transition="in" filter="wipe(down)">
                                      <p:cBhvr>
                                        <p:cTn id="43" dur="500"/>
                                        <p:tgtEl>
                                          <p:spTgt spid="11879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118788"/>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8797"/>
                                        </p:tgtEl>
                                        <p:attrNameLst>
                                          <p:attrName>style.visibility</p:attrName>
                                        </p:attrNameLst>
                                      </p:cBhvr>
                                      <p:to>
                                        <p:strVal val="visible"/>
                                      </p:to>
                                    </p:set>
                                    <p:animEffect transition="in" filter="wipe(left)">
                                      <p:cBhvr>
                                        <p:cTn id="52" dur="500"/>
                                        <p:tgtEl>
                                          <p:spTgt spid="11879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118791"/>
                                        </p:tgtEl>
                                        <p:attrNameLst>
                                          <p:attrName>style.visibility</p:attrName>
                                        </p:attrNameLst>
                                      </p:cBhvr>
                                      <p:to>
                                        <p:strVal val="visible"/>
                                      </p:to>
                                    </p:set>
                                    <p:animEffect transition="in" filter="dissolve">
                                      <p:cBhvr>
                                        <p:cTn id="57" dur="500"/>
                                        <p:tgtEl>
                                          <p:spTgt spid="118791"/>
                                        </p:tgtEl>
                                      </p:cBhvr>
                                    </p:animEffect>
                                  </p:childTnLst>
                                </p:cTn>
                              </p:par>
                              <p:par>
                                <p:cTn id="58" presetID="9" presetClass="entr" presetSubtype="0" fill="hold" nodeType="withEffect">
                                  <p:stCondLst>
                                    <p:cond delay="0"/>
                                  </p:stCondLst>
                                  <p:childTnLst>
                                    <p:set>
                                      <p:cBhvr>
                                        <p:cTn id="59" dur="1" fill="hold">
                                          <p:stCondLst>
                                            <p:cond delay="0"/>
                                          </p:stCondLst>
                                        </p:cTn>
                                        <p:tgtEl>
                                          <p:spTgt spid="118792"/>
                                        </p:tgtEl>
                                        <p:attrNameLst>
                                          <p:attrName>style.visibility</p:attrName>
                                        </p:attrNameLst>
                                      </p:cBhvr>
                                      <p:to>
                                        <p:strVal val="visible"/>
                                      </p:to>
                                    </p:set>
                                    <p:animEffect transition="in" filter="dissolve">
                                      <p:cBhvr>
                                        <p:cTn id="60" dur="500"/>
                                        <p:tgtEl>
                                          <p:spTgt spid="118792"/>
                                        </p:tgtEl>
                                      </p:cBhvr>
                                    </p:animEffect>
                                  </p:childTnLst>
                                </p:cTn>
                              </p:par>
                            </p:childTnLst>
                          </p:cTn>
                        </p:par>
                        <p:par>
                          <p:cTn id="61" fill="hold" nodeType="afterGroup">
                            <p:stCondLst>
                              <p:cond delay="500"/>
                            </p:stCondLst>
                            <p:childTnLst>
                              <p:par>
                                <p:cTn id="62" presetID="22" presetClass="entr" presetSubtype="1" fill="hold" nodeType="afterEffect">
                                  <p:stCondLst>
                                    <p:cond delay="0"/>
                                  </p:stCondLst>
                                  <p:childTnLst>
                                    <p:set>
                                      <p:cBhvr>
                                        <p:cTn id="63" dur="1" fill="hold">
                                          <p:stCondLst>
                                            <p:cond delay="0"/>
                                          </p:stCondLst>
                                        </p:cTn>
                                        <p:tgtEl>
                                          <p:spTgt spid="118795"/>
                                        </p:tgtEl>
                                        <p:attrNameLst>
                                          <p:attrName>style.visibility</p:attrName>
                                        </p:attrNameLst>
                                      </p:cBhvr>
                                      <p:to>
                                        <p:strVal val="visible"/>
                                      </p:to>
                                    </p:set>
                                    <p:animEffect transition="in" filter="wipe(up)">
                                      <p:cBhvr>
                                        <p:cTn id="64" dur="500"/>
                                        <p:tgtEl>
                                          <p:spTgt spid="118795"/>
                                        </p:tgtEl>
                                      </p:cBhvr>
                                    </p:animEffect>
                                  </p:childTnLst>
                                </p:cTn>
                              </p:par>
                            </p:childTnLst>
                          </p:cTn>
                        </p:par>
                        <p:par>
                          <p:cTn id="65" fill="hold" nodeType="afterGroup">
                            <p:stCondLst>
                              <p:cond delay="1000"/>
                            </p:stCondLst>
                            <p:childTnLst>
                              <p:par>
                                <p:cTn id="66" presetID="22" presetClass="entr" presetSubtype="8" fill="hold" nodeType="afterEffect">
                                  <p:stCondLst>
                                    <p:cond delay="0"/>
                                  </p:stCondLst>
                                  <p:childTnLst>
                                    <p:set>
                                      <p:cBhvr>
                                        <p:cTn id="67" dur="1" fill="hold">
                                          <p:stCondLst>
                                            <p:cond delay="0"/>
                                          </p:stCondLst>
                                        </p:cTn>
                                        <p:tgtEl>
                                          <p:spTgt spid="118796"/>
                                        </p:tgtEl>
                                        <p:attrNameLst>
                                          <p:attrName>style.visibility</p:attrName>
                                        </p:attrNameLst>
                                      </p:cBhvr>
                                      <p:to>
                                        <p:strVal val="visible"/>
                                      </p:to>
                                    </p:set>
                                    <p:animEffect transition="in" filter="wipe(left)">
                                      <p:cBhvr>
                                        <p:cTn id="68" dur="500"/>
                                        <p:tgtEl>
                                          <p:spTgt spid="11879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18799"/>
                                        </p:tgtEl>
                                        <p:attrNameLst>
                                          <p:attrName>style.visibility</p:attrName>
                                        </p:attrNameLst>
                                      </p:cBhvr>
                                      <p:to>
                                        <p:strVal val="visible"/>
                                      </p:to>
                                    </p:set>
                                    <p:animEffect transition="in" filter="wipe(left)">
                                      <p:cBhvr>
                                        <p:cTn id="73" dur="500"/>
                                        <p:tgtEl>
                                          <p:spTgt spid="118799"/>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118800"/>
                                        </p:tgtEl>
                                        <p:attrNameLst>
                                          <p:attrName>style.visibility</p:attrName>
                                        </p:attrNameLst>
                                      </p:cBhvr>
                                      <p:to>
                                        <p:strVal val="visible"/>
                                      </p:to>
                                    </p:set>
                                    <p:animEffect transition="in" filter="wipe(left)">
                                      <p:cBhvr>
                                        <p:cTn id="77" dur="500"/>
                                        <p:tgtEl>
                                          <p:spTgt spid="118800"/>
                                        </p:tgtEl>
                                      </p:cBhvr>
                                    </p:animEffect>
                                  </p:childTnLst>
                                </p:cTn>
                              </p:par>
                            </p:childTnLst>
                          </p:cTn>
                        </p:par>
                        <p:par>
                          <p:cTn id="78" fill="hold" nodeType="afterGroup">
                            <p:stCondLst>
                              <p:cond delay="1000"/>
                            </p:stCondLst>
                            <p:childTnLst>
                              <p:par>
                                <p:cTn id="79" presetID="22" presetClass="entr" presetSubtype="4" fill="hold" nodeType="afterEffect">
                                  <p:stCondLst>
                                    <p:cond delay="0"/>
                                  </p:stCondLst>
                                  <p:childTnLst>
                                    <p:set>
                                      <p:cBhvr>
                                        <p:cTn id="80" dur="1" fill="hold">
                                          <p:stCondLst>
                                            <p:cond delay="0"/>
                                          </p:stCondLst>
                                        </p:cTn>
                                        <p:tgtEl>
                                          <p:spTgt spid="118801"/>
                                        </p:tgtEl>
                                        <p:attrNameLst>
                                          <p:attrName>style.visibility</p:attrName>
                                        </p:attrNameLst>
                                      </p:cBhvr>
                                      <p:to>
                                        <p:strVal val="visible"/>
                                      </p:to>
                                    </p:set>
                                    <p:animEffect transition="in" filter="wipe(down)">
                                      <p:cBhvr>
                                        <p:cTn id="81" dur="500"/>
                                        <p:tgtEl>
                                          <p:spTgt spid="118801"/>
                                        </p:tgtEl>
                                      </p:cBhvr>
                                    </p:animEffect>
                                  </p:childTnLst>
                                </p:cTn>
                              </p:par>
                            </p:childTnLst>
                          </p:cTn>
                        </p:par>
                        <p:par>
                          <p:cTn id="82" fill="hold" nodeType="afterGroup">
                            <p:stCondLst>
                              <p:cond delay="1500"/>
                            </p:stCondLst>
                            <p:childTnLst>
                              <p:par>
                                <p:cTn id="83" presetID="22" presetClass="entr" presetSubtype="4" fill="hold" nodeType="afterEffect">
                                  <p:stCondLst>
                                    <p:cond delay="0"/>
                                  </p:stCondLst>
                                  <p:childTnLst>
                                    <p:set>
                                      <p:cBhvr>
                                        <p:cTn id="84" dur="1" fill="hold">
                                          <p:stCondLst>
                                            <p:cond delay="0"/>
                                          </p:stCondLst>
                                        </p:cTn>
                                        <p:tgtEl>
                                          <p:spTgt spid="118802"/>
                                        </p:tgtEl>
                                        <p:attrNameLst>
                                          <p:attrName>style.visibility</p:attrName>
                                        </p:attrNameLst>
                                      </p:cBhvr>
                                      <p:to>
                                        <p:strVal val="visible"/>
                                      </p:to>
                                    </p:set>
                                    <p:animEffect transition="in" filter="wipe(down)">
                                      <p:cBhvr>
                                        <p:cTn id="85" dur="500"/>
                                        <p:tgtEl>
                                          <p:spTgt spid="118802"/>
                                        </p:tgtEl>
                                      </p:cBhvr>
                                    </p:animEffect>
                                  </p:childTnLst>
                                </p:cTn>
                              </p:par>
                            </p:childTnLst>
                          </p:cTn>
                        </p:par>
                        <p:par>
                          <p:cTn id="86" fill="hold" nodeType="afterGroup">
                            <p:stCondLst>
                              <p:cond delay="2000"/>
                            </p:stCondLst>
                            <p:childTnLst>
                              <p:par>
                                <p:cTn id="87" presetID="22" presetClass="entr" presetSubtype="4" fill="hold" nodeType="afterEffect">
                                  <p:stCondLst>
                                    <p:cond delay="0"/>
                                  </p:stCondLst>
                                  <p:childTnLst>
                                    <p:set>
                                      <p:cBhvr>
                                        <p:cTn id="88" dur="1" fill="hold">
                                          <p:stCondLst>
                                            <p:cond delay="0"/>
                                          </p:stCondLst>
                                        </p:cTn>
                                        <p:tgtEl>
                                          <p:spTgt spid="118803"/>
                                        </p:tgtEl>
                                        <p:attrNameLst>
                                          <p:attrName>style.visibility</p:attrName>
                                        </p:attrNameLst>
                                      </p:cBhvr>
                                      <p:to>
                                        <p:strVal val="visible"/>
                                      </p:to>
                                    </p:set>
                                    <p:animEffect transition="in" filter="wipe(down)">
                                      <p:cBhvr>
                                        <p:cTn id="89" dur="500"/>
                                        <p:tgtEl>
                                          <p:spTgt spid="11880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nodeType="clickEffect">
                                  <p:stCondLst>
                                    <p:cond delay="0"/>
                                  </p:stCondLst>
                                  <p:childTnLst>
                                    <p:set>
                                      <p:cBhvr>
                                        <p:cTn id="93" dur="1" fill="hold">
                                          <p:stCondLst>
                                            <p:cond delay="0"/>
                                          </p:stCondLst>
                                        </p:cTn>
                                        <p:tgtEl>
                                          <p:spTgt spid="118806"/>
                                        </p:tgtEl>
                                        <p:attrNameLst>
                                          <p:attrName>style.visibility</p:attrName>
                                        </p:attrNameLst>
                                      </p:cBhvr>
                                      <p:to>
                                        <p:strVal val="visible"/>
                                      </p:to>
                                    </p:set>
                                    <p:animEffect transition="in" filter="wipe(down)">
                                      <p:cBhvr>
                                        <p:cTn id="94" dur="500"/>
                                        <p:tgtEl>
                                          <p:spTgt spid="118806"/>
                                        </p:tgtEl>
                                      </p:cBhvr>
                                    </p:animEffect>
                                  </p:childTnLst>
                                </p:cTn>
                              </p:par>
                              <p:par>
                                <p:cTn id="95" presetID="22" presetClass="entr" presetSubtype="4" fill="hold" nodeType="withEffect">
                                  <p:stCondLst>
                                    <p:cond delay="0"/>
                                  </p:stCondLst>
                                  <p:childTnLst>
                                    <p:set>
                                      <p:cBhvr>
                                        <p:cTn id="96" dur="1" fill="hold">
                                          <p:stCondLst>
                                            <p:cond delay="0"/>
                                          </p:stCondLst>
                                        </p:cTn>
                                        <p:tgtEl>
                                          <p:spTgt spid="118807"/>
                                        </p:tgtEl>
                                        <p:attrNameLst>
                                          <p:attrName>style.visibility</p:attrName>
                                        </p:attrNameLst>
                                      </p:cBhvr>
                                      <p:to>
                                        <p:strVal val="visible"/>
                                      </p:to>
                                    </p:set>
                                    <p:animEffect transition="in" filter="wipe(down)">
                                      <p:cBhvr>
                                        <p:cTn id="97" dur="500"/>
                                        <p:tgtEl>
                                          <p:spTgt spid="118807"/>
                                        </p:tgtEl>
                                      </p:cBhvr>
                                    </p:animEffect>
                                  </p:childTnLst>
                                </p:cTn>
                              </p:par>
                              <p:par>
                                <p:cTn id="98" presetID="22" presetClass="entr" presetSubtype="4" fill="hold" nodeType="withEffect">
                                  <p:stCondLst>
                                    <p:cond delay="0"/>
                                  </p:stCondLst>
                                  <p:childTnLst>
                                    <p:set>
                                      <p:cBhvr>
                                        <p:cTn id="99" dur="1" fill="hold">
                                          <p:stCondLst>
                                            <p:cond delay="0"/>
                                          </p:stCondLst>
                                        </p:cTn>
                                        <p:tgtEl>
                                          <p:spTgt spid="118808"/>
                                        </p:tgtEl>
                                        <p:attrNameLst>
                                          <p:attrName>style.visibility</p:attrName>
                                        </p:attrNameLst>
                                      </p:cBhvr>
                                      <p:to>
                                        <p:strVal val="visible"/>
                                      </p:to>
                                    </p:set>
                                    <p:animEffect transition="in" filter="wipe(down)">
                                      <p:cBhvr>
                                        <p:cTn id="100" dur="500"/>
                                        <p:tgtEl>
                                          <p:spTgt spid="11880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118805"/>
                                        </p:tgtEl>
                                        <p:attrNameLst>
                                          <p:attrName>style.visibility</p:attrName>
                                        </p:attrNameLst>
                                      </p:cBhvr>
                                      <p:to>
                                        <p:strVal val="visible"/>
                                      </p:to>
                                    </p:set>
                                    <p:animEffect transition="in" filter="wipe(left)">
                                      <p:cBhvr>
                                        <p:cTn id="105" dur="500"/>
                                        <p:tgtEl>
                                          <p:spTgt spid="11880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118810"/>
                                        </p:tgtEl>
                                        <p:attrNameLst>
                                          <p:attrName>style.visibility</p:attrName>
                                        </p:attrNameLst>
                                      </p:cBhvr>
                                      <p:to>
                                        <p:strVal val="visible"/>
                                      </p:to>
                                    </p:set>
                                    <p:animEffect transition="in" filter="wipe(left)">
                                      <p:cBhvr>
                                        <p:cTn id="110" dur="500"/>
                                        <p:tgtEl>
                                          <p:spTgt spid="11881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18809"/>
                                        </p:tgtEl>
                                        <p:attrNameLst>
                                          <p:attrName>style.visibility</p:attrName>
                                        </p:attrNameLst>
                                      </p:cBhvr>
                                      <p:to>
                                        <p:strVal val="visible"/>
                                      </p:to>
                                    </p:set>
                                    <p:animEffect transition="in" filter="wipe(left)">
                                      <p:cBhvr>
                                        <p:cTn id="115" dur="500"/>
                                        <p:tgtEl>
                                          <p:spTgt spid="118809"/>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118813"/>
                                        </p:tgtEl>
                                        <p:attrNameLst>
                                          <p:attrName>style.visibility</p:attrName>
                                        </p:attrNameLst>
                                      </p:cBhvr>
                                      <p:to>
                                        <p:strVal val="visible"/>
                                      </p:to>
                                    </p:set>
                                    <p:animEffect transition="in" filter="wipe(left)">
                                      <p:cBhvr>
                                        <p:cTn id="120" dur="500"/>
                                        <p:tgtEl>
                                          <p:spTgt spid="11881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118812"/>
                                        </p:tgtEl>
                                        <p:attrNameLst>
                                          <p:attrName>style.visibility</p:attrName>
                                        </p:attrNameLst>
                                      </p:cBhvr>
                                      <p:to>
                                        <p:strVal val="visible"/>
                                      </p:to>
                                    </p:set>
                                    <p:animEffect transition="in" filter="wipe(left)">
                                      <p:cBhvr>
                                        <p:cTn id="125" dur="500"/>
                                        <p:tgtEl>
                                          <p:spTgt spid="118812"/>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118814"/>
                                        </p:tgtEl>
                                        <p:attrNameLst>
                                          <p:attrName>style.visibility</p:attrName>
                                        </p:attrNameLst>
                                      </p:cBhvr>
                                      <p:to>
                                        <p:strVal val="visible"/>
                                      </p:to>
                                    </p:set>
                                    <p:animEffect transition="in" filter="wipe(left)">
                                      <p:cBhvr>
                                        <p:cTn id="130" dur="500"/>
                                        <p:tgtEl>
                                          <p:spTgt spid="118814"/>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118815"/>
                                        </p:tgtEl>
                                        <p:attrNameLst>
                                          <p:attrName>style.visibility</p:attrName>
                                        </p:attrNameLst>
                                      </p:cBhvr>
                                      <p:to>
                                        <p:strVal val="visible"/>
                                      </p:to>
                                    </p:set>
                                    <p:animEffect transition="in" filter="wipe(left)">
                                      <p:cBhvr>
                                        <p:cTn id="135" dur="500"/>
                                        <p:tgtEl>
                                          <p:spTgt spid="11881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118811"/>
                                        </p:tgtEl>
                                        <p:attrNameLst>
                                          <p:attrName>style.visibility</p:attrName>
                                        </p:attrNameLst>
                                      </p:cBhvr>
                                      <p:to>
                                        <p:strVal val="visible"/>
                                      </p:to>
                                    </p:set>
                                    <p:animEffect transition="in" filter="wipe(left)">
                                      <p:cBhvr>
                                        <p:cTn id="140" dur="500"/>
                                        <p:tgtEl>
                                          <p:spTgt spid="118811"/>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2" fill="hold" nodeType="clickEffect">
                                  <p:stCondLst>
                                    <p:cond delay="0"/>
                                  </p:stCondLst>
                                  <p:childTnLst>
                                    <p:set>
                                      <p:cBhvr>
                                        <p:cTn id="144" dur="1" fill="hold">
                                          <p:stCondLst>
                                            <p:cond delay="0"/>
                                          </p:stCondLst>
                                        </p:cTn>
                                        <p:tgtEl>
                                          <p:spTgt spid="118816"/>
                                        </p:tgtEl>
                                        <p:attrNameLst>
                                          <p:attrName>style.visibility</p:attrName>
                                        </p:attrNameLst>
                                      </p:cBhvr>
                                      <p:to>
                                        <p:strVal val="visible"/>
                                      </p:to>
                                    </p:set>
                                    <p:anim calcmode="lin" valueType="num">
                                      <p:cBhvr additive="base">
                                        <p:cTn id="145" dur="500" fill="hold"/>
                                        <p:tgtEl>
                                          <p:spTgt spid="118816"/>
                                        </p:tgtEl>
                                        <p:attrNameLst>
                                          <p:attrName>ppt_x</p:attrName>
                                        </p:attrNameLst>
                                      </p:cBhvr>
                                      <p:tavLst>
                                        <p:tav tm="0">
                                          <p:val>
                                            <p:strVal val="1+#ppt_w/2"/>
                                          </p:val>
                                        </p:tav>
                                        <p:tav tm="100000">
                                          <p:val>
                                            <p:strVal val="#ppt_x"/>
                                          </p:val>
                                        </p:tav>
                                      </p:tavLst>
                                    </p:anim>
                                    <p:anim calcmode="lin" valueType="num">
                                      <p:cBhvr additive="base">
                                        <p:cTn id="146" dur="500" fill="hold"/>
                                        <p:tgtEl>
                                          <p:spTgt spid="1188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118787" grpId="0"/>
      <p:bldP spid="118788" grpId="0" autoUpdateAnimBg="0"/>
      <p:bldP spid="118789" grpId="0" animBg="1"/>
      <p:bldP spid="118791" grpId="0" animBg="1"/>
      <p:bldP spid="118792" grpId="0" animBg="1"/>
      <p:bldP spid="118794" grpId="0"/>
      <p:bldP spid="118796" grpId="0" autoUpdateAnimBg="0"/>
      <p:bldP spid="118797" grpId="0"/>
      <p:bldP spid="118798" grpId="0"/>
      <p:bldP spid="118803" grpId="0"/>
      <p:bldP spid="118804" grpId="0"/>
      <p:bldP spid="11880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7823AEC1-B898-4B8A-41E7-AC4239971E73}"/>
              </a:ext>
            </a:extLst>
          </p:cNvPr>
          <p:cNvSpPr>
            <a:spLocks noChangeArrowheads="1"/>
          </p:cNvSpPr>
          <p:nvPr/>
        </p:nvSpPr>
        <p:spPr bwMode="auto">
          <a:xfrm>
            <a:off x="714375" y="260350"/>
            <a:ext cx="8610600" cy="1189038"/>
          </a:xfrm>
          <a:prstGeom prst="rect">
            <a:avLst/>
          </a:prstGeom>
          <a:noFill/>
          <a:ln w="9525">
            <a:noFill/>
            <a:miter lim="800000"/>
            <a:headEnd/>
            <a:tailEnd/>
          </a:ln>
          <a:effectLst/>
        </p:spPr>
        <p:txBody>
          <a:bodyPr>
            <a:spAutoFit/>
          </a:bodyPr>
          <a:lstStyle/>
          <a:p>
            <a:pPr>
              <a:lnSpc>
                <a:spcPct val="125000"/>
              </a:lnSpc>
              <a:spcBef>
                <a:spcPct val="50000"/>
              </a:spcBef>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宋体" pitchFamily="2" charset="-122"/>
              </a:rPr>
              <a:t>从半径为</a:t>
            </a:r>
            <a:r>
              <a:rPr kumimoji="1" lang="en-US" altLang="zh-CN" i="1">
                <a:solidFill>
                  <a:srgbClr val="66FFFF"/>
                </a:solidFill>
                <a:effectLst>
                  <a:outerShdw blurRad="38100" dist="38100" dir="2700000" algn="tl">
                    <a:srgbClr val="000000">
                      <a:alpha val="43137"/>
                    </a:srgbClr>
                  </a:outerShdw>
                </a:effectLst>
                <a:latin typeface="Times New Roman" pitchFamily="18" charset="0"/>
              </a:rPr>
              <a:t>R </a:t>
            </a:r>
            <a:r>
              <a:rPr kumimoji="1" lang="zh-CN" altLang="en-US">
                <a:effectLst>
                  <a:outerShdw blurRad="38100" dist="38100" dir="2700000" algn="tl">
                    <a:srgbClr val="000000">
                      <a:alpha val="43137"/>
                    </a:srgbClr>
                  </a:outerShdw>
                </a:effectLst>
                <a:latin typeface="宋体" pitchFamily="2" charset="-122"/>
              </a:rPr>
              <a:t>的均质圆盘上挖掉一块半径为</a:t>
            </a:r>
            <a:r>
              <a:rPr kumimoji="1" lang="en-US" altLang="zh-CN" i="1">
                <a:solidFill>
                  <a:srgbClr val="66FFFF"/>
                </a:solidFill>
                <a:effectLst>
                  <a:outerShdw blurRad="38100" dist="38100" dir="2700000" algn="tl">
                    <a:srgbClr val="000000">
                      <a:alpha val="43137"/>
                    </a:srgbClr>
                  </a:outerShdw>
                </a:effectLst>
                <a:latin typeface="Times New Roman" pitchFamily="18" charset="0"/>
              </a:rPr>
              <a:t>r </a:t>
            </a:r>
            <a:r>
              <a:rPr kumimoji="1" lang="zh-CN" altLang="en-US">
                <a:effectLst>
                  <a:outerShdw blurRad="38100" dist="38100" dir="2700000" algn="tl">
                    <a:srgbClr val="000000">
                      <a:alpha val="43137"/>
                    </a:srgbClr>
                  </a:outerShdw>
                </a:effectLst>
                <a:latin typeface="宋体" pitchFamily="2" charset="-122"/>
              </a:rPr>
              <a:t>的小圆盘，该</a:t>
            </a:r>
            <a:r>
              <a:rPr kumimoji="1" lang="zh-CN" altLang="en-US">
                <a:effectLst>
                  <a:outerShdw blurRad="38100" dist="38100" dir="2700000" algn="tl">
                    <a:srgbClr val="000000">
                      <a:alpha val="43137"/>
                    </a:srgbClr>
                  </a:outerShdw>
                </a:effectLst>
                <a:latin typeface="Times New Roman" pitchFamily="18" charset="0"/>
              </a:rPr>
              <a:t>系</a:t>
            </a:r>
          </a:p>
          <a:p>
            <a:pPr>
              <a:lnSpc>
                <a:spcPct val="125000"/>
              </a:lnSpc>
              <a:spcBef>
                <a:spcPct val="50000"/>
              </a:spcBef>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Times New Roman" pitchFamily="18" charset="0"/>
              </a:rPr>
              <a:t>统的质量为</a:t>
            </a:r>
            <a:r>
              <a:rPr kumimoji="1" lang="en-US" altLang="zh-CN" i="1">
                <a:solidFill>
                  <a:srgbClr val="66FFFF"/>
                </a:solidFill>
                <a:effectLst>
                  <a:outerShdw blurRad="38100" dist="38100" dir="2700000" algn="tl">
                    <a:srgbClr val="000000">
                      <a:alpha val="43137"/>
                    </a:srgbClr>
                  </a:outerShdw>
                </a:effectLst>
                <a:latin typeface="Times New Roman" pitchFamily="18" charset="0"/>
              </a:rPr>
              <a:t>m</a:t>
            </a:r>
            <a:r>
              <a:rPr kumimoji="1" lang="en-US" altLang="zh-CN">
                <a:effectLst>
                  <a:outerShdw blurRad="38100" dist="38100" dir="2700000" algn="tl">
                    <a:srgbClr val="000000">
                      <a:alpha val="43137"/>
                    </a:srgbClr>
                  </a:outerShdw>
                </a:effectLst>
                <a:latin typeface="Times New Roman" pitchFamily="18" charset="0"/>
              </a:rPr>
              <a:t>,</a:t>
            </a:r>
            <a:r>
              <a:rPr kumimoji="1" lang="zh-CN" altLang="en-US">
                <a:effectLst>
                  <a:outerShdw blurRad="38100" dist="38100" dir="2700000" algn="tl">
                    <a:srgbClr val="000000">
                      <a:alpha val="43137"/>
                    </a:srgbClr>
                  </a:outerShdw>
                </a:effectLst>
                <a:latin typeface="宋体" pitchFamily="2" charset="-122"/>
              </a:rPr>
              <a:t>两圆盘中心</a:t>
            </a:r>
            <a:r>
              <a:rPr kumimoji="1" lang="en-US" altLang="zh-CN" i="1">
                <a:solidFill>
                  <a:srgbClr val="66FFFF"/>
                </a:solidFill>
                <a:effectLst>
                  <a:outerShdw blurRad="38100" dist="38100" dir="2700000" algn="tl">
                    <a:srgbClr val="000000">
                      <a:alpha val="43137"/>
                    </a:srgbClr>
                  </a:outerShdw>
                </a:effectLst>
                <a:latin typeface="Times New Roman" pitchFamily="18" charset="0"/>
              </a:rPr>
              <a:t>O </a:t>
            </a:r>
            <a:r>
              <a:rPr kumimoji="1" lang="zh-CN" altLang="en-US">
                <a:effectLst>
                  <a:outerShdw blurRad="38100" dist="38100" dir="2700000" algn="tl">
                    <a:srgbClr val="000000">
                      <a:alpha val="43137"/>
                    </a:srgbClr>
                  </a:outerShdw>
                </a:effectLst>
                <a:latin typeface="宋体" pitchFamily="2" charset="-122"/>
              </a:rPr>
              <a:t>和</a:t>
            </a:r>
            <a:r>
              <a:rPr kumimoji="1" lang="en-US" altLang="zh-CN" i="1">
                <a:solidFill>
                  <a:srgbClr val="66FFFF"/>
                </a:solidFill>
                <a:effectLst>
                  <a:outerShdw blurRad="38100" dist="38100" dir="2700000" algn="tl">
                    <a:srgbClr val="000000">
                      <a:alpha val="43137"/>
                    </a:srgbClr>
                  </a:outerShdw>
                </a:effectLst>
                <a:latin typeface="Times New Roman" pitchFamily="18" charset="0"/>
              </a:rPr>
              <a:t>O</a:t>
            </a:r>
            <a:r>
              <a:rPr kumimoji="1" lang="en-US" altLang="zh-CN">
                <a:solidFill>
                  <a:srgbClr val="66FFFF"/>
                </a:solidFill>
                <a:effectLst>
                  <a:outerShdw blurRad="38100" dist="38100" dir="2700000" algn="tl">
                    <a:srgbClr val="000000">
                      <a:alpha val="43137"/>
                    </a:srgbClr>
                  </a:outerShdw>
                </a:effectLst>
                <a:latin typeface="宋体" pitchFamily="2" charset="-122"/>
              </a:rPr>
              <a:t>′</a:t>
            </a:r>
            <a:r>
              <a:rPr kumimoji="1" lang="zh-CN" altLang="en-US">
                <a:effectLst>
                  <a:outerShdw blurRad="38100" dist="38100" dir="2700000" algn="tl">
                    <a:srgbClr val="000000">
                      <a:alpha val="43137"/>
                    </a:srgbClr>
                  </a:outerShdw>
                </a:effectLst>
                <a:latin typeface="宋体" pitchFamily="2" charset="-122"/>
              </a:rPr>
              <a:t>相距为</a:t>
            </a:r>
            <a:r>
              <a:rPr kumimoji="1" lang="en-US" altLang="zh-CN" i="1">
                <a:solidFill>
                  <a:srgbClr val="66FFFF"/>
                </a:solidFill>
                <a:effectLst>
                  <a:outerShdw blurRad="38100" dist="38100" dir="2700000" algn="tl">
                    <a:srgbClr val="000000">
                      <a:alpha val="43137"/>
                    </a:srgbClr>
                  </a:outerShdw>
                </a:effectLst>
                <a:latin typeface="Times New Roman" pitchFamily="18" charset="0"/>
              </a:rPr>
              <a:t>d </a:t>
            </a:r>
            <a:r>
              <a:rPr kumimoji="1" lang="zh-CN" altLang="en-US">
                <a:effectLst>
                  <a:outerShdw blurRad="38100" dist="38100" dir="2700000" algn="tl">
                    <a:srgbClr val="000000">
                      <a:alpha val="43137"/>
                    </a:srgbClr>
                  </a:outerShdw>
                </a:effectLst>
                <a:latin typeface="宋体" pitchFamily="2" charset="-122"/>
              </a:rPr>
              <a:t>，且</a:t>
            </a:r>
            <a:r>
              <a:rPr kumimoji="1" lang="zh-CN" altLang="en-US">
                <a:solidFill>
                  <a:srgbClr val="66FFFF"/>
                </a:solidFill>
                <a:effectLst>
                  <a:outerShdw blurRad="38100" dist="38100" dir="2700000" algn="tl">
                    <a:srgbClr val="000000">
                      <a:alpha val="43137"/>
                    </a:srgbClr>
                  </a:outerShdw>
                </a:effectLst>
                <a:latin typeface="宋体" pitchFamily="2" charset="-122"/>
              </a:rPr>
              <a:t>（</a:t>
            </a:r>
            <a:r>
              <a:rPr kumimoji="1" lang="en-US" altLang="zh-CN" i="1">
                <a:solidFill>
                  <a:srgbClr val="66FFFF"/>
                </a:solidFill>
                <a:effectLst>
                  <a:outerShdw blurRad="38100" dist="38100" dir="2700000" algn="tl">
                    <a:srgbClr val="000000">
                      <a:alpha val="43137"/>
                    </a:srgbClr>
                  </a:outerShdw>
                </a:effectLst>
                <a:latin typeface="Times New Roman" pitchFamily="18" charset="0"/>
              </a:rPr>
              <a:t>d</a:t>
            </a:r>
            <a:r>
              <a:rPr kumimoji="1" lang="en-US" altLang="zh-CN">
                <a:solidFill>
                  <a:srgbClr val="66FFFF"/>
                </a:solidFill>
                <a:effectLst>
                  <a:outerShdw blurRad="38100" dist="38100" dir="2700000" algn="tl">
                    <a:srgbClr val="000000">
                      <a:alpha val="43137"/>
                    </a:srgbClr>
                  </a:outerShdw>
                </a:effectLst>
                <a:latin typeface="Times New Roman" pitchFamily="18" charset="0"/>
              </a:rPr>
              <a:t> </a:t>
            </a:r>
            <a:r>
              <a:rPr kumimoji="1" lang="en-US" altLang="zh-CN">
                <a:solidFill>
                  <a:srgbClr val="66FFFF"/>
                </a:solidFill>
                <a:effectLst>
                  <a:outerShdw blurRad="38100" dist="38100" dir="2700000" algn="tl">
                    <a:srgbClr val="000000">
                      <a:alpha val="43137"/>
                    </a:srgbClr>
                  </a:outerShdw>
                </a:effectLst>
                <a:latin typeface="宋体" pitchFamily="2" charset="-122"/>
              </a:rPr>
              <a:t>+ </a:t>
            </a:r>
            <a:r>
              <a:rPr kumimoji="1" lang="en-US" altLang="zh-CN" i="1">
                <a:solidFill>
                  <a:srgbClr val="66FFFF"/>
                </a:solidFill>
                <a:effectLst>
                  <a:outerShdw blurRad="38100" dist="38100" dir="2700000" algn="tl">
                    <a:srgbClr val="000000">
                      <a:alpha val="43137"/>
                    </a:srgbClr>
                  </a:outerShdw>
                </a:effectLst>
                <a:latin typeface="Times New Roman" pitchFamily="18" charset="0"/>
              </a:rPr>
              <a:t>r</a:t>
            </a:r>
            <a:r>
              <a:rPr kumimoji="1" lang="zh-CN" altLang="en-US">
                <a:solidFill>
                  <a:srgbClr val="66FFFF"/>
                </a:solidFill>
                <a:effectLst>
                  <a:outerShdw blurRad="38100" dist="38100" dir="2700000" algn="tl">
                    <a:srgbClr val="000000">
                      <a:alpha val="43137"/>
                    </a:srgbClr>
                  </a:outerShdw>
                </a:effectLst>
                <a:latin typeface="宋体" pitchFamily="2" charset="-122"/>
              </a:rPr>
              <a:t>）</a:t>
            </a:r>
            <a:r>
              <a:rPr kumimoji="1" lang="en-US" altLang="zh-CN">
                <a:solidFill>
                  <a:srgbClr val="66FFFF"/>
                </a:solidFill>
                <a:effectLst>
                  <a:outerShdw blurRad="38100" dist="38100" dir="2700000" algn="tl">
                    <a:srgbClr val="000000">
                      <a:alpha val="43137"/>
                    </a:srgbClr>
                  </a:outerShdw>
                </a:effectLst>
                <a:latin typeface="宋体" pitchFamily="2" charset="-122"/>
              </a:rPr>
              <a:t>&lt; </a:t>
            </a:r>
            <a:r>
              <a:rPr kumimoji="1" lang="en-US" altLang="zh-CN" i="1">
                <a:solidFill>
                  <a:srgbClr val="66FFFF"/>
                </a:solidFill>
                <a:effectLst>
                  <a:outerShdw blurRad="38100" dist="38100" dir="2700000" algn="tl">
                    <a:srgbClr val="000000">
                      <a:alpha val="43137"/>
                    </a:srgbClr>
                  </a:outerShdw>
                </a:effectLst>
                <a:latin typeface="Times New Roman" pitchFamily="18" charset="0"/>
              </a:rPr>
              <a:t>R</a:t>
            </a:r>
            <a:r>
              <a:rPr kumimoji="1" lang="en-US" altLang="zh-CN">
                <a:effectLst>
                  <a:outerShdw blurRad="38100" dist="38100" dir="2700000" algn="tl">
                    <a:srgbClr val="000000">
                      <a:alpha val="43137"/>
                    </a:srgbClr>
                  </a:outerShdw>
                </a:effectLst>
                <a:latin typeface="宋体" pitchFamily="2" charset="-122"/>
              </a:rPr>
              <a:t>         </a:t>
            </a:r>
          </a:p>
        </p:txBody>
      </p:sp>
      <p:sp>
        <p:nvSpPr>
          <p:cNvPr id="120835" name="Oval 3">
            <a:extLst>
              <a:ext uri="{FF2B5EF4-FFF2-40B4-BE49-F238E27FC236}">
                <a16:creationId xmlns:a16="http://schemas.microsoft.com/office/drawing/2014/main" id="{A35D9DD6-A538-3647-EDEF-4807B23A990C}"/>
              </a:ext>
            </a:extLst>
          </p:cNvPr>
          <p:cNvSpPr>
            <a:spLocks noChangeArrowheads="1"/>
          </p:cNvSpPr>
          <p:nvPr/>
        </p:nvSpPr>
        <p:spPr bwMode="auto">
          <a:xfrm>
            <a:off x="5600700" y="2752725"/>
            <a:ext cx="2882900" cy="2811463"/>
          </a:xfrm>
          <a:prstGeom prst="ellipse">
            <a:avLst/>
          </a:prstGeom>
          <a:solidFill>
            <a:srgbClr val="FFCC00"/>
          </a:solidFill>
          <a:ln w="19050">
            <a:solidFill>
              <a:srgbClr val="FFCC00"/>
            </a:solidFill>
            <a:round/>
            <a:headEnd/>
            <a:tailEn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36" name="Line 4">
            <a:extLst>
              <a:ext uri="{FF2B5EF4-FFF2-40B4-BE49-F238E27FC236}">
                <a16:creationId xmlns:a16="http://schemas.microsoft.com/office/drawing/2014/main" id="{A21B4EC9-27F7-CE71-13B2-1A9727C7CB02}"/>
              </a:ext>
            </a:extLst>
          </p:cNvPr>
          <p:cNvSpPr>
            <a:spLocks noChangeShapeType="1"/>
          </p:cNvSpPr>
          <p:nvPr/>
        </p:nvSpPr>
        <p:spPr bwMode="auto">
          <a:xfrm flipV="1">
            <a:off x="7031038" y="2198688"/>
            <a:ext cx="0" cy="3816350"/>
          </a:xfrm>
          <a:prstGeom prst="line">
            <a:avLst/>
          </a:prstGeom>
          <a:noFill/>
          <a:ln w="28575">
            <a:solidFill>
              <a:schemeClr val="bg1"/>
            </a:solidFill>
            <a:round/>
            <a:headEnd/>
            <a:tailEnd type="none" w="sm" len="me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37" name="Oval 5">
            <a:extLst>
              <a:ext uri="{FF2B5EF4-FFF2-40B4-BE49-F238E27FC236}">
                <a16:creationId xmlns:a16="http://schemas.microsoft.com/office/drawing/2014/main" id="{4E9743E8-3B0F-EFDD-A34E-7997D299CF11}"/>
              </a:ext>
            </a:extLst>
          </p:cNvPr>
          <p:cNvSpPr>
            <a:spLocks noChangeArrowheads="1"/>
          </p:cNvSpPr>
          <p:nvPr/>
        </p:nvSpPr>
        <p:spPr bwMode="auto">
          <a:xfrm>
            <a:off x="7388225" y="3671888"/>
            <a:ext cx="982663" cy="982662"/>
          </a:xfrm>
          <a:prstGeom prst="ellipse">
            <a:avLst/>
          </a:prstGeom>
          <a:solidFill>
            <a:srgbClr val="FFFFFF"/>
          </a:solidFill>
          <a:ln w="9525">
            <a:solidFill>
              <a:srgbClr val="000000"/>
            </a:solidFill>
            <a:round/>
            <a:headEnd/>
            <a:tailEn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38" name="Line 6">
            <a:extLst>
              <a:ext uri="{FF2B5EF4-FFF2-40B4-BE49-F238E27FC236}">
                <a16:creationId xmlns:a16="http://schemas.microsoft.com/office/drawing/2014/main" id="{3C239638-5786-9A45-3C0E-6A35704860C2}"/>
              </a:ext>
            </a:extLst>
          </p:cNvPr>
          <p:cNvSpPr>
            <a:spLocks noChangeShapeType="1"/>
          </p:cNvSpPr>
          <p:nvPr/>
        </p:nvSpPr>
        <p:spPr bwMode="auto">
          <a:xfrm flipV="1">
            <a:off x="5243513" y="4143375"/>
            <a:ext cx="3540125" cy="17463"/>
          </a:xfrm>
          <a:prstGeom prst="line">
            <a:avLst/>
          </a:prstGeom>
          <a:noFill/>
          <a:ln w="28575">
            <a:solidFill>
              <a:schemeClr val="bg1"/>
            </a:solidFill>
            <a:round/>
            <a:headEnd/>
            <a:tailEnd type="none" w="sm" len="me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39" name="Line 7">
            <a:extLst>
              <a:ext uri="{FF2B5EF4-FFF2-40B4-BE49-F238E27FC236}">
                <a16:creationId xmlns:a16="http://schemas.microsoft.com/office/drawing/2014/main" id="{9E924C2A-4C7F-708C-F769-B2B8CF67899A}"/>
              </a:ext>
            </a:extLst>
          </p:cNvPr>
          <p:cNvSpPr>
            <a:spLocks noChangeShapeType="1"/>
          </p:cNvSpPr>
          <p:nvPr/>
        </p:nvSpPr>
        <p:spPr bwMode="auto">
          <a:xfrm>
            <a:off x="7880350" y="4162425"/>
            <a:ext cx="0" cy="1763713"/>
          </a:xfrm>
          <a:prstGeom prst="line">
            <a:avLst/>
          </a:prstGeom>
          <a:noFill/>
          <a:ln w="9525">
            <a:solidFill>
              <a:srgbClr val="FFFFFF"/>
            </a:solidFill>
            <a:round/>
            <a:headEnd/>
            <a:tailEn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40" name="Line 8">
            <a:extLst>
              <a:ext uri="{FF2B5EF4-FFF2-40B4-BE49-F238E27FC236}">
                <a16:creationId xmlns:a16="http://schemas.microsoft.com/office/drawing/2014/main" id="{60C8484A-63FB-706F-5373-21FD36C4F70E}"/>
              </a:ext>
            </a:extLst>
          </p:cNvPr>
          <p:cNvSpPr>
            <a:spLocks noChangeShapeType="1"/>
          </p:cNvSpPr>
          <p:nvPr/>
        </p:nvSpPr>
        <p:spPr bwMode="auto">
          <a:xfrm>
            <a:off x="7031038" y="5748338"/>
            <a:ext cx="849312" cy="0"/>
          </a:xfrm>
          <a:prstGeom prst="line">
            <a:avLst/>
          </a:prstGeom>
          <a:noFill/>
          <a:ln w="9525">
            <a:solidFill>
              <a:srgbClr val="FFFFFF"/>
            </a:solidFill>
            <a:round/>
            <a:headEnd type="triangle" w="sm" len="sm"/>
            <a:tailEnd type="triangle" w="sm" len="sm"/>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41" name="Text Box 9">
            <a:extLst>
              <a:ext uri="{FF2B5EF4-FFF2-40B4-BE49-F238E27FC236}">
                <a16:creationId xmlns:a16="http://schemas.microsoft.com/office/drawing/2014/main" id="{FCA26949-B78A-CE87-AB24-C310875163A6}"/>
              </a:ext>
            </a:extLst>
          </p:cNvPr>
          <p:cNvSpPr txBox="1">
            <a:spLocks noChangeArrowheads="1"/>
          </p:cNvSpPr>
          <p:nvPr/>
        </p:nvSpPr>
        <p:spPr bwMode="auto">
          <a:xfrm>
            <a:off x="7142163" y="5865813"/>
            <a:ext cx="693737" cy="803275"/>
          </a:xfrm>
          <a:prstGeom prst="rect">
            <a:avLst/>
          </a:prstGeom>
          <a:noFill/>
          <a:ln w="9525">
            <a:noFill/>
            <a:miter lim="800000"/>
            <a:headEnd/>
            <a:tailEnd/>
          </a:ln>
          <a:effec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lang="en-US" altLang="zh-CN" i="1">
                <a:effectLst>
                  <a:outerShdw blurRad="38100" dist="38100" dir="2700000" algn="tl">
                    <a:srgbClr val="000000"/>
                  </a:outerShdw>
                </a:effectLst>
                <a:latin typeface="Times New Roman" panose="02020603050405020304" pitchFamily="18" charset="0"/>
              </a:rPr>
              <a:t>d</a:t>
            </a:r>
          </a:p>
        </p:txBody>
      </p:sp>
      <p:sp>
        <p:nvSpPr>
          <p:cNvPr id="120842" name="Text Box 10">
            <a:extLst>
              <a:ext uri="{FF2B5EF4-FFF2-40B4-BE49-F238E27FC236}">
                <a16:creationId xmlns:a16="http://schemas.microsoft.com/office/drawing/2014/main" id="{AE2C87DF-185F-B116-17A7-67D2EF828782}"/>
              </a:ext>
            </a:extLst>
          </p:cNvPr>
          <p:cNvSpPr txBox="1">
            <a:spLocks noChangeArrowheads="1"/>
          </p:cNvSpPr>
          <p:nvPr/>
        </p:nvSpPr>
        <p:spPr bwMode="auto">
          <a:xfrm>
            <a:off x="6919913" y="4122738"/>
            <a:ext cx="960437" cy="804862"/>
          </a:xfrm>
          <a:prstGeom prst="rect">
            <a:avLst/>
          </a:prstGeom>
          <a:noFill/>
          <a:ln w="9525">
            <a:noFill/>
            <a:miter lim="800000"/>
            <a:headEnd/>
            <a:tailEnd/>
          </a:ln>
          <a:effectLst/>
        </p:spPr>
        <p:txBody>
          <a:bodyPr/>
          <a:lstStyle/>
          <a:p>
            <a:pPr>
              <a:lnSpc>
                <a:spcPct val="120000"/>
              </a:lnSpc>
              <a:buClr>
                <a:schemeClr val="tx2"/>
              </a:buClr>
              <a:buFont typeface="Monotype Sorts" pitchFamily="2" charset="2"/>
              <a:buNone/>
              <a:defRPr/>
            </a:pPr>
            <a:r>
              <a:rPr lang="en-US" altLang="zh-CN" i="1">
                <a:effectLst>
                  <a:outerShdw blurRad="38100" dist="38100" dir="2700000" algn="tl">
                    <a:srgbClr val="000000">
                      <a:alpha val="43137"/>
                    </a:srgbClr>
                  </a:outerShdw>
                </a:effectLst>
                <a:latin typeface="Times New Roman" pitchFamily="18" charset="0"/>
              </a:rPr>
              <a:t> O</a:t>
            </a:r>
          </a:p>
        </p:txBody>
      </p:sp>
      <p:sp>
        <p:nvSpPr>
          <p:cNvPr id="120843" name="Text Box 11">
            <a:extLst>
              <a:ext uri="{FF2B5EF4-FFF2-40B4-BE49-F238E27FC236}">
                <a16:creationId xmlns:a16="http://schemas.microsoft.com/office/drawing/2014/main" id="{47C026AA-899D-3D9F-882B-6ED471211D92}"/>
              </a:ext>
            </a:extLst>
          </p:cNvPr>
          <p:cNvSpPr txBox="1">
            <a:spLocks noChangeArrowheads="1"/>
          </p:cNvSpPr>
          <p:nvPr/>
        </p:nvSpPr>
        <p:spPr bwMode="auto">
          <a:xfrm>
            <a:off x="7605713" y="3817938"/>
            <a:ext cx="1430337" cy="804862"/>
          </a:xfrm>
          <a:prstGeom prst="rect">
            <a:avLst/>
          </a:prstGeom>
          <a:noFill/>
          <a:ln w="9525">
            <a:noFill/>
            <a:miter lim="800000"/>
            <a:headEnd/>
            <a:tailEnd/>
          </a:ln>
          <a:effectLst/>
        </p:spPr>
        <p:txBody>
          <a:bodyPr/>
          <a:lstStyle/>
          <a:p>
            <a:pPr>
              <a:lnSpc>
                <a:spcPct val="120000"/>
              </a:lnSpc>
              <a:buClr>
                <a:schemeClr val="tx2"/>
              </a:buClr>
              <a:buFont typeface="Monotype Sorts" pitchFamily="2" charset="2"/>
              <a:buNone/>
              <a:defRPr/>
            </a:pPr>
            <a:r>
              <a:rPr lang="en-US" altLang="zh-CN" i="1">
                <a:effectLst>
                  <a:outerShdw blurRad="38100" dist="38100" dir="2700000" algn="tl">
                    <a:srgbClr val="000000">
                      <a:alpha val="43137"/>
                    </a:srgbClr>
                  </a:outerShdw>
                </a:effectLst>
                <a:latin typeface="Times New Roman" pitchFamily="18" charset="0"/>
              </a:rPr>
              <a:t> O</a:t>
            </a:r>
            <a:r>
              <a:rPr lang="en-US" altLang="zh-CN">
                <a:effectLst>
                  <a:outerShdw blurRad="38100" dist="38100" dir="2700000" algn="tl">
                    <a:srgbClr val="000000">
                      <a:alpha val="43137"/>
                    </a:srgbClr>
                  </a:outerShdw>
                </a:effectLst>
                <a:latin typeface="宋体" pitchFamily="2" charset="-122"/>
              </a:rPr>
              <a:t>′</a:t>
            </a:r>
            <a:endParaRPr lang="en-US" altLang="zh-CN">
              <a:effectLst>
                <a:outerShdw blurRad="38100" dist="38100" dir="2700000" algn="tl">
                  <a:srgbClr val="000000">
                    <a:alpha val="43137"/>
                  </a:srgbClr>
                </a:outerShdw>
              </a:effectLst>
              <a:latin typeface="Times New Roman" pitchFamily="18" charset="0"/>
            </a:endParaRPr>
          </a:p>
        </p:txBody>
      </p:sp>
      <p:sp>
        <p:nvSpPr>
          <p:cNvPr id="120844" name="Line 12">
            <a:extLst>
              <a:ext uri="{FF2B5EF4-FFF2-40B4-BE49-F238E27FC236}">
                <a16:creationId xmlns:a16="http://schemas.microsoft.com/office/drawing/2014/main" id="{27C0F73B-A2E1-D66E-C015-72FCF0A320DF}"/>
              </a:ext>
            </a:extLst>
          </p:cNvPr>
          <p:cNvSpPr>
            <a:spLocks noChangeShapeType="1"/>
          </p:cNvSpPr>
          <p:nvPr/>
        </p:nvSpPr>
        <p:spPr bwMode="auto">
          <a:xfrm flipV="1">
            <a:off x="7008813" y="3024188"/>
            <a:ext cx="827087" cy="1138237"/>
          </a:xfrm>
          <a:prstGeom prst="line">
            <a:avLst/>
          </a:prstGeom>
          <a:noFill/>
          <a:ln w="19050">
            <a:solidFill>
              <a:srgbClr val="000000"/>
            </a:solidFill>
            <a:round/>
            <a:headEnd/>
            <a:tailEnd type="triangle" w="sm" len="me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45" name="Line 13">
            <a:extLst>
              <a:ext uri="{FF2B5EF4-FFF2-40B4-BE49-F238E27FC236}">
                <a16:creationId xmlns:a16="http://schemas.microsoft.com/office/drawing/2014/main" id="{0F677818-0CC7-2486-E292-130D3B5F54D2}"/>
              </a:ext>
            </a:extLst>
          </p:cNvPr>
          <p:cNvSpPr>
            <a:spLocks noChangeShapeType="1"/>
          </p:cNvSpPr>
          <p:nvPr/>
        </p:nvSpPr>
        <p:spPr bwMode="auto">
          <a:xfrm>
            <a:off x="7880350" y="4181475"/>
            <a:ext cx="357188" cy="357188"/>
          </a:xfrm>
          <a:prstGeom prst="line">
            <a:avLst/>
          </a:prstGeom>
          <a:noFill/>
          <a:ln w="19050">
            <a:solidFill>
              <a:srgbClr val="000000"/>
            </a:solidFill>
            <a:round/>
            <a:headEnd/>
            <a:tailEnd type="triangle" w="sm" len="med"/>
          </a:ln>
          <a:effectLst/>
        </p:spPr>
        <p:txBody>
          <a:bodyPr/>
          <a:lstStyle/>
          <a:p>
            <a:pPr>
              <a:lnSpc>
                <a:spcPct val="120000"/>
              </a:lnSpc>
              <a:buClr>
                <a:schemeClr val="tx2"/>
              </a:buClr>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0846" name="Text Box 14">
            <a:extLst>
              <a:ext uri="{FF2B5EF4-FFF2-40B4-BE49-F238E27FC236}">
                <a16:creationId xmlns:a16="http://schemas.microsoft.com/office/drawing/2014/main" id="{8D1D3AA5-A0D9-0AC3-DC81-2C475CBD55B5}"/>
              </a:ext>
            </a:extLst>
          </p:cNvPr>
          <p:cNvSpPr txBox="1">
            <a:spLocks noChangeArrowheads="1"/>
          </p:cNvSpPr>
          <p:nvPr/>
        </p:nvSpPr>
        <p:spPr bwMode="auto">
          <a:xfrm>
            <a:off x="7148513" y="3055938"/>
            <a:ext cx="781050" cy="825500"/>
          </a:xfrm>
          <a:prstGeom prst="rect">
            <a:avLst/>
          </a:prstGeom>
          <a:noFill/>
          <a:ln w="9525">
            <a:noFill/>
            <a:miter lim="800000"/>
            <a:headEnd/>
            <a:tailEnd/>
          </a:ln>
          <a:effec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lang="en-US" altLang="zh-CN" i="1">
                <a:effectLst>
                  <a:outerShdw blurRad="38100" dist="38100" dir="2700000" algn="tl">
                    <a:srgbClr val="000000"/>
                  </a:outerShdw>
                </a:effectLst>
                <a:latin typeface="Times New Roman" panose="02020603050405020304" pitchFamily="18" charset="0"/>
              </a:rPr>
              <a:t>R</a:t>
            </a:r>
          </a:p>
        </p:txBody>
      </p:sp>
      <p:sp>
        <p:nvSpPr>
          <p:cNvPr id="120847" name="Text Box 15">
            <a:extLst>
              <a:ext uri="{FF2B5EF4-FFF2-40B4-BE49-F238E27FC236}">
                <a16:creationId xmlns:a16="http://schemas.microsoft.com/office/drawing/2014/main" id="{13CF0E46-5433-F0FA-0158-56663754C0E4}"/>
              </a:ext>
            </a:extLst>
          </p:cNvPr>
          <p:cNvSpPr txBox="1">
            <a:spLocks noChangeArrowheads="1"/>
          </p:cNvSpPr>
          <p:nvPr/>
        </p:nvSpPr>
        <p:spPr bwMode="auto">
          <a:xfrm>
            <a:off x="7835900" y="4211638"/>
            <a:ext cx="781050" cy="825500"/>
          </a:xfrm>
          <a:prstGeom prst="rect">
            <a:avLst/>
          </a:prstGeom>
          <a:noFill/>
          <a:ln w="9525">
            <a:noFill/>
            <a:miter lim="800000"/>
            <a:headEnd/>
            <a:tailEnd/>
          </a:ln>
          <a:effec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lang="en-US" altLang="zh-CN" i="1">
                <a:effectLst>
                  <a:outerShdw blurRad="38100" dist="38100" dir="2700000" algn="tl">
                    <a:srgbClr val="000000"/>
                  </a:outerShdw>
                </a:effectLst>
                <a:latin typeface="Times New Roman" panose="02020603050405020304" pitchFamily="18" charset="0"/>
              </a:rPr>
              <a:t>r</a:t>
            </a:r>
          </a:p>
        </p:txBody>
      </p:sp>
      <p:sp>
        <p:nvSpPr>
          <p:cNvPr id="120848" name="Rectangle 16">
            <a:extLst>
              <a:ext uri="{FF2B5EF4-FFF2-40B4-BE49-F238E27FC236}">
                <a16:creationId xmlns:a16="http://schemas.microsoft.com/office/drawing/2014/main" id="{E6415BC5-C046-5D5F-5E07-3782D3223C34}"/>
              </a:ext>
            </a:extLst>
          </p:cNvPr>
          <p:cNvSpPr>
            <a:spLocks noChangeArrowheads="1"/>
          </p:cNvSpPr>
          <p:nvPr/>
        </p:nvSpPr>
        <p:spPr bwMode="auto">
          <a:xfrm>
            <a:off x="708025" y="1531938"/>
            <a:ext cx="8459788" cy="493712"/>
          </a:xfrm>
          <a:prstGeom prst="rect">
            <a:avLst/>
          </a:prstGeom>
          <a:noFill/>
          <a:ln w="9525">
            <a:noFill/>
            <a:miter lim="800000"/>
            <a:headEnd/>
            <a:tailEnd/>
          </a:ln>
          <a:effectLst/>
        </p:spPr>
        <p:txBody>
          <a:bodyPr wrap="none">
            <a:spAutoFit/>
          </a:bodyPr>
          <a:lstStyle/>
          <a:p>
            <a:pPr>
              <a:lnSpc>
                <a:spcPct val="120000"/>
              </a:lnSpc>
              <a:spcBef>
                <a:spcPct val="50000"/>
              </a:spcBef>
              <a:buClr>
                <a:schemeClr val="tx2"/>
              </a:buClr>
              <a:buFont typeface="Monotype Sorts" pitchFamily="2" charset="2"/>
              <a:buNone/>
              <a:defRPr/>
            </a:pPr>
            <a:r>
              <a:rPr kumimoji="1" lang="zh-CN" altLang="en-US">
                <a:solidFill>
                  <a:srgbClr val="66FFFF"/>
                </a:solidFill>
                <a:effectLst>
                  <a:outerShdw blurRad="38100" dist="38100" dir="2700000" algn="tl">
                    <a:srgbClr val="000000">
                      <a:alpha val="43137"/>
                    </a:srgbClr>
                  </a:outerShdw>
                </a:effectLst>
                <a:latin typeface="Times New Roman" pitchFamily="18" charset="0"/>
              </a:rPr>
              <a:t>挖掉小圆盘后，该系统对垂直于盘面</a:t>
            </a:r>
            <a:r>
              <a:rPr kumimoji="1" lang="en-US" altLang="zh-CN">
                <a:solidFill>
                  <a:srgbClr val="66FFFF"/>
                </a:solidFill>
                <a:effectLst>
                  <a:outerShdw blurRad="38100" dist="38100" dir="2700000" algn="tl">
                    <a:srgbClr val="000000">
                      <a:alpha val="43137"/>
                    </a:srgbClr>
                  </a:outerShdw>
                </a:effectLst>
                <a:latin typeface="Times New Roman" pitchFamily="18" charset="0"/>
              </a:rPr>
              <a:t>, </a:t>
            </a:r>
            <a:r>
              <a:rPr kumimoji="1" lang="zh-CN" altLang="en-US">
                <a:solidFill>
                  <a:srgbClr val="66FFFF"/>
                </a:solidFill>
                <a:effectLst>
                  <a:outerShdw blurRad="38100" dist="38100" dir="2700000" algn="tl">
                    <a:srgbClr val="000000">
                      <a:alpha val="43137"/>
                    </a:srgbClr>
                  </a:outerShdw>
                </a:effectLst>
                <a:latin typeface="Times New Roman" pitchFamily="18" charset="0"/>
              </a:rPr>
              <a:t>且过中心轴的</a:t>
            </a:r>
            <a:r>
              <a:rPr lang="zh-CN" altLang="en-US">
                <a:effectLst>
                  <a:outerShdw blurRad="38100" dist="38100" dir="2700000" algn="tl">
                    <a:srgbClr val="000000">
                      <a:alpha val="43137"/>
                    </a:srgbClr>
                  </a:outerShdw>
                </a:effectLst>
                <a:latin typeface="Times New Roman" pitchFamily="18" charset="0"/>
              </a:rPr>
              <a:t>转动惯量 </a:t>
            </a:r>
          </a:p>
        </p:txBody>
      </p:sp>
      <p:sp>
        <p:nvSpPr>
          <p:cNvPr id="120849" name="Rectangle 17">
            <a:extLst>
              <a:ext uri="{FF2B5EF4-FFF2-40B4-BE49-F238E27FC236}">
                <a16:creationId xmlns:a16="http://schemas.microsoft.com/office/drawing/2014/main" id="{FAFF379B-7250-19A5-24E6-1DBD23CCB70F}"/>
              </a:ext>
            </a:extLst>
          </p:cNvPr>
          <p:cNvSpPr>
            <a:spLocks noChangeArrowheads="1"/>
          </p:cNvSpPr>
          <p:nvPr/>
        </p:nvSpPr>
        <p:spPr bwMode="auto">
          <a:xfrm>
            <a:off x="263525" y="333375"/>
            <a:ext cx="493713" cy="493713"/>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lang="zh-CN" altLang="en-US">
                <a:solidFill>
                  <a:srgbClr val="FFFF00"/>
                </a:solidFill>
                <a:effectLst>
                  <a:outerShdw blurRad="38100" dist="38100" dir="2700000" algn="tl">
                    <a:srgbClr val="000000">
                      <a:alpha val="43137"/>
                    </a:srgbClr>
                  </a:outerShdw>
                </a:effectLst>
                <a:latin typeface="Times New Roman" pitchFamily="18" charset="0"/>
              </a:rPr>
              <a:t>例</a:t>
            </a:r>
          </a:p>
        </p:txBody>
      </p:sp>
      <p:sp>
        <p:nvSpPr>
          <p:cNvPr id="120850" name="Text Box 18">
            <a:extLst>
              <a:ext uri="{FF2B5EF4-FFF2-40B4-BE49-F238E27FC236}">
                <a16:creationId xmlns:a16="http://schemas.microsoft.com/office/drawing/2014/main" id="{7722AF33-1A2E-74EC-9A27-9B3937310BC6}"/>
              </a:ext>
            </a:extLst>
          </p:cNvPr>
          <p:cNvSpPr txBox="1">
            <a:spLocks noChangeArrowheads="1"/>
          </p:cNvSpPr>
          <p:nvPr/>
        </p:nvSpPr>
        <p:spPr bwMode="auto">
          <a:xfrm>
            <a:off x="250825" y="2060575"/>
            <a:ext cx="493713" cy="493713"/>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solidFill>
                  <a:srgbClr val="FFFF66"/>
                </a:solidFill>
                <a:effectLst>
                  <a:outerShdw blurRad="38100" dist="38100" dir="2700000" algn="tl">
                    <a:srgbClr val="000000">
                      <a:alpha val="43137"/>
                    </a:srgbClr>
                  </a:outerShdw>
                </a:effectLst>
                <a:latin typeface="Times New Roman" pitchFamily="18" charset="0"/>
              </a:rPr>
              <a:t>解</a:t>
            </a:r>
          </a:p>
        </p:txBody>
      </p:sp>
      <p:sp>
        <p:nvSpPr>
          <p:cNvPr id="120851" name="Text Box 19">
            <a:extLst>
              <a:ext uri="{FF2B5EF4-FFF2-40B4-BE49-F238E27FC236}">
                <a16:creationId xmlns:a16="http://schemas.microsoft.com/office/drawing/2014/main" id="{C7BD347A-DD8E-5429-FB9A-62DD3543A10E}"/>
              </a:ext>
            </a:extLst>
          </p:cNvPr>
          <p:cNvSpPr txBox="1">
            <a:spLocks noChangeArrowheads="1"/>
          </p:cNvSpPr>
          <p:nvPr/>
        </p:nvSpPr>
        <p:spPr bwMode="auto">
          <a:xfrm>
            <a:off x="250825" y="1531938"/>
            <a:ext cx="493713" cy="493712"/>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solidFill>
                  <a:srgbClr val="FFFF66"/>
                </a:solidFill>
                <a:effectLst>
                  <a:outerShdw blurRad="38100" dist="38100" dir="2700000" algn="tl">
                    <a:srgbClr val="000000">
                      <a:alpha val="43137"/>
                    </a:srgbClr>
                  </a:outerShdw>
                </a:effectLst>
                <a:latin typeface="Times New Roman" pitchFamily="18" charset="0"/>
              </a:rPr>
              <a:t>求</a:t>
            </a:r>
          </a:p>
        </p:txBody>
      </p:sp>
      <p:sp>
        <p:nvSpPr>
          <p:cNvPr id="120852" name="Text Box 20">
            <a:extLst>
              <a:ext uri="{FF2B5EF4-FFF2-40B4-BE49-F238E27FC236}">
                <a16:creationId xmlns:a16="http://schemas.microsoft.com/office/drawing/2014/main" id="{8C0A9A23-7667-A3F5-49F9-2357AAA0961E}"/>
              </a:ext>
            </a:extLst>
          </p:cNvPr>
          <p:cNvSpPr txBox="1">
            <a:spLocks noChangeArrowheads="1"/>
          </p:cNvSpPr>
          <p:nvPr/>
        </p:nvSpPr>
        <p:spPr bwMode="auto">
          <a:xfrm>
            <a:off x="765175" y="2085975"/>
            <a:ext cx="1731963" cy="493713"/>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Times New Roman" pitchFamily="18" charset="0"/>
              </a:rPr>
              <a:t>使用补偿法</a:t>
            </a:r>
          </a:p>
        </p:txBody>
      </p:sp>
      <p:sp>
        <p:nvSpPr>
          <p:cNvPr id="120853" name="Text Box 21">
            <a:extLst>
              <a:ext uri="{FF2B5EF4-FFF2-40B4-BE49-F238E27FC236}">
                <a16:creationId xmlns:a16="http://schemas.microsoft.com/office/drawing/2014/main" id="{7DC97DCA-9BB1-9576-4564-3AE7CF149CF5}"/>
              </a:ext>
            </a:extLst>
          </p:cNvPr>
          <p:cNvSpPr txBox="1">
            <a:spLocks noChangeArrowheads="1"/>
          </p:cNvSpPr>
          <p:nvPr/>
        </p:nvSpPr>
        <p:spPr bwMode="auto">
          <a:xfrm>
            <a:off x="796925" y="2635250"/>
            <a:ext cx="3679825" cy="493713"/>
          </a:xfrm>
          <a:prstGeom prst="rect">
            <a:avLst/>
          </a:prstGeom>
          <a:noFill/>
          <a:ln w="9525">
            <a:noFill/>
            <a:miter lim="800000"/>
            <a:headEnd/>
            <a:tailEnd/>
          </a:ln>
          <a:effectLst/>
        </p:spPr>
        <p:txBody>
          <a:bodyPr wrap="none">
            <a:spAutoFit/>
          </a:bodyPr>
          <a:lstStyle/>
          <a:p>
            <a:pPr>
              <a:lnSpc>
                <a:spcPct val="120000"/>
              </a:lnSpc>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Times New Roman" pitchFamily="18" charset="0"/>
              </a:rPr>
              <a:t>则填满后的总质量为</a:t>
            </a:r>
            <a:r>
              <a:rPr kumimoji="1" lang="en-US" altLang="zh-CN" i="1">
                <a:solidFill>
                  <a:srgbClr val="66FFFF"/>
                </a:solidFill>
                <a:effectLst>
                  <a:outerShdw blurRad="38100" dist="38100" dir="2700000" algn="tl">
                    <a:srgbClr val="000000">
                      <a:alpha val="43137"/>
                    </a:srgbClr>
                  </a:outerShdw>
                </a:effectLst>
                <a:latin typeface="Times New Roman" pitchFamily="18" charset="0"/>
              </a:rPr>
              <a:t>m</a:t>
            </a:r>
            <a:r>
              <a:rPr kumimoji="1" lang="en-US" altLang="zh-CN">
                <a:solidFill>
                  <a:srgbClr val="66FFFF"/>
                </a:solidFill>
                <a:effectLst>
                  <a:outerShdw blurRad="38100" dist="38100" dir="2700000" algn="tl">
                    <a:srgbClr val="000000">
                      <a:alpha val="43137"/>
                    </a:srgbClr>
                  </a:outerShdw>
                </a:effectLst>
                <a:latin typeface="Times New Roman" pitchFamily="18" charset="0"/>
              </a:rPr>
              <a:t>+</a:t>
            </a:r>
            <a:r>
              <a:rPr kumimoji="1" lang="en-US" altLang="zh-CN" i="1">
                <a:solidFill>
                  <a:srgbClr val="66FFFF"/>
                </a:solidFill>
                <a:effectLst>
                  <a:outerShdw blurRad="38100" dist="38100" dir="2700000" algn="tl">
                    <a:srgbClr val="000000">
                      <a:alpha val="43137"/>
                    </a:srgbClr>
                  </a:outerShdw>
                </a:effectLst>
                <a:latin typeface="Times New Roman" pitchFamily="18" charset="0"/>
              </a:rPr>
              <a:t>m</a:t>
            </a:r>
            <a:r>
              <a:rPr kumimoji="1" lang="en-US" altLang="zh-CN" baseline="30000">
                <a:solidFill>
                  <a:srgbClr val="66FFFF"/>
                </a:solidFill>
                <a:effectLst>
                  <a:outerShdw blurRad="38100" dist="38100" dir="2700000" algn="tl">
                    <a:srgbClr val="000000">
                      <a:alpha val="43137"/>
                    </a:srgbClr>
                  </a:outerShdw>
                </a:effectLst>
                <a:latin typeface="Times New Roman" pitchFamily="18" charset="0"/>
              </a:rPr>
              <a:t>/</a:t>
            </a:r>
            <a:endParaRPr kumimoji="1" lang="en-US" altLang="zh-CN">
              <a:solidFill>
                <a:srgbClr val="66FFFF"/>
              </a:solidFill>
              <a:effectLst>
                <a:outerShdw blurRad="38100" dist="38100" dir="2700000" algn="tl">
                  <a:srgbClr val="000000">
                    <a:alpha val="43137"/>
                  </a:srgbClr>
                </a:outerShdw>
              </a:effectLst>
              <a:latin typeface="Times New Roman" pitchFamily="18" charset="0"/>
            </a:endParaRPr>
          </a:p>
        </p:txBody>
      </p:sp>
      <p:sp>
        <p:nvSpPr>
          <p:cNvPr id="120854" name="Rectangle 22">
            <a:extLst>
              <a:ext uri="{FF2B5EF4-FFF2-40B4-BE49-F238E27FC236}">
                <a16:creationId xmlns:a16="http://schemas.microsoft.com/office/drawing/2014/main" id="{85EB7F04-ACE0-DD45-C3A8-7D2FBC7C60E0}"/>
              </a:ext>
            </a:extLst>
          </p:cNvPr>
          <p:cNvSpPr>
            <a:spLocks noChangeArrowheads="1"/>
          </p:cNvSpPr>
          <p:nvPr/>
        </p:nvSpPr>
        <p:spPr bwMode="auto">
          <a:xfrm>
            <a:off x="2408238" y="2132013"/>
            <a:ext cx="3459162" cy="493712"/>
          </a:xfrm>
          <a:prstGeom prst="rect">
            <a:avLst/>
          </a:prstGeom>
          <a:noFill/>
          <a:ln w="9525">
            <a:noFill/>
            <a:miter lim="800000"/>
            <a:headEnd/>
            <a:tailEnd/>
          </a:ln>
          <a:effectLst/>
        </p:spPr>
        <p:txBody>
          <a:bodyPr>
            <a:spAutoFit/>
          </a:bodyPr>
          <a:lstStyle/>
          <a:p>
            <a:pPr>
              <a:lnSpc>
                <a:spcPct val="120000"/>
              </a:lnSpc>
              <a:buClr>
                <a:schemeClr val="tx2"/>
              </a:buClr>
              <a:buFont typeface="Monotype Sorts" pitchFamily="2" charset="2"/>
              <a:buNone/>
              <a:defRPr/>
            </a:pPr>
            <a:r>
              <a:rPr kumimoji="1" lang="zh-CN" altLang="en-US">
                <a:effectLst>
                  <a:outerShdw blurRad="38100" dist="38100" dir="2700000" algn="tl">
                    <a:srgbClr val="000000">
                      <a:alpha val="43137"/>
                    </a:srgbClr>
                  </a:outerShdw>
                </a:effectLst>
                <a:latin typeface="Times New Roman" pitchFamily="18" charset="0"/>
              </a:rPr>
              <a:t>设小圆盘的质量为</a:t>
            </a:r>
            <a:r>
              <a:rPr kumimoji="1" lang="en-US" altLang="zh-CN" i="1">
                <a:solidFill>
                  <a:srgbClr val="66FFFF"/>
                </a:solidFill>
                <a:effectLst>
                  <a:outerShdw blurRad="38100" dist="38100" dir="2700000" algn="tl">
                    <a:srgbClr val="000000">
                      <a:alpha val="43137"/>
                    </a:srgbClr>
                  </a:outerShdw>
                </a:effectLst>
                <a:latin typeface="Times New Roman" pitchFamily="18" charset="0"/>
              </a:rPr>
              <a:t>m</a:t>
            </a:r>
            <a:r>
              <a:rPr kumimoji="1" lang="en-US" altLang="zh-CN" i="1" baseline="30000">
                <a:solidFill>
                  <a:srgbClr val="66FFFF"/>
                </a:solidFill>
                <a:effectLst>
                  <a:outerShdw blurRad="38100" dist="38100" dir="2700000" algn="tl">
                    <a:srgbClr val="000000">
                      <a:alpha val="43137"/>
                    </a:srgbClr>
                  </a:outerShdw>
                </a:effectLst>
                <a:latin typeface="Times New Roman" pitchFamily="18" charset="0"/>
              </a:rPr>
              <a:t>/</a:t>
            </a:r>
            <a:endParaRPr kumimoji="1" lang="en-US" altLang="zh-CN">
              <a:effectLst>
                <a:outerShdw blurRad="38100" dist="38100" dir="2700000" algn="tl">
                  <a:srgbClr val="000000">
                    <a:alpha val="43137"/>
                  </a:srgbClr>
                </a:outerShdw>
              </a:effectLst>
              <a:latin typeface="Times New Roman" pitchFamily="18" charset="0"/>
            </a:endParaRPr>
          </a:p>
        </p:txBody>
      </p:sp>
      <p:graphicFrame>
        <p:nvGraphicFramePr>
          <p:cNvPr id="120855" name="Object 2">
            <a:extLst>
              <a:ext uri="{FF2B5EF4-FFF2-40B4-BE49-F238E27FC236}">
                <a16:creationId xmlns:a16="http://schemas.microsoft.com/office/drawing/2014/main" id="{E8F9A144-6389-6DFA-FFFE-EE1D2A470526}"/>
              </a:ext>
            </a:extLst>
          </p:cNvPr>
          <p:cNvGraphicFramePr>
            <a:graphicFrameLocks noChangeAspect="1"/>
          </p:cNvGraphicFramePr>
          <p:nvPr/>
        </p:nvGraphicFramePr>
        <p:xfrm>
          <a:off x="933450" y="3130550"/>
          <a:ext cx="3278188" cy="784225"/>
        </p:xfrm>
        <a:graphic>
          <a:graphicData uri="http://schemas.openxmlformats.org/presentationml/2006/ole">
            <mc:AlternateContent xmlns:mc="http://schemas.openxmlformats.org/markup-compatibility/2006">
              <mc:Choice xmlns:v="urn:schemas-microsoft-com:vml" Requires="v">
                <p:oleObj name="公式" r:id="rId2" imgW="3284376" imgH="777074" progId="Equation.3">
                  <p:embed/>
                </p:oleObj>
              </mc:Choice>
              <mc:Fallback>
                <p:oleObj name="公式" r:id="rId2" imgW="3284376" imgH="777074"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50" y="3130550"/>
                        <a:ext cx="3278188" cy="78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56" name="Object 3">
            <a:extLst>
              <a:ext uri="{FF2B5EF4-FFF2-40B4-BE49-F238E27FC236}">
                <a16:creationId xmlns:a16="http://schemas.microsoft.com/office/drawing/2014/main" id="{24998BB6-7B4F-1550-16C0-424DE95B2F8D}"/>
              </a:ext>
            </a:extLst>
          </p:cNvPr>
          <p:cNvGraphicFramePr>
            <a:graphicFrameLocks noChangeAspect="1"/>
          </p:cNvGraphicFramePr>
          <p:nvPr/>
        </p:nvGraphicFramePr>
        <p:xfrm>
          <a:off x="1258888" y="4005263"/>
          <a:ext cx="1392237" cy="820737"/>
        </p:xfrm>
        <a:graphic>
          <a:graphicData uri="http://schemas.openxmlformats.org/presentationml/2006/ole">
            <mc:AlternateContent xmlns:mc="http://schemas.openxmlformats.org/markup-compatibility/2006">
              <mc:Choice xmlns:v="urn:schemas-microsoft-com:vml" Requires="v">
                <p:oleObj name="公式" r:id="rId4" imgW="1386902" imgH="815479" progId="Equation.3">
                  <p:embed/>
                </p:oleObj>
              </mc:Choice>
              <mc:Fallback>
                <p:oleObj name="公式" r:id="rId4" imgW="1386902" imgH="8154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4005263"/>
                        <a:ext cx="1392237" cy="82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57" name="Object 4">
            <a:extLst>
              <a:ext uri="{FF2B5EF4-FFF2-40B4-BE49-F238E27FC236}">
                <a16:creationId xmlns:a16="http://schemas.microsoft.com/office/drawing/2014/main" id="{1756D832-EA7D-A70D-CC3A-0A9FDFFF6BDE}"/>
              </a:ext>
            </a:extLst>
          </p:cNvPr>
          <p:cNvGraphicFramePr>
            <a:graphicFrameLocks/>
          </p:cNvGraphicFramePr>
          <p:nvPr/>
        </p:nvGraphicFramePr>
        <p:xfrm>
          <a:off x="946150" y="4940300"/>
          <a:ext cx="2441575" cy="720725"/>
        </p:xfrm>
        <a:graphic>
          <a:graphicData uri="http://schemas.openxmlformats.org/presentationml/2006/ole">
            <mc:AlternateContent xmlns:mc="http://schemas.openxmlformats.org/markup-compatibility/2006">
              <mc:Choice xmlns:v="urn:schemas-microsoft-com:vml" Requires="v">
                <p:oleObj name="公式" r:id="rId6" imgW="2430936" imgH="716225" progId="Equation.3">
                  <p:embed/>
                </p:oleObj>
              </mc:Choice>
              <mc:Fallback>
                <p:oleObj name="公式" r:id="rId6" imgW="2430936" imgH="716225"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150" y="4940300"/>
                        <a:ext cx="244157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58" name="Object 5">
            <a:extLst>
              <a:ext uri="{FF2B5EF4-FFF2-40B4-BE49-F238E27FC236}">
                <a16:creationId xmlns:a16="http://schemas.microsoft.com/office/drawing/2014/main" id="{B78EC514-9BE9-9F77-30F7-43C0BB6FF8D3}"/>
              </a:ext>
            </a:extLst>
          </p:cNvPr>
          <p:cNvGraphicFramePr>
            <a:graphicFrameLocks/>
          </p:cNvGraphicFramePr>
          <p:nvPr/>
        </p:nvGraphicFramePr>
        <p:xfrm>
          <a:off x="827088" y="5805488"/>
          <a:ext cx="2874962" cy="720725"/>
        </p:xfrm>
        <a:graphic>
          <a:graphicData uri="http://schemas.openxmlformats.org/presentationml/2006/ole">
            <mc:AlternateContent xmlns:mc="http://schemas.openxmlformats.org/markup-compatibility/2006">
              <mc:Choice xmlns:v="urn:schemas-microsoft-com:vml" Requires="v">
                <p:oleObj name="公式" r:id="rId8" imgW="2865369" imgH="716225" progId="Equation.3">
                  <p:embed/>
                </p:oleObj>
              </mc:Choice>
              <mc:Fallback>
                <p:oleObj name="公式" r:id="rId8" imgW="2865369" imgH="716225"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5805488"/>
                        <a:ext cx="2874962"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59" name="Object 6">
            <a:extLst>
              <a:ext uri="{FF2B5EF4-FFF2-40B4-BE49-F238E27FC236}">
                <a16:creationId xmlns:a16="http://schemas.microsoft.com/office/drawing/2014/main" id="{6C618ED0-6653-1C9F-0D1E-B004B6885BC1}"/>
              </a:ext>
            </a:extLst>
          </p:cNvPr>
          <p:cNvGraphicFramePr>
            <a:graphicFrameLocks/>
          </p:cNvGraphicFramePr>
          <p:nvPr/>
        </p:nvGraphicFramePr>
        <p:xfrm>
          <a:off x="3995738" y="6021388"/>
          <a:ext cx="2009775" cy="468312"/>
        </p:xfrm>
        <a:graphic>
          <a:graphicData uri="http://schemas.openxmlformats.org/presentationml/2006/ole">
            <mc:AlternateContent xmlns:mc="http://schemas.openxmlformats.org/markup-compatibility/2006">
              <mc:Choice xmlns:v="urn:schemas-microsoft-com:vml" Requires="v">
                <p:oleObj name="公式" r:id="rId10" imgW="1996502" imgH="464848" progId="Equation.3">
                  <p:embed/>
                </p:oleObj>
              </mc:Choice>
              <mc:Fallback>
                <p:oleObj name="公式" r:id="rId10" imgW="1996502" imgH="464848"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5738" y="6021388"/>
                        <a:ext cx="2009775"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60" name="Rectangle 28">
            <a:extLst>
              <a:ext uri="{FF2B5EF4-FFF2-40B4-BE49-F238E27FC236}">
                <a16:creationId xmlns:a16="http://schemas.microsoft.com/office/drawing/2014/main" id="{A20C2788-E5AC-668C-9B8A-8A592529A060}"/>
              </a:ext>
            </a:extLst>
          </p:cNvPr>
          <p:cNvSpPr>
            <a:spLocks noChangeArrowheads="1"/>
          </p:cNvSpPr>
          <p:nvPr/>
        </p:nvSpPr>
        <p:spPr bwMode="auto">
          <a:xfrm>
            <a:off x="8183563" y="2894013"/>
            <a:ext cx="423862" cy="496887"/>
          </a:xfrm>
          <a:prstGeom prst="rect">
            <a:avLst/>
          </a:prstGeom>
          <a:noFill/>
          <a:ln w="9525">
            <a:noFill/>
            <a:miter lim="800000"/>
            <a:headEnd/>
            <a:tailEnd/>
          </a:ln>
          <a:effec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defRPr/>
            </a:pPr>
            <a:r>
              <a:rPr kumimoji="1" lang="en-US" altLang="zh-CN" i="1">
                <a:solidFill>
                  <a:srgbClr val="FFFFFF"/>
                </a:solidFill>
                <a:effectLst>
                  <a:outerShdw blurRad="38100" dist="38100" dir="2700000" algn="tl">
                    <a:srgbClr val="000000"/>
                  </a:outerShdw>
                </a:effectLst>
                <a:latin typeface="Times New Roman" panose="02020603050405020304" pitchFamily="18" charset="0"/>
              </a:rPr>
              <a:t>m</a:t>
            </a:r>
          </a:p>
        </p:txBody>
      </p:sp>
      <p:pic>
        <p:nvPicPr>
          <p:cNvPr id="120861" name="Picture 29" descr="j0293240">
            <a:extLst>
              <a:ext uri="{FF2B5EF4-FFF2-40B4-BE49-F238E27FC236}">
                <a16:creationId xmlns:a16="http://schemas.microsoft.com/office/drawing/2014/main" id="{E36D8983-DBAC-C3E5-3069-0778AA7CCB1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0849"/>
                                        </p:tgtEl>
                                        <p:attrNameLst>
                                          <p:attrName>style.visibility</p:attrName>
                                        </p:attrNameLst>
                                      </p:cBhvr>
                                      <p:to>
                                        <p:strVal val="visible"/>
                                      </p:to>
                                    </p:set>
                                    <p:animEffect transition="in" filter="wipe(left)">
                                      <p:cBhvr>
                                        <p:cTn id="7" dur="500"/>
                                        <p:tgtEl>
                                          <p:spTgt spid="1208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0834"/>
                                        </p:tgtEl>
                                        <p:attrNameLst>
                                          <p:attrName>style.visibility</p:attrName>
                                        </p:attrNameLst>
                                      </p:cBhvr>
                                      <p:to>
                                        <p:strVal val="visible"/>
                                      </p:to>
                                    </p:set>
                                    <p:animEffect transition="in" filter="wipe(left)">
                                      <p:cBhvr>
                                        <p:cTn id="12" dur="500"/>
                                        <p:tgtEl>
                                          <p:spTgt spid="1208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120835"/>
                                        </p:tgtEl>
                                        <p:attrNameLst>
                                          <p:attrName>style.visibility</p:attrName>
                                        </p:attrNameLst>
                                      </p:cBhvr>
                                      <p:to>
                                        <p:strVal val="visible"/>
                                      </p:to>
                                    </p:set>
                                    <p:anim calcmode="lin" valueType="num">
                                      <p:cBhvr>
                                        <p:cTn id="17" dur="500" fill="hold"/>
                                        <p:tgtEl>
                                          <p:spTgt spid="120835"/>
                                        </p:tgtEl>
                                        <p:attrNameLst>
                                          <p:attrName>ppt_w</p:attrName>
                                        </p:attrNameLst>
                                      </p:cBhvr>
                                      <p:tavLst>
                                        <p:tav tm="0">
                                          <p:val>
                                            <p:fltVal val="0"/>
                                          </p:val>
                                        </p:tav>
                                        <p:tav tm="100000">
                                          <p:val>
                                            <p:strVal val="#ppt_w"/>
                                          </p:val>
                                        </p:tav>
                                      </p:tavLst>
                                    </p:anim>
                                    <p:anim calcmode="lin" valueType="num">
                                      <p:cBhvr>
                                        <p:cTn id="18" dur="500" fill="hold"/>
                                        <p:tgtEl>
                                          <p:spTgt spid="120835"/>
                                        </p:tgtEl>
                                        <p:attrNameLst>
                                          <p:attrName>ppt_h</p:attrName>
                                        </p:attrNameLst>
                                      </p:cBhvr>
                                      <p:tavLst>
                                        <p:tav tm="0">
                                          <p:val>
                                            <p:fltVal val="0"/>
                                          </p:val>
                                        </p:tav>
                                        <p:tav tm="100000">
                                          <p:val>
                                            <p:strVal val="#ppt_h"/>
                                          </p:val>
                                        </p:tav>
                                      </p:tavLst>
                                    </p:anim>
                                    <p:animEffect transition="in" filter="fade">
                                      <p:cBhvr>
                                        <p:cTn id="19" dur="500"/>
                                        <p:tgtEl>
                                          <p:spTgt spid="120835"/>
                                        </p:tgtEl>
                                      </p:cBhvr>
                                    </p:animEffect>
                                  </p:childTnLst>
                                </p:cTn>
                              </p:par>
                            </p:childTnLst>
                          </p:cTn>
                        </p:par>
                        <p:par>
                          <p:cTn id="20" fill="hold" nodeType="afterGroup">
                            <p:stCondLst>
                              <p:cond delay="500"/>
                            </p:stCondLst>
                            <p:childTnLst>
                              <p:par>
                                <p:cTn id="21" presetID="53" presetClass="entr" presetSubtype="0" fill="hold" nodeType="afterEffect">
                                  <p:stCondLst>
                                    <p:cond delay="0"/>
                                  </p:stCondLst>
                                  <p:childTnLst>
                                    <p:set>
                                      <p:cBhvr>
                                        <p:cTn id="22" dur="1" fill="hold">
                                          <p:stCondLst>
                                            <p:cond delay="0"/>
                                          </p:stCondLst>
                                        </p:cTn>
                                        <p:tgtEl>
                                          <p:spTgt spid="120844"/>
                                        </p:tgtEl>
                                        <p:attrNameLst>
                                          <p:attrName>style.visibility</p:attrName>
                                        </p:attrNameLst>
                                      </p:cBhvr>
                                      <p:to>
                                        <p:strVal val="visible"/>
                                      </p:to>
                                    </p:set>
                                    <p:anim calcmode="lin" valueType="num">
                                      <p:cBhvr>
                                        <p:cTn id="23" dur="500" fill="hold"/>
                                        <p:tgtEl>
                                          <p:spTgt spid="120844"/>
                                        </p:tgtEl>
                                        <p:attrNameLst>
                                          <p:attrName>ppt_w</p:attrName>
                                        </p:attrNameLst>
                                      </p:cBhvr>
                                      <p:tavLst>
                                        <p:tav tm="0">
                                          <p:val>
                                            <p:fltVal val="0"/>
                                          </p:val>
                                        </p:tav>
                                        <p:tav tm="100000">
                                          <p:val>
                                            <p:strVal val="#ppt_w"/>
                                          </p:val>
                                        </p:tav>
                                      </p:tavLst>
                                    </p:anim>
                                    <p:anim calcmode="lin" valueType="num">
                                      <p:cBhvr>
                                        <p:cTn id="24" dur="500" fill="hold"/>
                                        <p:tgtEl>
                                          <p:spTgt spid="120844"/>
                                        </p:tgtEl>
                                        <p:attrNameLst>
                                          <p:attrName>ppt_h</p:attrName>
                                        </p:attrNameLst>
                                      </p:cBhvr>
                                      <p:tavLst>
                                        <p:tav tm="0">
                                          <p:val>
                                            <p:fltVal val="0"/>
                                          </p:val>
                                        </p:tav>
                                        <p:tav tm="100000">
                                          <p:val>
                                            <p:strVal val="#ppt_h"/>
                                          </p:val>
                                        </p:tav>
                                      </p:tavLst>
                                    </p:anim>
                                    <p:animEffect transition="in" filter="fade">
                                      <p:cBhvr>
                                        <p:cTn id="25" dur="500"/>
                                        <p:tgtEl>
                                          <p:spTgt spid="120844"/>
                                        </p:tgtEl>
                                      </p:cBhvr>
                                    </p:animEffect>
                                  </p:childTnLst>
                                </p:cTn>
                              </p:par>
                            </p:childTnLst>
                          </p:cTn>
                        </p:par>
                        <p:par>
                          <p:cTn id="26" fill="hold" nodeType="afterGroup">
                            <p:stCondLst>
                              <p:cond delay="1000"/>
                            </p:stCondLst>
                            <p:childTnLst>
                              <p:par>
                                <p:cTn id="27" presetID="53" presetClass="entr" presetSubtype="0" fill="hold" nodeType="afterEffect">
                                  <p:stCondLst>
                                    <p:cond delay="0"/>
                                  </p:stCondLst>
                                  <p:childTnLst>
                                    <p:set>
                                      <p:cBhvr>
                                        <p:cTn id="28" dur="1" fill="hold">
                                          <p:stCondLst>
                                            <p:cond delay="0"/>
                                          </p:stCondLst>
                                        </p:cTn>
                                        <p:tgtEl>
                                          <p:spTgt spid="120846"/>
                                        </p:tgtEl>
                                        <p:attrNameLst>
                                          <p:attrName>style.visibility</p:attrName>
                                        </p:attrNameLst>
                                      </p:cBhvr>
                                      <p:to>
                                        <p:strVal val="visible"/>
                                      </p:to>
                                    </p:set>
                                    <p:anim calcmode="lin" valueType="num">
                                      <p:cBhvr>
                                        <p:cTn id="29" dur="500" fill="hold"/>
                                        <p:tgtEl>
                                          <p:spTgt spid="120846"/>
                                        </p:tgtEl>
                                        <p:attrNameLst>
                                          <p:attrName>ppt_w</p:attrName>
                                        </p:attrNameLst>
                                      </p:cBhvr>
                                      <p:tavLst>
                                        <p:tav tm="0">
                                          <p:val>
                                            <p:fltVal val="0"/>
                                          </p:val>
                                        </p:tav>
                                        <p:tav tm="100000">
                                          <p:val>
                                            <p:strVal val="#ppt_w"/>
                                          </p:val>
                                        </p:tav>
                                      </p:tavLst>
                                    </p:anim>
                                    <p:anim calcmode="lin" valueType="num">
                                      <p:cBhvr>
                                        <p:cTn id="30" dur="500" fill="hold"/>
                                        <p:tgtEl>
                                          <p:spTgt spid="120846"/>
                                        </p:tgtEl>
                                        <p:attrNameLst>
                                          <p:attrName>ppt_h</p:attrName>
                                        </p:attrNameLst>
                                      </p:cBhvr>
                                      <p:tavLst>
                                        <p:tav tm="0">
                                          <p:val>
                                            <p:fltVal val="0"/>
                                          </p:val>
                                        </p:tav>
                                        <p:tav tm="100000">
                                          <p:val>
                                            <p:strVal val="#ppt_h"/>
                                          </p:val>
                                        </p:tav>
                                      </p:tavLst>
                                    </p:anim>
                                    <p:animEffect transition="in" filter="fade">
                                      <p:cBhvr>
                                        <p:cTn id="31" dur="500"/>
                                        <p:tgtEl>
                                          <p:spTgt spid="120846"/>
                                        </p:tgtEl>
                                      </p:cBhvr>
                                    </p:animEffect>
                                  </p:childTnLst>
                                </p:cTn>
                              </p:par>
                            </p:childTnLst>
                          </p:cTn>
                        </p:par>
                        <p:par>
                          <p:cTn id="32" fill="hold" nodeType="afterGroup">
                            <p:stCondLst>
                              <p:cond delay="1500"/>
                            </p:stCondLst>
                            <p:childTnLst>
                              <p:par>
                                <p:cTn id="33" presetID="53" presetClass="entr" presetSubtype="0" fill="hold" nodeType="afterEffect">
                                  <p:stCondLst>
                                    <p:cond delay="0"/>
                                  </p:stCondLst>
                                  <p:childTnLst>
                                    <p:set>
                                      <p:cBhvr>
                                        <p:cTn id="34" dur="1" fill="hold">
                                          <p:stCondLst>
                                            <p:cond delay="0"/>
                                          </p:stCondLst>
                                        </p:cTn>
                                        <p:tgtEl>
                                          <p:spTgt spid="120842"/>
                                        </p:tgtEl>
                                        <p:attrNameLst>
                                          <p:attrName>style.visibility</p:attrName>
                                        </p:attrNameLst>
                                      </p:cBhvr>
                                      <p:to>
                                        <p:strVal val="visible"/>
                                      </p:to>
                                    </p:set>
                                    <p:anim calcmode="lin" valueType="num">
                                      <p:cBhvr>
                                        <p:cTn id="35" dur="500" fill="hold"/>
                                        <p:tgtEl>
                                          <p:spTgt spid="120842"/>
                                        </p:tgtEl>
                                        <p:attrNameLst>
                                          <p:attrName>ppt_w</p:attrName>
                                        </p:attrNameLst>
                                      </p:cBhvr>
                                      <p:tavLst>
                                        <p:tav tm="0">
                                          <p:val>
                                            <p:fltVal val="0"/>
                                          </p:val>
                                        </p:tav>
                                        <p:tav tm="100000">
                                          <p:val>
                                            <p:strVal val="#ppt_w"/>
                                          </p:val>
                                        </p:tav>
                                      </p:tavLst>
                                    </p:anim>
                                    <p:anim calcmode="lin" valueType="num">
                                      <p:cBhvr>
                                        <p:cTn id="36" dur="500" fill="hold"/>
                                        <p:tgtEl>
                                          <p:spTgt spid="120842"/>
                                        </p:tgtEl>
                                        <p:attrNameLst>
                                          <p:attrName>ppt_h</p:attrName>
                                        </p:attrNameLst>
                                      </p:cBhvr>
                                      <p:tavLst>
                                        <p:tav tm="0">
                                          <p:val>
                                            <p:fltVal val="0"/>
                                          </p:val>
                                        </p:tav>
                                        <p:tav tm="100000">
                                          <p:val>
                                            <p:strVal val="#ppt_h"/>
                                          </p:val>
                                        </p:tav>
                                      </p:tavLst>
                                    </p:anim>
                                    <p:animEffect transition="in" filter="fade">
                                      <p:cBhvr>
                                        <p:cTn id="37" dur="500"/>
                                        <p:tgtEl>
                                          <p:spTgt spid="1208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0838"/>
                                        </p:tgtEl>
                                        <p:attrNameLst>
                                          <p:attrName>style.visibility</p:attrName>
                                        </p:attrNameLst>
                                      </p:cBhvr>
                                      <p:to>
                                        <p:strVal val="visible"/>
                                      </p:to>
                                    </p:set>
                                    <p:animEffect transition="in" filter="wipe(left)">
                                      <p:cBhvr>
                                        <p:cTn id="42" dur="500"/>
                                        <p:tgtEl>
                                          <p:spTgt spid="120838"/>
                                        </p:tgtEl>
                                      </p:cBhvr>
                                    </p:animEffect>
                                  </p:childTnLst>
                                </p:cTn>
                              </p:par>
                            </p:childTnLst>
                          </p:cTn>
                        </p:par>
                        <p:par>
                          <p:cTn id="43" fill="hold" nodeType="afterGroup">
                            <p:stCondLst>
                              <p:cond delay="500"/>
                            </p:stCondLst>
                            <p:childTnLst>
                              <p:par>
                                <p:cTn id="44" presetID="22" presetClass="entr" presetSubtype="4" fill="hold" nodeType="afterEffect">
                                  <p:stCondLst>
                                    <p:cond delay="0"/>
                                  </p:stCondLst>
                                  <p:childTnLst>
                                    <p:set>
                                      <p:cBhvr>
                                        <p:cTn id="45" dur="1" fill="hold">
                                          <p:stCondLst>
                                            <p:cond delay="0"/>
                                          </p:stCondLst>
                                        </p:cTn>
                                        <p:tgtEl>
                                          <p:spTgt spid="120843"/>
                                        </p:tgtEl>
                                        <p:attrNameLst>
                                          <p:attrName>style.visibility</p:attrName>
                                        </p:attrNameLst>
                                      </p:cBhvr>
                                      <p:to>
                                        <p:strVal val="visible"/>
                                      </p:to>
                                    </p:set>
                                    <p:animEffect transition="in" filter="wipe(down)">
                                      <p:cBhvr>
                                        <p:cTn id="46" dur="500"/>
                                        <p:tgtEl>
                                          <p:spTgt spid="120843"/>
                                        </p:tgtEl>
                                      </p:cBhvr>
                                    </p:animEffect>
                                  </p:childTnLst>
                                </p:cTn>
                              </p:par>
                            </p:childTnLst>
                          </p:cTn>
                        </p:par>
                        <p:par>
                          <p:cTn id="47" fill="hold" nodeType="afterGroup">
                            <p:stCondLst>
                              <p:cond delay="1000"/>
                            </p:stCondLst>
                            <p:childTnLst>
                              <p:par>
                                <p:cTn id="48" presetID="22" presetClass="entr" presetSubtype="8" fill="hold" nodeType="afterEffect">
                                  <p:stCondLst>
                                    <p:cond delay="0"/>
                                  </p:stCondLst>
                                  <p:childTnLst>
                                    <p:set>
                                      <p:cBhvr>
                                        <p:cTn id="49" dur="1" fill="hold">
                                          <p:stCondLst>
                                            <p:cond delay="0"/>
                                          </p:stCondLst>
                                        </p:cTn>
                                        <p:tgtEl>
                                          <p:spTgt spid="120837"/>
                                        </p:tgtEl>
                                        <p:attrNameLst>
                                          <p:attrName>style.visibility</p:attrName>
                                        </p:attrNameLst>
                                      </p:cBhvr>
                                      <p:to>
                                        <p:strVal val="visible"/>
                                      </p:to>
                                    </p:set>
                                    <p:animEffect transition="in" filter="wipe(left)">
                                      <p:cBhvr>
                                        <p:cTn id="50" dur="500"/>
                                        <p:tgtEl>
                                          <p:spTgt spid="120837"/>
                                        </p:tgtEl>
                                      </p:cBhvr>
                                    </p:animEffect>
                                  </p:childTnLst>
                                </p:cTn>
                              </p:par>
                            </p:childTnLst>
                          </p:cTn>
                        </p:par>
                        <p:par>
                          <p:cTn id="51" fill="hold" nodeType="afterGroup">
                            <p:stCondLst>
                              <p:cond delay="1500"/>
                            </p:stCondLst>
                            <p:childTnLst>
                              <p:par>
                                <p:cTn id="52" presetID="22" presetClass="entr" presetSubtype="8" fill="hold" nodeType="afterEffect">
                                  <p:stCondLst>
                                    <p:cond delay="0"/>
                                  </p:stCondLst>
                                  <p:childTnLst>
                                    <p:set>
                                      <p:cBhvr>
                                        <p:cTn id="53" dur="1" fill="hold">
                                          <p:stCondLst>
                                            <p:cond delay="0"/>
                                          </p:stCondLst>
                                        </p:cTn>
                                        <p:tgtEl>
                                          <p:spTgt spid="120845"/>
                                        </p:tgtEl>
                                        <p:attrNameLst>
                                          <p:attrName>style.visibility</p:attrName>
                                        </p:attrNameLst>
                                      </p:cBhvr>
                                      <p:to>
                                        <p:strVal val="visible"/>
                                      </p:to>
                                    </p:set>
                                    <p:animEffect transition="in" filter="wipe(left)">
                                      <p:cBhvr>
                                        <p:cTn id="54" dur="500"/>
                                        <p:tgtEl>
                                          <p:spTgt spid="120845"/>
                                        </p:tgtEl>
                                      </p:cBhvr>
                                    </p:animEffect>
                                  </p:childTnLst>
                                </p:cTn>
                              </p:par>
                            </p:childTnLst>
                          </p:cTn>
                        </p:par>
                        <p:par>
                          <p:cTn id="55" fill="hold" nodeType="afterGroup">
                            <p:stCondLst>
                              <p:cond delay="2000"/>
                            </p:stCondLst>
                            <p:childTnLst>
                              <p:par>
                                <p:cTn id="56" presetID="22" presetClass="entr" presetSubtype="8" fill="hold" nodeType="afterEffect">
                                  <p:stCondLst>
                                    <p:cond delay="0"/>
                                  </p:stCondLst>
                                  <p:childTnLst>
                                    <p:set>
                                      <p:cBhvr>
                                        <p:cTn id="57" dur="1" fill="hold">
                                          <p:stCondLst>
                                            <p:cond delay="0"/>
                                          </p:stCondLst>
                                        </p:cTn>
                                        <p:tgtEl>
                                          <p:spTgt spid="120847"/>
                                        </p:tgtEl>
                                        <p:attrNameLst>
                                          <p:attrName>style.visibility</p:attrName>
                                        </p:attrNameLst>
                                      </p:cBhvr>
                                      <p:to>
                                        <p:strVal val="visible"/>
                                      </p:to>
                                    </p:set>
                                    <p:animEffect transition="in" filter="wipe(left)">
                                      <p:cBhvr>
                                        <p:cTn id="58" dur="500"/>
                                        <p:tgtEl>
                                          <p:spTgt spid="12084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20836"/>
                                        </p:tgtEl>
                                        <p:attrNameLst>
                                          <p:attrName>style.visibility</p:attrName>
                                        </p:attrNameLst>
                                      </p:cBhvr>
                                      <p:to>
                                        <p:strVal val="visible"/>
                                      </p:to>
                                    </p:set>
                                    <p:animEffect transition="in" filter="wipe(left)">
                                      <p:cBhvr>
                                        <p:cTn id="63" dur="500"/>
                                        <p:tgtEl>
                                          <p:spTgt spid="120836"/>
                                        </p:tgtEl>
                                      </p:cBhvr>
                                    </p:animEffect>
                                  </p:childTnLst>
                                </p:cTn>
                              </p:par>
                            </p:childTnLst>
                          </p:cTn>
                        </p:par>
                        <p:par>
                          <p:cTn id="64" fill="hold" nodeType="afterGroup">
                            <p:stCondLst>
                              <p:cond delay="500"/>
                            </p:stCondLst>
                            <p:childTnLst>
                              <p:par>
                                <p:cTn id="65" presetID="22" presetClass="entr" presetSubtype="8" fill="hold" nodeType="afterEffect">
                                  <p:stCondLst>
                                    <p:cond delay="0"/>
                                  </p:stCondLst>
                                  <p:childTnLst>
                                    <p:set>
                                      <p:cBhvr>
                                        <p:cTn id="66" dur="1" fill="hold">
                                          <p:stCondLst>
                                            <p:cond delay="0"/>
                                          </p:stCondLst>
                                        </p:cTn>
                                        <p:tgtEl>
                                          <p:spTgt spid="120839"/>
                                        </p:tgtEl>
                                        <p:attrNameLst>
                                          <p:attrName>style.visibility</p:attrName>
                                        </p:attrNameLst>
                                      </p:cBhvr>
                                      <p:to>
                                        <p:strVal val="visible"/>
                                      </p:to>
                                    </p:set>
                                    <p:animEffect transition="in" filter="wipe(left)">
                                      <p:cBhvr>
                                        <p:cTn id="67" dur="500"/>
                                        <p:tgtEl>
                                          <p:spTgt spid="120839"/>
                                        </p:tgtEl>
                                      </p:cBhvr>
                                    </p:animEffect>
                                  </p:childTnLst>
                                </p:cTn>
                              </p:par>
                            </p:childTnLst>
                          </p:cTn>
                        </p:par>
                        <p:par>
                          <p:cTn id="68" fill="hold" nodeType="afterGroup">
                            <p:stCondLst>
                              <p:cond delay="1000"/>
                            </p:stCondLst>
                            <p:childTnLst>
                              <p:par>
                                <p:cTn id="69" presetID="22" presetClass="entr" presetSubtype="8" fill="hold" nodeType="afterEffect">
                                  <p:stCondLst>
                                    <p:cond delay="0"/>
                                  </p:stCondLst>
                                  <p:childTnLst>
                                    <p:set>
                                      <p:cBhvr>
                                        <p:cTn id="70" dur="1" fill="hold">
                                          <p:stCondLst>
                                            <p:cond delay="0"/>
                                          </p:stCondLst>
                                        </p:cTn>
                                        <p:tgtEl>
                                          <p:spTgt spid="120840"/>
                                        </p:tgtEl>
                                        <p:attrNameLst>
                                          <p:attrName>style.visibility</p:attrName>
                                        </p:attrNameLst>
                                      </p:cBhvr>
                                      <p:to>
                                        <p:strVal val="visible"/>
                                      </p:to>
                                    </p:set>
                                    <p:animEffect transition="in" filter="wipe(left)">
                                      <p:cBhvr>
                                        <p:cTn id="71" dur="500"/>
                                        <p:tgtEl>
                                          <p:spTgt spid="120840"/>
                                        </p:tgtEl>
                                      </p:cBhvr>
                                    </p:animEffect>
                                  </p:childTnLst>
                                </p:cTn>
                              </p:par>
                            </p:childTnLst>
                          </p:cTn>
                        </p:par>
                        <p:par>
                          <p:cTn id="72" fill="hold" nodeType="afterGroup">
                            <p:stCondLst>
                              <p:cond delay="1500"/>
                            </p:stCondLst>
                            <p:childTnLst>
                              <p:par>
                                <p:cTn id="73" presetID="22" presetClass="entr" presetSubtype="8" fill="hold" nodeType="afterEffect">
                                  <p:stCondLst>
                                    <p:cond delay="0"/>
                                  </p:stCondLst>
                                  <p:childTnLst>
                                    <p:set>
                                      <p:cBhvr>
                                        <p:cTn id="74" dur="1" fill="hold">
                                          <p:stCondLst>
                                            <p:cond delay="0"/>
                                          </p:stCondLst>
                                        </p:cTn>
                                        <p:tgtEl>
                                          <p:spTgt spid="120841"/>
                                        </p:tgtEl>
                                        <p:attrNameLst>
                                          <p:attrName>style.visibility</p:attrName>
                                        </p:attrNameLst>
                                      </p:cBhvr>
                                      <p:to>
                                        <p:strVal val="visible"/>
                                      </p:to>
                                    </p:set>
                                    <p:animEffect transition="in" filter="wipe(left)">
                                      <p:cBhvr>
                                        <p:cTn id="75" dur="500"/>
                                        <p:tgtEl>
                                          <p:spTgt spid="120841"/>
                                        </p:tgtEl>
                                      </p:cBhvr>
                                    </p:animEffect>
                                  </p:childTnLst>
                                </p:cTn>
                              </p:par>
                            </p:childTnLst>
                          </p:cTn>
                        </p:par>
                        <p:par>
                          <p:cTn id="76" fill="hold" nodeType="afterGroup">
                            <p:stCondLst>
                              <p:cond delay="2000"/>
                            </p:stCondLst>
                            <p:childTnLst>
                              <p:par>
                                <p:cTn id="77" presetID="22" presetClass="entr" presetSubtype="4" fill="hold" nodeType="afterEffect">
                                  <p:stCondLst>
                                    <p:cond delay="0"/>
                                  </p:stCondLst>
                                  <p:childTnLst>
                                    <p:set>
                                      <p:cBhvr>
                                        <p:cTn id="78" dur="1" fill="hold">
                                          <p:stCondLst>
                                            <p:cond delay="0"/>
                                          </p:stCondLst>
                                        </p:cTn>
                                        <p:tgtEl>
                                          <p:spTgt spid="120860"/>
                                        </p:tgtEl>
                                        <p:attrNameLst>
                                          <p:attrName>style.visibility</p:attrName>
                                        </p:attrNameLst>
                                      </p:cBhvr>
                                      <p:to>
                                        <p:strVal val="visible"/>
                                      </p:to>
                                    </p:set>
                                    <p:animEffect transition="in" filter="wipe(down)">
                                      <p:cBhvr>
                                        <p:cTn id="79" dur="500"/>
                                        <p:tgtEl>
                                          <p:spTgt spid="12086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499"/>
                                          </p:stCondLst>
                                        </p:cTn>
                                        <p:tgtEl>
                                          <p:spTgt spid="120851"/>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20848"/>
                                        </p:tgtEl>
                                        <p:attrNameLst>
                                          <p:attrName>style.visibility</p:attrName>
                                        </p:attrNameLst>
                                      </p:cBhvr>
                                      <p:to>
                                        <p:strVal val="visible"/>
                                      </p:to>
                                    </p:set>
                                    <p:animEffect transition="in" filter="wipe(left)">
                                      <p:cBhvr>
                                        <p:cTn id="88" dur="500"/>
                                        <p:tgtEl>
                                          <p:spTgt spid="12084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120850"/>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20852"/>
                                        </p:tgtEl>
                                        <p:attrNameLst>
                                          <p:attrName>style.visibility</p:attrName>
                                        </p:attrNameLst>
                                      </p:cBhvr>
                                      <p:to>
                                        <p:strVal val="visible"/>
                                      </p:to>
                                    </p:set>
                                    <p:animEffect transition="in" filter="wipe(left)">
                                      <p:cBhvr>
                                        <p:cTn id="97" dur="500"/>
                                        <p:tgtEl>
                                          <p:spTgt spid="12085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20854"/>
                                        </p:tgtEl>
                                        <p:attrNameLst>
                                          <p:attrName>style.visibility</p:attrName>
                                        </p:attrNameLst>
                                      </p:cBhvr>
                                      <p:to>
                                        <p:strVal val="visible"/>
                                      </p:to>
                                    </p:set>
                                    <p:animEffect transition="in" filter="wipe(left)">
                                      <p:cBhvr>
                                        <p:cTn id="102" dur="500"/>
                                        <p:tgtEl>
                                          <p:spTgt spid="12085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20853"/>
                                        </p:tgtEl>
                                        <p:attrNameLst>
                                          <p:attrName>style.visibility</p:attrName>
                                        </p:attrNameLst>
                                      </p:cBhvr>
                                      <p:to>
                                        <p:strVal val="visible"/>
                                      </p:to>
                                    </p:set>
                                    <p:animEffect transition="in" filter="wipe(left)">
                                      <p:cBhvr>
                                        <p:cTn id="107" dur="500"/>
                                        <p:tgtEl>
                                          <p:spTgt spid="12085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120855"/>
                                        </p:tgtEl>
                                        <p:attrNameLst>
                                          <p:attrName>style.visibility</p:attrName>
                                        </p:attrNameLst>
                                      </p:cBhvr>
                                      <p:to>
                                        <p:strVal val="visible"/>
                                      </p:to>
                                    </p:set>
                                    <p:animEffect transition="in" filter="wipe(left)">
                                      <p:cBhvr>
                                        <p:cTn id="112" dur="500"/>
                                        <p:tgtEl>
                                          <p:spTgt spid="12085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20856"/>
                                        </p:tgtEl>
                                        <p:attrNameLst>
                                          <p:attrName>style.visibility</p:attrName>
                                        </p:attrNameLst>
                                      </p:cBhvr>
                                      <p:to>
                                        <p:strVal val="visible"/>
                                      </p:to>
                                    </p:set>
                                    <p:animEffect transition="in" filter="wipe(left)">
                                      <p:cBhvr>
                                        <p:cTn id="117" dur="500"/>
                                        <p:tgtEl>
                                          <p:spTgt spid="12085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120857"/>
                                        </p:tgtEl>
                                        <p:attrNameLst>
                                          <p:attrName>style.visibility</p:attrName>
                                        </p:attrNameLst>
                                      </p:cBhvr>
                                      <p:to>
                                        <p:strVal val="visible"/>
                                      </p:to>
                                    </p:set>
                                    <p:animEffect transition="in" filter="wipe(left)">
                                      <p:cBhvr>
                                        <p:cTn id="122" dur="500"/>
                                        <p:tgtEl>
                                          <p:spTgt spid="12085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120858"/>
                                        </p:tgtEl>
                                        <p:attrNameLst>
                                          <p:attrName>style.visibility</p:attrName>
                                        </p:attrNameLst>
                                      </p:cBhvr>
                                      <p:to>
                                        <p:strVal val="visible"/>
                                      </p:to>
                                    </p:set>
                                    <p:animEffect transition="in" filter="wipe(left)">
                                      <p:cBhvr>
                                        <p:cTn id="127" dur="500"/>
                                        <p:tgtEl>
                                          <p:spTgt spid="120858"/>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120859"/>
                                        </p:tgtEl>
                                        <p:attrNameLst>
                                          <p:attrName>style.visibility</p:attrName>
                                        </p:attrNameLst>
                                      </p:cBhvr>
                                      <p:to>
                                        <p:strVal val="visible"/>
                                      </p:to>
                                    </p:set>
                                    <p:animEffect transition="in" filter="wipe(left)">
                                      <p:cBhvr>
                                        <p:cTn id="132" dur="500"/>
                                        <p:tgtEl>
                                          <p:spTgt spid="120859"/>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 presetClass="entr" presetSubtype="2" fill="hold" nodeType="clickEffect">
                                  <p:stCondLst>
                                    <p:cond delay="0"/>
                                  </p:stCondLst>
                                  <p:childTnLst>
                                    <p:set>
                                      <p:cBhvr>
                                        <p:cTn id="136" dur="1" fill="hold">
                                          <p:stCondLst>
                                            <p:cond delay="0"/>
                                          </p:stCondLst>
                                        </p:cTn>
                                        <p:tgtEl>
                                          <p:spTgt spid="120861"/>
                                        </p:tgtEl>
                                        <p:attrNameLst>
                                          <p:attrName>style.visibility</p:attrName>
                                        </p:attrNameLst>
                                      </p:cBhvr>
                                      <p:to>
                                        <p:strVal val="visible"/>
                                      </p:to>
                                    </p:set>
                                    <p:anim calcmode="lin" valueType="num">
                                      <p:cBhvr additive="base">
                                        <p:cTn id="137" dur="500" fill="hold"/>
                                        <p:tgtEl>
                                          <p:spTgt spid="120861"/>
                                        </p:tgtEl>
                                        <p:attrNameLst>
                                          <p:attrName>ppt_x</p:attrName>
                                        </p:attrNameLst>
                                      </p:cBhvr>
                                      <p:tavLst>
                                        <p:tav tm="0">
                                          <p:val>
                                            <p:strVal val="1+#ppt_w/2"/>
                                          </p:val>
                                        </p:tav>
                                        <p:tav tm="100000">
                                          <p:val>
                                            <p:strVal val="#ppt_x"/>
                                          </p:val>
                                        </p:tav>
                                      </p:tavLst>
                                    </p:anim>
                                    <p:anim calcmode="lin" valueType="num">
                                      <p:cBhvr additive="base">
                                        <p:cTn id="138" dur="500" fill="hold"/>
                                        <p:tgtEl>
                                          <p:spTgt spid="1208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120835" grpId="0" animBg="1"/>
      <p:bldP spid="120837" grpId="0" animBg="1"/>
      <p:bldP spid="120841" grpId="0"/>
      <p:bldP spid="120842" grpId="0"/>
      <p:bldP spid="120843" grpId="0"/>
      <p:bldP spid="120846" grpId="0"/>
      <p:bldP spid="120847" grpId="0"/>
      <p:bldP spid="120848" grpId="0"/>
      <p:bldP spid="120849" grpId="0"/>
      <p:bldP spid="120850" grpId="0" autoUpdateAnimBg="0"/>
      <p:bldP spid="120851" grpId="0" autoUpdateAnimBg="0"/>
      <p:bldP spid="120852" grpId="0"/>
      <p:bldP spid="120853" grpId="0"/>
      <p:bldP spid="120854" grpId="0"/>
      <p:bldP spid="120860"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13014</TotalTime>
  <Words>1246</Words>
  <Application>Microsoft Office PowerPoint</Application>
  <PresentationFormat>全屏显示(4:3)</PresentationFormat>
  <Paragraphs>252</Paragraphs>
  <Slides>20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20</vt:i4>
      </vt:variant>
    </vt:vector>
  </HeadingPairs>
  <TitlesOfParts>
    <vt:vector size="32" baseType="lpstr">
      <vt:lpstr>Monotype Sorts</vt:lpstr>
      <vt:lpstr>仿宋_GB2312</vt:lpstr>
      <vt:lpstr>楷体_GB2312</vt:lpstr>
      <vt:lpstr>隶书</vt:lpstr>
      <vt:lpstr>宋体</vt:lpstr>
      <vt:lpstr>Arial</vt:lpstr>
      <vt:lpstr>Symbol</vt:lpstr>
      <vt:lpstr>Times New Roman</vt:lpstr>
      <vt:lpstr>Wingdings</vt:lpstr>
      <vt:lpstr>1_默认设计模板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功和能</dc:title>
  <dc:subject>大学物理电子教案</dc:subject>
  <dc:creator>zhaoshumin</dc:creator>
  <cp:lastModifiedBy>davidly .</cp:lastModifiedBy>
  <cp:revision>800</cp:revision>
  <dcterms:created xsi:type="dcterms:W3CDTF">2004-11-16T23:52:09Z</dcterms:created>
  <dcterms:modified xsi:type="dcterms:W3CDTF">2025-03-24T11:09:36Z</dcterms:modified>
</cp:coreProperties>
</file>