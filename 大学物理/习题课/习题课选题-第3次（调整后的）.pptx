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659" r:id="rId8"/>
    <p:sldId id="261" r:id="rId9"/>
    <p:sldId id="263" r:id="rId10"/>
    <p:sldId id="26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7665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6088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421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893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114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429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14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314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217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4023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10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31D29-E87D-43A8-B599-EC8DACC8F572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21D2E-EDF1-490F-8B78-FFE4FE0C93C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509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>
            <a:extLst>
              <a:ext uri="{FF2B5EF4-FFF2-40B4-BE49-F238E27FC236}">
                <a16:creationId xmlns:a16="http://schemas.microsoft.com/office/drawing/2014/main" id="{73863513-9B07-4818-9688-14ADAF7A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B3353F-1A63-4A8B-9547-A925AED3096E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6146" name="Text Box 2">
            <a:extLst>
              <a:ext uri="{FF2B5EF4-FFF2-40B4-BE49-F238E27FC236}">
                <a16:creationId xmlns:a16="http://schemas.microsoft.com/office/drawing/2014/main" id="{6DC0E2DA-D6C7-401D-81EC-5179B51D6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076" y="381000"/>
            <a:ext cx="1088089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+mj-lt"/>
              </a:rPr>
              <a:t>1. </a:t>
            </a:r>
            <a:r>
              <a:rPr lang="zh-CN" altLang="en-US" sz="3200" dirty="0">
                <a:latin typeface="+mj-lt"/>
              </a:rPr>
              <a:t>如图，一绝热容器被一无摩擦可动导热板分成</a:t>
            </a:r>
            <a:r>
              <a:rPr lang="en-US" altLang="zh-CN" sz="3200" dirty="0">
                <a:latin typeface="+mj-lt"/>
              </a:rPr>
              <a:t>A</a:t>
            </a:r>
            <a:r>
              <a:rPr lang="zh-CN" altLang="en-US" sz="3200" dirty="0">
                <a:latin typeface="+mj-lt"/>
              </a:rPr>
              <a:t>、</a:t>
            </a:r>
            <a:r>
              <a:rPr lang="en-US" altLang="zh-CN" sz="3200" dirty="0">
                <a:latin typeface="+mj-lt"/>
              </a:rPr>
              <a:t>B</a:t>
            </a:r>
            <a:r>
              <a:rPr lang="zh-CN" altLang="en-US" sz="3200" dirty="0">
                <a:latin typeface="+mj-lt"/>
              </a:rPr>
              <a:t>两部分。 </a:t>
            </a:r>
            <a:endParaRPr lang="en-US" altLang="zh-CN" sz="3200" dirty="0">
              <a:latin typeface="+mj-lt"/>
            </a:endParaRPr>
          </a:p>
          <a:p>
            <a:r>
              <a:rPr lang="en-US" altLang="zh-CN" sz="3200" dirty="0">
                <a:latin typeface="+mj-lt"/>
              </a:rPr>
              <a:t>A</a:t>
            </a:r>
            <a:r>
              <a:rPr lang="zh-CN" altLang="en-US" sz="3200" dirty="0">
                <a:latin typeface="+mj-lt"/>
              </a:rPr>
              <a:t>，</a:t>
            </a:r>
            <a:r>
              <a:rPr lang="en-US" altLang="zh-CN" sz="3200" dirty="0">
                <a:latin typeface="+mj-lt"/>
              </a:rPr>
              <a:t>B</a:t>
            </a:r>
            <a:r>
              <a:rPr lang="zh-CN" altLang="en-US" sz="3200" dirty="0">
                <a:latin typeface="+mj-lt"/>
              </a:rPr>
              <a:t>内各有</a:t>
            </a:r>
            <a:r>
              <a:rPr lang="en-US" altLang="zh-CN" sz="3200" b="1" dirty="0">
                <a:latin typeface="+mj-lt"/>
              </a:rPr>
              <a:t>1mol</a:t>
            </a:r>
            <a:r>
              <a:rPr lang="zh-CN" altLang="en-US" sz="3200" dirty="0">
                <a:latin typeface="+mj-lt"/>
              </a:rPr>
              <a:t>的理想气体</a:t>
            </a:r>
            <a:r>
              <a:rPr lang="en-US" altLang="en-US" sz="3200" dirty="0">
                <a:latin typeface="+mj-lt"/>
              </a:rPr>
              <a:t> </a:t>
            </a:r>
            <a:r>
              <a:rPr lang="en-US" altLang="zh-CN" sz="3200" b="1" dirty="0">
                <a:latin typeface="+mj-lt"/>
              </a:rPr>
              <a:t>H</a:t>
            </a:r>
            <a:r>
              <a:rPr lang="en-US" altLang="zh-CN" sz="3200" b="1" baseline="-25000" dirty="0">
                <a:latin typeface="+mj-lt"/>
              </a:rPr>
              <a:t>e,</a:t>
            </a:r>
            <a:r>
              <a:rPr lang="en-US" altLang="zh-CN" sz="3200" b="1" dirty="0">
                <a:latin typeface="+mj-lt"/>
              </a:rPr>
              <a:t>O</a:t>
            </a:r>
            <a:r>
              <a:rPr lang="en-US" altLang="zh-CN" sz="3200" b="1" baseline="-25000" dirty="0">
                <a:latin typeface="+mj-lt"/>
              </a:rPr>
              <a:t>2.</a:t>
            </a:r>
            <a:r>
              <a:rPr lang="en-US" altLang="zh-CN" sz="3200" b="1" dirty="0"/>
              <a:t> </a:t>
            </a:r>
          </a:p>
          <a:p>
            <a:r>
              <a:rPr lang="zh-CN" altLang="en-US" sz="3200" dirty="0"/>
              <a:t>    已知初始时，</a:t>
            </a:r>
            <a:endParaRPr lang="en-US" altLang="zh-CN" sz="4000" dirty="0">
              <a:latin typeface="+mj-lt"/>
            </a:endParaRPr>
          </a:p>
        </p:txBody>
      </p:sp>
      <p:graphicFrame>
        <p:nvGraphicFramePr>
          <p:cNvPr id="6148" name="Object 4">
            <a:extLst>
              <a:ext uri="{FF2B5EF4-FFF2-40B4-BE49-F238E27FC236}">
                <a16:creationId xmlns:a16="http://schemas.microsoft.com/office/drawing/2014/main" id="{1040C14D-C865-4ADF-9E06-67A745D3FA81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812923" y="1365837"/>
          <a:ext cx="6973085" cy="603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Equation" r:id="rId4" imgW="2641320" imgH="228600" progId="Equation.DSMT4">
                  <p:embed/>
                </p:oleObj>
              </mc:Choice>
              <mc:Fallback>
                <p:oleObj name="Equation" r:id="rId4" imgW="2641320" imgH="228600" progId="Equation.DSMT4">
                  <p:embed/>
                  <p:pic>
                    <p:nvPicPr>
                      <p:cNvPr id="6148" name="Object 4">
                        <a:extLst>
                          <a:ext uri="{FF2B5EF4-FFF2-40B4-BE49-F238E27FC236}">
                            <a16:creationId xmlns:a16="http://schemas.microsoft.com/office/drawing/2014/main" id="{1040C14D-C865-4ADF-9E06-67A745D3FA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2923" y="1365837"/>
                        <a:ext cx="6973085" cy="60350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 Box 5">
            <a:extLst>
              <a:ext uri="{FF2B5EF4-FFF2-40B4-BE49-F238E27FC236}">
                <a16:creationId xmlns:a16="http://schemas.microsoft.com/office/drawing/2014/main" id="{7199177D-CA8E-4CE8-A388-F39C06F1A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6728" y="2169442"/>
            <a:ext cx="810029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zh-CN" altLang="en-US" sz="3200" dirty="0"/>
              <a:t>求：当整个系统达到平衡时的温度</a:t>
            </a:r>
            <a:r>
              <a:rPr lang="en-US" altLang="zh-CN" sz="3200" dirty="0"/>
              <a:t>T</a:t>
            </a:r>
            <a:r>
              <a:rPr lang="zh-CN" altLang="en-US" sz="3200" dirty="0"/>
              <a:t>和压强</a:t>
            </a:r>
            <a:r>
              <a:rPr lang="en-US" altLang="zh-CN" sz="3200" dirty="0"/>
              <a:t>P.</a:t>
            </a:r>
          </a:p>
        </p:txBody>
      </p:sp>
      <p:grpSp>
        <p:nvGrpSpPr>
          <p:cNvPr id="6171" name="Group 27">
            <a:extLst>
              <a:ext uri="{FF2B5EF4-FFF2-40B4-BE49-F238E27FC236}">
                <a16:creationId xmlns:a16="http://schemas.microsoft.com/office/drawing/2014/main" id="{468BF85B-0BC8-40AB-BA31-30D18FAAE995}"/>
              </a:ext>
            </a:extLst>
          </p:cNvPr>
          <p:cNvGrpSpPr>
            <a:grpSpLocks/>
          </p:cNvGrpSpPr>
          <p:nvPr/>
        </p:nvGrpSpPr>
        <p:grpSpPr bwMode="auto">
          <a:xfrm>
            <a:off x="4448175" y="3074987"/>
            <a:ext cx="3581400" cy="3281363"/>
            <a:chOff x="288" y="1872"/>
            <a:chExt cx="2256" cy="2067"/>
          </a:xfrm>
        </p:grpSpPr>
        <p:sp>
          <p:nvSpPr>
            <p:cNvPr id="6167" name="AutoShape 23">
              <a:extLst>
                <a:ext uri="{FF2B5EF4-FFF2-40B4-BE49-F238E27FC236}">
                  <a16:creationId xmlns:a16="http://schemas.microsoft.com/office/drawing/2014/main" id="{26DFAB91-4F52-4B41-B8DD-21CF2144EB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016"/>
              <a:ext cx="576" cy="384"/>
            </a:xfrm>
            <a:prstGeom prst="wedgeRoundRectCallout">
              <a:avLst>
                <a:gd name="adj1" fmla="val -40972"/>
                <a:gd name="adj2" fmla="val 95315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sz="2400"/>
            </a:p>
          </p:txBody>
        </p:sp>
        <p:grpSp>
          <p:nvGrpSpPr>
            <p:cNvPr id="6164" name="Group 20">
              <a:extLst>
                <a:ext uri="{FF2B5EF4-FFF2-40B4-BE49-F238E27FC236}">
                  <a16:creationId xmlns:a16="http://schemas.microsoft.com/office/drawing/2014/main" id="{67893446-A6AC-48C5-B146-05E91EC60C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" y="2544"/>
              <a:ext cx="2160" cy="1395"/>
              <a:chOff x="2832" y="2208"/>
              <a:chExt cx="2160" cy="1395"/>
            </a:xfrm>
          </p:grpSpPr>
          <p:sp>
            <p:nvSpPr>
              <p:cNvPr id="6150" name="Rectangle 6">
                <a:extLst>
                  <a:ext uri="{FF2B5EF4-FFF2-40B4-BE49-F238E27FC236}">
                    <a16:creationId xmlns:a16="http://schemas.microsoft.com/office/drawing/2014/main" id="{CAAEFCCC-D5D7-4024-A6F6-316254774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2" y="2208"/>
                <a:ext cx="2160" cy="1056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2" name="Rectangle 8">
                <a:extLst>
                  <a:ext uri="{FF2B5EF4-FFF2-40B4-BE49-F238E27FC236}">
                    <a16:creationId xmlns:a16="http://schemas.microsoft.com/office/drawing/2014/main" id="{8732AD44-80C8-426D-9B37-A9C37F51A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2304"/>
                <a:ext cx="1968" cy="8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zh-CN" sz="2400"/>
              </a:p>
            </p:txBody>
          </p:sp>
          <p:sp>
            <p:nvSpPr>
              <p:cNvPr id="6153" name="Rectangle 9">
                <a:extLst>
                  <a:ext uri="{FF2B5EF4-FFF2-40B4-BE49-F238E27FC236}">
                    <a16:creationId xmlns:a16="http://schemas.microsoft.com/office/drawing/2014/main" id="{CAC4F7AA-AD87-4597-BC7E-17DAB20B2B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4" y="2304"/>
                <a:ext cx="96" cy="86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58" name="Text Box 14">
                <a:extLst>
                  <a:ext uri="{FF2B5EF4-FFF2-40B4-BE49-F238E27FC236}">
                    <a16:creationId xmlns:a16="http://schemas.microsoft.com/office/drawing/2014/main" id="{23F73513-412C-4630-8967-51CA241ACBA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0" y="2352"/>
                <a:ext cx="24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400"/>
                  <a:t>A</a:t>
                </a:r>
              </a:p>
            </p:txBody>
          </p:sp>
          <p:sp>
            <p:nvSpPr>
              <p:cNvPr id="6159" name="Text Box 15">
                <a:extLst>
                  <a:ext uri="{FF2B5EF4-FFF2-40B4-BE49-F238E27FC236}">
                    <a16:creationId xmlns:a16="http://schemas.microsoft.com/office/drawing/2014/main" id="{665DB87D-CC33-40D8-8171-521F6CAC54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66" y="2330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400"/>
                  <a:t>B</a:t>
                </a:r>
              </a:p>
            </p:txBody>
          </p:sp>
          <p:sp>
            <p:nvSpPr>
              <p:cNvPr id="6160" name="Text Box 16">
                <a:extLst>
                  <a:ext uri="{FF2B5EF4-FFF2-40B4-BE49-F238E27FC236}">
                    <a16:creationId xmlns:a16="http://schemas.microsoft.com/office/drawing/2014/main" id="{E2EBCC27-08BE-4F2E-AB47-BFA54A1409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8" y="2762"/>
                <a:ext cx="322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400"/>
                  <a:t>H</a:t>
                </a:r>
                <a:r>
                  <a:rPr lang="en-US" altLang="zh-CN" sz="2400" baseline="-25000"/>
                  <a:t>e</a:t>
                </a:r>
              </a:p>
            </p:txBody>
          </p:sp>
          <p:sp>
            <p:nvSpPr>
              <p:cNvPr id="6161" name="Text Box 17">
                <a:extLst>
                  <a:ext uri="{FF2B5EF4-FFF2-40B4-BE49-F238E27FC236}">
                    <a16:creationId xmlns:a16="http://schemas.microsoft.com/office/drawing/2014/main" id="{48CCDB14-DE98-4AE8-BDE9-F55833CBFF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66" y="2762"/>
                <a:ext cx="329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zh-CN" sz="2400"/>
                  <a:t>O</a:t>
                </a:r>
                <a:r>
                  <a:rPr lang="en-US" altLang="zh-CN" sz="2400" baseline="-25000"/>
                  <a:t>2</a:t>
                </a:r>
              </a:p>
            </p:txBody>
          </p:sp>
          <p:sp>
            <p:nvSpPr>
              <p:cNvPr id="6162" name="Text Box 18">
                <a:extLst>
                  <a:ext uri="{FF2B5EF4-FFF2-40B4-BE49-F238E27FC236}">
                    <a16:creationId xmlns:a16="http://schemas.microsoft.com/office/drawing/2014/main" id="{CA1170C6-B217-45AF-BDB2-D490CDC022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6" y="3312"/>
                <a:ext cx="52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 sz="2400"/>
                  <a:t>300</a:t>
                </a:r>
                <a:r>
                  <a:rPr lang="en-US" altLang="zh-CN" sz="2400"/>
                  <a:t>K</a:t>
                </a:r>
              </a:p>
            </p:txBody>
          </p:sp>
          <p:sp>
            <p:nvSpPr>
              <p:cNvPr id="6163" name="Text Box 19">
                <a:extLst>
                  <a:ext uri="{FF2B5EF4-FFF2-40B4-BE49-F238E27FC236}">
                    <a16:creationId xmlns:a16="http://schemas.microsoft.com/office/drawing/2014/main" id="{84ADC8EC-1ED1-40F5-BE30-36F782EA44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3312"/>
                <a:ext cx="529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/>
                <a:r>
                  <a:rPr lang="en-US" altLang="en-US" sz="2400"/>
                  <a:t>600</a:t>
                </a:r>
                <a:r>
                  <a:rPr lang="en-US" altLang="zh-CN" sz="2400"/>
                  <a:t>K</a:t>
                </a:r>
              </a:p>
            </p:txBody>
          </p:sp>
        </p:grpSp>
        <p:sp>
          <p:nvSpPr>
            <p:cNvPr id="6165" name="AutoShape 21">
              <a:extLst>
                <a:ext uri="{FF2B5EF4-FFF2-40B4-BE49-F238E27FC236}">
                  <a16:creationId xmlns:a16="http://schemas.microsoft.com/office/drawing/2014/main" id="{0500C2D3-2C0D-4A1A-AAE0-810D01E25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" y="1872"/>
              <a:ext cx="1200" cy="528"/>
            </a:xfrm>
            <a:prstGeom prst="wedgeRoundRectCallout">
              <a:avLst>
                <a:gd name="adj1" fmla="val 2167"/>
                <a:gd name="adj2" fmla="val 125190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zh-CN" sz="2400"/>
            </a:p>
          </p:txBody>
        </p:sp>
        <p:sp>
          <p:nvSpPr>
            <p:cNvPr id="6155" name="Text Box 11">
              <a:extLst>
                <a:ext uri="{FF2B5EF4-FFF2-40B4-BE49-F238E27FC236}">
                  <a16:creationId xmlns:a16="http://schemas.microsoft.com/office/drawing/2014/main" id="{3F8F9019-8F1C-4A25-9CE2-41C5CA5473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872"/>
              <a:ext cx="1086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400" dirty="0"/>
                <a:t>无摩擦可动</a:t>
              </a:r>
            </a:p>
            <a:p>
              <a:pPr algn="l"/>
              <a:r>
                <a:rPr lang="zh-CN" altLang="en-US" sz="2400" dirty="0"/>
                <a:t>  导热板</a:t>
              </a:r>
            </a:p>
          </p:txBody>
        </p:sp>
        <p:sp>
          <p:nvSpPr>
            <p:cNvPr id="6166" name="Text Box 22">
              <a:extLst>
                <a:ext uri="{FF2B5EF4-FFF2-40B4-BE49-F238E27FC236}">
                  <a16:creationId xmlns:a16="http://schemas.microsoft.com/office/drawing/2014/main" id="{C5497BC8-8874-4D3B-82D1-34C322264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2064"/>
              <a:ext cx="50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zh-CN" altLang="en-US" sz="2400"/>
                <a:t>绝热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7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TYP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9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902068" y="779400"/>
                <a:ext cx="9592559" cy="195014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2.   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如图所示理想气体由状态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到达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状态</a:t>
                </a: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经历四个过程</a:t>
                </a: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𝑎𝑐𝑓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为绝热过程，则平均摩尔热容最大的过程为:  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068" y="779400"/>
                <a:ext cx="9592559" cy="1950149"/>
              </a:xfrm>
              <a:prstGeom prst="rect">
                <a:avLst/>
              </a:prstGeom>
              <a:blipFill>
                <a:blip r:embed="rId2"/>
                <a:stretch>
                  <a:fillRect l="-1652" r="-889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809" y="2538898"/>
            <a:ext cx="3758730" cy="340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38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057" y="3814579"/>
            <a:ext cx="3733333" cy="28317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534757" y="508602"/>
                <a:ext cx="11122486" cy="45230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dirty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.    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如图所示，某热力学系统沿过程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𝑎𝑐𝑏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从</a:t>
                </a:r>
                <a14:m>
                  <m:oMath xmlns:m="http://schemas.openxmlformats.org/officeDocument/2006/math">
                    <m:r>
                      <a:rPr lang="en-US" altLang="zh-CN" sz="32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状态到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态，系统吸热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80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</m:oMath>
                </a14:m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并作功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：</a:t>
                </a:r>
                <a:endParaRPr lang="en-US" altLang="zh-CN" sz="3200" dirty="0">
                  <a:latin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(1)  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若系统沿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𝑎𝑑𝑏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过程作功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</m:oMath>
                </a14:m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它吸热多少焦耳？</a:t>
                </a:r>
                <a:b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</a:b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(2)  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若系统沿曲线由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态回到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态</a:t>
                </a: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外界作功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</m:oMath>
                </a14:m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系统吸热多少？</a:t>
                </a:r>
                <a:endParaRPr lang="en-US" altLang="zh-CN" sz="3200" dirty="0">
                  <a:latin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(3)  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在上述条件下，若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=</a:t>
                </a:r>
                <a:r>
                  <a:rPr lang="en-US" altLang="zh-CN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𝐽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𝑎𝑏𝑑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过程中吸热多少焦耳</a:t>
                </a: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𝑎𝑑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过程中吸热多少焦耳？</a:t>
                </a:r>
                <a:b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</a:br>
                <a:endParaRPr lang="zh-CN" altLang="en-US" sz="3200" dirty="0">
                  <a:latin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757" y="508602"/>
                <a:ext cx="11122486" cy="4523098"/>
              </a:xfrm>
              <a:prstGeom prst="rect">
                <a:avLst/>
              </a:prstGeom>
              <a:blipFill>
                <a:blip r:embed="rId3"/>
                <a:stretch>
                  <a:fillRect l="-1425" r="-9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119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4313" y="1005870"/>
            <a:ext cx="9743373" cy="68204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dirty="0">
                <a:latin typeface="+mn-ea"/>
                <a:cs typeface="Times New Roman" panose="02020603050405020304" pitchFamily="18" charset="0"/>
              </a:rPr>
              <a:t>4.  </a:t>
            </a:r>
            <a:r>
              <a:rPr lang="zh-CN" altLang="en-US" sz="3200" dirty="0">
                <a:latin typeface="+mn-ea"/>
                <a:cs typeface="Times New Roman" panose="02020603050405020304" pitchFamily="18" charset="0"/>
              </a:rPr>
              <a:t>证明一条等温线和一条绝热线不可能有两个交点。</a:t>
            </a:r>
          </a:p>
        </p:txBody>
      </p:sp>
    </p:spTree>
    <p:extLst>
      <p:ext uri="{BB962C8B-B14F-4D97-AF65-F5344CB8AC3E}">
        <p14:creationId xmlns:p14="http://schemas.microsoft.com/office/powerpoint/2010/main" val="239701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751657" y="490843"/>
                <a:ext cx="10548314" cy="48463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000" dirty="0">
                    <a:latin typeface="+mn-ea"/>
                    <a:cs typeface="Times New Roman" panose="02020603050405020304" pitchFamily="18" charset="0"/>
                  </a:rPr>
                  <a:t>5.  </a:t>
                </a:r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如图所示，一容积为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40</m:t>
                    </m:r>
                    <m:r>
                      <a:rPr lang="en-US" altLang="zh-CN" sz="30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p>
                    </m:sSup>
                    <m:sSup>
                      <m:sSupPr>
                        <m:ctrlP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的绝热容器，中间由一无摩擦的绝热可移动的活塞隔开，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3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两部分各储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𝑚𝑜𝑙</m:t>
                    </m:r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的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CN" sz="3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，最初的压强都是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𝑎𝑡𝑚</m:t>
                    </m:r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，活塞停在中间，现通过电压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sz="3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,以小电流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对</a:t>
                </a:r>
                <a:r>
                  <a:rPr lang="en-US" altLang="zh-CN" sz="3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中气体加热直到</a:t>
                </a:r>
                <a14:m>
                  <m:oMath xmlns:m="http://schemas.openxmlformats.org/officeDocument/2006/math">
                    <m:r>
                      <a:rPr lang="en-US" altLang="zh-CN" sz="3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中气体体积缩小一半为止，试求: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 (1) 在</a:t>
                </a:r>
                <a14:m>
                  <m:oMath xmlns:m="http://schemas.openxmlformats.org/officeDocument/2006/math">
                    <m:r>
                      <a:rPr lang="en-US" altLang="zh-CN" sz="3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𝑑𝑡</m:t>
                    </m:r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时间内</a:t>
                </a:r>
                <a:r>
                  <a:rPr lang="en-US" altLang="zh-CN" sz="30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en-US" altLang="zh-CN" sz="3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𝐴</m:t>
                    </m:r>
                  </m:oMath>
                </a14:m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气体发生微小变化过程的热力学第一定律的微分表达式。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 (2) 两部分气体各自的最后温度是多少?</a:t>
                </a:r>
                <a:endParaRPr lang="en-US" altLang="zh-CN" sz="3000" dirty="0">
                  <a:latin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000" dirty="0">
                    <a:latin typeface="+mn-ea"/>
                    <a:cs typeface="Times New Roman" panose="02020603050405020304" pitchFamily="18" charset="0"/>
                  </a:rPr>
                  <a:t> (3) A中气体在整个过程中所作的功是多少?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657" y="490843"/>
                <a:ext cx="10548314" cy="4846391"/>
              </a:xfrm>
              <a:prstGeom prst="rect">
                <a:avLst/>
              </a:prstGeom>
              <a:blipFill>
                <a:blip r:embed="rId2"/>
                <a:stretch>
                  <a:fillRect l="-1329" r="-693" b="-30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2" t="7181" r="6812" b="3911"/>
          <a:stretch/>
        </p:blipFill>
        <p:spPr>
          <a:xfrm>
            <a:off x="7952763" y="3429000"/>
            <a:ext cx="3691156" cy="2726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839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0240" y="2966225"/>
            <a:ext cx="4192472" cy="30538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952569" y="837890"/>
                <a:ext cx="9835673" cy="40374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6.  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工作物质为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摩尔双原子分子的理想气体，作如图所示的循环过程，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→2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为直线过程，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→3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为绝热过程，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3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→1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为等温过程。状态</a:t>
                </a:r>
                <a:r>
                  <a:rPr lang="en-US" altLang="zh-CN" sz="3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的参量为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，状态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的温度为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，计算:</a:t>
                </a:r>
                <a:endParaRPr lang="en-US" altLang="zh-CN" sz="3200" dirty="0">
                  <a:latin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(1) 三个过程中的功，热量和内能的增量。</a:t>
                </a:r>
                <a:endParaRPr lang="en-US" altLang="zh-CN" sz="3200" dirty="0">
                  <a:latin typeface="+mn-ea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(2) 此循环的效率。</a:t>
                </a:r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569" y="837890"/>
                <a:ext cx="9835673" cy="4037452"/>
              </a:xfrm>
              <a:prstGeom prst="rect">
                <a:avLst/>
              </a:prstGeom>
              <a:blipFill>
                <a:blip r:embed="rId3"/>
                <a:stretch>
                  <a:fillRect l="-1549" b="-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221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CC79E73-11B6-4B33-8A79-0EA56E195F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9473" y="701643"/>
            <a:ext cx="2952328" cy="2645073"/>
          </a:xfrm>
          <a:prstGeom prst="rect">
            <a:avLst/>
          </a:prstGeom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0FE3B0BF-2395-4D53-90B0-38F1E0201A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681" y="701643"/>
            <a:ext cx="6736399" cy="235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25000"/>
              </a:lnSpc>
            </a:pPr>
            <a:r>
              <a:rPr lang="en-US" altLang="zh-CN" dirty="0"/>
              <a:t>7</a:t>
            </a:r>
            <a:r>
              <a:rPr lang="zh-CN" altLang="en-US" dirty="0"/>
              <a:t>：如图为一理想气体的循环过程，由</a:t>
            </a:r>
            <a:r>
              <a:rPr lang="en-US" altLang="zh-CN" dirty="0"/>
              <a:t>3</a:t>
            </a:r>
            <a:r>
              <a:rPr lang="zh-CN" altLang="en-US" dirty="0"/>
              <a:t>条等温线和</a:t>
            </a:r>
            <a:r>
              <a:rPr lang="en-US" altLang="zh-CN" dirty="0"/>
              <a:t>3</a:t>
            </a:r>
            <a:r>
              <a:rPr lang="zh-CN" altLang="en-US" dirty="0"/>
              <a:t>条绝热线组成的。</a:t>
            </a:r>
            <a:r>
              <a:rPr lang="en-US" altLang="zh-CN" dirty="0"/>
              <a:t>3</a:t>
            </a:r>
            <a:r>
              <a:rPr lang="zh-CN" altLang="en-US" dirty="0"/>
              <a:t>个等温过程的温度分别为</a:t>
            </a:r>
            <a:r>
              <a:rPr lang="en-US" altLang="zh-CN" i="1" dirty="0"/>
              <a:t>T</a:t>
            </a:r>
            <a:r>
              <a:rPr lang="en-US" altLang="zh-CN" baseline="-25000" dirty="0"/>
              <a:t>1</a:t>
            </a:r>
            <a:r>
              <a:rPr lang="zh-CN" altLang="en-US" dirty="0"/>
              <a:t>、</a:t>
            </a:r>
            <a:r>
              <a:rPr lang="en-US" altLang="zh-CN" i="1" dirty="0"/>
              <a:t>T</a:t>
            </a:r>
            <a:r>
              <a:rPr lang="en-US" altLang="zh-CN" baseline="-25000" dirty="0"/>
              <a:t>2 </a:t>
            </a:r>
            <a:r>
              <a:rPr lang="zh-CN" altLang="en-US" dirty="0"/>
              <a:t>和</a:t>
            </a:r>
            <a:r>
              <a:rPr lang="en-US" altLang="zh-CN" i="1" dirty="0"/>
              <a:t>T</a:t>
            </a:r>
            <a:r>
              <a:rPr lang="en-US" altLang="zh-CN" baseline="-25000" dirty="0"/>
              <a:t>3</a:t>
            </a:r>
            <a:r>
              <a:rPr lang="zh-CN" altLang="en-US" dirty="0"/>
              <a:t>，等温膨胀过程 </a:t>
            </a:r>
            <a:r>
              <a:rPr lang="en-US" altLang="zh-CN" i="1" dirty="0"/>
              <a:t>ab </a:t>
            </a:r>
            <a:r>
              <a:rPr lang="zh-CN" altLang="en-US" dirty="0"/>
              <a:t>与 </a:t>
            </a:r>
            <a:r>
              <a:rPr lang="en-US" altLang="zh-CN" i="1" dirty="0"/>
              <a:t>cd </a:t>
            </a:r>
            <a:r>
              <a:rPr lang="zh-CN" altLang="en-US" dirty="0"/>
              <a:t>中体积增长倍数相同。</a:t>
            </a:r>
            <a:endParaRPr lang="en-US" altLang="zh-CN" dirty="0"/>
          </a:p>
          <a:p>
            <a:pPr eaLnBrk="1" hangingPunct="1">
              <a:lnSpc>
                <a:spcPct val="125000"/>
              </a:lnSpc>
            </a:pPr>
            <a:r>
              <a:rPr lang="zh-CN" altLang="en-US" dirty="0"/>
              <a:t>求此循环的效率？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31087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798209" y="980985"/>
                <a:ext cx="10595582" cy="40374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8.  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一容器内储有氧气，其压强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=1.0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𝑎𝑡𝑚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，温度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=27℃</m:t>
                    </m:r>
                  </m:oMath>
                </a14:m>
                <a:r>
                  <a:rPr lang="en-US" altLang="zh-CN" sz="3200" b="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>
                  <a:lnSpc>
                    <a:spcPct val="130000"/>
                  </a:lnSpc>
                </a:pP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求：</a:t>
                </a:r>
                <a:endParaRPr lang="en-US" altLang="zh-CN" sz="3200" dirty="0">
                  <a:latin typeface="+mn-ea"/>
                  <a:cs typeface="Times New Roman" panose="02020603050405020304" pitchFamily="18" charset="0"/>
                </a:endParaRPr>
              </a:p>
              <a:p>
                <a:pPr indent="-342900">
                  <a:lnSpc>
                    <a:spcPct val="130000"/>
                  </a:lnSpc>
                  <a:buAutoNum type="arabicParenBoth"/>
                </a:pP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  单位体积内的分子数</a:t>
                </a:r>
                <a:endParaRPr lang="en-US" altLang="zh-CN" sz="3200" dirty="0">
                  <a:latin typeface="+mn-ea"/>
                  <a:cs typeface="Times New Roman" panose="02020603050405020304" pitchFamily="18" charset="0"/>
                </a:endParaRPr>
              </a:p>
              <a:p>
                <a:pPr indent="-342900">
                  <a:lnSpc>
                    <a:spcPct val="130000"/>
                  </a:lnSpc>
                  <a:buAutoNum type="arabicParenBoth"/>
                </a:pP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  氧气的密度</a:t>
                </a:r>
                <a:endParaRPr lang="en-US" altLang="zh-CN" sz="3200" dirty="0">
                  <a:latin typeface="+mn-ea"/>
                  <a:cs typeface="Times New Roman" panose="02020603050405020304" pitchFamily="18" charset="0"/>
                </a:endParaRPr>
              </a:p>
              <a:p>
                <a:pPr indent="-342900">
                  <a:lnSpc>
                    <a:spcPct val="130000"/>
                  </a:lnSpc>
                  <a:buAutoNum type="arabicParenBoth"/>
                </a:pP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  氧分子的质量</a:t>
                </a:r>
                <a:endParaRPr lang="en-US" altLang="zh-CN" sz="3200" dirty="0">
                  <a:latin typeface="+mn-ea"/>
                  <a:cs typeface="Times New Roman" panose="02020603050405020304" pitchFamily="18" charset="0"/>
                </a:endParaRPr>
              </a:p>
              <a:p>
                <a:pPr indent="-342900">
                  <a:lnSpc>
                    <a:spcPct val="130000"/>
                  </a:lnSpc>
                  <a:buAutoNum type="arabicParenBoth"/>
                </a:pP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  分子的平均动能</a:t>
                </a: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09" y="980985"/>
                <a:ext cx="10595582" cy="4037452"/>
              </a:xfrm>
              <a:prstGeom prst="rect">
                <a:avLst/>
              </a:prstGeom>
              <a:blipFill>
                <a:blip r:embed="rId2"/>
                <a:stretch>
                  <a:fillRect l="-1496" r="-403" b="-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3302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173522" y="787034"/>
                <a:ext cx="9844956" cy="13099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9.  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一容器内盛有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𝑚𝑜𝑙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氢气和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𝑚𝑜𝑙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氦气,经混合后，温度为T。证明混合气体分子平均速率为</a:t>
                </a: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3522" y="787034"/>
                <a:ext cx="9844956" cy="1309974"/>
              </a:xfrm>
              <a:prstGeom prst="rect">
                <a:avLst/>
              </a:prstGeom>
              <a:blipFill>
                <a:blip r:embed="rId2"/>
                <a:stretch>
                  <a:fillRect l="-1611" b="-15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4014AED-98EB-4FB3-A64A-C104742FEA64}"/>
                  </a:ext>
                </a:extLst>
              </p:cNvPr>
              <p:cNvSpPr txBox="1"/>
              <p:nvPr/>
            </p:nvSpPr>
            <p:spPr>
              <a:xfrm>
                <a:off x="1705561" y="2634144"/>
                <a:ext cx="7362937" cy="15473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zh-CN" altLang="en-US" sz="32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31.6</m:t>
                      </m:r>
                      <m:f>
                        <m:f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b>
                            <m:sSub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CN" sz="3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ad>
                        <m:radPr>
                          <m:degHide m:val="on"/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</a:rPr>
                                <m:t>𝑅𝑇</m:t>
                              </m:r>
                            </m:num>
                            <m:den>
                              <m:r>
                                <a:rPr lang="zh-CN" altLang="en-US" sz="32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4014AED-98EB-4FB3-A64A-C104742FEA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5561" y="2634144"/>
                <a:ext cx="7362937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0073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072895" y="911275"/>
                <a:ext cx="9572733" cy="20012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10.  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如果已经知道气体速率的分布函数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,</a:t>
                </a:r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则速率区间在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</m:oMath>
                </a14:m>
                <a:r>
                  <a:rPr lang="en-US" altLang="zh-CN" sz="3200" dirty="0">
                    <a:latin typeface="+mn-ea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之内的分子的算术平均速率的计算式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lang="zh-CN" altLang="en-US" sz="3200" dirty="0">
                    <a:latin typeface="+mn-ea"/>
                    <a:cs typeface="Times New Roman" panose="02020603050405020304" pitchFamily="18" charset="0"/>
                  </a:rPr>
                  <a:t>是多少？</a:t>
                </a: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2895" y="911275"/>
                <a:ext cx="9572733" cy="2001253"/>
              </a:xfrm>
              <a:prstGeom prst="rect">
                <a:avLst/>
              </a:prstGeom>
              <a:blipFill>
                <a:blip r:embed="rId2"/>
                <a:stretch>
                  <a:fillRect l="-1592" b="-69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5077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541</Words>
  <Application>Microsoft Office PowerPoint</Application>
  <PresentationFormat>宽屏</PresentationFormat>
  <Paragraphs>37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等线</vt:lpstr>
      <vt:lpstr>等线 Light</vt:lpstr>
      <vt:lpstr>宋体</vt:lpstr>
      <vt:lpstr>微软雅黑</vt:lpstr>
      <vt:lpstr>Arial</vt:lpstr>
      <vt:lpstr>Cambria Math</vt:lpstr>
      <vt:lpstr>Times New Roman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一生有你</dc:creator>
  <cp:lastModifiedBy>yzhang</cp:lastModifiedBy>
  <cp:revision>36</cp:revision>
  <dcterms:created xsi:type="dcterms:W3CDTF">2018-09-11T02:25:20Z</dcterms:created>
  <dcterms:modified xsi:type="dcterms:W3CDTF">2025-11-21T01:11:49Z</dcterms:modified>
</cp:coreProperties>
</file>