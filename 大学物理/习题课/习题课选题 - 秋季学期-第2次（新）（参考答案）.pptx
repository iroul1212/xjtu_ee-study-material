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58" r:id="rId4"/>
    <p:sldId id="282" r:id="rId5"/>
    <p:sldId id="273" r:id="rId6"/>
    <p:sldId id="274" r:id="rId7"/>
    <p:sldId id="259" r:id="rId8"/>
    <p:sldId id="275" r:id="rId9"/>
    <p:sldId id="276" r:id="rId10"/>
    <p:sldId id="277" r:id="rId11"/>
    <p:sldId id="266" r:id="rId12"/>
    <p:sldId id="260" r:id="rId13"/>
    <p:sldId id="278" r:id="rId14"/>
    <p:sldId id="261" r:id="rId15"/>
    <p:sldId id="262" r:id="rId16"/>
    <p:sldId id="270" r:id="rId17"/>
    <p:sldId id="279" r:id="rId18"/>
    <p:sldId id="271" r:id="rId19"/>
    <p:sldId id="280" r:id="rId20"/>
    <p:sldId id="281" r:id="rId21"/>
    <p:sldId id="263" r:id="rId22"/>
    <p:sldId id="265" r:id="rId23"/>
  </p:sldIdLst>
  <p:sldSz cx="12192000" cy="6858000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0A303-C336-29F7-6139-90EE4C6D1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5A32E6-FD91-FB31-6366-6EAD0BF22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B85A69-7281-91E9-ED66-AA5CEA34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1BC48D-9372-D161-B467-67F40B71F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18F32-9191-6884-2E3F-54E4FD95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91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2E800-B493-8EBD-0BDD-7C486A24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BE4385-3595-A328-6260-C064B6A95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2AE7F-58F8-4A7F-609E-61B96D95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81338-DB51-08E1-AF75-BC05F119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8C2A8D-001E-C7C7-0698-8A5E9A2E6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288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2C440-2E4C-C15C-CC44-4047C768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44ADFA-D9E2-1A6C-6BFB-DB7BB658F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4858E7-8567-F895-542F-A3E8F632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64A9B8-14CA-36E4-FCA5-2C901183B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E19DB5-4B83-8CE6-37B5-624695F3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64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30552-53D3-51E8-D6FC-615F0A55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8B0ED8-5BEB-9982-0AF4-691AB30AC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69AED9-70C7-CD43-F307-A4EC191A5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50B978-96D8-8A81-AEA3-06F871B6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779F75-1913-E36F-0026-CEDDBD0C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29299A-CC18-2B90-8249-367783AB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40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B4600-7C08-2B56-DA39-EDDD9AB2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321288-7021-2402-1FAC-87E197DAE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D23B21-7CD7-F220-DF05-C50947976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F91150-6820-8CD6-C7CB-B62676A757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9F832A-A046-2955-7F15-700321F82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E79C48-9738-D74A-C820-BEBFD9048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59106F-83D7-0E5C-36C3-01833FA4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93547E-4773-114F-7D5F-D8646F043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216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BD141-1397-EA29-C889-979D669AB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4CAB13-66B1-BC01-26BC-766B1D57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1AE0AC-8247-31B3-D39B-2DD6A8E28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6A4FDE-6343-8F00-BAF4-C7D43060C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36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213FC2-5BE8-6B18-88FD-1F29DDE7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F96070-9D40-0883-E2A0-926D2449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D1670B-39C6-B5A9-0966-5E31BD771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08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A4BF6-555D-7C57-80AC-7EF67222A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812508-63C7-8508-0532-61B5220B3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000556-3A20-8705-1AA8-9C921EEDB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309E63-27EA-49BC-7F31-5FD2310D9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3CA70F-A82D-B8B2-DF85-731A748E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0FCD7E-5A05-2D09-B8AB-031842AF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346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D4628-530A-B252-55EC-AFC2151E7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DAF042-D9AC-CAA9-4949-D41C34162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B7E752-5E59-DFDA-8812-B08D1FD72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7DDDC2-FCBE-ABB0-9BE0-40E1BEF9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76D654-3298-F6BF-4509-01B794B3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A62056-11E0-101A-F808-6F133948A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49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C57C4E-454E-17E0-7E11-72A69656E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1E1EBB-46A1-6F7C-06C0-821903968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6478FF-2DF5-0E8C-5925-7E9911AD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E2196B-85CD-851F-35E7-D39E9CE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AEF7C8-6663-A36C-9065-080E435C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40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F36E58-479E-7DF8-EE39-41FD77F390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C22F63-0B96-439C-03EA-74D315499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E39384-E200-962A-4E20-FB3A312A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34FE80-EF0C-59CB-3D49-646B5BCE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CC6783-8ECD-BA04-B1FD-DF878832C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255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F8B32C-9814-87A4-706D-430135312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95EE5B-E794-B28B-4E56-D824199E8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3CA5CB-7E87-3ED3-EA38-853002A0C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84400-5333-4A24-ADB5-A03367ADB5CB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1A7C27-3CA2-195B-E92A-43CB3FB7A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7EB3E6-18F1-689A-8F4D-3690A35F0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05698-14F4-4115-9213-C0BE671065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822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70625" t="16656" b="25044"/>
          <a:stretch>
            <a:fillRect/>
          </a:stretch>
        </p:blipFill>
        <p:spPr>
          <a:xfrm>
            <a:off x="7469904" y="2424007"/>
            <a:ext cx="2980381" cy="1987324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8355" y="464837"/>
            <a:ext cx="11129102" cy="22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双缝干涉实验装置如图所示，双缝与屏之间的距离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=120cm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，两缝之间的距离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=0.50mm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，用波长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500nm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的单色光垂直照射双缝。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求原点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上方的第五级明条纹的坐标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(2) 如果用厚度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=1.0*10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折射率为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1. 5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的透明薄膜覆盖在图中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缝的后面，求上述第五级明条纹的坐标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x'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9B43FBB-841F-6115-0089-437FF7442179}"/>
                  </a:ext>
                </a:extLst>
              </p:cNvPr>
              <p:cNvSpPr txBox="1"/>
              <p:nvPr/>
            </p:nvSpPr>
            <p:spPr>
              <a:xfrm>
                <a:off x="2318151" y="3160801"/>
                <a:ext cx="1540743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9B43FBB-841F-6115-0089-437FF744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151" y="3160801"/>
                <a:ext cx="1540743" cy="338554"/>
              </a:xfrm>
              <a:prstGeom prst="rect">
                <a:avLst/>
              </a:prstGeom>
              <a:blipFill>
                <a:blip r:embed="rId3"/>
                <a:stretch>
                  <a:fillRect l="-3557" r="-3162" b="-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0E4C2EE-1FAE-84E7-1BC4-AE52DDE1A0CF}"/>
                  </a:ext>
                </a:extLst>
              </p:cNvPr>
              <p:cNvSpPr txBox="1"/>
              <p:nvPr/>
            </p:nvSpPr>
            <p:spPr>
              <a:xfrm>
                <a:off x="950343" y="3756101"/>
                <a:ext cx="1944149" cy="669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0E4C2EE-1FAE-84E7-1BC4-AE52DDE1A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43" y="3756101"/>
                <a:ext cx="1944149" cy="6699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FC5F91D-A9EF-C98C-43DA-016F3B5D3718}"/>
                  </a:ext>
                </a:extLst>
              </p:cNvPr>
              <p:cNvSpPr txBox="1"/>
              <p:nvPr/>
            </p:nvSpPr>
            <p:spPr>
              <a:xfrm>
                <a:off x="2894492" y="3819072"/>
                <a:ext cx="2768369" cy="543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𝑑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US" altLang="zh-CN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FC5F91D-A9EF-C98C-43DA-016F3B5D3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492" y="3819072"/>
                <a:ext cx="2768369" cy="543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A704993-2130-0502-6B1D-93BD10B7F34A}"/>
                  </a:ext>
                </a:extLst>
              </p:cNvPr>
              <p:cNvSpPr txBox="1"/>
              <p:nvPr/>
            </p:nvSpPr>
            <p:spPr>
              <a:xfrm>
                <a:off x="927986" y="4671460"/>
                <a:ext cx="6094602" cy="735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𝐷𝑘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1200×5×500×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∕0.50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A704993-2130-0502-6B1D-93BD10B7F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986" y="4671460"/>
                <a:ext cx="6094602" cy="7352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C0F1ADD-FCAD-71C1-5B40-3DE3B5BA4514}"/>
                  </a:ext>
                </a:extLst>
              </p:cNvPr>
              <p:cNvSpPr txBox="1"/>
              <p:nvPr/>
            </p:nvSpPr>
            <p:spPr>
              <a:xfrm>
                <a:off x="2216131" y="5622794"/>
                <a:ext cx="121328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6.0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C0F1ADD-FCAD-71C1-5B40-3DE3B5BA4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131" y="5622794"/>
                <a:ext cx="1213281" cy="338554"/>
              </a:xfrm>
              <a:prstGeom prst="rect">
                <a:avLst/>
              </a:prstGeom>
              <a:blipFill>
                <a:blip r:embed="rId7"/>
                <a:stretch>
                  <a:fillRect l="-1508" r="-4523"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C3672DA0-7FF7-6B6F-2075-219C06E08443}"/>
              </a:ext>
            </a:extLst>
          </p:cNvPr>
          <p:cNvSpPr txBox="1"/>
          <p:nvPr/>
        </p:nvSpPr>
        <p:spPr>
          <a:xfrm>
            <a:off x="623754" y="3106371"/>
            <a:ext cx="17763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解：</a:t>
            </a:r>
            <a:r>
              <a:rPr lang="zh-CN" altLang="en-US" sz="2200" dirty="0">
                <a:sym typeface="Wingdings" panose="05000000000000000000" pitchFamily="2" charset="2"/>
              </a:rPr>
              <a:t>（</a:t>
            </a:r>
            <a:r>
              <a:rPr lang="en-US" altLang="zh-CN" sz="2200" dirty="0">
                <a:sym typeface="Wingdings" panose="05000000000000000000" pitchFamily="2" charset="2"/>
              </a:rPr>
              <a:t>1</a:t>
            </a:r>
            <a:r>
              <a:rPr lang="zh-CN" altLang="en-US" sz="2200" dirty="0">
                <a:sym typeface="Wingdings" panose="05000000000000000000" pitchFamily="2" charset="2"/>
              </a:rPr>
              <a:t>）</a:t>
            </a:r>
            <a:endParaRPr lang="zh-CN" altLang="en-US" sz="22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A053E44-6E37-BDF2-CD90-C668ADDC9F09}"/>
              </a:ext>
            </a:extLst>
          </p:cNvPr>
          <p:cNvGrpSpPr/>
          <p:nvPr/>
        </p:nvGrpSpPr>
        <p:grpSpPr>
          <a:xfrm>
            <a:off x="7258100" y="4220996"/>
            <a:ext cx="3660790" cy="2324974"/>
            <a:chOff x="8829841" y="2415505"/>
            <a:chExt cx="3000654" cy="2026990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4C58183F-992E-424C-D833-C6C926628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29841" y="2415505"/>
              <a:ext cx="3000654" cy="2026990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8791BA9-2EA4-8C7A-69E4-F367936A22BA}"/>
                </a:ext>
              </a:extLst>
            </p:cNvPr>
            <p:cNvSpPr/>
            <p:nvPr/>
          </p:nvSpPr>
          <p:spPr>
            <a:xfrm>
              <a:off x="9815119" y="2889365"/>
              <a:ext cx="260059" cy="3991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D4268A5-3513-2B32-29F9-6ED9B0E7A1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7888" y="3098006"/>
              <a:ext cx="407193" cy="7143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83C8962-0074-B43D-A4CC-1BD24C58BFFF}"/>
              </a:ext>
            </a:extLst>
          </p:cNvPr>
          <p:cNvCxnSpPr>
            <a:cxnSpLocks/>
          </p:cNvCxnSpPr>
          <p:nvPr/>
        </p:nvCxnSpPr>
        <p:spPr>
          <a:xfrm>
            <a:off x="8134837" y="5149567"/>
            <a:ext cx="267678" cy="57711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弧形 24">
            <a:extLst>
              <a:ext uri="{FF2B5EF4-FFF2-40B4-BE49-F238E27FC236}">
                <a16:creationId xmlns:a16="http://schemas.microsoft.com/office/drawing/2014/main" id="{E06C3C65-29ED-F971-CAD0-945846B43E5D}"/>
              </a:ext>
            </a:extLst>
          </p:cNvPr>
          <p:cNvSpPr/>
          <p:nvPr/>
        </p:nvSpPr>
        <p:spPr>
          <a:xfrm rot="8742835">
            <a:off x="8113084" y="5251133"/>
            <a:ext cx="158750" cy="80456"/>
          </a:xfrm>
          <a:prstGeom prst="arc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47D2275-BAA1-00D4-BE7D-B34D2C9ECD88}"/>
                  </a:ext>
                </a:extLst>
              </p:cNvPr>
              <p:cNvSpPr txBox="1"/>
              <p:nvPr/>
            </p:nvSpPr>
            <p:spPr>
              <a:xfrm>
                <a:off x="7878376" y="5198817"/>
                <a:ext cx="2244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47D2275-BAA1-00D4-BE7D-B34D2C9EC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376" y="5198817"/>
                <a:ext cx="224406" cy="369332"/>
              </a:xfrm>
              <a:prstGeom prst="rect">
                <a:avLst/>
              </a:prstGeom>
              <a:blipFill>
                <a:blip r:embed="rId9"/>
                <a:stretch>
                  <a:fillRect r="-35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矩形 30">
            <a:extLst>
              <a:ext uri="{FF2B5EF4-FFF2-40B4-BE49-F238E27FC236}">
                <a16:creationId xmlns:a16="http://schemas.microsoft.com/office/drawing/2014/main" id="{16FA3C88-F5CE-EAC0-7C2D-5827D8B180C9}"/>
              </a:ext>
            </a:extLst>
          </p:cNvPr>
          <p:cNvSpPr/>
          <p:nvPr/>
        </p:nvSpPr>
        <p:spPr>
          <a:xfrm>
            <a:off x="10677592" y="5003830"/>
            <a:ext cx="114300" cy="145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C60372E-1CF0-4653-AE6B-5E943C1D9861}"/>
              </a:ext>
            </a:extLst>
          </p:cNvPr>
          <p:cNvGrpSpPr/>
          <p:nvPr/>
        </p:nvGrpSpPr>
        <p:grpSpPr>
          <a:xfrm>
            <a:off x="8122024" y="4791641"/>
            <a:ext cx="2052917" cy="852924"/>
            <a:chOff x="8122024" y="4791641"/>
            <a:chExt cx="2052917" cy="852924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9CACCE3B-CEB3-4209-8F5F-47D7E320547F}"/>
                </a:ext>
              </a:extLst>
            </p:cNvPr>
            <p:cNvCxnSpPr/>
            <p:nvPr/>
          </p:nvCxnSpPr>
          <p:spPr>
            <a:xfrm flipV="1">
              <a:off x="8122024" y="4791641"/>
              <a:ext cx="2052917" cy="712688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F1DF9064-B22D-45FA-A93B-C46F30662C01}"/>
                </a:ext>
              </a:extLst>
            </p:cNvPr>
            <p:cNvSpPr/>
            <p:nvPr/>
          </p:nvSpPr>
          <p:spPr>
            <a:xfrm>
              <a:off x="8567056" y="5358426"/>
              <a:ext cx="45719" cy="286139"/>
            </a:xfrm>
            <a:prstGeom prst="arc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41F41C0-2923-4338-901E-B420C1527794}"/>
                    </a:ext>
                  </a:extLst>
                </p:cNvPr>
                <p:cNvSpPr txBox="1"/>
                <p:nvPr/>
              </p:nvSpPr>
              <p:spPr>
                <a:xfrm>
                  <a:off x="8553282" y="5231471"/>
                  <a:ext cx="22440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41F41C0-2923-4338-901E-B420C1527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3282" y="5231471"/>
                  <a:ext cx="224406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351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4" grpId="0"/>
      <p:bldP spid="16" grpId="0"/>
      <p:bldP spid="17" grpId="0"/>
      <p:bldP spid="18" grpId="0"/>
      <p:bldP spid="25" grpId="0" animBg="1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FE6751-3859-FB5A-872F-BF9200586A90}"/>
              </a:ext>
            </a:extLst>
          </p:cNvPr>
          <p:cNvSpPr txBox="1"/>
          <p:nvPr/>
        </p:nvSpPr>
        <p:spPr>
          <a:xfrm>
            <a:off x="633652" y="2469688"/>
            <a:ext cx="38665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（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2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）从几何关系看，近似有</a:t>
            </a:r>
            <a:endParaRPr lang="zh-CN" altLang="en-US" sz="22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0A7C9F-2001-C24B-A841-7C70B4E6A37D}"/>
                  </a:ext>
                </a:extLst>
              </p:cNvPr>
              <p:cNvSpPr txBox="1"/>
              <p:nvPr/>
            </p:nvSpPr>
            <p:spPr>
              <a:xfrm>
                <a:off x="4874547" y="2311595"/>
                <a:ext cx="1626920" cy="659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0A7C9F-2001-C24B-A841-7C70B4E6A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547" y="2311595"/>
                <a:ext cx="1626920" cy="659604"/>
              </a:xfrm>
              <a:prstGeom prst="rect">
                <a:avLst/>
              </a:prstGeom>
              <a:blipFill>
                <a:blip r:embed="rId2"/>
                <a:stretch>
                  <a:fillRect b="-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0A15A129-6FEE-F1AB-4755-830D45642822}"/>
              </a:ext>
            </a:extLst>
          </p:cNvPr>
          <p:cNvSpPr txBox="1"/>
          <p:nvPr/>
        </p:nvSpPr>
        <p:spPr>
          <a:xfrm>
            <a:off x="868676" y="3096587"/>
            <a:ext cx="5632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+mn-ea"/>
              </a:rPr>
              <a:t>有透明薄膜时，两相干光线的光程差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B0368BC-3D79-B693-5FBC-8662CFCCAC55}"/>
                  </a:ext>
                </a:extLst>
              </p:cNvPr>
              <p:cNvSpPr txBox="1"/>
              <p:nvPr/>
            </p:nvSpPr>
            <p:spPr>
              <a:xfrm>
                <a:off x="1623549" y="3774748"/>
                <a:ext cx="2668295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𝑛𝑙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B0368BC-3D79-B693-5FBC-8662CFCCA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549" y="3774748"/>
                <a:ext cx="2668295" cy="338554"/>
              </a:xfrm>
              <a:prstGeom prst="rect">
                <a:avLst/>
              </a:prstGeom>
              <a:blipFill>
                <a:blip r:embed="rId3"/>
                <a:stretch>
                  <a:fillRect l="-1826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FDBAA64-7D23-E166-C831-3FB575CAB505}"/>
                  </a:ext>
                </a:extLst>
              </p:cNvPr>
              <p:cNvSpPr txBox="1"/>
              <p:nvPr/>
            </p:nvSpPr>
            <p:spPr>
              <a:xfrm>
                <a:off x="1719896" y="4427076"/>
                <a:ext cx="278030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FDBAA64-7D23-E166-C831-3FB575CAB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896" y="4427076"/>
                <a:ext cx="278030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2CEBE6E-E32D-9485-7CC2-6A4FAEA6A404}"/>
                  </a:ext>
                </a:extLst>
              </p:cNvPr>
              <p:cNvSpPr txBox="1"/>
              <p:nvPr/>
            </p:nvSpPr>
            <p:spPr>
              <a:xfrm>
                <a:off x="4478428" y="4336620"/>
                <a:ext cx="3156908" cy="578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US" altLang="zh-CN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2CEBE6E-E32D-9485-7CC2-6A4FAEA6A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428" y="4336620"/>
                <a:ext cx="3156908" cy="5781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E9E84C-08D6-27B4-1199-146FCA959CEE}"/>
                  </a:ext>
                </a:extLst>
              </p:cNvPr>
              <p:cNvSpPr txBox="1"/>
              <p:nvPr/>
            </p:nvSpPr>
            <p:spPr>
              <a:xfrm>
                <a:off x="1054486" y="5039144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200" dirty="0">
                    <a:latin typeface="+mn-ea"/>
                  </a:rPr>
                  <a:t>第</a:t>
                </a:r>
                <a:r>
                  <a:rPr lang="en-US" altLang="zh-CN" sz="2200" i="1" dirty="0">
                    <a:latin typeface="+mn-ea"/>
                  </a:rPr>
                  <a:t>k </a:t>
                </a:r>
                <a:r>
                  <a:rPr lang="zh-CN" altLang="en-US" sz="2200" dirty="0">
                    <a:latin typeface="+mn-ea"/>
                  </a:rPr>
                  <a:t>级明纹</a:t>
                </a:r>
                <a14:m>
                  <m:oMath xmlns:m="http://schemas.openxmlformats.org/officeDocument/2006/math">
                    <m:r>
                      <a:rPr lang="zh-CN" altLang="en-US" sz="2200" i="1" dirty="0">
                        <a:latin typeface="Cambria Math" panose="02040503050406030204" pitchFamily="18" charset="0"/>
                      </a:rPr>
                      <m:t>，干涉相长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E9E84C-08D6-27B4-1199-146FCA959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486" y="5039144"/>
                <a:ext cx="4630723" cy="430887"/>
              </a:xfrm>
              <a:prstGeom prst="rect">
                <a:avLst/>
              </a:prstGeom>
              <a:blipFill>
                <a:blip r:embed="rId6"/>
                <a:stretch>
                  <a:fillRect l="-1711" t="-8571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71F4CFCC-346B-81C0-A372-60496DDEBEA1}"/>
              </a:ext>
            </a:extLst>
          </p:cNvPr>
          <p:cNvSpPr txBox="1"/>
          <p:nvPr/>
        </p:nvSpPr>
        <p:spPr>
          <a:xfrm>
            <a:off x="1054486" y="5804446"/>
            <a:ext cx="30973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+mn-ea"/>
              </a:rPr>
              <a:t>明纹坐标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F29B0E6-BA36-2EFF-A066-8EAD0B7ED8FE}"/>
                  </a:ext>
                </a:extLst>
              </p:cNvPr>
              <p:cNvSpPr txBox="1"/>
              <p:nvPr/>
            </p:nvSpPr>
            <p:spPr>
              <a:xfrm>
                <a:off x="2220241" y="5641792"/>
                <a:ext cx="3156908" cy="750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altLang="zh-CN" sz="2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BF29B0E6-BA36-2EFF-A066-8EAD0B7ED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241" y="5641792"/>
                <a:ext cx="3156908" cy="7500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35374B-5C04-6426-6A93-CC9E1B1C519B}"/>
                  </a:ext>
                </a:extLst>
              </p:cNvPr>
              <p:cNvSpPr txBox="1"/>
              <p:nvPr/>
            </p:nvSpPr>
            <p:spPr>
              <a:xfrm>
                <a:off x="5159829" y="5815506"/>
                <a:ext cx="6937095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=1200×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1.58−1</m:t>
                            </m:r>
                          </m:e>
                        </m:d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×0.01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5×5×</m:t>
                        </m:r>
                        <m:sSup>
                          <m:sSup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∕0.50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𝑚𝑚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A35374B-5C04-6426-6A93-CC9E1B1C5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829" y="5815506"/>
                <a:ext cx="6937095" cy="430887"/>
              </a:xfrm>
              <a:prstGeom prst="rect">
                <a:avLst/>
              </a:prstGeom>
              <a:blipFill>
                <a:blip r:embed="rId8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4A2063F-9894-9CF8-BBA0-DA179DB3B04B}"/>
                  </a:ext>
                </a:extLst>
              </p:cNvPr>
              <p:cNvSpPr txBox="1"/>
              <p:nvPr/>
            </p:nvSpPr>
            <p:spPr>
              <a:xfrm>
                <a:off x="5159829" y="6346832"/>
                <a:ext cx="201755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19.92 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4A2063F-9894-9CF8-BBA0-DA179DB3B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829" y="6346832"/>
                <a:ext cx="2017554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2BBF7E85-4A6D-4417-AA06-9AE2055084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4667" y="2311595"/>
            <a:ext cx="4330663" cy="292543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70D15F8B-0D26-49D4-90BB-64818CFE1D83}"/>
              </a:ext>
            </a:extLst>
          </p:cNvPr>
          <p:cNvSpPr/>
          <p:nvPr/>
        </p:nvSpPr>
        <p:spPr>
          <a:xfrm>
            <a:off x="638355" y="105611"/>
            <a:ext cx="11129102" cy="22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双缝干涉实验装置如图所示，双缝与屏之间的距离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=120cm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，两缝之间的距离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=0.50mm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，用波长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500nm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的单色光垂直照射双缝。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求原点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上方的第五级明条纹的坐标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(2) 如果用厚度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=1.0*10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折射率为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1. 5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的透明薄膜覆盖在图中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缝的后面，求上述第五级明条纹的坐标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x'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898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11" grpId="0"/>
      <p:bldP spid="13" grpId="0"/>
      <p:bldP spid="14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73040" y="432179"/>
            <a:ext cx="11166748" cy="2713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如果有一双缝被波长为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= 600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nm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的平行单色光照射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入射角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l-GR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π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/6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，双缝平面与屏幕之间的垂直距是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，两缝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间距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 2mm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，试求：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中央明条纹落在屏上什么位置?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(2) 这时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&lt;0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一侧的第K级明纹落在什么位置?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(3) 若在一缝上盖一折射率为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1. 5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的云母片，恰好又使中央明纹落在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点，则此云母片应盖在哪条缝上，其厚度应为多少?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7754" y="3290887"/>
            <a:ext cx="5467350" cy="26289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14CCB6B-6BEC-47CF-86A1-F2233616F6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5307"/>
          <a:stretch/>
        </p:blipFill>
        <p:spPr>
          <a:xfrm>
            <a:off x="993963" y="3428999"/>
            <a:ext cx="5019675" cy="5809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82C1170-AF8C-7F4F-BAAD-20F1F0CFED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7552"/>
          <a:stretch/>
        </p:blipFill>
        <p:spPr>
          <a:xfrm>
            <a:off x="1237050" y="5156389"/>
            <a:ext cx="5019675" cy="76339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2FC92C8-74A3-1379-C116-966610CFBA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635" b="40917"/>
          <a:stretch/>
        </p:blipFill>
        <p:spPr>
          <a:xfrm>
            <a:off x="1156021" y="4227814"/>
            <a:ext cx="5019675" cy="7633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9517089-7CB3-48F3-AC7D-1762984233C1}"/>
                  </a:ext>
                </a:extLst>
              </p:cNvPr>
              <p:cNvSpPr txBox="1"/>
              <p:nvPr/>
            </p:nvSpPr>
            <p:spPr>
              <a:xfrm>
                <a:off x="1963057" y="6087267"/>
                <a:ext cx="546735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200" dirty="0"/>
                  <a:t>不满足近似条件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9517089-7CB3-48F3-AC7D-176298423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057" y="6087267"/>
                <a:ext cx="5467350" cy="338554"/>
              </a:xfrm>
              <a:prstGeom prst="rect">
                <a:avLst/>
              </a:prstGeom>
              <a:blipFill>
                <a:blip r:embed="rId5"/>
                <a:stretch>
                  <a:fillRect l="-1226" t="-25455" b="-5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7F56524F-CF29-43ED-B3B4-F82BF45401E9}"/>
              </a:ext>
            </a:extLst>
          </p:cNvPr>
          <p:cNvGrpSpPr/>
          <p:nvPr/>
        </p:nvGrpSpPr>
        <p:grpSpPr>
          <a:xfrm>
            <a:off x="5453744" y="4419504"/>
            <a:ext cx="424543" cy="435430"/>
            <a:chOff x="8077200" y="6346370"/>
            <a:chExt cx="424543" cy="435430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11B5B728-57C1-463F-97F9-731FCDB1160D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0" y="6346371"/>
              <a:ext cx="424543" cy="435429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EF16EA0B-7C6A-4F4A-B677-FCCB3DC1F3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77200" y="6346370"/>
              <a:ext cx="391886" cy="43543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8F01483-CADB-460F-A4DF-DA9B225EA1E9}"/>
              </a:ext>
            </a:extLst>
          </p:cNvPr>
          <p:cNvCxnSpPr>
            <a:cxnSpLocks/>
          </p:cNvCxnSpPr>
          <p:nvPr/>
        </p:nvCxnSpPr>
        <p:spPr>
          <a:xfrm flipH="1" flipV="1">
            <a:off x="7162799" y="4605337"/>
            <a:ext cx="381000" cy="641578"/>
          </a:xfrm>
          <a:prstGeom prst="line">
            <a:avLst/>
          </a:prstGeom>
          <a:ln w="444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FD71F0F-8BA0-4F4E-AA2F-336AB762D6D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7268" y="558575"/>
            <a:ext cx="5467350" cy="2628900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C200D3A-790B-4005-87D5-A30BDCBE17BF}"/>
              </a:ext>
            </a:extLst>
          </p:cNvPr>
          <p:cNvCxnSpPr>
            <a:cxnSpLocks/>
          </p:cNvCxnSpPr>
          <p:nvPr/>
        </p:nvCxnSpPr>
        <p:spPr>
          <a:xfrm flipH="1" flipV="1">
            <a:off x="6531428" y="1873025"/>
            <a:ext cx="381000" cy="641578"/>
          </a:xfrm>
          <a:prstGeom prst="line">
            <a:avLst/>
          </a:prstGeom>
          <a:ln w="444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FC47F4-42FE-4A71-8BB1-0AD074B29850}"/>
                  </a:ext>
                </a:extLst>
              </p:cNvPr>
              <p:cNvSpPr txBox="1"/>
              <p:nvPr/>
            </p:nvSpPr>
            <p:spPr>
              <a:xfrm>
                <a:off x="1088066" y="831259"/>
                <a:ext cx="349482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200" b="0" dirty="0"/>
                  <a:t>斜入射</a:t>
                </a:r>
                <a14:m>
                  <m:oMath xmlns:m="http://schemas.openxmlformats.org/officeDocument/2006/math">
                    <m:r>
                      <a:rPr lang="zh-CN" altLang="en-US" sz="2200" i="1" dirty="0">
                        <a:latin typeface="Cambria Math" panose="02040503050406030204" pitchFamily="18" charset="0"/>
                      </a:rPr>
                      <m:t>双缝</m:t>
                    </m:r>
                    <m:r>
                      <a:rPr lang="zh-CN" altLang="en-US" sz="2200" i="1" dirty="0" smtClean="0">
                        <a:latin typeface="Cambria Math" panose="02040503050406030204" pitchFamily="18" charset="0"/>
                      </a:rPr>
                      <m:t>前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2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FC47F4-42FE-4A71-8BB1-0AD074B29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66" y="831259"/>
                <a:ext cx="3494820" cy="338554"/>
              </a:xfrm>
              <a:prstGeom prst="rect">
                <a:avLst/>
              </a:prstGeom>
              <a:blipFill>
                <a:blip r:embed="rId4"/>
                <a:stretch>
                  <a:fillRect l="-4878" t="-23214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D35E7B0-4D93-4C7E-8A30-7F994584818E}"/>
                  </a:ext>
                </a:extLst>
              </p:cNvPr>
              <p:cNvSpPr txBox="1"/>
              <p:nvPr/>
            </p:nvSpPr>
            <p:spPr>
              <a:xfrm>
                <a:off x="1071511" y="1933150"/>
                <a:ext cx="349482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2200" b="0" dirty="0"/>
                  <a:t>出射双缝</a:t>
                </a:r>
                <a14:m>
                  <m:oMath xmlns:m="http://schemas.openxmlformats.org/officeDocument/2006/math">
                    <m:r>
                      <a:rPr lang="zh-CN" altLang="en-US" sz="2200" i="1" dirty="0">
                        <a:latin typeface="Cambria Math" panose="02040503050406030204" pitchFamily="18" charset="0"/>
                      </a:rPr>
                      <m:t>后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l-GR" altLang="zh-CN" sz="22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  <m:r>
                          <m:rPr>
                            <m:nor/>
                          </m:rPr>
                          <a:rPr lang="zh-CN" altLang="en-US" sz="2200" b="1" i="1" dirty="0"/>
                          <m:t> </m:t>
                        </m:r>
                      </m:e>
                    </m:func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D35E7B0-4D93-4C7E-8A30-7F9945848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11" y="1933150"/>
                <a:ext cx="3494820" cy="338554"/>
              </a:xfrm>
              <a:prstGeom prst="rect">
                <a:avLst/>
              </a:prstGeom>
              <a:blipFill>
                <a:blip r:embed="rId5"/>
                <a:stretch>
                  <a:fillRect l="-4887" t="-23214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组合 30">
            <a:extLst>
              <a:ext uri="{FF2B5EF4-FFF2-40B4-BE49-F238E27FC236}">
                <a16:creationId xmlns:a16="http://schemas.microsoft.com/office/drawing/2014/main" id="{4865E490-BB07-4396-A48D-19384E4F34AF}"/>
              </a:ext>
            </a:extLst>
          </p:cNvPr>
          <p:cNvGrpSpPr/>
          <p:nvPr/>
        </p:nvGrpSpPr>
        <p:grpSpPr>
          <a:xfrm>
            <a:off x="6781799" y="1660204"/>
            <a:ext cx="457201" cy="745541"/>
            <a:chOff x="7478485" y="1507802"/>
            <a:chExt cx="457201" cy="745541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22C65B0-F04B-41CE-B914-9C61EE978A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74428" y="1507802"/>
              <a:ext cx="261258" cy="745541"/>
            </a:xfrm>
            <a:prstGeom prst="line">
              <a:avLst/>
            </a:prstGeom>
            <a:ln w="44450">
              <a:solidFill>
                <a:srgbClr val="0000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弧形 11">
              <a:extLst>
                <a:ext uri="{FF2B5EF4-FFF2-40B4-BE49-F238E27FC236}">
                  <a16:creationId xmlns:a16="http://schemas.microsoft.com/office/drawing/2014/main" id="{F44BA602-504E-4B0F-87ED-981152D2D25D}"/>
                </a:ext>
              </a:extLst>
            </p:cNvPr>
            <p:cNvSpPr/>
            <p:nvPr/>
          </p:nvSpPr>
          <p:spPr>
            <a:xfrm flipV="1">
              <a:off x="7478485" y="1720623"/>
              <a:ext cx="381000" cy="348344"/>
            </a:xfrm>
            <a:prstGeom prst="arc">
              <a:avLst>
                <a:gd name="adj1" fmla="val 16200000"/>
                <a:gd name="adj2" fmla="val 20317770"/>
              </a:avLst>
            </a:prstGeom>
            <a:ln w="2222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FF07AD58-B828-42D1-BC7E-4D70F4EE204B}"/>
              </a:ext>
            </a:extLst>
          </p:cNvPr>
          <p:cNvCxnSpPr/>
          <p:nvPr/>
        </p:nvCxnSpPr>
        <p:spPr>
          <a:xfrm flipH="1" flipV="1">
            <a:off x="7075714" y="2264229"/>
            <a:ext cx="413657" cy="155665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64F6156-A040-490E-9B4D-9B1FF12153CA}"/>
              </a:ext>
            </a:extLst>
          </p:cNvPr>
          <p:cNvSpPr txBox="1"/>
          <p:nvPr/>
        </p:nvSpPr>
        <p:spPr>
          <a:xfrm>
            <a:off x="7587343" y="3582347"/>
            <a:ext cx="60960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l-G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endParaRPr lang="zh-CN" altLang="en-US" sz="2200" b="1" i="1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F76651F-228C-44A8-8358-B2F751DAA9DA}"/>
              </a:ext>
            </a:extLst>
          </p:cNvPr>
          <p:cNvGrpSpPr/>
          <p:nvPr/>
        </p:nvGrpSpPr>
        <p:grpSpPr>
          <a:xfrm>
            <a:off x="6977742" y="1358755"/>
            <a:ext cx="3712029" cy="813623"/>
            <a:chOff x="7674428" y="1206353"/>
            <a:chExt cx="3712029" cy="813623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75575C6-2C8D-444B-AEAF-A726F5EB71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4428" y="1206353"/>
              <a:ext cx="3712029" cy="687762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8D27C90A-E170-4962-9EDA-51C326F5C40A}"/>
                </a:ext>
              </a:extLst>
            </p:cNvPr>
            <p:cNvSpPr/>
            <p:nvPr/>
          </p:nvSpPr>
          <p:spPr>
            <a:xfrm rot="17433885" flipV="1">
              <a:off x="8349345" y="1655304"/>
              <a:ext cx="381000" cy="348344"/>
            </a:xfrm>
            <a:prstGeom prst="arc">
              <a:avLst>
                <a:gd name="adj1" fmla="val 16200000"/>
                <a:gd name="adj2" fmla="val 20317770"/>
              </a:avLst>
            </a:prstGeom>
            <a:ln w="2222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5546D2B-1E2E-4AD1-966B-565930D49164}"/>
                </a:ext>
              </a:extLst>
            </p:cNvPr>
            <p:cNvSpPr txBox="1"/>
            <p:nvPr/>
          </p:nvSpPr>
          <p:spPr>
            <a:xfrm>
              <a:off x="8860048" y="1589934"/>
              <a:ext cx="609600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l-GR" altLang="zh-CN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φ</a:t>
              </a:r>
              <a:endParaRPr lang="zh-CN" altLang="en-US" sz="2200" b="1" i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30527B5-3850-4F65-8218-3618AAB31606}"/>
                  </a:ext>
                </a:extLst>
              </p:cNvPr>
              <p:cNvSpPr txBox="1"/>
              <p:nvPr/>
            </p:nvSpPr>
            <p:spPr>
              <a:xfrm>
                <a:off x="1041432" y="1363736"/>
                <a:ext cx="546735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30527B5-3850-4F65-8218-3618AAB31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32" y="1363736"/>
                <a:ext cx="5467350" cy="338554"/>
              </a:xfrm>
              <a:prstGeom prst="rect">
                <a:avLst/>
              </a:prstGeom>
              <a:blipFill>
                <a:blip r:embed="rId6"/>
                <a:stretch>
                  <a:fillRect l="-780" b="-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33BD357-CF1E-4A39-93E4-7F273A1AA70D}"/>
                  </a:ext>
                </a:extLst>
              </p:cNvPr>
              <p:cNvSpPr txBox="1"/>
              <p:nvPr/>
            </p:nvSpPr>
            <p:spPr>
              <a:xfrm>
                <a:off x="1259331" y="3566887"/>
                <a:ext cx="2817822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altLang="zh-CN" sz="2200" dirty="0"/>
                  <a:t>+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l-GR" altLang="zh-CN" sz="22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func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33BD357-CF1E-4A39-93E4-7F273A1AA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331" y="3566887"/>
                <a:ext cx="2817822" cy="338554"/>
              </a:xfrm>
              <a:prstGeom prst="rect">
                <a:avLst/>
              </a:prstGeom>
              <a:blipFill>
                <a:blip r:embed="rId7"/>
                <a:stretch>
                  <a:fillRect l="-3680" t="-23214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3C8B33D3-5EF7-4FA8-8663-701586A20DA4}"/>
              </a:ext>
            </a:extLst>
          </p:cNvPr>
          <p:cNvSpPr txBox="1"/>
          <p:nvPr/>
        </p:nvSpPr>
        <p:spPr>
          <a:xfrm>
            <a:off x="1049513" y="4234323"/>
            <a:ext cx="349482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200" dirty="0"/>
              <a:t>中央明纹位置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A3AAD9C-2753-40C8-9636-77EC2353DE64}"/>
                  </a:ext>
                </a:extLst>
              </p:cNvPr>
              <p:cNvSpPr txBox="1"/>
              <p:nvPr/>
            </p:nvSpPr>
            <p:spPr>
              <a:xfrm>
                <a:off x="1485906" y="4868577"/>
                <a:ext cx="2817822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altLang="zh-CN" sz="2200" dirty="0"/>
                  <a:t>+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m:rPr>
                            <m:nor/>
                          </m:rPr>
                          <a:rPr lang="el-GR" altLang="zh-CN" sz="22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φ</m:t>
                        </m:r>
                      </m:e>
                    </m:func>
                  </m:oMath>
                </a14:m>
                <a:r>
                  <a:rPr lang="en-US" altLang="zh-CN" sz="2200" dirty="0"/>
                  <a:t>=0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A3AAD9C-2753-40C8-9636-77EC2353D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6" y="4868577"/>
                <a:ext cx="2817822" cy="338554"/>
              </a:xfrm>
              <a:prstGeom prst="rect">
                <a:avLst/>
              </a:prstGeom>
              <a:blipFill>
                <a:blip r:embed="rId8"/>
                <a:stretch>
                  <a:fillRect l="-3680" t="-25455" r="-1948" b="-5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箭头: 右 27">
            <a:extLst>
              <a:ext uri="{FF2B5EF4-FFF2-40B4-BE49-F238E27FC236}">
                <a16:creationId xmlns:a16="http://schemas.microsoft.com/office/drawing/2014/main" id="{77F84F6A-67E0-4694-B6F9-272D5B92A389}"/>
              </a:ext>
            </a:extLst>
          </p:cNvPr>
          <p:cNvSpPr/>
          <p:nvPr/>
        </p:nvSpPr>
        <p:spPr>
          <a:xfrm>
            <a:off x="1232116" y="5553462"/>
            <a:ext cx="555171" cy="215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2F12127-EC42-4743-B00F-27D512863A3D}"/>
                  </a:ext>
                </a:extLst>
              </p:cNvPr>
              <p:cNvSpPr txBox="1"/>
              <p:nvPr/>
            </p:nvSpPr>
            <p:spPr>
              <a:xfrm>
                <a:off x="4664480" y="5421314"/>
                <a:ext cx="315690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tg</m:t>
                    </m:r>
                  </m:oMath>
                </a14:m>
                <a:r>
                  <a:rPr lang="el-GR" altLang="zh-CN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22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φ</m:t>
                    </m:r>
                    <m:r>
                      <a:rPr lang="el-GR" altLang="zh-CN" sz="2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200" dirty="0"/>
                  <a:t>=0.58 m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2F12127-EC42-4743-B00F-27D512863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480" y="5421314"/>
                <a:ext cx="3156908" cy="430887"/>
              </a:xfrm>
              <a:prstGeom prst="rect">
                <a:avLst/>
              </a:prstGeom>
              <a:blipFill>
                <a:blip r:embed="rId9"/>
                <a:stretch>
                  <a:fillRect t="-7042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93FEDB8-E0E2-490D-A2A1-5EECFA878DC2}"/>
                  </a:ext>
                </a:extLst>
              </p:cNvPr>
              <p:cNvSpPr txBox="1"/>
              <p:nvPr/>
            </p:nvSpPr>
            <p:spPr>
              <a:xfrm>
                <a:off x="2182798" y="5467481"/>
                <a:ext cx="2817822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22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φ</m:t>
                    </m:r>
                    <m:r>
                      <a:rPr lang="el-GR" altLang="zh-CN" sz="2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200" dirty="0"/>
                  <a:t>=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93FEDB8-E0E2-490D-A2A1-5EECFA878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798" y="5467481"/>
                <a:ext cx="2817822" cy="338554"/>
              </a:xfrm>
              <a:prstGeom prst="rect">
                <a:avLst/>
              </a:prstGeom>
              <a:blipFill>
                <a:blip r:embed="rId10"/>
                <a:stretch>
                  <a:fillRect l="-3463" t="-23636" b="-5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箭头: 右 33">
            <a:extLst>
              <a:ext uri="{FF2B5EF4-FFF2-40B4-BE49-F238E27FC236}">
                <a16:creationId xmlns:a16="http://schemas.microsoft.com/office/drawing/2014/main" id="{B2777A88-7B3E-4660-95F2-CF0F213A936C}"/>
              </a:ext>
            </a:extLst>
          </p:cNvPr>
          <p:cNvSpPr/>
          <p:nvPr/>
        </p:nvSpPr>
        <p:spPr>
          <a:xfrm>
            <a:off x="3454432" y="5534114"/>
            <a:ext cx="555171" cy="215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188A510-8C13-49DB-A841-EB267428E40E}"/>
                  </a:ext>
                </a:extLst>
              </p:cNvPr>
              <p:cNvSpPr txBox="1"/>
              <p:nvPr/>
            </p:nvSpPr>
            <p:spPr>
              <a:xfrm>
                <a:off x="1875240" y="2502483"/>
                <a:ext cx="3156908" cy="735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el-GR" altLang="zh-CN" sz="22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φ</m:t>
                          </m:r>
                        </m:e>
                      </m:func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2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nor/>
                                </m:rPr>
                                <a:rPr lang="en-US" altLang="zh-CN" sz="2200" b="1" i="1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b="1" baseline="300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b="1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b="1" i="1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b="1" baseline="3000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188A510-8C13-49DB-A841-EB267428E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240" y="2502483"/>
                <a:ext cx="3156908" cy="73552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95A0E236-D220-403E-B3A4-AE8612B4586B}"/>
              </a:ext>
            </a:extLst>
          </p:cNvPr>
          <p:cNvSpPr txBox="1"/>
          <p:nvPr/>
        </p:nvSpPr>
        <p:spPr>
          <a:xfrm>
            <a:off x="6692539" y="1304695"/>
            <a:ext cx="60960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200" b="1" i="1" dirty="0">
              <a:solidFill>
                <a:srgbClr val="C0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16F025D-D98F-4A53-9555-DE49AFA1CE4F}"/>
              </a:ext>
            </a:extLst>
          </p:cNvPr>
          <p:cNvSpPr txBox="1"/>
          <p:nvPr/>
        </p:nvSpPr>
        <p:spPr>
          <a:xfrm>
            <a:off x="6672942" y="2571110"/>
            <a:ext cx="60960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200" b="1" i="1" dirty="0">
              <a:solidFill>
                <a:srgbClr val="C00000"/>
              </a:solidFill>
            </a:endParaRPr>
          </a:p>
        </p:txBody>
      </p:sp>
      <p:sp>
        <p:nvSpPr>
          <p:cNvPr id="36" name="文本框 23">
            <a:extLst>
              <a:ext uri="{FF2B5EF4-FFF2-40B4-BE49-F238E27FC236}">
                <a16:creationId xmlns:a16="http://schemas.microsoft.com/office/drawing/2014/main" id="{95A0E236-D220-403E-B3A4-AE8612B4586B}"/>
              </a:ext>
            </a:extLst>
          </p:cNvPr>
          <p:cNvSpPr txBox="1"/>
          <p:nvPr/>
        </p:nvSpPr>
        <p:spPr>
          <a:xfrm>
            <a:off x="7216139" y="2351183"/>
            <a:ext cx="60960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200" b="1" i="1" dirty="0">
              <a:solidFill>
                <a:srgbClr val="C00000"/>
              </a:solidFill>
            </a:endParaRPr>
          </a:p>
        </p:txBody>
      </p:sp>
      <p:sp>
        <p:nvSpPr>
          <p:cNvPr id="37" name="文本框 23">
            <a:extLst>
              <a:ext uri="{FF2B5EF4-FFF2-40B4-BE49-F238E27FC236}">
                <a16:creationId xmlns:a16="http://schemas.microsoft.com/office/drawing/2014/main" id="{95A0E236-D220-403E-B3A4-AE8612B4586B}"/>
              </a:ext>
            </a:extLst>
          </p:cNvPr>
          <p:cNvSpPr txBox="1"/>
          <p:nvPr/>
        </p:nvSpPr>
        <p:spPr>
          <a:xfrm>
            <a:off x="6679593" y="1893054"/>
            <a:ext cx="60960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22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531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21" grpId="0"/>
      <p:bldP spid="25" grpId="0"/>
      <p:bldP spid="26" grpId="0"/>
      <p:bldP spid="27" grpId="0"/>
      <p:bldP spid="28" grpId="0" animBg="1"/>
      <p:bldP spid="30" grpId="0"/>
      <p:bldP spid="33" grpId="0"/>
      <p:bldP spid="34" grpId="0" animBg="1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8EF1BE9-5B23-4560-AB05-F5D3DC5AE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6" y="372656"/>
            <a:ext cx="10376291" cy="284098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251253E-EFCF-38E4-CA5F-4AD8FB2C92A2}"/>
              </a:ext>
            </a:extLst>
          </p:cNvPr>
          <p:cNvGrpSpPr/>
          <p:nvPr/>
        </p:nvGrpSpPr>
        <p:grpSpPr>
          <a:xfrm>
            <a:off x="6784374" y="3333206"/>
            <a:ext cx="5468586" cy="3056346"/>
            <a:chOff x="6723414" y="3429000"/>
            <a:chExt cx="5468586" cy="305634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70BCB2A-D394-4430-86CB-F7BB2A44B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3414" y="3429000"/>
              <a:ext cx="5468586" cy="2627604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EA69C8A-9CB2-237D-09E7-9DDBFF732C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2844" t="-1" r="9077" b="12651"/>
            <a:stretch/>
          </p:blipFill>
          <p:spPr>
            <a:xfrm rot="10860000" flipH="1">
              <a:off x="7964625" y="4190111"/>
              <a:ext cx="3722913" cy="2295235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ED2A0CB-41BF-753A-053E-9CCEACDEE143}"/>
                </a:ext>
              </a:extLst>
            </p:cNvPr>
            <p:cNvSpPr/>
            <p:nvPr/>
          </p:nvSpPr>
          <p:spPr>
            <a:xfrm>
              <a:off x="8064137" y="4014651"/>
              <a:ext cx="2255520" cy="3657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80842CA-6745-58AD-90A4-E758DE421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775062" y="5417437"/>
              <a:ext cx="314325" cy="800100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238C6D3-E9EC-9368-B029-3F2F0FD66CDF}"/>
                </a:ext>
              </a:extLst>
            </p:cNvPr>
            <p:cNvSpPr/>
            <p:nvPr/>
          </p:nvSpPr>
          <p:spPr>
            <a:xfrm>
              <a:off x="11762408" y="4014651"/>
              <a:ext cx="374468" cy="7315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88F2133-A631-57FE-740D-152578411EC4}"/>
                </a:ext>
              </a:extLst>
            </p:cNvPr>
            <p:cNvSpPr/>
            <p:nvPr/>
          </p:nvSpPr>
          <p:spPr>
            <a:xfrm>
              <a:off x="8386355" y="4989385"/>
              <a:ext cx="256902" cy="3657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CC7D4B6-45B1-8723-81EB-3C1D4BB96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00506" y="5012517"/>
              <a:ext cx="228600" cy="3143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559F4A3-A517-497C-96B8-DD4983C92C8F}"/>
                  </a:ext>
                </a:extLst>
              </p:cNvPr>
              <p:cNvSpPr txBox="1"/>
              <p:nvPr/>
            </p:nvSpPr>
            <p:spPr>
              <a:xfrm>
                <a:off x="1481188" y="3918857"/>
                <a:ext cx="4818470" cy="5970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5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500" i="1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CN" sz="25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5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zh-CN" altLang="en-US" sz="25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altLang="zh-CN" sz="2500" dirty="0"/>
                  <a:t>+</a:t>
                </a:r>
                <a14:m>
                  <m:oMath xmlns:m="http://schemas.openxmlformats.org/officeDocument/2006/math">
                    <m:r>
                      <a:rPr lang="en-US" altLang="zh-CN" sz="2500" i="1">
                        <a:latin typeface="Cambria Math" panose="02040503050406030204" pitchFamily="18" charset="0"/>
                      </a:rPr>
                      <m:t>𝑑</m:t>
                    </m:r>
                    <m:f>
                      <m:fPr>
                        <m:ctrlPr>
                          <a:rPr lang="en-US" altLang="zh-CN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500" b="1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en-US" altLang="zh-CN" sz="2500" b="1" i="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x</m:t>
                            </m:r>
                            <m:r>
                              <m:rPr>
                                <m:nor/>
                              </m:rPr>
                              <a:rPr lang="en-US" altLang="zh-CN" sz="2500" b="1" baseline="30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zh-CN" sz="2500" b="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altLang="zh-CN" sz="2500" b="1" i="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m:rPr>
                                <m:nor/>
                              </m:rPr>
                              <a:rPr lang="en-US" altLang="zh-CN" sz="2500" b="1" baseline="30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l-GR" altLang="zh-CN" sz="2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en-US" sz="25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559F4A3-A517-497C-96B8-DD4983C92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188" y="3918857"/>
                <a:ext cx="4818470" cy="597023"/>
              </a:xfrm>
              <a:prstGeom prst="rect">
                <a:avLst/>
              </a:prstGeom>
              <a:blipFill>
                <a:blip r:embed="rId7"/>
                <a:stretch>
                  <a:fillRect t="-7143" b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7BF0CE1D-B492-4C34-9149-8E999F62296E}"/>
              </a:ext>
            </a:extLst>
          </p:cNvPr>
          <p:cNvSpPr txBox="1"/>
          <p:nvPr/>
        </p:nvSpPr>
        <p:spPr>
          <a:xfrm>
            <a:off x="723296" y="3333206"/>
            <a:ext cx="38665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（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2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）光程差</a:t>
            </a:r>
            <a:endParaRPr lang="zh-CN" altLang="en-US" sz="2200" dirty="0">
              <a:latin typeface="+mn-ea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A9943C57-FE0A-4DC2-B2E0-65375322B456}"/>
              </a:ext>
            </a:extLst>
          </p:cNvPr>
          <p:cNvSpPr/>
          <p:nvPr/>
        </p:nvSpPr>
        <p:spPr>
          <a:xfrm>
            <a:off x="1619219" y="5043907"/>
            <a:ext cx="555171" cy="215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E1DD6C8-A9DA-4017-A3C9-7B98B4020075}"/>
                  </a:ext>
                </a:extLst>
              </p:cNvPr>
              <p:cNvSpPr txBox="1"/>
              <p:nvPr/>
            </p:nvSpPr>
            <p:spPr>
              <a:xfrm>
                <a:off x="2429035" y="4924777"/>
                <a:ext cx="3156908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=？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E1DD6C8-A9DA-4017-A3C9-7B98B4020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035" y="4924777"/>
                <a:ext cx="3156908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074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D23BECA-7FF8-4BC4-B4B5-360AB9DEE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61" y="588018"/>
            <a:ext cx="10376291" cy="28409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A74AB1E-621C-4BE6-9C57-8E2B71EE83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796"/>
          <a:stretch/>
        </p:blipFill>
        <p:spPr>
          <a:xfrm>
            <a:off x="1107347" y="3695464"/>
            <a:ext cx="4804095" cy="49064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A92C726-A27E-F10C-E97E-95F7CD696A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851"/>
          <a:stretch/>
        </p:blipFill>
        <p:spPr>
          <a:xfrm>
            <a:off x="1107347" y="4962087"/>
            <a:ext cx="4804095" cy="95346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8F95413-71AF-76DD-6357-8133A7F6CC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772" b="46792"/>
          <a:stretch/>
        </p:blipFill>
        <p:spPr>
          <a:xfrm>
            <a:off x="1107347" y="4293065"/>
            <a:ext cx="4804095" cy="5620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F20390-48B0-4A81-9CF7-BF8450C15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299" y="3541326"/>
            <a:ext cx="5468586" cy="26276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5F4112B-D732-A75D-E3A9-D9C84B5ED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15303">
            <a:off x="7651084" y="5178794"/>
            <a:ext cx="270527" cy="36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5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2467" y="566554"/>
            <a:ext cx="9973994" cy="3152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两块平板玻璃构成一个空气劈尖，如果用单色平行光垂直照射，在反射光中观察干涉条纹，条纹间距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0.35cm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，若在空气劈尖中充入某种液体，条纹间距变为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0. 30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，试求: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(1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液体的折射率。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(2) 距棱边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3.15cm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处，在充入液体前后条纹明暗变化。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(3) 如果劈尖夹角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rad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，那么用白光(波长范围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Å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)垂直照射时，彩色条纹在第几级开始重叠?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62B60E-D6A1-418E-9E33-C93C6C33C8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518"/>
          <a:stretch/>
        </p:blipFill>
        <p:spPr>
          <a:xfrm>
            <a:off x="2433132" y="4009598"/>
            <a:ext cx="6261135" cy="20908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DB0E25D-088C-4751-B128-35BC17830E35}"/>
              </a:ext>
            </a:extLst>
          </p:cNvPr>
          <p:cNvSpPr txBox="1"/>
          <p:nvPr/>
        </p:nvSpPr>
        <p:spPr>
          <a:xfrm>
            <a:off x="1142838" y="4002367"/>
            <a:ext cx="100667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知识点：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8553B4E-C371-405A-8C18-FA5BB15D7F02}"/>
              </a:ext>
            </a:extLst>
          </p:cNvPr>
          <p:cNvGrpSpPr/>
          <p:nvPr/>
        </p:nvGrpSpPr>
        <p:grpSpPr>
          <a:xfrm>
            <a:off x="1023257" y="3989033"/>
            <a:ext cx="9341145" cy="1918331"/>
            <a:chOff x="1317125" y="3858404"/>
            <a:chExt cx="8969876" cy="1918331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5E3DA2F9-EFEE-0123-F2CF-35A2F41F52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1" t="37384" r="24978" b="55341"/>
            <a:stretch/>
          </p:blipFill>
          <p:spPr>
            <a:xfrm>
              <a:off x="1317125" y="3858404"/>
              <a:ext cx="8969876" cy="1918331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DCC8A27A-12F4-4130-FBD2-204BA4F4D7C1}"/>
                </a:ext>
              </a:extLst>
            </p:cNvPr>
            <p:cNvSpPr/>
            <p:nvPr/>
          </p:nvSpPr>
          <p:spPr>
            <a:xfrm>
              <a:off x="1491109" y="3956376"/>
              <a:ext cx="413890" cy="4793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1B5799B7-BED4-45B0-DB6D-BA6E2F798CC6}"/>
              </a:ext>
            </a:extLst>
          </p:cNvPr>
          <p:cNvSpPr/>
          <p:nvPr/>
        </p:nvSpPr>
        <p:spPr>
          <a:xfrm>
            <a:off x="892467" y="566554"/>
            <a:ext cx="9973994" cy="3152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两块平板玻璃构成一个空气劈尖，如果用单色平行光垂直照射，在反射光中观察干涉条纹，条纹间距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0.35cm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，若在空气劈尖中充入某种液体，条纹间距变为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0. 30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，试求: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(1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液体的折射率。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(2) 距棱边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3.15cm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处，在充入液体前后条纹明暗变化。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(3) 如果劈尖夹角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rad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，那么用白光(波长范围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Å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)垂直照射时，彩色条纹在第几级开始重叠?</a:t>
            </a:r>
          </a:p>
        </p:txBody>
      </p:sp>
    </p:spTree>
    <p:extLst>
      <p:ext uri="{BB962C8B-B14F-4D97-AF65-F5344CB8AC3E}">
        <p14:creationId xmlns:p14="http://schemas.microsoft.com/office/powerpoint/2010/main" val="242671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671F9D6-4DA5-D49F-FD54-262BEAFCE3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1" t="44539" b="47819"/>
          <a:stretch/>
        </p:blipFill>
        <p:spPr>
          <a:xfrm>
            <a:off x="536121" y="4000657"/>
            <a:ext cx="11119757" cy="201523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5799B7-BED4-45B0-DB6D-BA6E2F798CC6}"/>
              </a:ext>
            </a:extLst>
          </p:cNvPr>
          <p:cNvSpPr/>
          <p:nvPr/>
        </p:nvSpPr>
        <p:spPr>
          <a:xfrm>
            <a:off x="892467" y="566554"/>
            <a:ext cx="9973994" cy="3152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两块平板玻璃构成一个空气劈尖，如果用单色平行光垂直照射，在反射光中观察干涉条纹，条纹间距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0.35cm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，若在空气劈尖中充入某种液体，条纹间距变为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0. 30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，试求: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(1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液体的折射率。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(2) 距棱边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3.15cm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处，在充入液体前后条纹明暗变化。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(3) 如果劈尖夹角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rad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，那么用白光(波长范围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Å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)垂直照射时，彩色条纹在第几级开始重叠?</a:t>
            </a:r>
          </a:p>
        </p:txBody>
      </p:sp>
    </p:spTree>
    <p:extLst>
      <p:ext uri="{BB962C8B-B14F-4D97-AF65-F5344CB8AC3E}">
        <p14:creationId xmlns:p14="http://schemas.microsoft.com/office/powerpoint/2010/main" val="297523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B5799B7-BED4-45B0-DB6D-BA6E2F798CC6}"/>
              </a:ext>
            </a:extLst>
          </p:cNvPr>
          <p:cNvSpPr/>
          <p:nvPr/>
        </p:nvSpPr>
        <p:spPr>
          <a:xfrm>
            <a:off x="446314" y="348840"/>
            <a:ext cx="11506200" cy="2270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两块平板玻璃构成一个空气劈尖，如果用单色平行光垂直照射，在反射光中观察干涉条纹，条纹间距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0.35cm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，若在空气劈尖中充入某种液体，条纹间距变为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0. 30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，试求: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(3) 如果劈尖夹角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rad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，那么用白光(波长范围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Å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)垂直照射时，彩色条纹在第几级开始重叠?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162EECD-58E7-4F9A-B581-61591491B1B2}"/>
                  </a:ext>
                </a:extLst>
              </p:cNvPr>
              <p:cNvSpPr txBox="1"/>
              <p:nvPr/>
            </p:nvSpPr>
            <p:spPr>
              <a:xfrm>
                <a:off x="1772943" y="2802171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光程差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dirty="0">
                    <a:latin typeface="+mn-ea"/>
                  </a:rPr>
                  <a:t>/2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162EECD-58E7-4F9A-B581-61591491B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943" y="2802171"/>
                <a:ext cx="4630723" cy="430887"/>
              </a:xfrm>
              <a:prstGeom prst="rect">
                <a:avLst/>
              </a:prstGeom>
              <a:blipFill>
                <a:blip r:embed="rId2"/>
                <a:stretch>
                  <a:fillRect l="-922" t="-8571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F35882-F6CF-420C-A05E-05643122A7FA}"/>
                  </a:ext>
                </a:extLst>
              </p:cNvPr>
              <p:cNvSpPr txBox="1"/>
              <p:nvPr/>
            </p:nvSpPr>
            <p:spPr>
              <a:xfrm>
                <a:off x="1772942" y="3409499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latin typeface="Cambria Math" panose="02040503050406030204" pitchFamily="18" charset="0"/>
                        </a:rPr>
                        <m:t>干涉相长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zh-CN" altLang="en-US" sz="22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EF35882-F6CF-420C-A05E-05643122A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942" y="3409499"/>
                <a:ext cx="4630723" cy="430887"/>
              </a:xfrm>
              <a:prstGeom prst="rect">
                <a:avLst/>
              </a:prstGeom>
              <a:blipFill>
                <a:blip r:embed="rId3"/>
                <a:stretch>
                  <a:fillRect l="-1054" b="-12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BACC0AB-6AF3-48C1-9ACB-8EF6DBF2A30F}"/>
              </a:ext>
            </a:extLst>
          </p:cNvPr>
          <p:cNvCxnSpPr>
            <a:cxnSpLocks/>
          </p:cNvCxnSpPr>
          <p:nvPr/>
        </p:nvCxnSpPr>
        <p:spPr>
          <a:xfrm flipV="1">
            <a:off x="7195457" y="3156857"/>
            <a:ext cx="4136571" cy="70530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95A5CA3-2A57-4B6E-91A5-F832A1467219}"/>
              </a:ext>
            </a:extLst>
          </p:cNvPr>
          <p:cNvCxnSpPr>
            <a:cxnSpLocks/>
          </p:cNvCxnSpPr>
          <p:nvPr/>
        </p:nvCxnSpPr>
        <p:spPr>
          <a:xfrm flipV="1">
            <a:off x="7228111" y="3862153"/>
            <a:ext cx="4136571" cy="1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2">
            <a:extLst>
              <a:ext uri="{FF2B5EF4-FFF2-40B4-BE49-F238E27FC236}">
                <a16:creationId xmlns:a16="http://schemas.microsoft.com/office/drawing/2014/main" id="{DA486CEB-8F0C-48A8-B27A-5543FFB7DB9A}"/>
              </a:ext>
            </a:extLst>
          </p:cNvPr>
          <p:cNvSpPr>
            <a:spLocks noChangeArrowheads="1"/>
          </p:cNvSpPr>
          <p:nvPr/>
        </p:nvSpPr>
        <p:spPr bwMode="auto">
          <a:xfrm rot="21043935" flipH="1">
            <a:off x="8321235" y="3464295"/>
            <a:ext cx="1471347" cy="80297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0000"/>
              </a:gs>
            </a:gsLst>
            <a:lin ang="108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43BBBF-6680-435C-B4CF-3A112C42DA69}"/>
              </a:ext>
            </a:extLst>
          </p:cNvPr>
          <p:cNvSpPr>
            <a:spLocks noChangeArrowheads="1"/>
          </p:cNvSpPr>
          <p:nvPr/>
        </p:nvSpPr>
        <p:spPr bwMode="auto">
          <a:xfrm rot="21043935" flipH="1">
            <a:off x="9637458" y="3327962"/>
            <a:ext cx="1471347" cy="80297"/>
          </a:xfrm>
          <a:prstGeom prst="rect">
            <a:avLst/>
          </a:prstGeom>
          <a:gradFill flip="none" rotWithShape="1">
            <a:gsLst>
              <a:gs pos="0">
                <a:srgbClr val="7030A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FF0000"/>
              </a:gs>
            </a:gsLst>
            <a:lin ang="108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D82FF74-05EB-478E-9BB0-AA10CBACD9D8}"/>
                  </a:ext>
                </a:extLst>
              </p:cNvPr>
              <p:cNvSpPr txBox="1"/>
              <p:nvPr/>
            </p:nvSpPr>
            <p:spPr>
              <a:xfrm>
                <a:off x="1228657" y="4110370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红光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sty m:val="p"/>
                      </m:rPr>
                      <a:rPr lang="en-US" altLang="zh-CN" sz="2200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R</a:t>
                </a:r>
                <a:r>
                  <a:rPr lang="en-US" altLang="zh-CN" sz="2200" dirty="0">
                    <a:latin typeface="+mn-ea"/>
                  </a:rPr>
                  <a:t>/2=k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R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D82FF74-05EB-478E-9BB0-AA10CBACD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657" y="4110370"/>
                <a:ext cx="4630723" cy="430887"/>
              </a:xfrm>
              <a:prstGeom prst="rect">
                <a:avLst/>
              </a:prstGeom>
              <a:blipFill>
                <a:blip r:embed="rId4"/>
                <a:stretch>
                  <a:fillRect l="-922" t="-7042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52B46B9-B1D3-464F-B35B-DEEB3C0E8DCC}"/>
                  </a:ext>
                </a:extLst>
              </p:cNvPr>
              <p:cNvSpPr txBox="1"/>
              <p:nvPr/>
            </p:nvSpPr>
            <p:spPr>
              <a:xfrm>
                <a:off x="1239542" y="4804785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紫光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altLang="zh-CN" sz="2200" baseline="-25000" dirty="0">
                        <a:latin typeface="+mn-ea"/>
                      </a:rPr>
                      <m:t>k</m:t>
                    </m:r>
                    <m:r>
                      <m:rPr>
                        <m:nor/>
                      </m:rPr>
                      <a:rPr lang="en-US" altLang="zh-CN" sz="2200" baseline="-25000" dirty="0">
                        <a:latin typeface="+mn-ea"/>
                      </a:rPr>
                      <m:t>+1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P</a:t>
                </a:r>
                <a:r>
                  <a:rPr lang="en-US" altLang="zh-CN" sz="2200" dirty="0">
                    <a:latin typeface="+mn-ea"/>
                  </a:rPr>
                  <a:t>/2=(k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+1)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P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52B46B9-B1D3-464F-B35B-DEEB3C0E8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542" y="4804785"/>
                <a:ext cx="4630723" cy="430887"/>
              </a:xfrm>
              <a:prstGeom prst="rect">
                <a:avLst/>
              </a:prstGeom>
              <a:blipFill>
                <a:blip r:embed="rId5"/>
                <a:stretch>
                  <a:fillRect l="-921" t="-8451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0820739-B197-4B14-897F-48CCFC584560}"/>
                  </a:ext>
                </a:extLst>
              </p:cNvPr>
              <p:cNvSpPr txBox="1"/>
              <p:nvPr/>
            </p:nvSpPr>
            <p:spPr>
              <a:xfrm>
                <a:off x="6199414" y="4110369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红光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k</a:t>
                </a:r>
                <a:r>
                  <a:rPr lang="en-US" altLang="zh-CN" sz="2200" dirty="0">
                    <a:latin typeface="+mn-ea"/>
                  </a:rPr>
                  <a:t>=(k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R</a:t>
                </a:r>
                <a:r>
                  <a:rPr lang="en-US" altLang="zh-CN" sz="2200" dirty="0">
                    <a:latin typeface="+mn-ea"/>
                  </a:rPr>
                  <a:t>-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R</a:t>
                </a:r>
                <a:r>
                  <a:rPr lang="en-US" altLang="zh-CN" sz="2200" dirty="0">
                    <a:latin typeface="+mn-ea"/>
                  </a:rPr>
                  <a:t>/2)/2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0820739-B197-4B14-897F-48CCFC584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414" y="4110369"/>
                <a:ext cx="4630723" cy="430887"/>
              </a:xfrm>
              <a:prstGeom prst="rect">
                <a:avLst/>
              </a:prstGeom>
              <a:blipFill>
                <a:blip r:embed="rId6"/>
                <a:stretch>
                  <a:fillRect l="-921" t="-7042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箭头: 右 17">
            <a:extLst>
              <a:ext uri="{FF2B5EF4-FFF2-40B4-BE49-F238E27FC236}">
                <a16:creationId xmlns:a16="http://schemas.microsoft.com/office/drawing/2014/main" id="{15A8F9A2-2DBF-4238-A61B-D43ADB7E6266}"/>
              </a:ext>
            </a:extLst>
          </p:cNvPr>
          <p:cNvSpPr/>
          <p:nvPr/>
        </p:nvSpPr>
        <p:spPr>
          <a:xfrm>
            <a:off x="5366657" y="4453779"/>
            <a:ext cx="729343" cy="4308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0E123DC-6503-463A-A9D7-E7B272C8192E}"/>
                  </a:ext>
                </a:extLst>
              </p:cNvPr>
              <p:cNvSpPr txBox="1"/>
              <p:nvPr/>
            </p:nvSpPr>
            <p:spPr>
              <a:xfrm>
                <a:off x="6199414" y="4813390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紫光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k+1</a:t>
                </a:r>
                <a:r>
                  <a:rPr lang="en-US" altLang="zh-CN" sz="2200" dirty="0">
                    <a:latin typeface="+mn-ea"/>
                  </a:rPr>
                  <a:t>=[(k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200" dirty="0">
                    <a:latin typeface="+mn-ea"/>
                  </a:rPr>
                  <a:t>) 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P</a:t>
                </a:r>
                <a:r>
                  <a:rPr lang="en-US" altLang="zh-CN" sz="2200" dirty="0">
                    <a:latin typeface="+mn-ea"/>
                  </a:rPr>
                  <a:t>-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P</a:t>
                </a:r>
                <a:r>
                  <a:rPr lang="en-US" altLang="zh-CN" sz="2200" dirty="0">
                    <a:latin typeface="+mn-ea"/>
                  </a:rPr>
                  <a:t>/2]/2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0E123DC-6503-463A-A9D7-E7B272C81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414" y="4813390"/>
                <a:ext cx="4630723" cy="430887"/>
              </a:xfrm>
              <a:prstGeom prst="rect">
                <a:avLst/>
              </a:prstGeom>
              <a:blipFill>
                <a:blip r:embed="rId7"/>
                <a:stretch>
                  <a:fillRect l="-921" t="-8571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F99E6D9-A875-46A2-810F-9D99C77B97AC}"/>
                  </a:ext>
                </a:extLst>
              </p:cNvPr>
              <p:cNvSpPr txBox="1"/>
              <p:nvPr/>
            </p:nvSpPr>
            <p:spPr>
              <a:xfrm>
                <a:off x="1236676" y="5517042"/>
                <a:ext cx="238826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重叠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k</a:t>
                </a:r>
                <a:r>
                  <a:rPr lang="en-US" altLang="zh-CN" sz="2200" dirty="0">
                    <a:latin typeface="+mn-ea"/>
                  </a:rPr>
                  <a:t>≥</a:t>
                </a:r>
                <a:r>
                  <a:rPr lang="en-US" altLang="zh-CN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k+1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F99E6D9-A875-46A2-810F-9D99C77B9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676" y="5517042"/>
                <a:ext cx="2388267" cy="430887"/>
              </a:xfrm>
              <a:prstGeom prst="rect">
                <a:avLst/>
              </a:prstGeom>
              <a:blipFill>
                <a:blip r:embed="rId8"/>
                <a:stretch>
                  <a:fillRect l="-1786" t="-8451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箭头: 右 20">
            <a:extLst>
              <a:ext uri="{FF2B5EF4-FFF2-40B4-BE49-F238E27FC236}">
                <a16:creationId xmlns:a16="http://schemas.microsoft.com/office/drawing/2014/main" id="{F21991E1-3999-4B7E-8592-E85119363344}"/>
              </a:ext>
            </a:extLst>
          </p:cNvPr>
          <p:cNvSpPr/>
          <p:nvPr/>
        </p:nvSpPr>
        <p:spPr>
          <a:xfrm>
            <a:off x="3810717" y="5646535"/>
            <a:ext cx="555171" cy="215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7E563E4-DFD5-4F00-B6D5-C0F662E38220}"/>
                  </a:ext>
                </a:extLst>
              </p:cNvPr>
              <p:cNvSpPr txBox="1"/>
              <p:nvPr/>
            </p:nvSpPr>
            <p:spPr>
              <a:xfrm>
                <a:off x="4633019" y="5506797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>
                    <a:latin typeface="+mn-ea"/>
                  </a:rPr>
                  <a:t>(k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R</a:t>
                </a:r>
                <a:r>
                  <a:rPr lang="en-US" altLang="zh-CN" sz="2200" dirty="0">
                    <a:latin typeface="+mn-ea"/>
                  </a:rPr>
                  <a:t>-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R</a:t>
                </a:r>
                <a:r>
                  <a:rPr lang="en-US" altLang="zh-CN" sz="2200" dirty="0">
                    <a:latin typeface="+mn-ea"/>
                  </a:rPr>
                  <a:t>/2)/2 ≥[(k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zh-CN" sz="2200" dirty="0">
                    <a:latin typeface="+mn-ea"/>
                  </a:rPr>
                  <a:t>) 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P</a:t>
                </a:r>
                <a:r>
                  <a:rPr lang="en-US" altLang="zh-CN" sz="2200" dirty="0">
                    <a:latin typeface="+mn-ea"/>
                  </a:rPr>
                  <a:t>-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baseline="-25000" dirty="0">
                    <a:latin typeface="+mn-ea"/>
                  </a:rPr>
                  <a:t>P</a:t>
                </a:r>
                <a:r>
                  <a:rPr lang="en-US" altLang="zh-CN" sz="2200" dirty="0">
                    <a:latin typeface="+mn-ea"/>
                  </a:rPr>
                  <a:t>/2]/2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7E563E4-DFD5-4F00-B6D5-C0F662E38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019" y="5506797"/>
                <a:ext cx="4630723" cy="430887"/>
              </a:xfrm>
              <a:prstGeom prst="rect">
                <a:avLst/>
              </a:prstGeom>
              <a:blipFill>
                <a:blip r:embed="rId9"/>
                <a:stretch>
                  <a:fillRect l="-1711" t="-7042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箭头: 右 22">
            <a:extLst>
              <a:ext uri="{FF2B5EF4-FFF2-40B4-BE49-F238E27FC236}">
                <a16:creationId xmlns:a16="http://schemas.microsoft.com/office/drawing/2014/main" id="{EAD25F4B-6EC8-4BE6-A753-4F42F5B32B5A}"/>
              </a:ext>
            </a:extLst>
          </p:cNvPr>
          <p:cNvSpPr/>
          <p:nvPr/>
        </p:nvSpPr>
        <p:spPr>
          <a:xfrm>
            <a:off x="3810716" y="6270806"/>
            <a:ext cx="555171" cy="215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197A4B9-62BE-48FD-AF28-9CD1914EDD46}"/>
                  </a:ext>
                </a:extLst>
              </p:cNvPr>
              <p:cNvSpPr txBox="1"/>
              <p:nvPr/>
            </p:nvSpPr>
            <p:spPr>
              <a:xfrm>
                <a:off x="4758924" y="6133337"/>
                <a:ext cx="304140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altLang="zh-CN" sz="2200" dirty="0">
                    <a:latin typeface="+mn-ea"/>
                  </a:rPr>
                  <a:t>≥</a:t>
                </a:r>
                <a:r>
                  <a:rPr lang="en-US" altLang="zh-CN" sz="2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11/6</m:t>
                    </m:r>
                  </m:oMath>
                </a14:m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197A4B9-62BE-48FD-AF28-9CD1914ED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924" y="6133337"/>
                <a:ext cx="3041409" cy="430887"/>
              </a:xfrm>
              <a:prstGeom prst="rect">
                <a:avLst/>
              </a:prstGeom>
              <a:blipFill>
                <a:blip r:embed="rId10"/>
                <a:stretch>
                  <a:fillRect l="-401" t="-8451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F25A21C-09B9-41AD-8902-72667E4B720A}"/>
                  </a:ext>
                </a:extLst>
              </p:cNvPr>
              <p:cNvSpPr txBox="1"/>
              <p:nvPr/>
            </p:nvSpPr>
            <p:spPr>
              <a:xfrm>
                <a:off x="6403665" y="6133336"/>
                <a:ext cx="304140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</a:rPr>
                      <m:t>第二级</m:t>
                    </m:r>
                  </m:oMath>
                </a14:m>
                <a:r>
                  <a:rPr lang="zh-CN" altLang="en-US" sz="2200" dirty="0">
                    <a:latin typeface="+mn-ea"/>
                  </a:rPr>
                  <a:t>开始重叠</a:t>
                </a: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F25A21C-09B9-41AD-8902-72667E4B7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665" y="6133336"/>
                <a:ext cx="3041409" cy="430887"/>
              </a:xfrm>
              <a:prstGeom prst="rect">
                <a:avLst/>
              </a:prstGeom>
              <a:blipFill>
                <a:blip r:embed="rId11"/>
                <a:stretch>
                  <a:fillRect l="-1403" t="-8451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5DC6385B-B7EE-4C14-9FE3-0CB18703CFF4}"/>
              </a:ext>
            </a:extLst>
          </p:cNvPr>
          <p:cNvSpPr txBox="1"/>
          <p:nvPr/>
        </p:nvSpPr>
        <p:spPr>
          <a:xfrm>
            <a:off x="731214" y="2810962"/>
            <a:ext cx="2388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+mn-ea"/>
              </a:rPr>
              <a:t>解：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17DFFB-BDDD-4CE9-B960-DF84CCDAC632}"/>
              </a:ext>
            </a:extLst>
          </p:cNvPr>
          <p:cNvSpPr txBox="1"/>
          <p:nvPr/>
        </p:nvSpPr>
        <p:spPr>
          <a:xfrm>
            <a:off x="9525609" y="2927998"/>
            <a:ext cx="3345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FF0000"/>
                </a:solidFill>
                <a:latin typeface="+mn-ea"/>
              </a:rPr>
              <a:t>k</a:t>
            </a:r>
            <a:endParaRPr lang="zh-CN" altLang="en-US" sz="2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30B72C3-3F9C-4828-A543-018B1CEB1CA2}"/>
              </a:ext>
            </a:extLst>
          </p:cNvPr>
          <p:cNvSpPr txBox="1"/>
          <p:nvPr/>
        </p:nvSpPr>
        <p:spPr>
          <a:xfrm>
            <a:off x="9654802" y="3450762"/>
            <a:ext cx="7316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7030A0"/>
                </a:solidFill>
                <a:latin typeface="+mn-ea"/>
              </a:rPr>
              <a:t>k+1</a:t>
            </a:r>
            <a:endParaRPr lang="zh-CN" altLang="en-US" sz="2200" dirty="0">
              <a:solidFill>
                <a:srgbClr val="7030A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7147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 animBg="1"/>
      <p:bldP spid="13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 animBg="1"/>
      <p:bldP spid="24" grpId="0"/>
      <p:bldP spid="25" grpId="0"/>
      <p:bldP spid="26" grpId="0"/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38356" y="497495"/>
            <a:ext cx="11237958" cy="1827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在折射率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1. 5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的玻璃上，镀上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’=1.35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的透明介质薄膜。入射光垂直于介质表面照射，观察反射光的干涉，发现对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600nm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的光波干涉相消对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700nm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的光波干涉相长；且在 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600nm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到 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700nm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之间没有别的波长是最大限度相消或相长的情形。求所镀介质膜的厚度。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6834985-1D74-4F3B-81B4-13F2A183F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01" y="2367238"/>
            <a:ext cx="10225618" cy="8196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45B2036-0341-4648-BC0D-5E0D64633544}"/>
                  </a:ext>
                </a:extLst>
              </p:cNvPr>
              <p:cNvSpPr txBox="1"/>
              <p:nvPr/>
            </p:nvSpPr>
            <p:spPr>
              <a:xfrm>
                <a:off x="844673" y="3327204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latin typeface="Cambria Math" panose="02040503050406030204" pitchFamily="18" charset="0"/>
                        </a:rPr>
                        <m:t>光程差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zh-CN" altLang="en-US" sz="220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45B2036-0341-4648-BC0D-5E0D64633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73" y="3327204"/>
                <a:ext cx="4630723" cy="430887"/>
              </a:xfrm>
              <a:prstGeom prst="rect">
                <a:avLst/>
              </a:prstGeom>
              <a:blipFill>
                <a:blip r:embed="rId3"/>
                <a:stretch>
                  <a:fillRect l="-922" b="-1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516E2966-EA98-4B20-A8F3-730BF56678A2}"/>
              </a:ext>
            </a:extLst>
          </p:cNvPr>
          <p:cNvGrpSpPr/>
          <p:nvPr/>
        </p:nvGrpSpPr>
        <p:grpSpPr>
          <a:xfrm>
            <a:off x="8509969" y="3542647"/>
            <a:ext cx="2837358" cy="1992468"/>
            <a:chOff x="8414157" y="4049103"/>
            <a:chExt cx="2837358" cy="1992468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D59CA3B-8A2C-4949-A36B-C8473B751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14157" y="4049103"/>
              <a:ext cx="2837358" cy="1610088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665DE36A-DBAE-4165-94CD-3A0E3971A524}"/>
                </a:ext>
              </a:extLst>
            </p:cNvPr>
            <p:cNvSpPr/>
            <p:nvPr/>
          </p:nvSpPr>
          <p:spPr>
            <a:xfrm>
              <a:off x="8763000" y="5257800"/>
              <a:ext cx="1763485" cy="783771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219EBF3-D487-47CD-AEDD-A32577DDA174}"/>
                  </a:ext>
                </a:extLst>
              </p:cNvPr>
              <p:cNvSpPr txBox="1"/>
              <p:nvPr/>
            </p:nvSpPr>
            <p:spPr>
              <a:xfrm>
                <a:off x="844672" y="3916804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0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altLang="zh-CN" sz="2000" b="1" i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λ</m:t>
                    </m:r>
                    <m:r>
                      <m:rPr>
                        <m:nor/>
                      </m:rPr>
                      <a:rPr lang="en-US" altLang="zh-CN" sz="2000" b="1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光波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干涉相消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设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暗纹</m:t>
                    </m:r>
                  </m:oMath>
                </a14:m>
                <a:r>
                  <a:rPr lang="zh-CN" altLang="en-US" sz="2200" dirty="0">
                    <a:latin typeface="+mn-ea"/>
                  </a:rPr>
                  <a:t>级次 </a:t>
                </a:r>
                <a:r>
                  <a:rPr lang="en-US" altLang="zh-CN" sz="2200" dirty="0">
                    <a:latin typeface="+mn-ea"/>
                  </a:rPr>
                  <a:t>k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219EBF3-D487-47CD-AEDD-A32577DDA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72" y="3916804"/>
                <a:ext cx="4630723" cy="430887"/>
              </a:xfrm>
              <a:prstGeom prst="rect">
                <a:avLst/>
              </a:prstGeom>
              <a:blipFill>
                <a:blip r:embed="rId5"/>
                <a:stretch>
                  <a:fillRect t="-8571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FAD3F33-566D-4E03-A11E-058C37FD2B16}"/>
                  </a:ext>
                </a:extLst>
              </p:cNvPr>
              <p:cNvSpPr txBox="1"/>
              <p:nvPr/>
            </p:nvSpPr>
            <p:spPr>
              <a:xfrm>
                <a:off x="1726411" y="4507699"/>
                <a:ext cx="53384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CN" sz="2200" dirty="0">
                    <a:latin typeface="+mn-ea"/>
                  </a:rPr>
                  <a:t>=(2k+1)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2400" b="1" i="1" dirty="0"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λ</m:t>
                    </m:r>
                    <m:r>
                      <m:rPr>
                        <m:nor/>
                      </m:rPr>
                      <a:rPr lang="en-US" altLang="zh-CN" sz="2400" b="1" baseline="-25000" dirty="0"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1" i="0" dirty="0" smtClean="0"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/2              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FAD3F33-566D-4E03-A11E-058C37FD2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411" y="4507699"/>
                <a:ext cx="5338413" cy="461665"/>
              </a:xfrm>
              <a:prstGeom prst="rect">
                <a:avLst/>
              </a:prstGeom>
              <a:blipFill>
                <a:blip r:embed="rId6"/>
                <a:stretch>
                  <a:fillRect l="-114" t="-1316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FFD148C-93A0-4C84-B357-3E27C14C82C0}"/>
                  </a:ext>
                </a:extLst>
              </p:cNvPr>
              <p:cNvSpPr txBox="1"/>
              <p:nvPr/>
            </p:nvSpPr>
            <p:spPr>
              <a:xfrm>
                <a:off x="844671" y="5151144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000" b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l-GR" altLang="zh-CN" sz="2000" b="1" i="1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λ</m:t>
                    </m:r>
                    <m:r>
                      <m:rPr>
                        <m:nor/>
                      </m:rPr>
                      <a:rPr lang="en-US" altLang="zh-CN" sz="2000" b="1" baseline="-25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光波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干涉相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长，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明纹</m:t>
                    </m:r>
                  </m:oMath>
                </a14:m>
                <a:r>
                  <a:rPr lang="zh-CN" altLang="en-US" sz="2200" dirty="0">
                    <a:latin typeface="+mn-ea"/>
                  </a:rPr>
                  <a:t>级次 </a:t>
                </a:r>
                <a:r>
                  <a:rPr lang="en-US" altLang="zh-CN" sz="2200" dirty="0">
                    <a:latin typeface="+mn-ea"/>
                  </a:rPr>
                  <a:t>k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FFD148C-93A0-4C84-B357-3E27C14C8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71" y="5151144"/>
                <a:ext cx="4630723" cy="430887"/>
              </a:xfrm>
              <a:prstGeom prst="rect">
                <a:avLst/>
              </a:prstGeom>
              <a:blipFill>
                <a:blip r:embed="rId7"/>
                <a:stretch>
                  <a:fillRect t="-8451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2959A11-5D36-4EEC-B5AA-A29EF209DF24}"/>
                  </a:ext>
                </a:extLst>
              </p:cNvPr>
              <p:cNvSpPr txBox="1"/>
              <p:nvPr/>
            </p:nvSpPr>
            <p:spPr>
              <a:xfrm>
                <a:off x="1650215" y="5834397"/>
                <a:ext cx="53384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CN" sz="2200" dirty="0">
                    <a:latin typeface="+mn-ea"/>
                  </a:rPr>
                  <a:t>=k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sz="2400" b="1" i="1" dirty="0"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λ</m:t>
                    </m:r>
                    <m:r>
                      <a:rPr lang="en-US" altLang="zh-CN" sz="2400" b="1" i="1" baseline="-2500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1" i="0" dirty="0" smtClean="0"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                 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2959A11-5D36-4EEC-B5AA-A29EF209D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215" y="5834397"/>
                <a:ext cx="5338413" cy="461665"/>
              </a:xfrm>
              <a:prstGeom prst="rect">
                <a:avLst/>
              </a:prstGeom>
              <a:blipFill>
                <a:blip r:embed="rId8"/>
                <a:stretch>
                  <a:fillRect l="-229" t="-2632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591D16B-E4CC-429D-A4DE-9FB25E5035A5}"/>
                  </a:ext>
                </a:extLst>
              </p:cNvPr>
              <p:cNvSpPr txBox="1"/>
              <p:nvPr/>
            </p:nvSpPr>
            <p:spPr>
              <a:xfrm>
                <a:off x="6008914" y="5834397"/>
                <a:ext cx="53384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联立</m:t>
                    </m:r>
                    <m:d>
                      <m:d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CN" sz="2200" dirty="0">
                    <a:latin typeface="+mn-ea"/>
                  </a:rPr>
                  <a:t>=7</a:t>
                </a:r>
                <a14:m>
                  <m:oMath xmlns:m="http://schemas.openxmlformats.org/officeDocument/2006/math">
                    <m:r>
                      <a:rPr lang="en-US" altLang="zh-CN" sz="2200" b="1" i="1" dirty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7</m:t>
                    </m:r>
                    <m:r>
                      <a:rPr lang="en-US" altLang="zh-CN" sz="2200" b="1" i="1" dirty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200" b="1" i="1" dirty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200" b="1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200" b="1" i="1" baseline="30000" dirty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200" b="1" i="1" baseline="3000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4 </m:t>
                    </m:r>
                    <m:r>
                      <m:rPr>
                        <m:sty m:val="p"/>
                      </m:rPr>
                      <a:rPr lang="en-US" altLang="zh-CN" sz="2200" b="1" i="1" dirty="0">
                        <a:latin typeface="Cambria Math" panose="020405030504060302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mm</m:t>
                    </m:r>
                    <m:r>
                      <m:rPr>
                        <m:nor/>
                      </m:rPr>
                      <a:rPr lang="en-US" altLang="zh-CN" sz="2400" b="1" i="0" dirty="0" smtClean="0"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rPr>
                      <m:t>        </m:t>
                    </m:r>
                  </m:oMath>
                </a14:m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591D16B-E4CC-429D-A4DE-9FB25E503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914" y="5834397"/>
                <a:ext cx="5338413" cy="461665"/>
              </a:xfrm>
              <a:prstGeom prst="rect">
                <a:avLst/>
              </a:prstGeom>
              <a:blipFill>
                <a:blip r:embed="rId9"/>
                <a:stretch>
                  <a:fillRect l="-800" t="-2632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99716" y="335700"/>
            <a:ext cx="11398369" cy="2713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一实验装置如图所示，一块平面玻璃片上放一油滴，当油滴展开成油膜时，在单色光(波长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 5760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-10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)垂直入射情况下，从反射光中观察油膜所形成的干涉条纹(油的折射率为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1.60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，玻璃的折射率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1.50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)。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(1) 当油膜最高点与玻璃片的上表面相距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= 8640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时，可看到几条明纹?明条纹所在处油膜的厚度各是多少?油膜最高处明暗程度如何?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在油膜扩展过程中，所看到的干涉条纹如何变化?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A84A95-2FF6-4F70-9DF6-F707D2AB7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697" y="2492829"/>
            <a:ext cx="3544244" cy="22102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778723E-D209-4329-8453-C833003030B8}"/>
                  </a:ext>
                </a:extLst>
              </p:cNvPr>
              <p:cNvSpPr txBox="1"/>
              <p:nvPr/>
            </p:nvSpPr>
            <p:spPr>
              <a:xfrm>
                <a:off x="1356388" y="3279051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光程差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altLang="zh-CN" sz="2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dirty="0">
                    <a:latin typeface="+mn-ea"/>
                  </a:rPr>
                  <a:t>/2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778723E-D209-4329-8453-C83300303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88" y="3279051"/>
                <a:ext cx="4630723" cy="430887"/>
              </a:xfrm>
              <a:prstGeom prst="rect">
                <a:avLst/>
              </a:prstGeom>
              <a:blipFill>
                <a:blip r:embed="rId3"/>
                <a:stretch>
                  <a:fillRect l="-922" t="-8451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8710C67A-FAA5-4C34-947D-0C3E583D6329}"/>
              </a:ext>
            </a:extLst>
          </p:cNvPr>
          <p:cNvSpPr txBox="1"/>
          <p:nvPr/>
        </p:nvSpPr>
        <p:spPr>
          <a:xfrm>
            <a:off x="532374" y="3265793"/>
            <a:ext cx="2388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+mn-ea"/>
              </a:rPr>
              <a:t>解：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20CFE15-D051-4F7D-B397-203471AFB5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097" t="-2835" r="47324" b="82655"/>
          <a:stretch/>
        </p:blipFill>
        <p:spPr>
          <a:xfrm>
            <a:off x="5114227" y="3177967"/>
            <a:ext cx="3211285" cy="5155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2FDC022-6050-480C-880C-28212B863D3C}"/>
                  </a:ext>
                </a:extLst>
              </p:cNvPr>
              <p:cNvSpPr txBox="1"/>
              <p:nvPr/>
            </p:nvSpPr>
            <p:spPr>
              <a:xfrm>
                <a:off x="1356388" y="3817558"/>
                <a:ext cx="513149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</a:rPr>
                      <m:t>油滴</m:t>
                    </m:r>
                  </m:oMath>
                </a14:m>
                <a:r>
                  <a:rPr lang="zh-CN" altLang="en-US" sz="2200" dirty="0">
                    <a:latin typeface="+mn-ea"/>
                  </a:rPr>
                  <a:t>最外层，厚度为</a:t>
                </a:r>
                <a:r>
                  <a:rPr lang="en-US" altLang="zh-CN" sz="2200" dirty="0">
                    <a:latin typeface="+mn-ea"/>
                  </a:rPr>
                  <a:t>0</a:t>
                </a:r>
                <a:r>
                  <a:rPr lang="zh-CN" altLang="en-US" sz="2200" dirty="0">
                    <a:latin typeface="+mn-ea"/>
                  </a:rPr>
                  <a:t>，形成暗纹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2FDC022-6050-480C-880C-28212B863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88" y="3817558"/>
                <a:ext cx="5131497" cy="430887"/>
              </a:xfrm>
              <a:prstGeom prst="rect">
                <a:avLst/>
              </a:prstGeom>
              <a:blipFill>
                <a:blip r:embed="rId5"/>
                <a:stretch>
                  <a:fillRect l="-832" t="-8451" b="-29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16925241-DAEA-4DA0-8C51-42AB73C359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40" t="50000" r="7641" b="35865"/>
          <a:stretch/>
        </p:blipFill>
        <p:spPr>
          <a:xfrm>
            <a:off x="1246516" y="4990924"/>
            <a:ext cx="9036170" cy="43088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EB06304-4C16-4C32-864D-9005C5DCE6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3" t="27497" r="29750" b="47201"/>
          <a:stretch/>
        </p:blipFill>
        <p:spPr>
          <a:xfrm>
            <a:off x="1246516" y="4222216"/>
            <a:ext cx="6890637" cy="77131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5164BB8-86FC-4E87-99C8-B07156BA30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1" t="63398"/>
          <a:stretch/>
        </p:blipFill>
        <p:spPr>
          <a:xfrm>
            <a:off x="927085" y="5589070"/>
            <a:ext cx="10120052" cy="1115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48ED28E-D06D-40E5-AC67-57C9D7ED7090}"/>
              </a:ext>
            </a:extLst>
          </p:cNvPr>
          <p:cNvSpPr/>
          <p:nvPr/>
        </p:nvSpPr>
        <p:spPr>
          <a:xfrm>
            <a:off x="739322" y="335700"/>
            <a:ext cx="10260350" cy="1827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一实验装置如图所示，一块平面玻璃片上放一油滴，当油滴展开成油膜时，在单色光(波长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 5760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-10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)垂直入射情况下，从反射光中观察油膜所形成的干沙条纹(油的折射率为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1.60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，玻璃的折射率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1.50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)。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(2) 在油膜扩展过程中，所看到的干沙条纹如何变化?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53DE93-85D7-4734-B73E-550E672C4E04}"/>
              </a:ext>
            </a:extLst>
          </p:cNvPr>
          <p:cNvSpPr txBox="1"/>
          <p:nvPr/>
        </p:nvSpPr>
        <p:spPr>
          <a:xfrm>
            <a:off x="1004630" y="3222273"/>
            <a:ext cx="7148770" cy="1564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当油膜继续摊展时，</a:t>
            </a:r>
            <a:r>
              <a:rPr lang="en-US" altLang="zh-CN" sz="2200" dirty="0">
                <a:latin typeface="+mn-ea"/>
                <a:sym typeface="Wingdings" panose="05000000000000000000" pitchFamily="2" charset="2"/>
              </a:rPr>
              <a:t>h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不断减少，明纹最高级次（明纹数）减小；</a:t>
            </a:r>
            <a:r>
              <a:rPr lang="zh-CN" altLang="en-US" sz="2200" dirty="0">
                <a:latin typeface="+mn-ea"/>
              </a:rPr>
              <a:t>内部明纹向圆心移动，并湮灭；</a:t>
            </a:r>
            <a:r>
              <a:rPr lang="zh-CN" altLang="en-US" sz="2200" dirty="0">
                <a:latin typeface="+mn-ea"/>
                <a:sym typeface="Wingdings" panose="05000000000000000000" pitchFamily="2" charset="2"/>
              </a:rPr>
              <a:t>最外围明纹半径不断扩大，相邻明纹间距离不断增大。</a:t>
            </a:r>
            <a:endParaRPr lang="zh-CN" altLang="en-US" sz="2200" dirty="0"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4151DDE-BE26-4836-96E7-E6453A0C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993" y="2843868"/>
            <a:ext cx="3810330" cy="23776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0392B23-A6C3-4D80-9B7A-5AC8AA6C5FF7}"/>
                  </a:ext>
                </a:extLst>
              </p:cNvPr>
              <p:cNvSpPr txBox="1"/>
              <p:nvPr/>
            </p:nvSpPr>
            <p:spPr>
              <a:xfrm>
                <a:off x="2885379" y="2520702"/>
                <a:ext cx="46307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光程差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en-US" altLang="zh-CN" sz="22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200" dirty="0">
                    <a:latin typeface="+mn-ea"/>
                  </a:rPr>
                  <a:t>/2</a:t>
                </a:r>
                <a:endParaRPr lang="zh-CN" altLang="en-US" sz="22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0392B23-A6C3-4D80-9B7A-5AC8AA6C5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379" y="2520702"/>
                <a:ext cx="4630723" cy="430887"/>
              </a:xfrm>
              <a:prstGeom prst="rect">
                <a:avLst/>
              </a:prstGeom>
              <a:blipFill>
                <a:blip r:embed="rId3"/>
                <a:stretch>
                  <a:fillRect l="-921" t="-8571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4B4028AF-D559-4163-888A-8EF2848353D3}"/>
              </a:ext>
            </a:extLst>
          </p:cNvPr>
          <p:cNvSpPr txBox="1"/>
          <p:nvPr/>
        </p:nvSpPr>
        <p:spPr>
          <a:xfrm>
            <a:off x="1037289" y="2422690"/>
            <a:ext cx="1651484" cy="50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解：（</a:t>
            </a:r>
            <a:r>
              <a:rPr lang="en-US" altLang="zh-CN" sz="2000" dirty="0">
                <a:latin typeface="+mn-ea"/>
                <a:sym typeface="Wingdings" panose="05000000000000000000" pitchFamily="2" charset="2"/>
              </a:rPr>
              <a:t>2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）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23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8714" y="393602"/>
            <a:ext cx="11103429" cy="1384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在夫琅禾费单缝衍射实验中，如果缝宽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与入射光波长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的比值分别为 (1)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 (2)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 (3)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，试分别计算中央明条纹边缘的衍射角，再讨论计算结果说明什么问题。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EC93786-3704-1386-6CBA-CE599998A1B5}"/>
                  </a:ext>
                </a:extLst>
              </p:cNvPr>
              <p:cNvSpPr txBox="1"/>
              <p:nvPr/>
            </p:nvSpPr>
            <p:spPr>
              <a:xfrm>
                <a:off x="1404541" y="1577203"/>
                <a:ext cx="10341146" cy="49787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解：夫琅禾费衍射         菲涅尔半波带法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b="1" dirty="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</a:rPr>
                  <a:t>暗纹条件           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func>
                      <m:funcPr>
                        <m:ctrlP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zh-CN" altLang="en-US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f>
                          <m:fPr>
                            <m:ctrlPr>
                              <a:rPr lang="en-US" altLang="zh-CN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  <m:r>
                              <m:rPr>
                                <m:nor/>
                              </m:rPr>
                              <a:rPr lang="zh-CN" altLang="en-US" b="1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zh-CN" b="1" dirty="0">
                    <a:solidFill>
                      <a:prstClr val="black"/>
                    </a:solidFill>
                  </a:rPr>
                  <a:t> </a:t>
                </a: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明纹条件          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func>
                      <m:funcPr>
                        <m:ctrlP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zh-CN" altLang="en-US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zh-CN" altLang="en-US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  <m:f>
                          <m:fPr>
                            <m:ctrlPr>
                              <a:rPr lang="en-US" altLang="zh-CN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  <m:r>
                              <m:rPr>
                                <m:nor/>
                              </m:rPr>
                              <a:rPr lang="zh-CN" altLang="en-US" b="1" dirty="0">
                                <a:solidFill>
                                  <a:prstClr val="black"/>
                                </a:solidFill>
                              </a:rPr>
                              <m:t> </m:t>
                            </m:r>
                          </m:num>
                          <m:den>
                            <m:r>
                              <a:rPr lang="en-US" altLang="zh-CN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func>
                  </m:oMath>
                </a14:m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（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1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）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kumimoji="0" lang="zh-CN" alt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kumimoji="0" lang="en-US" altLang="zh-CN" sz="18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kumimoji="0" lang="zh-CN" alt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kumimoji="0" lang="zh-CN" altLang="en-US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𝝀</m:t>
                            </m:r>
                            <m:r>
                              <m:rPr>
                                <m:nor/>
                              </m:rPr>
                              <a:rPr kumimoji="0" lang="zh-CN" altLang="en-US" sz="1800" b="1" i="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等线" panose="020F0502020204030204"/>
                                <a:ea typeface="等线" panose="02010600030101010101" pitchFamily="2" charset="-122"/>
                              </a:rPr>
                              <m:t> </m:t>
                            </m:r>
                          </m:num>
                          <m:den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𝒂</m:t>
                            </m:r>
                          </m:den>
                        </m:f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e>
                    </m:func>
                  </m:oMath>
                </a14:m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r>
                      <a:rPr kumimoji="0" lang="en-US" altLang="zh-CN" sz="1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0" lang="zh-CN" altLang="en-US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𝜽</m:t>
                    </m:r>
                    <m:r>
                      <a:rPr kumimoji="0" lang="en-US" altLang="zh-CN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0" lang="en-US" altLang="zh-CN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𝟗𝟎</m:t>
                    </m:r>
                    <m:r>
                      <a:rPr kumimoji="0" lang="en-US" altLang="zh-CN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（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2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）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kumimoji="0" lang="zh-CN" alt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0,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kumimoji="0" lang="en-US" altLang="zh-CN" sz="18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kumimoji="0" lang="zh-CN" alt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</m:t>
                            </m:r>
                          </m:den>
                        </m:f>
                      </m:e>
                    </m:func>
                  </m:oMath>
                </a14:m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r>
                      <a:rPr kumimoji="0" lang="zh-CN" altLang="en-US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𝜽</m:t>
                    </m:r>
                    <m:r>
                      <a:rPr kumimoji="0" lang="en-US" altLang="zh-CN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5</a:t>
                </a:r>
                <a:r>
                  <a:rPr lang="en-US" altLang="zh-CN" b="1" noProof="0" dirty="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</a:rPr>
                  <a:t>.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7°       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1" dirty="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</a:rPr>
                  <a:t>（</a:t>
                </a:r>
                <a:r>
                  <a:rPr lang="en-US" altLang="zh-CN" b="1" dirty="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</a:rPr>
                  <a:t>3</a:t>
                </a:r>
                <a:r>
                  <a:rPr lang="zh-CN" altLang="en-US" b="1" dirty="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</a:rPr>
                  <a:t>）</a:t>
                </a:r>
                <a:r>
                  <a:rPr lang="en-US" altLang="zh-CN" b="1" dirty="0">
                    <a:solidFill>
                      <a:prstClr val="black"/>
                    </a:solidFill>
                    <a:latin typeface="等线" panose="020F0502020204030204"/>
                    <a:ea typeface="等线" panose="02010600030101010101" pitchFamily="2" charset="-122"/>
                  </a:rPr>
                  <a:t> 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kumimoji="0" lang="zh-CN" alt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𝝀</m:t>
                        </m:r>
                      </m:den>
                    </m:f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0" lang="en-US" altLang="zh-CN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kumimoji="0" lang="en-US" altLang="zh-CN" sz="18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kumimoji="0" lang="zh-CN" altLang="en-US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kumimoji="0" lang="en-US" altLang="zh-CN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kumimoji="0" lang="en-US" altLang="zh-CN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𝟏𝟎𝟎</m:t>
                            </m:r>
                          </m:den>
                        </m:f>
                      </m:e>
                    </m:func>
                  </m:oMath>
                </a14:m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,</a:t>
                </a:r>
                <a14:m>
                  <m:oMath xmlns:m="http://schemas.openxmlformats.org/officeDocument/2006/math">
                    <m:r>
                      <a:rPr kumimoji="0" lang="zh-CN" altLang="en-US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𝜽</m:t>
                    </m:r>
                    <m:r>
                      <a:rPr kumimoji="0" lang="en-US" altLang="zh-CN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0" lang="en-US" altLang="zh-CN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kumimoji="0" lang="en-US" altLang="zh-CN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0" lang="en-US" altLang="zh-CN" sz="1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𝟓𝟕</m:t>
                    </m:r>
                    <m:r>
                      <a:rPr lang="en-US" altLang="zh-CN" b="1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kumimoji="0" lang="en-US" altLang="zh-CN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b="1" dirty="0">
                    <a:solidFill>
                      <a:prstClr val="black"/>
                    </a:solidFill>
                  </a:rPr>
                  <a:t>缝宽 </a:t>
                </a:r>
                <a:r>
                  <a:rPr kumimoji="0" lang="en-US" altLang="zh-CN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a 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增大，一级暗纹衍射角减小，中央明纹变窄，其他条纹更靠近中央，衍射现象越来越不明显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altLang="zh-CN" b="1" dirty="0"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λ</m:t>
                        </m:r>
                      </m:num>
                      <m:den>
                        <m:r>
                          <a:rPr lang="en-US" altLang="zh-CN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den>
                    </m:f>
                  </m:oMath>
                </a14:m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趋于</a:t>
                </a: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0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时，</a:t>
                </a:r>
                <a:r>
                  <a:rPr lang="zh-CN" altLang="en-US" b="1" dirty="0"/>
                  <a:t>无衍射现象</a:t>
                </a:r>
                <a:r>
                  <a:rPr lang="en-US" altLang="zh-CN" b="1" dirty="0"/>
                  <a:t>, </a:t>
                </a:r>
                <a:r>
                  <a:rPr lang="zh-CN" altLang="en-US" b="1" dirty="0"/>
                  <a:t>即几何光学的情形：光线沿直线传播。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b="1" dirty="0">
                    <a:solidFill>
                      <a:prstClr val="black"/>
                    </a:solidFill>
                  </a:rPr>
                  <a:t>波长与缝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</a:rPr>
                  <a:t>宽尺寸相当时，衍射现象</a:t>
                </a:r>
                <a:r>
                  <a:rPr lang="zh-CN" altLang="en-US" b="1" dirty="0">
                    <a:solidFill>
                      <a:prstClr val="black"/>
                    </a:solidFill>
                  </a:rPr>
                  <a:t>明显。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EC93786-3704-1386-6CBA-CE599998A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541" y="1577203"/>
                <a:ext cx="10341146" cy="4978735"/>
              </a:xfrm>
              <a:prstGeom prst="rect">
                <a:avLst/>
              </a:prstGeom>
              <a:blipFill>
                <a:blip r:embed="rId2"/>
                <a:stretch>
                  <a:fillRect l="-471" b="-1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94900" y="726372"/>
            <a:ext cx="10036692" cy="2713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波长为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的单色光垂直入射到一光栅上，第二级、第三级谱线分别出现在衍射角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满足下式的方向上，即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sin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=0.20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sinφ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 30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，第四级缺级，试求：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(1) 光栅常数等于多少?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(2) 光栅上狭缝宽度有多大?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(3) 理论上可能出现的全部光谱线的条数。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517002-8B2F-372E-ACE3-76DEA4501237}"/>
              </a:ext>
            </a:extLst>
          </p:cNvPr>
          <p:cNvSpPr txBox="1"/>
          <p:nvPr/>
        </p:nvSpPr>
        <p:spPr>
          <a:xfrm>
            <a:off x="1280738" y="3631251"/>
            <a:ext cx="6559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解：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4238F1-D001-6E2C-9CC5-1DE4188112F5}"/>
              </a:ext>
            </a:extLst>
          </p:cNvPr>
          <p:cNvSpPr txBox="1"/>
          <p:nvPr/>
        </p:nvSpPr>
        <p:spPr>
          <a:xfrm>
            <a:off x="1726900" y="3631251"/>
            <a:ext cx="31390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（</a:t>
            </a:r>
            <a:r>
              <a:rPr lang="en-US" altLang="zh-CN" sz="2200" dirty="0"/>
              <a:t>1</a:t>
            </a:r>
            <a:r>
              <a:rPr lang="zh-CN" altLang="en-US" sz="2200" dirty="0"/>
              <a:t>）由光栅方程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EC271A0-A3D1-C657-80B9-4035D1EDF6A5}"/>
                  </a:ext>
                </a:extLst>
              </p:cNvPr>
              <p:cNvSpPr/>
              <p:nvPr/>
            </p:nvSpPr>
            <p:spPr>
              <a:xfrm>
                <a:off x="2636256" y="4273142"/>
                <a:ext cx="947567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200" i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EC271A0-A3D1-C657-80B9-4035D1EDF6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6256" y="4273142"/>
                <a:ext cx="94756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1E9174C-6073-844D-05E3-4B23CB343757}"/>
                  </a:ext>
                </a:extLst>
              </p:cNvPr>
              <p:cNvSpPr/>
              <p:nvPr/>
            </p:nvSpPr>
            <p:spPr>
              <a:xfrm>
                <a:off x="3873752" y="3614387"/>
                <a:ext cx="2820962" cy="430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1E9174C-6073-844D-05E3-4B23CB343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752" y="3614387"/>
                <a:ext cx="2820962" cy="430887"/>
              </a:xfrm>
              <a:prstGeom prst="rect">
                <a:avLst/>
              </a:prstGeom>
              <a:blipFill>
                <a:blip r:embed="rId3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8D90260-2CB3-3F5F-DC88-C63E4E7AC9D1}"/>
                  </a:ext>
                </a:extLst>
              </p:cNvPr>
              <p:cNvSpPr/>
              <p:nvPr/>
            </p:nvSpPr>
            <p:spPr>
              <a:xfrm>
                <a:off x="3805599" y="4251676"/>
                <a:ext cx="1824538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200" smtClean="0"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zh-CN" altLang="en-US" sz="2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0">
                          <a:latin typeface="Cambria Math" panose="02040503050406030204" pitchFamily="18" charset="0"/>
                        </a:rPr>
                        <m:t>=0.2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8D90260-2CB3-3F5F-DC88-C63E4E7AC9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599" y="4251676"/>
                <a:ext cx="1824538" cy="430887"/>
              </a:xfrm>
              <a:prstGeom prst="rect">
                <a:avLst/>
              </a:prstGeom>
              <a:blipFill>
                <a:blip r:embed="rId4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4CD451E7-DB1B-44B9-DAB6-C558D4025FFB}"/>
              </a:ext>
            </a:extLst>
          </p:cNvPr>
          <p:cNvSpPr txBox="1"/>
          <p:nvPr/>
        </p:nvSpPr>
        <p:spPr>
          <a:xfrm>
            <a:off x="2369952" y="5018584"/>
            <a:ext cx="1610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/>
              <a:t>得光栅常数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F8C5538-4F60-8A47-9323-1F98AE15267E}"/>
                  </a:ext>
                </a:extLst>
              </p:cNvPr>
              <p:cNvSpPr/>
              <p:nvPr/>
            </p:nvSpPr>
            <p:spPr>
              <a:xfrm>
                <a:off x="3827371" y="4844769"/>
                <a:ext cx="5555303" cy="8289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200" i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zh-CN" altLang="en-US" sz="2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0">
                              <a:latin typeface="Cambria Math" panose="02040503050406030204" pitchFamily="18" charset="0"/>
                            </a:rPr>
                            <m:t>2×600×</m:t>
                          </m:r>
                          <m:sSup>
                            <m:sSup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zh-CN" altLang="en-US" sz="2200" i="0">
                                  <a:latin typeface="Cambria Math" panose="02040503050406030204" pitchFamily="18" charset="0"/>
                                </a:rPr>
                                <m:t>−9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0">
                              <a:latin typeface="Cambria Math" panose="02040503050406030204" pitchFamily="18" charset="0"/>
                            </a:rPr>
                            <m:t>0.20</m:t>
                          </m:r>
                        </m:den>
                      </m:f>
                      <m:r>
                        <a:rPr lang="zh-CN" altLang="en-US" sz="22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200" i="0">
                          <a:latin typeface="Cambria Math" panose="02040503050406030204" pitchFamily="18" charset="0"/>
                        </a:rPr>
                        <m:t>=6×</m:t>
                      </m:r>
                      <m:sSup>
                        <m:sSupPr>
                          <m:ctrlPr>
                            <a:rPr lang="zh-CN" alt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zh-CN" altLang="en-US" sz="2200" i="0"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zh-CN" altLang="en-US" sz="2200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F8C5538-4F60-8A47-9323-1F98AE1526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371" y="4844769"/>
                <a:ext cx="5555303" cy="8289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870071B-56A9-4E00-A570-541228416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18" y="692459"/>
            <a:ext cx="10418967" cy="28409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">
                <a:extLst>
                  <a:ext uri="{FF2B5EF4-FFF2-40B4-BE49-F238E27FC236}">
                    <a16:creationId xmlns:a16="http://schemas.microsoft.com/office/drawing/2014/main" id="{9311071F-F93D-4219-AA18-C34A848F3F27}"/>
                  </a:ext>
                </a:extLst>
              </p:cNvPr>
              <p:cNvSpPr txBox="1"/>
              <p:nvPr/>
            </p:nvSpPr>
            <p:spPr bwMode="auto">
              <a:xfrm>
                <a:off x="5651498" y="3526297"/>
                <a:ext cx="2488245" cy="75406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Object 2">
                <a:extLst>
                  <a:ext uri="{FF2B5EF4-FFF2-40B4-BE49-F238E27FC236}">
                    <a16:creationId xmlns:a16="http://schemas.microsoft.com/office/drawing/2014/main" id="{9311071F-F93D-4219-AA18-C34A848F3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1498" y="3526297"/>
                <a:ext cx="2488245" cy="7540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2">
            <a:extLst>
              <a:ext uri="{FF2B5EF4-FFF2-40B4-BE49-F238E27FC236}">
                <a16:creationId xmlns:a16="http://schemas.microsoft.com/office/drawing/2014/main" id="{FAF31780-8327-4CAD-A056-AF37756B1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49" y="3481286"/>
            <a:ext cx="5689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解：</a:t>
            </a:r>
            <a:r>
              <a:rPr lang="en-US" altLang="zh-CN" dirty="0">
                <a:latin typeface="+mn-ea"/>
                <a:ea typeface="+mn-ea"/>
              </a:rPr>
              <a:t> (2) </a:t>
            </a:r>
            <a:r>
              <a:rPr lang="zh-CN" altLang="en-US" dirty="0">
                <a:latin typeface="+mn-ea"/>
                <a:ea typeface="+mn-ea"/>
                <a:cs typeface="仿宋_GB2312"/>
              </a:rPr>
              <a:t>第四级主极大缺级，有</a:t>
            </a: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8D22AA3F-5117-4588-B421-1D62BC56E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1766" y="5357287"/>
            <a:ext cx="707854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+mn-ea"/>
                <a:ea typeface="+mn-ea"/>
              </a:rPr>
              <a:t>时，第二级主极大也发生缺级，不符题意，舍去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70684000-ADD9-4AEC-9718-B627DDFCE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497" y="5484745"/>
            <a:ext cx="49053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中宋" panose="02010600040101010101" pitchFamily="2" charset="-122"/>
              </a:rPr>
              <a:t>时</a:t>
            </a:r>
            <a:endParaRPr lang="zh-CN" altLang="en-US" b="0">
              <a:solidFill>
                <a:schemeClr val="bg1"/>
              </a:solidFill>
              <a:latin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330FFC13-76B9-4E54-BBDC-50B8B8A367BC}"/>
                  </a:ext>
                </a:extLst>
              </p:cNvPr>
              <p:cNvSpPr txBox="1"/>
              <p:nvPr/>
            </p:nvSpPr>
            <p:spPr bwMode="auto">
              <a:xfrm>
                <a:off x="1382146" y="4643073"/>
                <a:ext cx="1282247" cy="40906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" name="Object 5">
                <a:extLst>
                  <a:ext uri="{FF2B5EF4-FFF2-40B4-BE49-F238E27FC236}">
                    <a16:creationId xmlns:a16="http://schemas.microsoft.com/office/drawing/2014/main" id="{330FFC13-76B9-4E54-BBDC-50B8B8A36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2146" y="4643073"/>
                <a:ext cx="1282247" cy="4090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3BD7F547-2BB9-44A0-844D-F4FDCA54AB33}"/>
                  </a:ext>
                </a:extLst>
              </p:cNvPr>
              <p:cNvSpPr txBox="1"/>
              <p:nvPr/>
            </p:nvSpPr>
            <p:spPr bwMode="auto">
              <a:xfrm>
                <a:off x="2664393" y="4416057"/>
                <a:ext cx="5295900" cy="78898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.5×1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3BD7F547-2BB9-44A0-844D-F4FDCA54A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4393" y="4416057"/>
                <a:ext cx="5295900" cy="7889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7">
                <a:extLst>
                  <a:ext uri="{FF2B5EF4-FFF2-40B4-BE49-F238E27FC236}">
                    <a16:creationId xmlns:a16="http://schemas.microsoft.com/office/drawing/2014/main" id="{705B7186-40A7-4189-AB9C-69112A8E6966}"/>
                  </a:ext>
                </a:extLst>
              </p:cNvPr>
              <p:cNvSpPr txBox="1"/>
              <p:nvPr/>
            </p:nvSpPr>
            <p:spPr bwMode="auto">
              <a:xfrm>
                <a:off x="1241201" y="5383848"/>
                <a:ext cx="1581150" cy="40906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" name="Object 7">
                <a:extLst>
                  <a:ext uri="{FF2B5EF4-FFF2-40B4-BE49-F238E27FC236}">
                    <a16:creationId xmlns:a16="http://schemas.microsoft.com/office/drawing/2014/main" id="{705B7186-40A7-4189-AB9C-69112A8E6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1201" y="5383848"/>
                <a:ext cx="1581150" cy="4090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8">
            <a:extLst>
              <a:ext uri="{FF2B5EF4-FFF2-40B4-BE49-F238E27FC236}">
                <a16:creationId xmlns:a16="http://schemas.microsoft.com/office/drawing/2014/main" id="{5873E649-7CD7-46FB-9398-941F9738F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173" y="6108933"/>
            <a:ext cx="8001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华文中宋" panose="02010600040101010101" pitchFamily="2" charset="-122"/>
              </a:rPr>
              <a:t>时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endParaRPr lang="zh-CN" altLang="en-US" b="0" dirty="0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8">
                <a:extLst>
                  <a:ext uri="{FF2B5EF4-FFF2-40B4-BE49-F238E27FC236}">
                    <a16:creationId xmlns:a16="http://schemas.microsoft.com/office/drawing/2014/main" id="{A29673E3-3EC2-4670-B0FE-755175E8B763}"/>
                  </a:ext>
                </a:extLst>
              </p:cNvPr>
              <p:cNvSpPr txBox="1"/>
              <p:nvPr/>
            </p:nvSpPr>
            <p:spPr bwMode="auto">
              <a:xfrm>
                <a:off x="1491006" y="6174304"/>
                <a:ext cx="1054441" cy="409067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" name="Object 8">
                <a:extLst>
                  <a:ext uri="{FF2B5EF4-FFF2-40B4-BE49-F238E27FC236}">
                    <a16:creationId xmlns:a16="http://schemas.microsoft.com/office/drawing/2014/main" id="{A29673E3-3EC2-4670-B0FE-755175E8B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1006" y="6174304"/>
                <a:ext cx="1054441" cy="4090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9">
                <a:extLst>
                  <a:ext uri="{FF2B5EF4-FFF2-40B4-BE49-F238E27FC236}">
                    <a16:creationId xmlns:a16="http://schemas.microsoft.com/office/drawing/2014/main" id="{6825DA74-936F-4373-81AB-B696E9581BE0}"/>
                  </a:ext>
                </a:extLst>
              </p:cNvPr>
              <p:cNvSpPr txBox="1"/>
              <p:nvPr/>
            </p:nvSpPr>
            <p:spPr bwMode="auto">
              <a:xfrm>
                <a:off x="3167036" y="5897372"/>
                <a:ext cx="7478939" cy="78898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×3=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×3=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.5×1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m:rPr>
                          <m:nor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" name="Object 9">
                <a:extLst>
                  <a:ext uri="{FF2B5EF4-FFF2-40B4-BE49-F238E27FC236}">
                    <a16:creationId xmlns:a16="http://schemas.microsoft.com/office/drawing/2014/main" id="{6825DA74-936F-4373-81AB-B696E9581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7036" y="5897372"/>
                <a:ext cx="7478939" cy="7889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61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utoUpdateAnimBg="0"/>
      <p:bldP spid="16" grpId="0" autoUpdateAnimBg="0"/>
      <p:bldP spid="17" grpId="0"/>
      <p:bldP spid="18" grpId="0"/>
      <p:bldP spid="19" grpId="0"/>
      <p:bldP spid="20" grpId="0" autoUpdateAnimBg="0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8D5B698-1EDC-4208-8540-4D863A113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12" y="389355"/>
            <a:ext cx="10418967" cy="2840982"/>
          </a:xfrm>
          <a:prstGeom prst="rect">
            <a:avLst/>
          </a:prstGeom>
        </p:spPr>
      </p:pic>
      <p:sp>
        <p:nvSpPr>
          <p:cNvPr id="17" name="Text Box 6">
            <a:extLst>
              <a:ext uri="{FF2B5EF4-FFF2-40B4-BE49-F238E27FC236}">
                <a16:creationId xmlns:a16="http://schemas.microsoft.com/office/drawing/2014/main" id="{DDEED310-7C18-4D83-AB42-D34612692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539" y="3429000"/>
            <a:ext cx="58181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en-US" altLang="zh-CN" dirty="0"/>
              <a:t> </a:t>
            </a:r>
            <a:r>
              <a:rPr lang="en-US" altLang="zh-CN" dirty="0">
                <a:ea typeface="仿宋_GB2312"/>
                <a:cs typeface="仿宋_GB2312"/>
              </a:rPr>
              <a:t>(3) </a:t>
            </a:r>
            <a:r>
              <a:rPr lang="zh-CN" altLang="en-US" dirty="0">
                <a:latin typeface="宋体" panose="02010600030101010101" pitchFamily="2" charset="-122"/>
                <a:ea typeface="仿宋_GB2312"/>
                <a:cs typeface="仿宋_GB2312"/>
              </a:rPr>
              <a:t>当</a:t>
            </a:r>
            <a:r>
              <a:rPr lang="zh-CN" altLang="en-US" dirty="0">
                <a:ea typeface="仿宋_GB2312"/>
                <a:cs typeface="仿宋_GB2312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j=(p/2) </a:t>
            </a:r>
            <a:r>
              <a:rPr lang="zh-CN" altLang="en-US" dirty="0">
                <a:latin typeface="宋体" panose="02010600030101010101" pitchFamily="2" charset="-122"/>
                <a:ea typeface="仿宋_GB2312"/>
                <a:cs typeface="仿宋_GB2312"/>
              </a:rPr>
              <a:t>时</a:t>
            </a:r>
            <a:r>
              <a:rPr lang="zh-CN" altLang="en-US" dirty="0"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  <a:ea typeface="仿宋_GB2312"/>
                <a:cs typeface="仿宋_GB2312"/>
              </a:rPr>
              <a:t>光栅方程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4">
                <a:extLst>
                  <a:ext uri="{FF2B5EF4-FFF2-40B4-BE49-F238E27FC236}">
                    <a16:creationId xmlns:a16="http://schemas.microsoft.com/office/drawing/2014/main" id="{6586821A-5F0D-4A88-A32F-C55896B9C412}"/>
                  </a:ext>
                </a:extLst>
              </p:cNvPr>
              <p:cNvSpPr txBox="1"/>
              <p:nvPr/>
            </p:nvSpPr>
            <p:spPr bwMode="auto">
              <a:xfrm>
                <a:off x="4360178" y="4116388"/>
                <a:ext cx="1659618" cy="7239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" name="Object 4">
                <a:extLst>
                  <a:ext uri="{FF2B5EF4-FFF2-40B4-BE49-F238E27FC236}">
                    <a16:creationId xmlns:a16="http://schemas.microsoft.com/office/drawing/2014/main" id="{6586821A-5F0D-4A88-A32F-C55896B9C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0178" y="4116388"/>
                <a:ext cx="1659618" cy="723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5">
                <a:extLst>
                  <a:ext uri="{FF2B5EF4-FFF2-40B4-BE49-F238E27FC236}">
                    <a16:creationId xmlns:a16="http://schemas.microsoft.com/office/drawing/2014/main" id="{5C4BB1C9-FCF9-4BA5-8F23-DB9994C24D91}"/>
                  </a:ext>
                </a:extLst>
              </p:cNvPr>
              <p:cNvSpPr txBox="1"/>
              <p:nvPr/>
            </p:nvSpPr>
            <p:spPr bwMode="auto">
              <a:xfrm>
                <a:off x="5856743" y="4076700"/>
                <a:ext cx="3276373" cy="7620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600×1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−9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" name="Object 5">
                <a:extLst>
                  <a:ext uri="{FF2B5EF4-FFF2-40B4-BE49-F238E27FC236}">
                    <a16:creationId xmlns:a16="http://schemas.microsoft.com/office/drawing/2014/main" id="{5C4BB1C9-FCF9-4BA5-8F23-DB9994C24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6743" y="4076700"/>
                <a:ext cx="3276373" cy="762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9">
            <a:extLst>
              <a:ext uri="{FF2B5EF4-FFF2-40B4-BE49-F238E27FC236}">
                <a16:creationId xmlns:a16="http://schemas.microsoft.com/office/drawing/2014/main" id="{76C6708F-1DE0-49AE-B077-CA5364DCC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5835" y="5006750"/>
            <a:ext cx="7848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25000"/>
              </a:lnSpc>
            </a:pPr>
            <a:r>
              <a:rPr lang="zh-CN" altLang="en-US" dirty="0">
                <a:latin typeface="宋体" panose="02010600030101010101" pitchFamily="2" charset="-122"/>
                <a:ea typeface="仿宋_GB2312"/>
                <a:cs typeface="仿宋_GB2312"/>
              </a:rPr>
              <a:t>实际可以观察到 </a:t>
            </a:r>
            <a:r>
              <a:rPr lang="en-US" altLang="zh-CN" dirty="0">
                <a:ea typeface="仿宋_GB2312"/>
                <a:cs typeface="仿宋_GB2312"/>
              </a:rPr>
              <a:t>0, </a:t>
            </a:r>
            <a:r>
              <a:rPr lang="en-US" altLang="zh-CN" dirty="0">
                <a:ea typeface="仿宋_GB2312"/>
                <a:cs typeface="Times New Roman" panose="02020603050405020304" pitchFamily="18" charset="0"/>
              </a:rPr>
              <a:t>±1, </a:t>
            </a:r>
            <a:r>
              <a:rPr lang="en-US" altLang="zh-CN" dirty="0">
                <a:ea typeface="仿宋_GB2312"/>
                <a:cs typeface="仿宋_GB2312"/>
              </a:rPr>
              <a:t>±2, ±3, ±5, ±6, ±7, ±9 </a:t>
            </a:r>
            <a:r>
              <a:rPr lang="zh-CN" altLang="en-US" dirty="0">
                <a:latin typeface="宋体" panose="02010600030101010101" pitchFamily="2" charset="-122"/>
                <a:ea typeface="仿宋_GB2312"/>
                <a:cs typeface="仿宋_GB2312"/>
              </a:rPr>
              <a:t>级</a:t>
            </a:r>
            <a:endParaRPr lang="en-US" altLang="zh-CN" dirty="0">
              <a:latin typeface="宋体" panose="02010600030101010101" pitchFamily="2" charset="-122"/>
              <a:ea typeface="仿宋_GB2312"/>
              <a:cs typeface="仿宋_GB2312"/>
            </a:endParaRPr>
          </a:p>
          <a:p>
            <a:pPr algn="just" eaLnBrk="1" fontAlgn="ctr" hangingPunct="1">
              <a:lnSpc>
                <a:spcPct val="125000"/>
              </a:lnSpc>
            </a:pPr>
            <a:r>
              <a:rPr lang="zh-CN" altLang="en-US" dirty="0">
                <a:latin typeface="宋体" panose="02010600030101010101" pitchFamily="2" charset="-122"/>
                <a:ea typeface="仿宋_GB2312"/>
                <a:cs typeface="仿宋_GB2312"/>
              </a:rPr>
              <a:t>共</a:t>
            </a:r>
            <a:r>
              <a:rPr lang="en-US" altLang="zh-CN" dirty="0">
                <a:ea typeface="仿宋_GB2312"/>
                <a:cs typeface="仿宋_GB2312"/>
              </a:rPr>
              <a:t>15</a:t>
            </a:r>
            <a:r>
              <a:rPr lang="zh-CN" altLang="en-US" dirty="0">
                <a:latin typeface="宋体" panose="02010600030101010101" pitchFamily="2" charset="-122"/>
                <a:ea typeface="仿宋_GB2312"/>
                <a:cs typeface="仿宋_GB2312"/>
              </a:rPr>
              <a:t>条谱线</a:t>
            </a:r>
            <a:r>
              <a:rPr lang="en-US" altLang="zh-CN" dirty="0">
                <a:latin typeface="宋体" panose="02010600030101010101" pitchFamily="2" charset="-122"/>
                <a:ea typeface="仿宋_GB2312"/>
                <a:cs typeface="仿宋_GB2312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8">
                <a:extLst>
                  <a:ext uri="{FF2B5EF4-FFF2-40B4-BE49-F238E27FC236}">
                    <a16:creationId xmlns:a16="http://schemas.microsoft.com/office/drawing/2014/main" id="{ACDA1CED-EB3A-4844-B9ED-5734275AF21F}"/>
                  </a:ext>
                </a:extLst>
              </p:cNvPr>
              <p:cNvSpPr txBox="1"/>
              <p:nvPr/>
            </p:nvSpPr>
            <p:spPr bwMode="auto">
              <a:xfrm>
                <a:off x="1832089" y="4271963"/>
                <a:ext cx="1752600" cy="46831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" name="Object 8">
                <a:extLst>
                  <a:ext uri="{FF2B5EF4-FFF2-40B4-BE49-F238E27FC236}">
                    <a16:creationId xmlns:a16="http://schemas.microsoft.com/office/drawing/2014/main" id="{ACDA1CED-EB3A-4844-B9ED-5734275AF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2089" y="4271963"/>
                <a:ext cx="1752600" cy="468313"/>
              </a:xfrm>
              <a:prstGeom prst="rect">
                <a:avLst/>
              </a:prstGeom>
              <a:blipFill>
                <a:blip r:embed="rId5"/>
                <a:stretch>
                  <a:fillRect b="-5195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utoShape 16">
            <a:extLst>
              <a:ext uri="{FF2B5EF4-FFF2-40B4-BE49-F238E27FC236}">
                <a16:creationId xmlns:a16="http://schemas.microsoft.com/office/drawing/2014/main" id="{1FDB2CA6-27A1-4B3F-80AC-AD98E9B7E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664" y="4414838"/>
            <a:ext cx="611188" cy="160337"/>
          </a:xfrm>
          <a:prstGeom prst="rightArrow">
            <a:avLst>
              <a:gd name="adj1" fmla="val 50000"/>
              <a:gd name="adj2" fmla="val 9529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/>
          </a:p>
        </p:txBody>
      </p:sp>
    </p:spTree>
    <p:extLst>
      <p:ext uri="{BB962C8B-B14F-4D97-AF65-F5344CB8AC3E}">
        <p14:creationId xmlns:p14="http://schemas.microsoft.com/office/powerpoint/2010/main" val="252724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C59B985-052F-41FF-9C3D-811C0837A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36" y="364927"/>
            <a:ext cx="10645907" cy="240203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0F86E0F-72AE-20ED-EC70-86105C394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139" y="2650761"/>
            <a:ext cx="2810410" cy="227256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49B6983-E1CE-A2FD-67B6-4935803A1F8A}"/>
              </a:ext>
            </a:extLst>
          </p:cNvPr>
          <p:cNvSpPr txBox="1"/>
          <p:nvPr/>
        </p:nvSpPr>
        <p:spPr>
          <a:xfrm>
            <a:off x="896555" y="2766959"/>
            <a:ext cx="4437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(1)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斜入射时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52B1C6D-95F6-4CF0-BF9B-D810AD567E9D}"/>
                  </a:ext>
                </a:extLst>
              </p:cNvPr>
              <p:cNvSpPr txBox="1"/>
              <p:nvPr/>
            </p:nvSpPr>
            <p:spPr>
              <a:xfrm>
                <a:off x="2602035" y="3321924"/>
                <a:ext cx="64004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</m:t>
                      </m:r>
                      <m:d>
                        <m:d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𝑠𝑖𝑛</m:t>
                          </m:r>
                          <m:r>
                            <a:rPr kumimoji="0" lang="zh-CN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𝑠𝑖𝑛</m:t>
                          </m:r>
                          <m:r>
                            <a:rPr kumimoji="0" lang="zh-CN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𝜑</m:t>
                          </m:r>
                        </m:e>
                      </m:d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m:rPr>
                          <m:sty m:val="p"/>
                        </m:rPr>
                        <a:rPr kumimoji="0" lang="el-GR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λ</m:t>
                      </m:r>
                    </m:oMath>
                  </m:oMathPara>
                </a14:m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52B1C6D-95F6-4CF0-BF9B-D810AD567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035" y="3321924"/>
                <a:ext cx="640045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385BAC-589E-40E1-90A9-C3F250A969FF}"/>
                  </a:ext>
                </a:extLst>
              </p:cNvPr>
              <p:cNvSpPr txBox="1"/>
              <p:nvPr/>
            </p:nvSpPr>
            <p:spPr>
              <a:xfrm>
                <a:off x="1322950" y="5416138"/>
                <a:ext cx="9856680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𝑘</m:t>
                    </m:r>
                    <m:r>
                      <m:rPr>
                        <m:sty m:val="p"/>
                      </m:rPr>
                      <a:rPr kumimoji="0" lang="el-GR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λ</m:t>
                    </m:r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/</m:t>
                    </m:r>
                  </m:oMath>
                </a14:m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𝑠𝑖𝑛</m:t>
                        </m:r>
                        <m:r>
                          <a:rPr kumimoji="0" lang="zh-CN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𝜃</m:t>
                        </m:r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𝑠𝑖𝑛</m:t>
                        </m:r>
                        <m:r>
                          <a:rPr kumimoji="0" lang="zh-CN" altLang="en-US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𝜑</m:t>
                        </m:r>
                      </m:e>
                    </m:d>
                    <m:r>
                      <a:rPr kumimoji="0" lang="en-US" altLang="zh-CN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=2</m:t>
                    </m:r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US" altLang="zh-CN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500</m:t>
                    </m:r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−9</m:t>
                        </m:r>
                      </m:sup>
                    </m:sSup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/(</m:t>
                    </m:r>
                    <m:f>
                      <m:f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)=2</m:t>
                    </m:r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10</m:t>
                        </m:r>
                      </m:e>
                      <m:sup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−6</m:t>
                        </m:r>
                      </m:sup>
                    </m:sSup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微软雅黑" panose="020B0503020204020204" pitchFamily="34" charset="-122"/>
                        <a:cs typeface="+mn-cs"/>
                      </a:rPr>
                      <m:t>𝑚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385BAC-589E-40E1-90A9-C3F250A96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950" y="5416138"/>
                <a:ext cx="9856680" cy="7007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EA8BBE2-DAD3-4CE9-9282-CDA762221D33}"/>
                  </a:ext>
                </a:extLst>
              </p:cNvPr>
              <p:cNvSpPr txBox="1"/>
              <p:nvPr/>
            </p:nvSpPr>
            <p:spPr>
              <a:xfrm>
                <a:off x="1831010" y="3814732"/>
                <a:ext cx="5698338" cy="1308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原中央明纹处，</a:t>
                </a:r>
                <a14:m>
                  <m:oMath xmlns:m="http://schemas.openxmlformats.org/officeDocument/2006/math">
                    <m:r>
                      <a:rPr kumimoji="0" lang="zh-CN" alt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𝜑</m:t>
                    </m:r>
                    <m:r>
                      <a:rPr kumimoji="0" lang="en-US" altLang="zh-CN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0;</m:t>
                    </m:r>
                  </m:oMath>
                </a14:m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第二级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明纹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光谱 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𝑘</m:t>
                    </m:r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=2,  </m:t>
                    </m:r>
                    <m:r>
                      <a:rPr kumimoji="0" lang="zh-CN" alt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𝜃</m:t>
                    </m:r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=30°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EA8BBE2-DAD3-4CE9-9282-CDA762221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010" y="3814732"/>
                <a:ext cx="5698338" cy="1308884"/>
              </a:xfrm>
              <a:prstGeom prst="rect">
                <a:avLst/>
              </a:prstGeom>
              <a:blipFill>
                <a:blip r:embed="rId6"/>
                <a:stretch>
                  <a:fillRect l="-2139" b="-12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16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86A73BC-B3E1-4CE9-8C2C-90D285E97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36" y="441129"/>
            <a:ext cx="10169009" cy="2402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304E79B-A9C2-60E0-64DB-381F575B67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4360" y="2872826"/>
                <a:ext cx="10397455" cy="3745684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altLang="zh-CN" dirty="0"/>
                  <a:t>(2) </a:t>
                </a:r>
                <a:r>
                  <a:rPr lang="zh-CN" altLang="en-US" dirty="0"/>
                  <a:t>明纹最大级次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对应于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30°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𝑠𝑖𝑛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zh-CN" dirty="0"/>
                  <a:t>       </a:t>
                </a:r>
                <a:r>
                  <a:rPr lang="zh-CN" altLang="en-US" dirty="0"/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30°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i="0"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⁡(−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    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dirty="0"/>
                  <a:t>所以，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=0; ±1; 2; 3; 4; 5,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共</m:t>
                    </m:r>
                  </m:oMath>
                </a14:m>
                <a:r>
                  <a:rPr lang="en-US" altLang="zh-CN" dirty="0"/>
                  <a:t>7</a:t>
                </a:r>
                <a:r>
                  <a:rPr lang="zh-CN" altLang="en-US" dirty="0"/>
                  <a:t>条明纹。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4304E79B-A9C2-60E0-64DB-381F575B67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4360" y="2872826"/>
                <a:ext cx="10397455" cy="3745684"/>
              </a:xfrm>
              <a:blipFill>
                <a:blip r:embed="rId3"/>
                <a:stretch>
                  <a:fillRect l="-1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85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526671D-E3CD-43CF-8646-F5DF36513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23" y="96533"/>
            <a:ext cx="10169009" cy="2402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16E1E8C-B711-5C1F-FAF0-967B8BCC46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7342" y="2498565"/>
                <a:ext cx="10565235" cy="391480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）光栅方程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/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=600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 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𝑛𝑚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        谱线重叠条件：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b="0" i="1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解得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        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=3.33</m:t>
                    </m:r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        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=3.07</m:t>
                    </m:r>
                  </m:oMath>
                </a14:m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        所以谱线不会重叠。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A16E1E8C-B711-5C1F-FAF0-967B8BCC46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7342" y="2498565"/>
                <a:ext cx="10565235" cy="3914808"/>
              </a:xfrm>
              <a:blipFill>
                <a:blip r:embed="rId3"/>
                <a:stretch>
                  <a:fillRect l="-1039" t="-779" b="-1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5ADF45B-0439-4EFE-9C0B-CB754C745227}"/>
                  </a:ext>
                </a:extLst>
              </p:cNvPr>
              <p:cNvSpPr txBox="1"/>
              <p:nvPr/>
            </p:nvSpPr>
            <p:spPr>
              <a:xfrm>
                <a:off x="4225081" y="2498565"/>
                <a:ext cx="64004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</m:t>
                      </m:r>
                      <m:d>
                        <m:dPr>
                          <m:ctrlP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𝑠𝑖𝑛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30°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𝑠𝑖𝑛</m:t>
                          </m:r>
                          <m:r>
                            <a:rPr kumimoji="0" lang="zh-CN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𝜑</m:t>
                          </m:r>
                        </m:e>
                      </m:d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𝑘</m:t>
                      </m:r>
                      <m:r>
                        <m:rPr>
                          <m:sty m:val="p"/>
                        </m:rPr>
                        <a:rPr kumimoji="0" lang="el-GR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λ</m:t>
                      </m:r>
                    </m:oMath>
                  </m:oMathPara>
                </a14:m>
                <a:endPara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5ADF45B-0439-4EFE-9C0B-CB754C745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081" y="2498565"/>
                <a:ext cx="640045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91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35E8503C-8254-48B7-AE82-676673269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207188"/>
            <a:ext cx="11209446" cy="19630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C610B97-0EF5-8E47-7CD5-CA095AD990FB}"/>
                  </a:ext>
                </a:extLst>
              </p:cNvPr>
              <p:cNvSpPr txBox="1"/>
              <p:nvPr/>
            </p:nvSpPr>
            <p:spPr>
              <a:xfrm>
                <a:off x="627428" y="2027797"/>
                <a:ext cx="1089360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4000"/>
                  </a:lnSpc>
                </a:pPr>
                <a:r>
                  <a:rPr lang="zh-CN" altLang="en-US" dirty="0"/>
                  <a:t>解：入射光的光强为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自然光部分的光强为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线偏光部分的光强也为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ts val="4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自然光部分</a:t>
                </a:r>
                <a:r>
                  <a:rPr lang="zh-CN" altLang="en-US" dirty="0"/>
                  <a:t>：经过第一个偏振片，光强损失一半，为一束线偏光，振动方向与</a:t>
                </a:r>
                <a:r>
                  <a:rPr lang="en-US" altLang="zh-CN" dirty="0"/>
                  <a:t>P</a:t>
                </a:r>
                <a:r>
                  <a:rPr lang="en-US" altLang="zh-CN" baseline="-25000" dirty="0"/>
                  <a:t>1</a:t>
                </a:r>
                <a:r>
                  <a:rPr lang="zh-CN" altLang="en-US" dirty="0"/>
                  <a:t>偏振化方向平行；经过第二个偏振片，马吕斯定律，出射后的光强</a:t>
                </a:r>
                <a:endParaRPr lang="en-US" altLang="zh-CN" dirty="0"/>
              </a:p>
              <a:p>
                <a:pPr>
                  <a:lnSpc>
                    <a:spcPts val="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0°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ts val="4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线偏光部分</a:t>
                </a:r>
                <a:r>
                  <a:rPr lang="zh-CN" altLang="en-US" dirty="0"/>
                  <a:t>：设线偏光的光矢量振动方向与</a:t>
                </a:r>
                <a:r>
                  <a:rPr lang="en-US" altLang="zh-CN" dirty="0"/>
                  <a:t>P</a:t>
                </a:r>
                <a:r>
                  <a:rPr lang="en-US" altLang="zh-CN" baseline="-25000" dirty="0"/>
                  <a:t>1</a:t>
                </a:r>
                <a:r>
                  <a:rPr lang="zh-CN" altLang="en-US" dirty="0"/>
                  <a:t>偏振化方向夹角为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dirty="0"/>
                  <a:t>，两偏振片的偏振化方向夹角为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dirty="0"/>
                  <a:t>0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>
                  <a:lnSpc>
                    <a:spcPts val="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func>
                            <m:func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0°</m:t>
                          </m:r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6C610B97-0EF5-8E47-7CD5-CA095AD99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28" y="2027797"/>
                <a:ext cx="10893600" cy="3170099"/>
              </a:xfrm>
              <a:prstGeom prst="rect">
                <a:avLst/>
              </a:prstGeom>
              <a:blipFill>
                <a:blip r:embed="rId3"/>
                <a:stretch>
                  <a:fillRect l="-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35A79C3-EE92-48C6-A571-28C985707BE2}"/>
                  </a:ext>
                </a:extLst>
              </p:cNvPr>
              <p:cNvSpPr txBox="1"/>
              <p:nvPr/>
            </p:nvSpPr>
            <p:spPr>
              <a:xfrm>
                <a:off x="649200" y="5142374"/>
                <a:ext cx="9877286" cy="1493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3800"/>
                  </a:lnSpc>
                </a:pPr>
                <a:r>
                  <a:rPr lang="zh-CN" altLang="en-US" dirty="0"/>
                  <a:t>根据题意，可知</a:t>
                </a:r>
                <a:endParaRPr lang="en-US" altLang="zh-CN" dirty="0"/>
              </a:p>
              <a:p>
                <a:pPr>
                  <a:lnSpc>
                    <a:spcPts val="38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ts val="38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                                         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dirty="0"/>
                  <a:t>           入射光中线偏振光振动方向与</a:t>
                </a:r>
                <a:r>
                  <a:rPr lang="en-US" altLang="zh-CN" dirty="0"/>
                  <a:t>P</a:t>
                </a:r>
                <a:r>
                  <a:rPr lang="en-US" altLang="zh-CN" baseline="-25000" dirty="0"/>
                  <a:t>1</a:t>
                </a:r>
                <a:r>
                  <a:rPr lang="zh-CN" altLang="en-US" dirty="0"/>
                  <a:t>偏振化方向平行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35A79C3-EE92-48C6-A571-28C985707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00" y="5142374"/>
                <a:ext cx="9877286" cy="1493229"/>
              </a:xfrm>
              <a:prstGeom prst="rect">
                <a:avLst/>
              </a:prstGeom>
              <a:blipFill>
                <a:blip r:embed="rId4"/>
                <a:stretch>
                  <a:fillRect l="-494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5BC3A697-7919-45AE-B2F7-C29952C2BCFB}"/>
              </a:ext>
            </a:extLst>
          </p:cNvPr>
          <p:cNvGrpSpPr/>
          <p:nvPr/>
        </p:nvGrpSpPr>
        <p:grpSpPr>
          <a:xfrm>
            <a:off x="8639952" y="2845458"/>
            <a:ext cx="3026422" cy="3300838"/>
            <a:chOff x="8639952" y="2845458"/>
            <a:chExt cx="3026422" cy="330083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39952" y="2845458"/>
              <a:ext cx="3026422" cy="330083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对象 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1B5901A7-9C4E-41F6-BDDC-B83CE36FB9A4}"/>
                    </a:ext>
                  </a:extLst>
                </p:cNvPr>
                <p:cNvSpPr txBox="1"/>
                <p:nvPr/>
              </p:nvSpPr>
              <p:spPr>
                <a:xfrm>
                  <a:off x="9678653" y="3198129"/>
                  <a:ext cx="379745" cy="350709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0" lang="en-US" altLang="zh-CN" sz="15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B</m:t>
                        </m:r>
                      </m:oMath>
                    </m:oMathPara>
                  </a14:m>
                  <a:endParaRPr kumimoji="0" lang="zh-CN" altLang="en-US" sz="15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3" name="对象 8">
                  <a:hlinkClick r:id="" action="ppaction://ole?verb=0"/>
                  <a:extLst>
                    <a:ext uri="{FF2B5EF4-FFF2-40B4-BE49-F238E27FC236}">
                      <a16:creationId xmlns:a16="http://schemas.microsoft.com/office/drawing/2014/main" id="{1B5901A7-9C4E-41F6-BDDC-B83CE36FB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8653" y="3198129"/>
                  <a:ext cx="379745" cy="35070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矩形 1"/>
          <p:cNvSpPr/>
          <p:nvPr/>
        </p:nvSpPr>
        <p:spPr>
          <a:xfrm>
            <a:off x="802257" y="329500"/>
            <a:ext cx="10489325" cy="2645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如图安排的三种透光媒质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Ⅰ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Ⅱ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Ⅲ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，其折射率分别为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33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=1.50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。两个交界面相互平行。一束自然光自媒质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Ⅰ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中入射到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Ⅰ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与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Ⅱ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的交界面上，若反射光为线偏振光，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(1) 求入射角 </a:t>
            </a:r>
            <a:r>
              <a:rPr lang="en-US" altLang="zh-CN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(2) 媒质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Ⅱ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Ⅲ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界面上的反射光是不是线偏振光? 为什么?</a:t>
            </a:r>
          </a:p>
          <a:p>
            <a:pPr>
              <a:lnSpc>
                <a:spcPct val="120000"/>
              </a:lnSpc>
            </a:pPr>
            <a:endParaRPr lang="zh-CN" altLang="en-US" sz="20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94D35B-9A98-BBE9-7ED5-E2AD4806A309}"/>
              </a:ext>
            </a:extLst>
          </p:cNvPr>
          <p:cNvSpPr txBox="1"/>
          <p:nvPr/>
        </p:nvSpPr>
        <p:spPr>
          <a:xfrm>
            <a:off x="802257" y="2774524"/>
            <a:ext cx="8643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分析：自然光以布儒斯特角入射到介质表面时，其反射光为线偏振光。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EB6AD1-125D-09FE-631C-B1463AC824FF}"/>
              </a:ext>
            </a:extLst>
          </p:cNvPr>
          <p:cNvSpPr txBox="1"/>
          <p:nvPr/>
        </p:nvSpPr>
        <p:spPr>
          <a:xfrm>
            <a:off x="837538" y="3432641"/>
            <a:ext cx="6355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）布儒斯特定律，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  <a:extLst>
                  <a:ext uri="{FF2B5EF4-FFF2-40B4-BE49-F238E27FC236}">
                    <a16:creationId xmlns:a16="http://schemas.microsoft.com/office/drawing/2014/main" id="{AD242FC2-85A0-B273-5466-35F8308DADEF}"/>
                  </a:ext>
                </a:extLst>
              </p:cNvPr>
              <p:cNvSpPr txBox="1"/>
              <p:nvPr/>
            </p:nvSpPr>
            <p:spPr>
              <a:xfrm>
                <a:off x="3026490" y="3277334"/>
                <a:ext cx="1977714" cy="91098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zh-CN" altLang="en-US" sz="2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zh-CN" altLang="en-US" sz="2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tan</m:t>
                          </m:r>
                        </m:fName>
                        <m:e>
                          <m: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0" lang="en-US" altLang="zh-CN" sz="2200" b="0" i="1" u="none" strike="noStrike" kern="1200" cap="none" spc="0" normalizeH="0" baseline="-2500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𝐵</m:t>
                          </m:r>
                        </m:e>
                      </m:func>
                      <m:r>
                        <a:rPr kumimoji="0" lang="zh-CN" altLang="en-US" sz="2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  <a:extLst>
                  <a:ext uri="{FF2B5EF4-FFF2-40B4-BE49-F238E27FC236}">
                    <a16:creationId xmlns:a16="http://schemas.microsoft.com/office/drawing/2014/main" id="{AD242FC2-85A0-B273-5466-35F8308DA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490" y="3277334"/>
                <a:ext cx="1977714" cy="9109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hlinkClick r:id="" action="ppaction://ole?verb=0"/>
                <a:extLst>
                  <a:ext uri="{FF2B5EF4-FFF2-40B4-BE49-F238E27FC236}">
                    <a16:creationId xmlns:a16="http://schemas.microsoft.com/office/drawing/2014/main" id="{799B47CA-6B03-BC82-5608-BFCE6A08C61F}"/>
                  </a:ext>
                </a:extLst>
              </p:cNvPr>
              <p:cNvSpPr txBox="1"/>
              <p:nvPr/>
            </p:nvSpPr>
            <p:spPr>
              <a:xfrm>
                <a:off x="4725557" y="3269639"/>
                <a:ext cx="3628103" cy="64516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zh-CN" sz="2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𝑖</m:t>
                      </m:r>
                      <m:r>
                        <m:rPr>
                          <m:sty m:val="p"/>
                        </m:rPr>
                        <a:rPr kumimoji="0" lang="en-US" altLang="zh-CN" sz="2200" b="0" i="0" u="none" strike="noStrike" kern="1200" cap="none" spc="0" normalizeH="0" baseline="-2500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B</m:t>
                      </m:r>
                      <m:r>
                        <a:rPr kumimoji="0" lang="zh-CN" altLang="en-US" sz="2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zh-CN" altLang="en-US" sz="2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𝑎𝑟𝑐𝑡𝑎𝑛</m:t>
                      </m:r>
                      <m:r>
                        <a:rPr kumimoji="0" lang="zh-CN" altLang="en-US" sz="2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f>
                        <m:fPr>
                          <m:ctrlP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e>
                            <m:sub>
                              <m:r>
                                <a:rPr kumimoji="0" lang="zh-CN" altLang="en-US" sz="2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zh-CN" altLang="en-US" sz="2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)=48.4</m:t>
                      </m:r>
                      <m:sSup>
                        <m:sSupPr>
                          <m:ctrlP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e>
                        <m:sup>
                          <m: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对象 8">
                <a:hlinkClick r:id="" action="ppaction://ole?verb=0"/>
                <a:extLst>
                  <a:ext uri="{FF2B5EF4-FFF2-40B4-BE49-F238E27FC236}">
                    <a16:creationId xmlns:a16="http://schemas.microsoft.com/office/drawing/2014/main" id="{799B47CA-6B03-BC82-5608-BFCE6A08C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5557" y="3269639"/>
                <a:ext cx="3628103" cy="645160"/>
              </a:xfrm>
              <a:prstGeom prst="rect">
                <a:avLst/>
              </a:prstGeom>
              <a:blipFill>
                <a:blip r:embed="rId5"/>
                <a:stretch>
                  <a:fillRect b="-4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CF3F0AC-DFDB-B899-8B27-28340A975EE5}"/>
                  </a:ext>
                </a:extLst>
              </p:cNvPr>
              <p:cNvSpPr txBox="1"/>
              <p:nvPr/>
            </p:nvSpPr>
            <p:spPr>
              <a:xfrm>
                <a:off x="900365" y="4159383"/>
                <a:ext cx="84474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rPr>
                  <a:t>（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rPr>
                  <a:t>2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rPr>
                  <a:t>）设在媒介中的折射角为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软雅黑" panose="020B0503020204020204" pitchFamily="34" charset="-122"/>
                    <a:cs typeface="+mn-cs"/>
                  </a:rPr>
                  <a:t> 则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CF3F0AC-DFDB-B899-8B27-28340A975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65" y="4159383"/>
                <a:ext cx="8447405" cy="369332"/>
              </a:xfrm>
              <a:prstGeom prst="rect">
                <a:avLst/>
              </a:prstGeom>
              <a:blipFill>
                <a:blip r:embed="rId6"/>
                <a:stretch>
                  <a:fillRect l="-650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>
                <a:hlinkClick r:id="" action="ppaction://ole?verb=0"/>
                <a:extLst>
                  <a:ext uri="{FF2B5EF4-FFF2-40B4-BE49-F238E27FC236}">
                    <a16:creationId xmlns:a16="http://schemas.microsoft.com/office/drawing/2014/main" id="{17111CCA-0407-9F36-9D7E-98BFF9B1A57C}"/>
                  </a:ext>
                </a:extLst>
              </p:cNvPr>
              <p:cNvSpPr txBox="1"/>
              <p:nvPr/>
            </p:nvSpPr>
            <p:spPr>
              <a:xfrm>
                <a:off x="4428761" y="4098235"/>
                <a:ext cx="3684822" cy="35877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−48.4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=41.5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对象 10">
                <a:hlinkClick r:id="" action="ppaction://ole?verb=0"/>
                <a:extLst>
                  <a:ext uri="{FF2B5EF4-FFF2-40B4-BE49-F238E27FC236}">
                    <a16:creationId xmlns:a16="http://schemas.microsoft.com/office/drawing/2014/main" id="{17111CCA-0407-9F36-9D7E-98BFF9B1A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761" y="4098235"/>
                <a:ext cx="3684822" cy="358775"/>
              </a:xfrm>
              <a:prstGeom prst="rect">
                <a:avLst/>
              </a:prstGeom>
              <a:blipFill>
                <a:blip r:embed="rId7"/>
                <a:stretch>
                  <a:fillRect b="-203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C9D277B-8A60-228E-B141-177EF1810A5D}"/>
              </a:ext>
            </a:extLst>
          </p:cNvPr>
          <p:cNvCxnSpPr>
            <a:cxnSpLocks/>
          </p:cNvCxnSpPr>
          <p:nvPr/>
        </p:nvCxnSpPr>
        <p:spPr>
          <a:xfrm flipV="1">
            <a:off x="11092544" y="4650556"/>
            <a:ext cx="0" cy="1130417"/>
          </a:xfrm>
          <a:prstGeom prst="line">
            <a:avLst/>
          </a:prstGeom>
          <a:ln w="254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5BDDEC8-4098-7E17-4E48-3C9FA86F7D55}"/>
              </a:ext>
            </a:extLst>
          </p:cNvPr>
          <p:cNvSpPr txBox="1"/>
          <p:nvPr/>
        </p:nvSpPr>
        <p:spPr>
          <a:xfrm>
            <a:off x="1505989" y="4826009"/>
            <a:ext cx="3498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II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III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界面上，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24">
                <a:hlinkClick r:id="" action="ppaction://ole?verb=0"/>
                <a:extLst>
                  <a:ext uri="{FF2B5EF4-FFF2-40B4-BE49-F238E27FC236}">
                    <a16:creationId xmlns:a16="http://schemas.microsoft.com/office/drawing/2014/main" id="{BB1472DD-546F-7FCE-967E-EAF88568AAA1}"/>
                  </a:ext>
                </a:extLst>
              </p:cNvPr>
              <p:cNvSpPr txBox="1"/>
              <p:nvPr/>
            </p:nvSpPr>
            <p:spPr>
              <a:xfrm>
                <a:off x="2615426" y="5173881"/>
                <a:ext cx="5117353" cy="86515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zh-CN" altLang="en-US" sz="2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tan</m:t>
                          </m:r>
                        </m:fName>
                        <m:e>
                          <m:sSub>
                            <m:sSubPr>
                              <m:ctrlPr>
                                <a:rPr kumimoji="0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0" lang="en-US" altLang="zh-CN" sz="2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kumimoji="0" lang="zh-CN" altLang="en-US" sz="2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=0.8866≠</m:t>
                      </m:r>
                      <m:f>
                        <m:fPr>
                          <m:ctrlP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num>
                        <m:den>
                          <m: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zh-CN" altLang="en-US" sz="2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zh-CN" altLang="en-US" sz="2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1.50</m:t>
                          </m:r>
                        </m:den>
                      </m:f>
                      <m:r>
                        <a:rPr kumimoji="0" lang="zh-CN" altLang="en-US" sz="2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=0.666</m:t>
                      </m:r>
                    </m:oMath>
                  </m:oMathPara>
                </a14:m>
                <a:endParaRPr kumimoji="0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mc:Choice>
        <mc:Fallback xmlns="">
          <p:sp>
            <p:nvSpPr>
              <p:cNvPr id="14" name="对象 24">
                <a:hlinkClick r:id="" action="ppaction://ole?verb=0"/>
                <a:extLst>
                  <a:ext uri="{FF2B5EF4-FFF2-40B4-BE49-F238E27FC236}">
                    <a16:creationId xmlns:a16="http://schemas.microsoft.com/office/drawing/2014/main" id="{BB1472DD-546F-7FCE-967E-EAF88568A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426" y="5173881"/>
                <a:ext cx="5117353" cy="8651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87762874-5300-4A12-FD26-7DAB18FB2773}"/>
              </a:ext>
            </a:extLst>
          </p:cNvPr>
          <p:cNvSpPr txBox="1"/>
          <p:nvPr/>
        </p:nvSpPr>
        <p:spPr>
          <a:xfrm>
            <a:off x="1275685" y="6039035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所以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II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III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界面上的反射光不是线偏振光。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FA803A1-524D-4BFB-B8AE-D13694DC355F}"/>
              </a:ext>
            </a:extLst>
          </p:cNvPr>
          <p:cNvCxnSpPr>
            <a:cxnSpLocks/>
          </p:cNvCxnSpPr>
          <p:nvPr/>
        </p:nvCxnSpPr>
        <p:spPr>
          <a:xfrm>
            <a:off x="10066972" y="3800941"/>
            <a:ext cx="1025572" cy="153305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C84F74A-3D39-46BE-A31D-F89B617F493C}"/>
              </a:ext>
            </a:extLst>
          </p:cNvPr>
          <p:cNvCxnSpPr>
            <a:cxnSpLocks/>
          </p:cNvCxnSpPr>
          <p:nvPr/>
        </p:nvCxnSpPr>
        <p:spPr>
          <a:xfrm flipV="1">
            <a:off x="10123714" y="3057059"/>
            <a:ext cx="1077686" cy="74388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对象 19">
                <a:hlinkClick r:id="" action="ppaction://ole?verb=0"/>
                <a:extLst>
                  <a:ext uri="{FF2B5EF4-FFF2-40B4-BE49-F238E27FC236}">
                    <a16:creationId xmlns:a16="http://schemas.microsoft.com/office/drawing/2014/main" id="{3005A765-E37B-4EF7-8217-BF2CE4E7C1E9}"/>
                  </a:ext>
                </a:extLst>
              </p:cNvPr>
              <p:cNvSpPr txBox="1"/>
              <p:nvPr/>
            </p:nvSpPr>
            <p:spPr>
              <a:xfrm>
                <a:off x="10742035" y="4567470"/>
                <a:ext cx="451743" cy="5828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0" name="对象 19">
                <a:hlinkClick r:id="" action="ppaction://ole?verb=0"/>
                <a:extLst>
                  <a:ext uri="{FF2B5EF4-FFF2-40B4-BE49-F238E27FC236}">
                    <a16:creationId xmlns:a16="http://schemas.microsoft.com/office/drawing/2014/main" id="{3005A765-E37B-4EF7-8217-BF2CE4E7C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2035" y="4567470"/>
                <a:ext cx="451743" cy="58281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19">
                <a:hlinkClick r:id="" action="ppaction://ole?verb=0"/>
                <a:extLst>
                  <a:ext uri="{FF2B5EF4-FFF2-40B4-BE49-F238E27FC236}">
                    <a16:creationId xmlns:a16="http://schemas.microsoft.com/office/drawing/2014/main" id="{9BF73AB6-0443-47E9-A289-98FA00A46411}"/>
                  </a:ext>
                </a:extLst>
              </p:cNvPr>
              <p:cNvSpPr txBox="1"/>
              <p:nvPr/>
            </p:nvSpPr>
            <p:spPr>
              <a:xfrm>
                <a:off x="10066972" y="4085539"/>
                <a:ext cx="451743" cy="5828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" name="对象 19">
                <a:hlinkClick r:id="" action="ppaction://ole?verb=0"/>
                <a:extLst>
                  <a:ext uri="{FF2B5EF4-FFF2-40B4-BE49-F238E27FC236}">
                    <a16:creationId xmlns:a16="http://schemas.microsoft.com/office/drawing/2014/main" id="{9BF73AB6-0443-47E9-A289-98FA00A46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6972" y="4085539"/>
                <a:ext cx="451743" cy="58281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A4908B0-A32B-49E2-B8C8-1359FF2C0DCD}"/>
              </a:ext>
            </a:extLst>
          </p:cNvPr>
          <p:cNvCxnSpPr/>
          <p:nvPr/>
        </p:nvCxnSpPr>
        <p:spPr>
          <a:xfrm flipV="1">
            <a:off x="11092544" y="4159383"/>
            <a:ext cx="859970" cy="117461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4596898-72B9-4DBA-9AA7-B8C0C40CE161}"/>
              </a:ext>
            </a:extLst>
          </p:cNvPr>
          <p:cNvCxnSpPr/>
          <p:nvPr/>
        </p:nvCxnSpPr>
        <p:spPr>
          <a:xfrm>
            <a:off x="11092544" y="5334000"/>
            <a:ext cx="220810" cy="123008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0" grpId="0"/>
      <p:bldP spid="11" grpId="0"/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1930</TotalTime>
  <Words>2549</Words>
  <Application>Microsoft Office PowerPoint</Application>
  <PresentationFormat>宽屏</PresentationFormat>
  <Paragraphs>170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等线</vt:lpstr>
      <vt:lpstr>等线 Light</vt:lpstr>
      <vt:lpstr>仿宋_GB2312</vt:lpstr>
      <vt:lpstr>黑体</vt:lpstr>
      <vt:lpstr>华文中宋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cheng pengxiang</dc:creator>
  <cp:lastModifiedBy>yzhang</cp:lastModifiedBy>
  <cp:revision>50</cp:revision>
  <cp:lastPrinted>2023-10-24T11:02:31Z</cp:lastPrinted>
  <dcterms:created xsi:type="dcterms:W3CDTF">2022-10-25T08:39:03Z</dcterms:created>
  <dcterms:modified xsi:type="dcterms:W3CDTF">2025-10-28T09:21:43Z</dcterms:modified>
</cp:coreProperties>
</file>