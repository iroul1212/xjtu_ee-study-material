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71" r:id="rId7"/>
    <p:sldId id="263" r:id="rId8"/>
    <p:sldId id="256" r:id="rId9"/>
    <p:sldId id="257" r:id="rId10"/>
    <p:sldId id="264" r:id="rId11"/>
    <p:sldId id="265" r:id="rId12"/>
    <p:sldId id="266" r:id="rId13"/>
  </p:sldIdLst>
  <p:sldSz cx="12192000" cy="6858000"/>
  <p:notesSz cx="6797675" cy="99282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01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68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E616E-4DA0-438A-8CAB-A13AA5F702F1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6030-3CB1-4F35-9781-DC42945F36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008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E616E-4DA0-438A-8CAB-A13AA5F702F1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6030-3CB1-4F35-9781-DC42945F36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031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E616E-4DA0-438A-8CAB-A13AA5F702F1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6030-3CB1-4F35-9781-DC42945F36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933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E616E-4DA0-438A-8CAB-A13AA5F702F1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6030-3CB1-4F35-9781-DC42945F36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7778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E616E-4DA0-438A-8CAB-A13AA5F702F1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6030-3CB1-4F35-9781-DC42945F36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260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E616E-4DA0-438A-8CAB-A13AA5F702F1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6030-3CB1-4F35-9781-DC42945F36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969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E616E-4DA0-438A-8CAB-A13AA5F702F1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6030-3CB1-4F35-9781-DC42945F36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504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E616E-4DA0-438A-8CAB-A13AA5F702F1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6030-3CB1-4F35-9781-DC42945F36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621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E616E-4DA0-438A-8CAB-A13AA5F702F1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6030-3CB1-4F35-9781-DC42945F36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0714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E616E-4DA0-438A-8CAB-A13AA5F702F1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6030-3CB1-4F35-9781-DC42945F36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9703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E616E-4DA0-438A-8CAB-A13AA5F702F1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6030-3CB1-4F35-9781-DC42945F36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000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2E616E-4DA0-438A-8CAB-A13AA5F702F1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C6030-3CB1-4F35-9781-DC42945F36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226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2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1.png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4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21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73.png"/><Relationship Id="rId7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75.png"/><Relationship Id="rId10" Type="http://schemas.openxmlformats.org/officeDocument/2006/relationships/image" Target="../media/image26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13" Type="http://schemas.openxmlformats.org/officeDocument/2006/relationships/image" Target="../media/image45.png"/><Relationship Id="rId3" Type="http://schemas.openxmlformats.org/officeDocument/2006/relationships/image" Target="../media/image231.png"/><Relationship Id="rId7" Type="http://schemas.openxmlformats.org/officeDocument/2006/relationships/image" Target="../media/image28.png"/><Relationship Id="rId12" Type="http://schemas.openxmlformats.org/officeDocument/2006/relationships/image" Target="../media/image44.png"/><Relationship Id="rId2" Type="http://schemas.openxmlformats.org/officeDocument/2006/relationships/image" Target="../media/image221.pn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43.png"/><Relationship Id="rId5" Type="http://schemas.openxmlformats.org/officeDocument/2006/relationships/image" Target="../media/image251.png"/><Relationship Id="rId15" Type="http://schemas.openxmlformats.org/officeDocument/2006/relationships/image" Target="../media/image48.png"/><Relationship Id="rId10" Type="http://schemas.openxmlformats.org/officeDocument/2006/relationships/image" Target="../media/image40.png"/><Relationship Id="rId4" Type="http://schemas.openxmlformats.org/officeDocument/2006/relationships/image" Target="../media/image241.png"/><Relationship Id="rId9" Type="http://schemas.openxmlformats.org/officeDocument/2006/relationships/image" Target="../media/image39.png"/><Relationship Id="rId14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210.png"/><Relationship Id="rId7" Type="http://schemas.openxmlformats.org/officeDocument/2006/relationships/image" Target="../media/image68.png"/><Relationship Id="rId12" Type="http://schemas.openxmlformats.org/officeDocument/2006/relationships/image" Target="../media/image111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0.png"/><Relationship Id="rId11" Type="http://schemas.openxmlformats.org/officeDocument/2006/relationships/image" Target="../media/image105.png"/><Relationship Id="rId5" Type="http://schemas.openxmlformats.org/officeDocument/2006/relationships/image" Target="../media/image400.png"/><Relationship Id="rId10" Type="http://schemas.openxmlformats.org/officeDocument/2006/relationships/image" Target="../media/image910.png"/><Relationship Id="rId4" Type="http://schemas.openxmlformats.org/officeDocument/2006/relationships/image" Target="../media/image390.png"/><Relationship Id="rId9" Type="http://schemas.openxmlformats.org/officeDocument/2006/relationships/image" Target="../media/image8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13" Type="http://schemas.openxmlformats.org/officeDocument/2006/relationships/image" Target="../media/image230.png"/><Relationship Id="rId3" Type="http://schemas.openxmlformats.org/officeDocument/2006/relationships/image" Target="../media/image130.png"/><Relationship Id="rId7" Type="http://schemas.openxmlformats.org/officeDocument/2006/relationships/image" Target="../media/image170.png"/><Relationship Id="rId12" Type="http://schemas.openxmlformats.org/officeDocument/2006/relationships/image" Target="../media/image220.png"/><Relationship Id="rId17" Type="http://schemas.openxmlformats.org/officeDocument/2006/relationships/image" Target="../media/image270.png"/><Relationship Id="rId2" Type="http://schemas.openxmlformats.org/officeDocument/2006/relationships/image" Target="../media/image51.png"/><Relationship Id="rId16" Type="http://schemas.openxmlformats.org/officeDocument/2006/relationships/image" Target="../media/image2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0.png"/><Relationship Id="rId11" Type="http://schemas.openxmlformats.org/officeDocument/2006/relationships/image" Target="../media/image211.png"/><Relationship Id="rId5" Type="http://schemas.openxmlformats.org/officeDocument/2006/relationships/image" Target="../media/image150.png"/><Relationship Id="rId15" Type="http://schemas.openxmlformats.org/officeDocument/2006/relationships/image" Target="../media/image250.png"/><Relationship Id="rId10" Type="http://schemas.openxmlformats.org/officeDocument/2006/relationships/image" Target="../media/image200.png"/><Relationship Id="rId4" Type="http://schemas.openxmlformats.org/officeDocument/2006/relationships/image" Target="../media/image140.png"/><Relationship Id="rId9" Type="http://schemas.openxmlformats.org/officeDocument/2006/relationships/image" Target="../media/image190.png"/><Relationship Id="rId14" Type="http://schemas.openxmlformats.org/officeDocument/2006/relationships/image" Target="../media/image2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7.png"/><Relationship Id="rId7" Type="http://schemas.openxmlformats.org/officeDocument/2006/relationships/image" Target="../media/image52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10" Type="http://schemas.openxmlformats.org/officeDocument/2006/relationships/image" Target="../media/image104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30.png"/><Relationship Id="rId7" Type="http://schemas.openxmlformats.org/officeDocument/2006/relationships/image" Target="../media/image110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8.png"/><Relationship Id="rId10" Type="http://schemas.openxmlformats.org/officeDocument/2006/relationships/image" Target="../media/image113.png"/><Relationship Id="rId4" Type="http://schemas.openxmlformats.org/officeDocument/2006/relationships/image" Target="../media/image107.png"/><Relationship Id="rId9" Type="http://schemas.openxmlformats.org/officeDocument/2006/relationships/image" Target="../media/image5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3" Type="http://schemas.openxmlformats.org/officeDocument/2006/relationships/image" Target="../media/image57.png"/><Relationship Id="rId7" Type="http://schemas.openxmlformats.org/officeDocument/2006/relationships/image" Target="../media/image81.png"/><Relationship Id="rId12" Type="http://schemas.openxmlformats.org/officeDocument/2006/relationships/image" Target="../media/image125.png"/><Relationship Id="rId2" Type="http://schemas.openxmlformats.org/officeDocument/2006/relationships/image" Target="../media/image56.png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11" Type="http://schemas.openxmlformats.org/officeDocument/2006/relationships/image" Target="../media/image124.png"/><Relationship Id="rId5" Type="http://schemas.openxmlformats.org/officeDocument/2006/relationships/image" Target="../media/image71.png"/><Relationship Id="rId15" Type="http://schemas.openxmlformats.org/officeDocument/2006/relationships/image" Target="../media/image128.png"/><Relationship Id="rId10" Type="http://schemas.openxmlformats.org/officeDocument/2006/relationships/image" Target="../media/image82.png"/><Relationship Id="rId4" Type="http://schemas.openxmlformats.org/officeDocument/2006/relationships/image" Target="../media/image69.png"/><Relationship Id="rId9" Type="http://schemas.openxmlformats.org/officeDocument/2006/relationships/image" Target="../media/image122.png"/><Relationship Id="rId14" Type="http://schemas.openxmlformats.org/officeDocument/2006/relationships/image" Target="../media/image1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3890" y="1172078"/>
            <a:ext cx="3193904" cy="21050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790064E-44AE-4864-BFF4-7AB1562D1BAF}"/>
                  </a:ext>
                </a:extLst>
              </p:cNvPr>
              <p:cNvSpPr txBox="1"/>
              <p:nvPr/>
            </p:nvSpPr>
            <p:spPr>
              <a:xfrm>
                <a:off x="303069" y="3258984"/>
                <a:ext cx="1665199" cy="6560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落前：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790064E-44AE-4864-BFF4-7AB1562D1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69" y="3258984"/>
                <a:ext cx="1665199" cy="656013"/>
              </a:xfrm>
              <a:prstGeom prst="rect">
                <a:avLst/>
              </a:prstGeom>
              <a:blipFill>
                <a:blip r:embed="rId3"/>
                <a:stretch>
                  <a:fillRect l="-32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A95E4D3-8C38-4923-9C51-F34037B8BFC9}"/>
                  </a:ext>
                </a:extLst>
              </p:cNvPr>
              <p:cNvSpPr txBox="1"/>
              <p:nvPr/>
            </p:nvSpPr>
            <p:spPr>
              <a:xfrm>
                <a:off x="405184" y="3854167"/>
                <a:ext cx="1497076" cy="5636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den>
                    </m:f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𝜋</m:t>
                    </m:r>
                    <m:rad>
                      <m:radPr>
                        <m:degHide m:val="on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den>
                        </m:f>
                      </m:e>
                    </m:ra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A95E4D3-8C38-4923-9C51-F34037B8B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184" y="3854167"/>
                <a:ext cx="1497076" cy="563680"/>
              </a:xfrm>
              <a:prstGeom prst="rect">
                <a:avLst/>
              </a:prstGeom>
              <a:blipFill>
                <a:blip r:embed="rId4"/>
                <a:stretch>
                  <a:fillRect b="-2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6ED758D-5154-41B2-B396-1420BBD83241}"/>
                  </a:ext>
                </a:extLst>
              </p:cNvPr>
              <p:cNvSpPr txBox="1"/>
              <p:nvPr/>
            </p:nvSpPr>
            <p:spPr>
              <a:xfrm>
                <a:off x="298904" y="4353332"/>
                <a:ext cx="2092111" cy="6560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落后：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6ED758D-5154-41B2-B396-1420BBD83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904" y="4353332"/>
                <a:ext cx="2092111" cy="656013"/>
              </a:xfrm>
              <a:prstGeom prst="rect">
                <a:avLst/>
              </a:prstGeom>
              <a:blipFill>
                <a:blip r:embed="rId5"/>
                <a:stretch>
                  <a:fillRect l="-23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4E22BF8-4F57-4EC0-8F73-575211D6195D}"/>
                  </a:ext>
                </a:extLst>
              </p:cNvPr>
              <p:cNvSpPr txBox="1"/>
              <p:nvPr/>
            </p:nvSpPr>
            <p:spPr>
              <a:xfrm>
                <a:off x="344621" y="5009345"/>
                <a:ext cx="2000676" cy="5636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𝜋</m:t>
                    </m:r>
                    <m:rad>
                      <m:radPr>
                        <m:degHide m:val="on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den>
                        </m:f>
                      </m:e>
                    </m:ra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4E22BF8-4F57-4EC0-8F73-575211D61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621" y="5009345"/>
                <a:ext cx="2000676" cy="563680"/>
              </a:xfrm>
              <a:prstGeom prst="rect">
                <a:avLst/>
              </a:prstGeom>
              <a:blipFill>
                <a:blip r:embed="rId6"/>
                <a:stretch>
                  <a:fillRect b="-32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B22A69C-C880-4B19-AA2F-335536BB7086}"/>
                  </a:ext>
                </a:extLst>
              </p:cNvPr>
              <p:cNvSpPr txBox="1"/>
              <p:nvPr/>
            </p:nvSpPr>
            <p:spPr>
              <a:xfrm>
                <a:off x="771150" y="5642016"/>
                <a:ext cx="1115434" cy="5636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B22A69C-C880-4B19-AA2F-335536BB7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150" y="5642016"/>
                <a:ext cx="1115434" cy="563680"/>
              </a:xfrm>
              <a:prstGeom prst="rect">
                <a:avLst/>
              </a:prstGeom>
              <a:blipFill>
                <a:blip r:embed="rId7"/>
                <a:stretch>
                  <a:fillRect l="-5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1F42D5C9-C13F-46EC-9CE2-6DA7123898F0}"/>
              </a:ext>
            </a:extLst>
          </p:cNvPr>
          <p:cNvSpPr txBox="1"/>
          <p:nvPr/>
        </p:nvSpPr>
        <p:spPr>
          <a:xfrm>
            <a:off x="185729" y="2456042"/>
            <a:ext cx="9121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D9E1DE2-22B7-41A0-BF2E-0AAAE1FA7254}"/>
              </a:ext>
            </a:extLst>
          </p:cNvPr>
          <p:cNvSpPr txBox="1"/>
          <p:nvPr/>
        </p:nvSpPr>
        <p:spPr>
          <a:xfrm>
            <a:off x="204212" y="6297575"/>
            <a:ext cx="5101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振动周期仅与质量有关与初始条件无关</a:t>
            </a:r>
            <a:r>
              <a:rPr lang="en-US" altLang="zh-CN" dirty="0" err="1"/>
              <a:t>a,b</a:t>
            </a:r>
            <a:r>
              <a:rPr lang="zh-CN" altLang="en-US" dirty="0"/>
              <a:t>都适用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8BCA846-955B-4C77-9CB8-F2605FE73929}"/>
              </a:ext>
            </a:extLst>
          </p:cNvPr>
          <p:cNvSpPr txBox="1"/>
          <p:nvPr/>
        </p:nvSpPr>
        <p:spPr>
          <a:xfrm>
            <a:off x="3951672" y="1406655"/>
            <a:ext cx="9121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A0479BC-6FB6-49BB-BF98-459A98FFE3F3}"/>
                  </a:ext>
                </a:extLst>
              </p:cNvPr>
              <p:cNvSpPr txBox="1"/>
              <p:nvPr/>
            </p:nvSpPr>
            <p:spPr>
              <a:xfrm>
                <a:off x="4407762" y="1349588"/>
                <a:ext cx="2370457" cy="4834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落前：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𝑘𝐴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A0479BC-6FB6-49BB-BF98-459A98FFE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7762" y="1349588"/>
                <a:ext cx="2370457" cy="483466"/>
              </a:xfrm>
              <a:prstGeom prst="rect">
                <a:avLst/>
              </a:prstGeom>
              <a:blipFill>
                <a:blip r:embed="rId8"/>
                <a:stretch>
                  <a:fillRect l="-2057" b="-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C264AEF-C358-4671-9B65-8A68A79AC0B3}"/>
                  </a:ext>
                </a:extLst>
              </p:cNvPr>
              <p:cNvSpPr txBox="1"/>
              <p:nvPr/>
            </p:nvSpPr>
            <p:spPr>
              <a:xfrm>
                <a:off x="5175681" y="1779998"/>
                <a:ext cx="1598100" cy="5636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C264AEF-C358-4671-9B65-8A68A79AC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5681" y="1779998"/>
                <a:ext cx="1598100" cy="563680"/>
              </a:xfrm>
              <a:prstGeom prst="rect">
                <a:avLst/>
              </a:prstGeom>
              <a:blipFill>
                <a:blip r:embed="rId9"/>
                <a:stretch>
                  <a:fillRect l="-382" b="-1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D99DF68-94E2-4FB5-B977-6941448DA4BD}"/>
                  </a:ext>
                </a:extLst>
              </p:cNvPr>
              <p:cNvSpPr txBox="1"/>
              <p:nvPr/>
            </p:nvSpPr>
            <p:spPr>
              <a:xfrm>
                <a:off x="3784743" y="2315798"/>
                <a:ext cx="45159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接触瞬间，动量守恒：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D99DF68-94E2-4FB5-B977-6941448DA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743" y="2315798"/>
                <a:ext cx="4515980" cy="369332"/>
              </a:xfrm>
              <a:prstGeom prst="rect">
                <a:avLst/>
              </a:prstGeom>
              <a:blipFill>
                <a:blip r:embed="rId10"/>
                <a:stretch>
                  <a:fillRect l="-1215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>
            <a:extLst>
              <a:ext uri="{FF2B5EF4-FFF2-40B4-BE49-F238E27FC236}">
                <a16:creationId xmlns:a16="http://schemas.microsoft.com/office/drawing/2014/main" id="{EB37D1AC-E2FD-4FD7-9ACA-7D269F976703}"/>
              </a:ext>
            </a:extLst>
          </p:cNvPr>
          <p:cNvSpPr txBox="1"/>
          <p:nvPr/>
        </p:nvSpPr>
        <p:spPr>
          <a:xfrm>
            <a:off x="3421868" y="2313188"/>
            <a:ext cx="725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(a)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1F1192C-78C7-4EC1-ADC3-DE1ED6D35610}"/>
                  </a:ext>
                </a:extLst>
              </p:cNvPr>
              <p:cNvSpPr txBox="1"/>
              <p:nvPr/>
            </p:nvSpPr>
            <p:spPr>
              <a:xfrm>
                <a:off x="4139983" y="2692385"/>
                <a:ext cx="2633798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CN" i="1" smtClean="0">
                          <a:latin typeface="Cambria Math" panose="02040503050406030204" pitchFamily="18" charset="0"/>
                        </a:rPr>
                        <m:t>k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 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1F1192C-78C7-4EC1-ADC3-DE1ED6D356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83" y="2692385"/>
                <a:ext cx="2633798" cy="51860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E40A6C9-7029-43F1-A84C-6A522959667A}"/>
                  </a:ext>
                </a:extLst>
              </p:cNvPr>
              <p:cNvSpPr txBox="1"/>
              <p:nvPr/>
            </p:nvSpPr>
            <p:spPr>
              <a:xfrm>
                <a:off x="3784743" y="3282078"/>
                <a:ext cx="7101159" cy="5800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rad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dirty="0"/>
                  <a:t>&lt;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E40A6C9-7029-43F1-A84C-6A5229596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743" y="3282078"/>
                <a:ext cx="7101159" cy="580095"/>
              </a:xfrm>
              <a:prstGeom prst="rect">
                <a:avLst/>
              </a:prstGeom>
              <a:blipFill>
                <a:blip r:embed="rId12"/>
                <a:stretch>
                  <a:fillRect l="-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>
            <a:extLst>
              <a:ext uri="{FF2B5EF4-FFF2-40B4-BE49-F238E27FC236}">
                <a16:creationId xmlns:a16="http://schemas.microsoft.com/office/drawing/2014/main" id="{D8F8FF97-9E23-4FFB-A8CE-985ED0EE111C}"/>
              </a:ext>
            </a:extLst>
          </p:cNvPr>
          <p:cNvSpPr txBox="1"/>
          <p:nvPr/>
        </p:nvSpPr>
        <p:spPr>
          <a:xfrm>
            <a:off x="3421868" y="4025012"/>
            <a:ext cx="780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(b)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6EC60CE-33AD-41CF-9D95-8286BC52A9B2}"/>
                  </a:ext>
                </a:extLst>
              </p:cNvPr>
              <p:cNvSpPr txBox="1"/>
              <p:nvPr/>
            </p:nvSpPr>
            <p:spPr>
              <a:xfrm>
                <a:off x="3811968" y="4037554"/>
                <a:ext cx="656249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最大位移处物体速度为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，粘土落在物体上，动量守恒可知水平方向上共同速度为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，初始条件和下落前相同，所以振幅不变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6EC60CE-33AD-41CF-9D95-8286BC52A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1968" y="4037554"/>
                <a:ext cx="6562491" cy="923330"/>
              </a:xfrm>
              <a:prstGeom prst="rect">
                <a:avLst/>
              </a:prstGeom>
              <a:blipFill>
                <a:blip r:embed="rId13"/>
                <a:stretch>
                  <a:fillRect l="-743" t="-3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CD3FD4C2-EA28-4BDE-8061-CD9AF84DE10B}"/>
                  </a:ext>
                </a:extLst>
              </p:cNvPr>
              <p:cNvSpPr txBox="1"/>
              <p:nvPr/>
            </p:nvSpPr>
            <p:spPr>
              <a:xfrm>
                <a:off x="3951672" y="5167769"/>
                <a:ext cx="4563036" cy="5636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b="0" dirty="0"/>
                  <a:t>由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b="0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可得相同结果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CD3FD4C2-EA28-4BDE-8061-CD9AF84DE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1672" y="5167769"/>
                <a:ext cx="4563036" cy="563680"/>
              </a:xfrm>
              <a:prstGeom prst="rect">
                <a:avLst/>
              </a:prstGeom>
              <a:blipFill>
                <a:blip r:embed="rId14"/>
                <a:stretch>
                  <a:fillRect l="-3071" b="-7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10A1A34-17BF-40D7-AA99-8D569B68066F}"/>
                  </a:ext>
                </a:extLst>
              </p:cNvPr>
              <p:cNvSpPr txBox="1"/>
              <p:nvPr/>
            </p:nvSpPr>
            <p:spPr>
              <a:xfrm>
                <a:off x="641819" y="2333136"/>
                <a:ext cx="2520883" cy="572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𝑘𝑥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𝑚𝑎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10A1A34-17BF-40D7-AA99-8D569B680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819" y="2333136"/>
                <a:ext cx="2520883" cy="57265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1E0AFC01-224F-4420-9455-EBD1ADBC1B29}"/>
                  </a:ext>
                </a:extLst>
              </p:cNvPr>
              <p:cNvSpPr txBox="1"/>
              <p:nvPr/>
            </p:nvSpPr>
            <p:spPr>
              <a:xfrm>
                <a:off x="569172" y="2806539"/>
                <a:ext cx="1869860" cy="5241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dirty="0"/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1E0AFC01-224F-4420-9455-EBD1ADBC1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72" y="2806539"/>
                <a:ext cx="1869860" cy="524182"/>
              </a:xfrm>
              <a:prstGeom prst="rect">
                <a:avLst/>
              </a:prstGeom>
              <a:blipFill>
                <a:blip r:embed="rId16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>
            <a:extLst>
              <a:ext uri="{FF2B5EF4-FFF2-40B4-BE49-F238E27FC236}">
                <a16:creationId xmlns:a16="http://schemas.microsoft.com/office/drawing/2014/main" id="{97177F5A-94FE-40FD-891F-225EA9AD6D7B}"/>
              </a:ext>
            </a:extLst>
          </p:cNvPr>
          <p:cNvSpPr/>
          <p:nvPr/>
        </p:nvSpPr>
        <p:spPr>
          <a:xfrm>
            <a:off x="128794" y="-70736"/>
            <a:ext cx="10656176" cy="2345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 </a:t>
            </a: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如图所示，劲度系数为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的轻弹簧，系一质量为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的物体，在水平面上作振幅为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的简谐运动。有一质量为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的粘土，从高度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自由下落，正好在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物体通过平衡位置时，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物体在最大位移处时，落在物体上。分别求：</a:t>
            </a:r>
            <a:endParaRPr lang="en-US" altLang="zh-CN" sz="20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(1)  </a:t>
            </a: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振动周期有何变化</a:t>
            </a:r>
            <a:r>
              <a:rPr lang="en-US" altLang="zh-CN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 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(2)  </a:t>
            </a: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振幅有何变化？</a:t>
            </a:r>
          </a:p>
        </p:txBody>
      </p:sp>
    </p:spTree>
    <p:extLst>
      <p:ext uri="{BB962C8B-B14F-4D97-AF65-F5344CB8AC3E}">
        <p14:creationId xmlns:p14="http://schemas.microsoft.com/office/powerpoint/2010/main" val="355545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8" grpId="0"/>
      <p:bldP spid="10" grpId="0"/>
      <p:bldP spid="11" grpId="0"/>
      <p:bldP spid="13" grpId="0"/>
      <p:bldP spid="14" grpId="0"/>
      <p:bldP spid="15" grpId="0"/>
      <p:bldP spid="16" grpId="0"/>
      <p:bldP spid="18" grpId="0"/>
      <p:bldP spid="9" grpId="0"/>
      <p:bldP spid="17" grpId="0"/>
      <p:bldP spid="19" grpId="0"/>
      <p:bldP spid="20" grpId="0"/>
      <p:bldP spid="21" grpId="0"/>
      <p:bldP spid="12" grpId="0"/>
      <p:bldP spid="2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164" y="1672674"/>
            <a:ext cx="4402301" cy="253610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1E07215-BADE-490F-9CD5-66EA52DA2858}"/>
              </a:ext>
            </a:extLst>
          </p:cNvPr>
          <p:cNvSpPr txBox="1"/>
          <p:nvPr/>
        </p:nvSpPr>
        <p:spPr>
          <a:xfrm>
            <a:off x="726642" y="2468129"/>
            <a:ext cx="5842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沿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轴正向传播，相位依次落后，则波函数可表示为：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E876468-E062-4EDF-9F5F-F50200F59188}"/>
                  </a:ext>
                </a:extLst>
              </p:cNvPr>
              <p:cNvSpPr txBox="1"/>
              <p:nvPr/>
            </p:nvSpPr>
            <p:spPr>
              <a:xfrm>
                <a:off x="762092" y="1963223"/>
                <a:ext cx="38963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由图可知：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dirty="0"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altLang="zh-CN" dirty="0"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=0.1</m:t>
                    </m:r>
                    <m:r>
                      <m:rPr>
                        <m:nor/>
                      </m:rPr>
                      <a:rPr lang="en-US" altLang="zh-CN" dirty="0"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m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2m</a:t>
                </a:r>
                <a:r>
                  <a:rPr lang="zh-CN" altLang="en-US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T=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.4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zh-CN" altLang="en-US" dirty="0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E876468-E062-4EDF-9F5F-F50200F59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92" y="1963223"/>
                <a:ext cx="3896388" cy="369332"/>
              </a:xfrm>
              <a:prstGeom prst="rect">
                <a:avLst/>
              </a:prstGeom>
              <a:blipFill>
                <a:blip r:embed="rId3"/>
                <a:stretch>
                  <a:fillRect l="-1252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9E387DE-6488-45D7-8ABE-423D87336300}"/>
                  </a:ext>
                </a:extLst>
              </p:cNvPr>
              <p:cNvSpPr txBox="1"/>
              <p:nvPr/>
            </p:nvSpPr>
            <p:spPr>
              <a:xfrm>
                <a:off x="788788" y="3253665"/>
                <a:ext cx="6094520" cy="506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CN" i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 err="1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x,t</a:t>
                </a:r>
                <a:r>
                  <a:rPr lang="en-US" altLang="zh-CN" i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)=0.1cos[2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0.4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altLang="zh-CN" i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]= 0.1cos(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5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altLang="zh-CN" i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)</a:t>
                </a:r>
                <a:endParaRPr lang="zh-CN" altLang="en-US" i="1" dirty="0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9E387DE-6488-45D7-8ABE-423D87336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88" y="3253665"/>
                <a:ext cx="6094520" cy="506870"/>
              </a:xfrm>
              <a:prstGeom prst="rect">
                <a:avLst/>
              </a:prstGeom>
              <a:blipFill>
                <a:blip r:embed="rId4"/>
                <a:stretch>
                  <a:fillRect b="-48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3A1CE737-09BC-420D-A9E9-5786A2BA2044}"/>
              </a:ext>
            </a:extLst>
          </p:cNvPr>
          <p:cNvSpPr txBox="1"/>
          <p:nvPr/>
        </p:nvSpPr>
        <p:spPr>
          <a:xfrm>
            <a:off x="868626" y="3903386"/>
            <a:ext cx="2165657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t=0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x=0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处：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y(0,0)=0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              v(0,0)&lt;0</a:t>
            </a:r>
          </a:p>
          <a:p>
            <a:endParaRPr lang="zh-CN" altLang="en-US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1C7E2C6-5435-463B-9C60-7C44743EFD00}"/>
                  </a:ext>
                </a:extLst>
              </p:cNvPr>
              <p:cNvSpPr txBox="1"/>
              <p:nvPr/>
            </p:nvSpPr>
            <p:spPr>
              <a:xfrm>
                <a:off x="3406383" y="3878077"/>
                <a:ext cx="859329" cy="5629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1C7E2C6-5435-463B-9C60-7C44743EF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6383" y="3878077"/>
                <a:ext cx="859329" cy="5629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1BD2B87C-E8F9-48E2-B4D8-915E4316ED36}"/>
              </a:ext>
            </a:extLst>
          </p:cNvPr>
          <p:cNvSpPr txBox="1"/>
          <p:nvPr/>
        </p:nvSpPr>
        <p:spPr>
          <a:xfrm>
            <a:off x="782134" y="4558594"/>
            <a:ext cx="2250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则波函数可表示为：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3F66CF1-E22D-4E7F-B40B-59D68E048C6A}"/>
                  </a:ext>
                </a:extLst>
              </p:cNvPr>
              <p:cNvSpPr txBox="1"/>
              <p:nvPr/>
            </p:nvSpPr>
            <p:spPr>
              <a:xfrm>
                <a:off x="962578" y="4987124"/>
                <a:ext cx="6094520" cy="4597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dirty="0" err="1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x,t</a:t>
                </a:r>
                <a:r>
                  <a:rPr lang="en-US" altLang="zh-CN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)=0.1cos(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5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)</a:t>
                </a:r>
                <a:endParaRPr lang="zh-CN" altLang="en-US" dirty="0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3F66CF1-E22D-4E7F-B40B-59D68E048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578" y="4987124"/>
                <a:ext cx="6094520" cy="459741"/>
              </a:xfrm>
              <a:prstGeom prst="rect">
                <a:avLst/>
              </a:prstGeom>
              <a:blipFill>
                <a:blip r:embed="rId6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56ABC16-C179-4254-AF66-64155818BB71}"/>
                  </a:ext>
                </a:extLst>
              </p:cNvPr>
              <p:cNvSpPr txBox="1"/>
              <p:nvPr/>
            </p:nvSpPr>
            <p:spPr>
              <a:xfrm>
                <a:off x="6676704" y="4719830"/>
                <a:ext cx="957763" cy="3917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=5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zh-CN" altLang="en-US" dirty="0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56ABC16-C179-4254-AF66-64155818B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6704" y="4719830"/>
                <a:ext cx="957763" cy="391710"/>
              </a:xfrm>
              <a:prstGeom prst="rect">
                <a:avLst/>
              </a:prstGeom>
              <a:blipFill>
                <a:blip r:embed="rId7"/>
                <a:stretch>
                  <a:fillRect l="-6369" t="-6154" r="-5096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2355AD1D-4F88-48E8-9DAA-40AD3B926794}"/>
                  </a:ext>
                </a:extLst>
              </p:cNvPr>
              <p:cNvSpPr txBox="1"/>
              <p:nvPr/>
            </p:nvSpPr>
            <p:spPr>
              <a:xfrm>
                <a:off x="6447407" y="4279474"/>
                <a:ext cx="44023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原点振动方程可表示为：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(t)=</a:t>
                </a:r>
                <a:r>
                  <a:rPr lang="en-US" altLang="zh-CN" dirty="0" err="1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Acos</a:t>
                </a:r>
                <a:r>
                  <a:rPr lang="en-US" altLang="zh-CN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]</a:t>
                </a:r>
                <a:endParaRPr lang="zh-CN" altLang="en-US" dirty="0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2355AD1D-4F88-48E8-9DAA-40AD3B926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7407" y="4279474"/>
                <a:ext cx="4402301" cy="369332"/>
              </a:xfrm>
              <a:prstGeom prst="rect">
                <a:avLst/>
              </a:prstGeom>
              <a:blipFill>
                <a:blip r:embed="rId8"/>
                <a:stretch>
                  <a:fillRect l="-1247" t="-8197" r="-2770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0255A51-F728-4F0E-AA77-4D3C9CB4AC37}"/>
                  </a:ext>
                </a:extLst>
              </p:cNvPr>
              <p:cNvSpPr txBox="1"/>
              <p:nvPr/>
            </p:nvSpPr>
            <p:spPr>
              <a:xfrm>
                <a:off x="6395590" y="5224881"/>
                <a:ext cx="5679875" cy="11893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初始条件求出初相，</a:t>
                </a:r>
                <a:endParaRPr lang="en-US" altLang="zh-CN" dirty="0"/>
              </a:p>
              <a:p>
                <a:r>
                  <a:rPr lang="zh-CN" altLang="en-US" dirty="0"/>
                  <a:t>根据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altLang="zh-CN" dirty="0"/>
                  <a:t>(</a:t>
                </a:r>
                <a:r>
                  <a:rPr lang="en-US" altLang="zh-CN" dirty="0" err="1"/>
                  <a:t>x,t</a:t>
                </a:r>
                <a:r>
                  <a:rPr lang="en-US" altLang="zh-CN" dirty="0"/>
                  <a:t>)=</a:t>
                </a:r>
                <a:r>
                  <a:rPr lang="en-US" altLang="zh-CN" dirty="0" err="1"/>
                  <a:t>Acos</a:t>
                </a:r>
                <a:r>
                  <a:rPr lang="en-US" altLang="zh-CN" dirty="0"/>
                  <a:t>[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altLang="zh-CN" dirty="0"/>
                  <a:t>]</a:t>
                </a:r>
                <a:r>
                  <a:rPr lang="zh-CN" altLang="en-US" dirty="0"/>
                  <a:t>求出波函数</a:t>
                </a:r>
                <a:endParaRPr lang="en-US" altLang="zh-CN" dirty="0"/>
              </a:p>
              <a:p>
                <a:r>
                  <a:rPr lang="zh-CN" altLang="en-US" dirty="0"/>
                  <a:t>其中</a:t>
                </a:r>
                <a:r>
                  <a:rPr lang="en-US" altLang="zh-CN" dirty="0"/>
                  <a:t>u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en-US" altLang="zh-CN" dirty="0"/>
                  <a:t>=5 m/s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0255A51-F728-4F0E-AA77-4D3C9CB4AC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5590" y="5224881"/>
                <a:ext cx="5679875" cy="1189365"/>
              </a:xfrm>
              <a:prstGeom prst="rect">
                <a:avLst/>
              </a:prstGeom>
              <a:blipFill>
                <a:blip r:embed="rId9"/>
                <a:stretch>
                  <a:fillRect l="-858" t="-2564" b="-25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2BD53E7A-D951-42C4-9461-03EF321C58E7}"/>
                  </a:ext>
                </a:extLst>
              </p:cNvPr>
              <p:cNvSpPr txBox="1"/>
              <p:nvPr/>
            </p:nvSpPr>
            <p:spPr>
              <a:xfrm>
                <a:off x="762092" y="2795468"/>
                <a:ext cx="3589213" cy="506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x,</a:t>
                </a:r>
                <a:r>
                  <a:rPr lang="en-US" altLang="zh-CN" i="1" dirty="0" err="1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i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i="1" dirty="0" err="1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Acos</a:t>
                </a:r>
                <a:r>
                  <a:rPr lang="en-US" altLang="zh-CN" i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[2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den>
                        </m:f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altLang="zh-CN" i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]</a:t>
                </a:r>
                <a:endParaRPr lang="zh-CN" altLang="en-US" i="1" dirty="0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2BD53E7A-D951-42C4-9461-03EF321C5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92" y="2795468"/>
                <a:ext cx="3589213" cy="506870"/>
              </a:xfrm>
              <a:prstGeom prst="rect">
                <a:avLst/>
              </a:prstGeom>
              <a:blipFill>
                <a:blip r:embed="rId10"/>
                <a:stretch>
                  <a:fillRect b="-48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>
            <a:extLst>
              <a:ext uri="{FF2B5EF4-FFF2-40B4-BE49-F238E27FC236}">
                <a16:creationId xmlns:a16="http://schemas.microsoft.com/office/drawing/2014/main" id="{2A7117ED-DD69-4CE3-B5D0-655429727B3B}"/>
              </a:ext>
            </a:extLst>
          </p:cNvPr>
          <p:cNvSpPr/>
          <p:nvPr/>
        </p:nvSpPr>
        <p:spPr>
          <a:xfrm>
            <a:off x="680910" y="79615"/>
            <a:ext cx="10136058" cy="1134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2. 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图中(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Ⅰ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 是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=0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时的波形图，(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Ⅱ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 是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=0.1s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时的波形图。已知，周期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&gt;0.1s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，试写出波函数的表达式。</a:t>
            </a:r>
          </a:p>
        </p:txBody>
      </p:sp>
    </p:spTree>
    <p:extLst>
      <p:ext uri="{BB962C8B-B14F-4D97-AF65-F5344CB8AC3E}">
        <p14:creationId xmlns:p14="http://schemas.microsoft.com/office/powerpoint/2010/main" val="2699720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1" grpId="0"/>
      <p:bldP spid="13" grpId="0"/>
      <p:bldP spid="15" grpId="0"/>
      <p:bldP spid="16" grpId="0"/>
      <p:bldP spid="18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 t="2620" r="6267" b="7162"/>
          <a:stretch/>
        </p:blipFill>
        <p:spPr>
          <a:xfrm>
            <a:off x="6915172" y="1978915"/>
            <a:ext cx="4184342" cy="224285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794160B-9C39-4463-B48D-81AA83D5A69D}"/>
              </a:ext>
            </a:extLst>
          </p:cNvPr>
          <p:cNvSpPr txBox="1"/>
          <p:nvPr/>
        </p:nvSpPr>
        <p:spPr>
          <a:xfrm>
            <a:off x="665354" y="2519289"/>
            <a:ext cx="497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(1)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D225DF5-3F2C-4D7E-A8F0-4A7497E66AEA}"/>
                  </a:ext>
                </a:extLst>
              </p:cNvPr>
              <p:cNvSpPr txBox="1"/>
              <p:nvPr/>
            </p:nvSpPr>
            <p:spPr>
              <a:xfrm>
                <a:off x="1162975" y="2540558"/>
                <a:ext cx="26265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总光程差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dsin</a:t>
                </a:r>
                <a14:m>
                  <m:oMath xmlns:m="http://schemas.openxmlformats.org/officeDocument/2006/math">
                    <m:r>
                      <a:rPr lang="zh-CN" altLang="en-US" b="1" i="1" dirty="0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zh-CN" altLang="en-US" b="1" i="1" dirty="0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endParaRPr lang="zh-CN" altLang="en-US" b="1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D225DF5-3F2C-4D7E-A8F0-4A7497E66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975" y="2540558"/>
                <a:ext cx="2626553" cy="369332"/>
              </a:xfrm>
              <a:prstGeom prst="rect">
                <a:avLst/>
              </a:prstGeom>
              <a:blipFill>
                <a:blip r:embed="rId3"/>
                <a:stretch>
                  <a:fillRect l="-2088" t="-10000" r="-464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4FB4308-B6E6-4342-9EA6-6D8633D9F0D2}"/>
                  </a:ext>
                </a:extLst>
              </p:cNvPr>
              <p:cNvSpPr txBox="1"/>
              <p:nvPr/>
            </p:nvSpPr>
            <p:spPr>
              <a:xfrm>
                <a:off x="1162975" y="2984779"/>
                <a:ext cx="43056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明纹条件</a:t>
                </a:r>
                <a:r>
                  <a:rPr lang="en-US" altLang="zh-CN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dsin</a:t>
                </a:r>
                <a14:m>
                  <m:oMath xmlns:m="http://schemas.openxmlformats.org/officeDocument/2006/math">
                    <m:r>
                      <a:rPr lang="zh-CN" altLang="en-US" b="1" i="1" dirty="0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zh-CN" altLang="en-US" b="1" i="1" dirty="0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altLang="zh-CN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=k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</a:t>
                </a:r>
                <a:r>
                  <a:rPr lang="en-US" altLang="zh-CN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(k=0,1,2,…)</a:t>
                </a:r>
                <a:endParaRPr lang="zh-CN" altLang="en-US" b="1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4FB4308-B6E6-4342-9EA6-6D8633D9F0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975" y="2984779"/>
                <a:ext cx="4305670" cy="369332"/>
              </a:xfrm>
              <a:prstGeom prst="rect">
                <a:avLst/>
              </a:prstGeom>
              <a:blipFill>
                <a:blip r:embed="rId4"/>
                <a:stretch>
                  <a:fillRect l="-1275" t="-10000" r="-283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EA23499-0BE9-406F-91C0-7BB600A840DD}"/>
                  </a:ext>
                </a:extLst>
              </p:cNvPr>
              <p:cNvSpPr txBox="1"/>
              <p:nvPr/>
            </p:nvSpPr>
            <p:spPr>
              <a:xfrm>
                <a:off x="1162975" y="3489379"/>
                <a:ext cx="6094520" cy="4614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中央明纹</a:t>
                </a:r>
                <a:r>
                  <a:rPr lang="en-US" altLang="zh-CN" b="1" dirty="0" err="1">
                    <a:latin typeface="华文中宋" panose="02010600040101010101" pitchFamily="2" charset="-122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dsin</a:t>
                </a:r>
                <a14:m>
                  <m:oMath xmlns:m="http://schemas.openxmlformats.org/officeDocument/2006/math">
                    <m:r>
                      <a:rPr lang="zh-CN" altLang="en-US" b="1" i="1" dirty="0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zh-CN" altLang="en-US" b="1" i="1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𝒅𝒕𝒂𝒏</m:t>
                    </m:r>
                    <m:r>
                      <a:rPr lang="zh-CN" altLang="en-US" b="1" i="1" dirty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altLang="zh-CN" b="1" dirty="0">
                    <a:latin typeface="华文中宋" panose="02010600040101010101" pitchFamily="2" charset="-122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=d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den>
                    </m:f>
                  </m:oMath>
                </a14:m>
                <a:r>
                  <a:rPr lang="en-US" altLang="zh-CN" b="1" dirty="0">
                    <a:latin typeface="华文中宋" panose="02010600040101010101" pitchFamily="2" charset="-122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=3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endParaRPr lang="zh-CN" altLang="en-US" b="1" dirty="0"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EA23499-0BE9-406F-91C0-7BB600A84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975" y="3489379"/>
                <a:ext cx="6094520" cy="461473"/>
              </a:xfrm>
              <a:prstGeom prst="rect">
                <a:avLst/>
              </a:prstGeom>
              <a:blipFill>
                <a:blip r:embed="rId5"/>
                <a:stretch>
                  <a:fillRect l="-900" b="-65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D9A0200-D256-4F31-BF95-5F8197E4BD0B}"/>
                  </a:ext>
                </a:extLst>
              </p:cNvPr>
              <p:cNvSpPr txBox="1"/>
              <p:nvPr/>
            </p:nvSpPr>
            <p:spPr>
              <a:xfrm>
                <a:off x="1994288" y="5083436"/>
                <a:ext cx="1864310" cy="4993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b="1" i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  <m:r>
                          <a:rPr lang="zh-CN" altLang="en-US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den>
                    </m:f>
                  </m:oMath>
                </a14:m>
                <a:endParaRPr lang="zh-CN" altLang="en-US" b="1" dirty="0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D9A0200-D256-4F31-BF95-5F8197E4BD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4288" y="5083436"/>
                <a:ext cx="1864310" cy="499304"/>
              </a:xfrm>
              <a:prstGeom prst="rect">
                <a:avLst/>
              </a:prstGeom>
              <a:blipFill>
                <a:blip r:embed="rId6"/>
                <a:stretch>
                  <a:fillRect l="-2614" b="-60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0DFFB231-3BC0-4AC3-BA2D-6B60D8BD3C8B}"/>
              </a:ext>
            </a:extLst>
          </p:cNvPr>
          <p:cNvSpPr txBox="1"/>
          <p:nvPr/>
        </p:nvSpPr>
        <p:spPr>
          <a:xfrm>
            <a:off x="788446" y="4665994"/>
            <a:ext cx="497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(2)</a:t>
            </a:r>
            <a:endParaRPr lang="zh-CN" altLang="en-US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9276E7E-9905-4D75-B819-A8600AFBE963}"/>
                  </a:ext>
                </a:extLst>
              </p:cNvPr>
              <p:cNvSpPr txBox="1"/>
              <p:nvPr/>
            </p:nvSpPr>
            <p:spPr>
              <a:xfrm>
                <a:off x="1286067" y="4621963"/>
                <a:ext cx="1784411" cy="4614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d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𝒙</m:t>
                        </m:r>
                      </m:num>
                      <m:den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𝑫</m:t>
                        </m:r>
                      </m:den>
                    </m:f>
                    <m:r>
                      <a:rPr lang="en-US" altLang="zh-CN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zh-CN" altLang="en-US" b="1" i="1" dirty="0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altLang="zh-CN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=k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9276E7E-9905-4D75-B819-A8600AFBE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067" y="4621963"/>
                <a:ext cx="1784411" cy="461473"/>
              </a:xfrm>
              <a:prstGeom prst="rect">
                <a:avLst/>
              </a:prstGeom>
              <a:blipFill>
                <a:blip r:embed="rId7"/>
                <a:stretch>
                  <a:fillRect l="-3072" b="-65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3E4F23E-634E-468D-B5B5-8063D34AF9F3}"/>
                  </a:ext>
                </a:extLst>
              </p:cNvPr>
              <p:cNvSpPr txBox="1"/>
              <p:nvPr/>
            </p:nvSpPr>
            <p:spPr>
              <a:xfrm>
                <a:off x="1264697" y="3972121"/>
                <a:ext cx="1091953" cy="4993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b="1" i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  <m:r>
                          <a:rPr lang="zh-CN" altLang="en-US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den>
                    </m:f>
                  </m:oMath>
                </a14:m>
                <a:endParaRPr lang="zh-CN" altLang="en-US" b="1" dirty="0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3E4F23E-634E-468D-B5B5-8063D34AF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4697" y="3972121"/>
                <a:ext cx="1091953" cy="499304"/>
              </a:xfrm>
              <a:prstGeom prst="rect">
                <a:avLst/>
              </a:prstGeom>
              <a:blipFill>
                <a:blip r:embed="rId8"/>
                <a:stretch>
                  <a:fillRect l="-4444" b="-60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D641C69-7FC5-49EB-AF42-11E72C1ABF79}"/>
                  </a:ext>
                </a:extLst>
              </p:cNvPr>
              <p:cNvSpPr txBox="1"/>
              <p:nvPr/>
            </p:nvSpPr>
            <p:spPr>
              <a:xfrm rot="10800000" flipH="1" flipV="1">
                <a:off x="2018445" y="5658222"/>
                <a:ext cx="2636668" cy="4069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altLang="zh-CN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𝑫</m:t>
                        </m:r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𝝀</m:t>
                        </m:r>
                      </m:num>
                      <m:den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𝒅</m:t>
                        </m:r>
                      </m:den>
                    </m:f>
                  </m:oMath>
                </a14:m>
                <a:endParaRPr lang="zh-CN" altLang="en-US" b="1" dirty="0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D641C69-7FC5-49EB-AF42-11E72C1AB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H="1" flipV="1">
                <a:off x="2018445" y="5658222"/>
                <a:ext cx="2636668" cy="406971"/>
              </a:xfrm>
              <a:prstGeom prst="rect">
                <a:avLst/>
              </a:prstGeom>
              <a:blipFill>
                <a:blip r:embed="rId9"/>
                <a:stretch>
                  <a:fillRect l="-2309" t="-2985" b="-194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>
            <a:extLst>
              <a:ext uri="{FF2B5EF4-FFF2-40B4-BE49-F238E27FC236}">
                <a16:creationId xmlns:a16="http://schemas.microsoft.com/office/drawing/2014/main" id="{48E2C597-B272-4927-9E27-069D350EDF9A}"/>
              </a:ext>
            </a:extLst>
          </p:cNvPr>
          <p:cNvSpPr/>
          <p:nvPr/>
        </p:nvSpPr>
        <p:spPr>
          <a:xfrm>
            <a:off x="835139" y="-42685"/>
            <a:ext cx="10454682" cy="25713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3.  </a:t>
            </a:r>
            <a:r>
              <a:rPr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在双缝干涉实验中，单色光源 </a:t>
            </a:r>
            <a:r>
              <a:rPr lang="en-US" altLang="zh-CN" sz="22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22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 </a:t>
            </a:r>
            <a:r>
              <a:rPr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到两缝 </a:t>
            </a:r>
            <a:r>
              <a:rPr lang="en-US" altLang="zh-CN" sz="22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22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 </a:t>
            </a:r>
            <a:r>
              <a:rPr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22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22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 </a:t>
            </a:r>
            <a:r>
              <a:rPr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的距离分别为 </a:t>
            </a:r>
            <a:r>
              <a:rPr lang="en-US" altLang="zh-CN" sz="22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2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 </a:t>
            </a:r>
            <a:r>
              <a:rPr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22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2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，并且 </a:t>
            </a:r>
            <a:r>
              <a:rPr lang="en-US" altLang="zh-CN" sz="22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2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22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2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=3</a:t>
            </a:r>
            <a:r>
              <a:rPr lang="el-GR" altLang="zh-CN" sz="22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λ</a:t>
            </a:r>
            <a:r>
              <a:rPr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，</a:t>
            </a:r>
            <a:r>
              <a:rPr lang="el-GR" altLang="zh-CN" sz="22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λ</a:t>
            </a:r>
            <a:r>
              <a:rPr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为入射光的波长，双缝之间的距离为 </a:t>
            </a:r>
            <a:r>
              <a:rPr lang="zh-CN" altLang="en-US" sz="22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2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，双缝到屏幕的距离为</a:t>
            </a:r>
            <a:r>
              <a:rPr lang="zh-CN" altLang="en-US" sz="22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2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&gt;&gt;</a:t>
            </a:r>
            <a:r>
              <a:rPr lang="zh-CN" altLang="en-US" sz="22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，如图。求:</a:t>
            </a:r>
          </a:p>
          <a:p>
            <a:pPr marL="457200" indent="-95250">
              <a:lnSpc>
                <a:spcPct val="150000"/>
              </a:lnSpc>
              <a:buAutoNum type="arabicParenBoth"/>
            </a:pPr>
            <a:r>
              <a:rPr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零级明纹到屏幕中央</a:t>
            </a:r>
            <a:r>
              <a:rPr lang="en-US" altLang="zh-CN" sz="22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点的距离；</a:t>
            </a:r>
            <a:endParaRPr lang="en-US" altLang="zh-CN" sz="22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457200" indent="-95250">
              <a:lnSpc>
                <a:spcPct val="150000"/>
              </a:lnSpc>
              <a:buAutoNum type="arabicParenBoth"/>
            </a:pPr>
            <a:r>
              <a:rPr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相邻明条纹间的距离。</a:t>
            </a:r>
          </a:p>
        </p:txBody>
      </p:sp>
    </p:spTree>
    <p:extLst>
      <p:ext uri="{BB962C8B-B14F-4D97-AF65-F5344CB8AC3E}">
        <p14:creationId xmlns:p14="http://schemas.microsoft.com/office/powerpoint/2010/main" val="92468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10" grpId="0"/>
      <p:bldP spid="13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 l="4078" t="7263" r="6862" b="5505"/>
          <a:stretch/>
        </p:blipFill>
        <p:spPr>
          <a:xfrm>
            <a:off x="9706250" y="1549469"/>
            <a:ext cx="2485750" cy="195490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CD5035B-C8E8-4B08-AF89-AFA23E7B1633}"/>
              </a:ext>
            </a:extLst>
          </p:cNvPr>
          <p:cNvSpPr txBox="1"/>
          <p:nvPr/>
        </p:nvSpPr>
        <p:spPr>
          <a:xfrm>
            <a:off x="816747" y="2112885"/>
            <a:ext cx="5513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解：平板向下移动，空气膜厚度增加。由等厚原理可知。条纹向中间收缩。原来的第</a:t>
            </a:r>
            <a:r>
              <a:rPr lang="en-US" altLang="zh-CN" dirty="0"/>
              <a:t>k</a:t>
            </a:r>
            <a:r>
              <a:rPr lang="zh-CN" altLang="en-US" dirty="0"/>
              <a:t>级暗纹半径减小。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2D63A08-6D65-41AB-ACD0-F7D7144CCB1E}"/>
                  </a:ext>
                </a:extLst>
              </p:cNvPr>
              <p:cNvSpPr txBox="1"/>
              <p:nvPr/>
            </p:nvSpPr>
            <p:spPr>
              <a:xfrm>
                <a:off x="889160" y="3794495"/>
                <a:ext cx="2577309" cy="4978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暗纹条件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altLang="zh-CN" dirty="0"/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/>
                  <a:t>=(2k+1)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2D63A08-6D65-41AB-ACD0-F7D7144CC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160" y="3794495"/>
                <a:ext cx="2577309" cy="497829"/>
              </a:xfrm>
              <a:prstGeom prst="rect">
                <a:avLst/>
              </a:prstGeom>
              <a:blipFill>
                <a:blip r:embed="rId3"/>
                <a:stretch>
                  <a:fillRect l="-2128" b="-73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555B3CD-9E2C-44FD-B16C-1C7B2F1013A5}"/>
                  </a:ext>
                </a:extLst>
              </p:cNvPr>
              <p:cNvSpPr txBox="1"/>
              <p:nvPr/>
            </p:nvSpPr>
            <p:spPr>
              <a:xfrm>
                <a:off x="923278" y="2903677"/>
                <a:ext cx="19987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555B3CD-9E2C-44FD-B16C-1C7B2F101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278" y="2903677"/>
                <a:ext cx="1998752" cy="276999"/>
              </a:xfrm>
              <a:prstGeom prst="rect">
                <a:avLst/>
              </a:prstGeom>
              <a:blipFill>
                <a:blip r:embed="rId4"/>
                <a:stretch>
                  <a:fillRect l="-1829" t="-4348" r="-610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48DA220-7959-4C84-B6FE-1D5047C80827}"/>
                  </a:ext>
                </a:extLst>
              </p:cNvPr>
              <p:cNvSpPr txBox="1"/>
              <p:nvPr/>
            </p:nvSpPr>
            <p:spPr>
              <a:xfrm>
                <a:off x="3053919" y="2857511"/>
                <a:ext cx="22408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∵R&gt;&gt;d,     </a:t>
                </a:r>
                <a:r>
                  <a:rPr lang="zh-CN" altLang="en-US" dirty="0"/>
                  <a:t>忽略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48DA220-7959-4C84-B6FE-1D5047C80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3919" y="2857511"/>
                <a:ext cx="2240892" cy="369332"/>
              </a:xfrm>
              <a:prstGeom prst="rect">
                <a:avLst/>
              </a:prstGeom>
              <a:blipFill>
                <a:blip r:embed="rId5"/>
                <a:stretch>
                  <a:fillRect l="-2446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DF21F37-8374-4383-B2FB-A209CF5A3E79}"/>
                  </a:ext>
                </a:extLst>
              </p:cNvPr>
              <p:cNvSpPr txBox="1"/>
              <p:nvPr/>
            </p:nvSpPr>
            <p:spPr>
              <a:xfrm>
                <a:off x="986565" y="3263006"/>
                <a:ext cx="78668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DF21F37-8374-4383-B2FB-A209CF5A3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565" y="3263006"/>
                <a:ext cx="786689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18A8610-986D-49C0-8487-778CE19EB7C4}"/>
                  </a:ext>
                </a:extLst>
              </p:cNvPr>
              <p:cNvSpPr txBox="1"/>
              <p:nvPr/>
            </p:nvSpPr>
            <p:spPr>
              <a:xfrm>
                <a:off x="889160" y="4430823"/>
                <a:ext cx="15744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向下平移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后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18A8610-986D-49C0-8487-778CE19EB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160" y="4430823"/>
                <a:ext cx="1574405" cy="369332"/>
              </a:xfrm>
              <a:prstGeom prst="rect">
                <a:avLst/>
              </a:prstGeom>
              <a:blipFill>
                <a:blip r:embed="rId7"/>
                <a:stretch>
                  <a:fillRect l="-3488" t="-10000" r="-3101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001F28A-72BE-4133-B35A-4AE23E5F51FA}"/>
                  </a:ext>
                </a:extLst>
              </p:cNvPr>
              <p:cNvSpPr txBox="1"/>
              <p:nvPr/>
            </p:nvSpPr>
            <p:spPr>
              <a:xfrm>
                <a:off x="2463565" y="4362147"/>
                <a:ext cx="6094520" cy="4978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2(</m:t>
                    </m:r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/>
                  <a:t>=(2k+1)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001F28A-72BE-4133-B35A-4AE23E5F5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3565" y="4362147"/>
                <a:ext cx="6094520" cy="497829"/>
              </a:xfrm>
              <a:prstGeom prst="rect">
                <a:avLst/>
              </a:prstGeom>
              <a:blipFill>
                <a:blip r:embed="rId8"/>
                <a:stretch>
                  <a:fillRect b="-86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9B6A4C7-CA45-4092-B277-16A45730B6A8}"/>
                  </a:ext>
                </a:extLst>
              </p:cNvPr>
              <p:cNvSpPr txBox="1"/>
              <p:nvPr/>
            </p:nvSpPr>
            <p:spPr>
              <a:xfrm>
                <a:off x="867732" y="4749559"/>
                <a:ext cx="1204102" cy="6816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9B6A4C7-CA45-4092-B277-16A45730B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732" y="4749559"/>
                <a:ext cx="1204102" cy="68166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3F13566-00CA-48E8-90BF-1C983B00DBE7}"/>
                  </a:ext>
                </a:extLst>
              </p:cNvPr>
              <p:cNvSpPr txBox="1"/>
              <p:nvPr/>
            </p:nvSpPr>
            <p:spPr>
              <a:xfrm>
                <a:off x="932031" y="5519123"/>
                <a:ext cx="22284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zh-CN" dirty="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3F13566-00CA-48E8-90BF-1C983B00DB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031" y="5519123"/>
                <a:ext cx="2228419" cy="369332"/>
              </a:xfrm>
              <a:prstGeom prst="rect">
                <a:avLst/>
              </a:prstGeom>
              <a:blipFill>
                <a:blip r:embed="rId10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600DE39-C640-4CC9-A0A9-C1669AABEE98}"/>
                  </a:ext>
                </a:extLst>
              </p:cNvPr>
              <p:cNvSpPr txBox="1"/>
              <p:nvPr/>
            </p:nvSpPr>
            <p:spPr>
              <a:xfrm>
                <a:off x="2463565" y="5015059"/>
                <a:ext cx="4407752" cy="5227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=2R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CN" dirty="0"/>
                  <a:t>= 2R(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en-US" altLang="zh-CN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/>
                  <a:t>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600DE39-C640-4CC9-A0A9-C1669AABE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3565" y="5015059"/>
                <a:ext cx="4407752" cy="522707"/>
              </a:xfrm>
              <a:prstGeom prst="rect">
                <a:avLst/>
              </a:prstGeom>
              <a:blipFill>
                <a:blip r:embed="rId11"/>
                <a:stretch>
                  <a:fillRect b="-8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58327AB-AFBA-4911-BB6C-CFD002C83961}"/>
                  </a:ext>
                </a:extLst>
              </p:cNvPr>
              <p:cNvSpPr txBox="1"/>
              <p:nvPr/>
            </p:nvSpPr>
            <p:spPr>
              <a:xfrm>
                <a:off x="3160450" y="5567534"/>
                <a:ext cx="2800894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zh-CN" dirty="0"/>
                          <m:t>2</m:t>
                        </m:r>
                        <m:r>
                          <m:rPr>
                            <m:nor/>
                          </m:rPr>
                          <a:rPr lang="en-US" altLang="zh-CN" dirty="0"/>
                          <m:t>R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altLang="zh-CN" dirty="0"/>
                  <a:t>=1.5mm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58327AB-AFBA-4911-BB6C-CFD002C83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450" y="5567534"/>
                <a:ext cx="2800894" cy="427746"/>
              </a:xfrm>
              <a:prstGeom prst="rect">
                <a:avLst/>
              </a:prstGeom>
              <a:blipFill>
                <a:blip r:embed="rId12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>
            <a:extLst>
              <a:ext uri="{FF2B5EF4-FFF2-40B4-BE49-F238E27FC236}">
                <a16:creationId xmlns:a16="http://schemas.microsoft.com/office/drawing/2014/main" id="{D9256836-F05E-4AB3-AADA-13A13893DCF5}"/>
              </a:ext>
            </a:extLst>
          </p:cNvPr>
          <p:cNvSpPr txBox="1"/>
          <p:nvPr/>
        </p:nvSpPr>
        <p:spPr>
          <a:xfrm>
            <a:off x="3053919" y="6062389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∴收缩到了</a:t>
            </a:r>
            <a:r>
              <a:rPr lang="en-US" altLang="zh-CN" dirty="0"/>
              <a:t>1.5mm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AB3C434-C143-4ED5-82C3-1CA9B82465AA}"/>
              </a:ext>
            </a:extLst>
          </p:cNvPr>
          <p:cNvSpPr/>
          <p:nvPr/>
        </p:nvSpPr>
        <p:spPr>
          <a:xfrm>
            <a:off x="986565" y="117116"/>
            <a:ext cx="10183404" cy="1688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牛顿环装置中，透镜的曲率半径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=40cm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，用单色光垂直照射，在反射光中观察某一级暗环的半径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2.5 mm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。现把平板玻璃向下平移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=5.0</a:t>
            </a:r>
            <a:r>
              <a:rPr lang="el-GR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μ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，上述被观察暗环的半径变为何值?</a:t>
            </a:r>
          </a:p>
        </p:txBody>
      </p:sp>
    </p:spTree>
    <p:extLst>
      <p:ext uri="{BB962C8B-B14F-4D97-AF65-F5344CB8AC3E}">
        <p14:creationId xmlns:p14="http://schemas.microsoft.com/office/powerpoint/2010/main" val="1233239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1" grpId="0"/>
      <p:bldP spid="13" grpId="0"/>
      <p:bldP spid="15" grpId="0"/>
      <p:bldP spid="17" grpId="0"/>
      <p:bldP spid="19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829" y="3863504"/>
            <a:ext cx="3430998" cy="253493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692A411-7F22-467B-ABE7-09D0679086D0}"/>
              </a:ext>
            </a:extLst>
          </p:cNvPr>
          <p:cNvSpPr/>
          <p:nvPr/>
        </p:nvSpPr>
        <p:spPr>
          <a:xfrm>
            <a:off x="844735" y="59516"/>
            <a:ext cx="10566640" cy="39047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如图所示，狭缝的宽度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60 mm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，透镜焦距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=0.40m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，有一与狭缝平行的屏放置在透镜焦平面处。若以单色平行光垂直照射狭缝，则在屏上离点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O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为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=1.4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mm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处的点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，看到的是衍射明条纹。试求: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457200" indent="-95250">
              <a:lnSpc>
                <a:spcPct val="150000"/>
              </a:lnSpc>
              <a:buAutoNum type="arabicParenBoth"/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该入射光的波长；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457200" indent="-95250">
              <a:lnSpc>
                <a:spcPct val="150000"/>
              </a:lnSpc>
              <a:buAutoNum type="arabicParenBoth"/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点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P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条纹的级数；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457200" indent="-95250">
              <a:lnSpc>
                <a:spcPct val="150000"/>
              </a:lnSpc>
              <a:buAutoNum type="arabicParenBoth"/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从点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看来对该光波而言，狭缝处的波阵面可作半波带的数目。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注:入射光为可见光。</a:t>
            </a:r>
          </a:p>
        </p:txBody>
      </p:sp>
    </p:spTree>
    <p:extLst>
      <p:ext uri="{BB962C8B-B14F-4D97-AF65-F5344CB8AC3E}">
        <p14:creationId xmlns:p14="http://schemas.microsoft.com/office/powerpoint/2010/main" val="3648654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53112" y="255380"/>
            <a:ext cx="10566640" cy="32694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  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如图所示，狭缝的宽度b=0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60 mm,透镜焦距f=0.40m,有一与狭缝平行的屏放置在透镜焦平面处。若以单色平行光垂直照射狭缝,则在屏上离点O为x=1.4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mm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处的点P,看到的是衍射明条纹。试求: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 该入射光的波长；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 点P条纹的级数；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  从点P看来对该光波而言,狭缝处的波阵面可作半波带的数目，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注:入射光为可见光。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3853" y="1377757"/>
            <a:ext cx="3430998" cy="253493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0A33CDF-FB37-43D3-93E0-D83F0F6448C4}"/>
              </a:ext>
            </a:extLst>
          </p:cNvPr>
          <p:cNvSpPr txBox="1"/>
          <p:nvPr/>
        </p:nvSpPr>
        <p:spPr>
          <a:xfrm>
            <a:off x="38200" y="3655235"/>
            <a:ext cx="1229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解</a:t>
            </a:r>
            <a:r>
              <a:rPr lang="zh-CN" altLang="en-US" dirty="0">
                <a:sym typeface="Wingdings" panose="05000000000000000000" pitchFamily="2" charset="2"/>
              </a:rPr>
              <a:t>：（</a:t>
            </a:r>
            <a:r>
              <a:rPr lang="en-US" altLang="zh-CN" dirty="0">
                <a:sym typeface="Wingdings" panose="05000000000000000000" pitchFamily="2" charset="2"/>
              </a:rPr>
              <a:t>1</a:t>
            </a:r>
            <a:r>
              <a:rPr lang="zh-CN" altLang="en-US" dirty="0">
                <a:sym typeface="Wingdings" panose="05000000000000000000" pitchFamily="2" charset="2"/>
              </a:rPr>
              <a:t>）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B29DA15-11F1-47DB-BB0E-3008B973C076}"/>
              </a:ext>
            </a:extLst>
          </p:cNvPr>
          <p:cNvSpPr txBox="1"/>
          <p:nvPr/>
        </p:nvSpPr>
        <p:spPr>
          <a:xfrm>
            <a:off x="1056443" y="3655235"/>
            <a:ext cx="5205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夫琅禾费衍射明纹条件：菲涅尔半波带法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7C78268-009C-48DC-8E75-4F25AAF077AA}"/>
                  </a:ext>
                </a:extLst>
              </p:cNvPr>
              <p:cNvSpPr txBox="1"/>
              <p:nvPr/>
            </p:nvSpPr>
            <p:spPr>
              <a:xfrm>
                <a:off x="1157890" y="4018123"/>
                <a:ext cx="2730043" cy="4054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altLang="zh-CN" dirty="0"/>
                  <a:t>sin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=(2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+1)</m:t>
                    </m:r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dirty="0"/>
                  <a:t>     </a:t>
                </a:r>
                <a:r>
                  <a:rPr lang="en-US" altLang="zh-CN" dirty="0"/>
                  <a:t>k=1,2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7C78268-009C-48DC-8E75-4F25AAF07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890" y="4018123"/>
                <a:ext cx="2730043" cy="405496"/>
              </a:xfrm>
              <a:prstGeom prst="rect">
                <a:avLst/>
              </a:prstGeom>
              <a:blipFill>
                <a:blip r:embed="rId3"/>
                <a:stretch>
                  <a:fillRect l="-3125" t="-1493" r="-4241" b="-208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B6D614B-09F0-48A2-935F-2D50E1EBBF04}"/>
                  </a:ext>
                </a:extLst>
              </p:cNvPr>
              <p:cNvSpPr txBox="1"/>
              <p:nvPr/>
            </p:nvSpPr>
            <p:spPr>
              <a:xfrm>
                <a:off x="1069761" y="4355493"/>
                <a:ext cx="2090691" cy="4942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/>
                  <a:t>sin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zh-CN" altLang="en-US" dirty="0"/>
                  <a:t>≈</a:t>
                </a:r>
                <a:r>
                  <a:rPr lang="en-US" altLang="zh-CN" dirty="0"/>
                  <a:t>tan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B6D614B-09F0-48A2-935F-2D50E1EBB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761" y="4355493"/>
                <a:ext cx="2090691" cy="494238"/>
              </a:xfrm>
              <a:prstGeom prst="rect">
                <a:avLst/>
              </a:prstGeom>
              <a:blipFill>
                <a:blip r:embed="rId4"/>
                <a:stretch>
                  <a:fillRect l="-2332" b="-60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DF49C7C-F9DE-4051-9E0E-194DA2DABE40}"/>
                  </a:ext>
                </a:extLst>
              </p:cNvPr>
              <p:cNvSpPr txBox="1"/>
              <p:nvPr/>
            </p:nvSpPr>
            <p:spPr>
              <a:xfrm>
                <a:off x="1157890" y="4775587"/>
                <a:ext cx="1334789" cy="4780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0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𝑏𝑥</m:t>
                        </m:r>
                      </m:num>
                      <m:den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sz="2000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r>
                  <a:rPr lang="en-US" altLang="zh-CN" sz="2000" dirty="0"/>
                  <a:t>-1</a:t>
                </a:r>
                <a:r>
                  <a:rPr lang="en-US" altLang="zh-CN" dirty="0"/>
                  <a:t>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DF49C7C-F9DE-4051-9E0E-194DA2DAB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890" y="4775587"/>
                <a:ext cx="1334789" cy="478080"/>
              </a:xfrm>
              <a:prstGeom prst="rect">
                <a:avLst/>
              </a:prstGeom>
              <a:blipFill>
                <a:blip r:embed="rId5"/>
                <a:stretch>
                  <a:fillRect t="-1266" r="-9589" b="-113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66582CF-DC5B-40F3-BA0A-90BF55D7A6C7}"/>
                  </a:ext>
                </a:extLst>
              </p:cNvPr>
              <p:cNvSpPr txBox="1"/>
              <p:nvPr/>
            </p:nvSpPr>
            <p:spPr>
              <a:xfrm>
                <a:off x="1056443" y="5253667"/>
                <a:ext cx="60989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b=0</a:t>
                </a:r>
                <a:r>
                  <a:rPr lang="en-US" altLang="zh-CN" sz="1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en-US" sz="1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60 mm</a:t>
                </a:r>
                <a:r>
                  <a:rPr lang="en-US" altLang="zh-CN" sz="1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sz="1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f=0.40m</a:t>
                </a:r>
                <a:r>
                  <a:rPr lang="en-US" altLang="zh-CN" sz="1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sz="1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x=1.4</a:t>
                </a:r>
                <a:r>
                  <a:rPr lang="en-US" altLang="zh-CN" sz="1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mm,    </a:t>
                </a:r>
                <a14:m>
                  <m:oMath xmlns:m="http://schemas.openxmlformats.org/officeDocument/2006/math">
                    <m:r>
                      <a:rPr lang="zh-CN" altLang="en-US" b="0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可见光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zh-CN" altLang="en-US" sz="1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:r>
                  <a:rPr lang="en-US" altLang="zh-CN" sz="1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400nm ~760nm</a:t>
                </a:r>
                <a:endParaRPr lang="zh-CN" altLang="en-US" dirty="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66582CF-DC5B-40F3-BA0A-90BF55D7A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443" y="5253667"/>
                <a:ext cx="6098958" cy="369332"/>
              </a:xfrm>
              <a:prstGeom prst="rect">
                <a:avLst/>
              </a:prstGeom>
              <a:blipFill>
                <a:blip r:embed="rId6"/>
                <a:stretch>
                  <a:fillRect l="-799" t="-11667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2CFFF380-AB70-4171-ACC3-4E2307C0C6CE}"/>
              </a:ext>
            </a:extLst>
          </p:cNvPr>
          <p:cNvSpPr txBox="1"/>
          <p:nvPr/>
        </p:nvSpPr>
        <p:spPr>
          <a:xfrm>
            <a:off x="1069761" y="5709499"/>
            <a:ext cx="186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2.26&lt;= k&lt; =4.75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A2400E2-3847-451B-B4A1-415D145B2C48}"/>
              </a:ext>
            </a:extLst>
          </p:cNvPr>
          <p:cNvSpPr txBox="1"/>
          <p:nvPr/>
        </p:nvSpPr>
        <p:spPr>
          <a:xfrm>
            <a:off x="1056442" y="6078831"/>
            <a:ext cx="296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</a:t>
            </a:r>
            <a:r>
              <a:rPr lang="zh-CN" altLang="en-US" dirty="0"/>
              <a:t>可能的取值为</a:t>
            </a:r>
            <a:r>
              <a:rPr lang="en-US" altLang="zh-CN" dirty="0"/>
              <a:t>3</a:t>
            </a:r>
            <a:r>
              <a:rPr lang="zh-CN" altLang="en-US" dirty="0"/>
              <a:t>或</a:t>
            </a:r>
            <a:r>
              <a:rPr lang="en-US" altLang="zh-CN" dirty="0"/>
              <a:t>4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12E1CB4-2372-4749-B0D6-C7A941EE0F6E}"/>
                  </a:ext>
                </a:extLst>
              </p:cNvPr>
              <p:cNvSpPr txBox="1"/>
              <p:nvPr/>
            </p:nvSpPr>
            <p:spPr>
              <a:xfrm>
                <a:off x="3768081" y="6050884"/>
                <a:ext cx="216835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k=3</a:t>
                </a:r>
                <a:r>
                  <a:rPr lang="zh-CN" altLang="en-US" dirty="0"/>
                  <a:t>时，</a:t>
                </a:r>
                <a14:m>
                  <m:oMath xmlns:m="http://schemas.openxmlformats.org/officeDocument/2006/math">
                    <m:r>
                      <a:rPr lang="zh-CN" altLang="en-US" sz="180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US" altLang="zh-CN" dirty="0"/>
                  <a:t>=600nm</a:t>
                </a:r>
              </a:p>
              <a:p>
                <a:r>
                  <a:rPr lang="en-US" altLang="zh-CN" dirty="0"/>
                  <a:t>k=4</a:t>
                </a:r>
                <a:r>
                  <a:rPr lang="zh-CN" altLang="en-US" dirty="0"/>
                  <a:t>时，</a:t>
                </a:r>
                <a14:m>
                  <m:oMath xmlns:m="http://schemas.openxmlformats.org/officeDocument/2006/math">
                    <m:r>
                      <a:rPr lang="zh-CN" altLang="en-US" sz="180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US" altLang="zh-CN" dirty="0"/>
                  <a:t>=466.7nm</a:t>
                </a:r>
                <a:endParaRPr lang="zh-CN" altLang="en-US" dirty="0"/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12E1CB4-2372-4749-B0D6-C7A941EE0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8081" y="6050884"/>
                <a:ext cx="2168351" cy="646331"/>
              </a:xfrm>
              <a:prstGeom prst="rect">
                <a:avLst/>
              </a:prstGeom>
              <a:blipFill>
                <a:blip r:embed="rId7"/>
                <a:stretch>
                  <a:fillRect l="-2247" t="-5660" r="-2247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C7248A0-7B5D-452D-B9CC-D10430549DA2}"/>
                  </a:ext>
                </a:extLst>
              </p:cNvPr>
              <p:cNvSpPr txBox="1"/>
              <p:nvPr/>
            </p:nvSpPr>
            <p:spPr>
              <a:xfrm>
                <a:off x="7753364" y="3932536"/>
                <a:ext cx="239918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US" altLang="zh-CN" dirty="0"/>
                  <a:t>=600nm</a:t>
                </a:r>
                <a:r>
                  <a:rPr lang="zh-CN" altLang="en-US" dirty="0"/>
                  <a:t>时，   </a:t>
                </a:r>
                <a:r>
                  <a:rPr lang="en-US" altLang="zh-CN" dirty="0"/>
                  <a:t>k=3</a:t>
                </a:r>
                <a:r>
                  <a:rPr lang="zh-CN" altLang="en-US" dirty="0"/>
                  <a:t>级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US" altLang="zh-CN" dirty="0"/>
                  <a:t>=466.7nm</a:t>
                </a:r>
                <a:r>
                  <a:rPr lang="zh-CN" altLang="en-US" dirty="0"/>
                  <a:t>时，</a:t>
                </a:r>
                <a:r>
                  <a:rPr lang="en-US" altLang="zh-CN" dirty="0"/>
                  <a:t>k=4</a:t>
                </a:r>
                <a:r>
                  <a:rPr lang="zh-CN" altLang="en-US" dirty="0"/>
                  <a:t>级</a:t>
                </a:r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C7248A0-7B5D-452D-B9CC-D10430549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3364" y="3932536"/>
                <a:ext cx="2399183" cy="646331"/>
              </a:xfrm>
              <a:prstGeom prst="rect">
                <a:avLst/>
              </a:prstGeom>
              <a:blipFill>
                <a:blip r:embed="rId8"/>
                <a:stretch>
                  <a:fillRect t="-4717" r="-2036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8CE7AE30-9D48-4EB7-8B9E-DF59D0A02948}"/>
              </a:ext>
            </a:extLst>
          </p:cNvPr>
          <p:cNvSpPr txBox="1"/>
          <p:nvPr/>
        </p:nvSpPr>
        <p:spPr>
          <a:xfrm>
            <a:off x="7207655" y="3896927"/>
            <a:ext cx="8478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ym typeface="Wingdings" panose="05000000000000000000" pitchFamily="2" charset="2"/>
              </a:rPr>
              <a:t>（</a:t>
            </a:r>
            <a:r>
              <a:rPr lang="en-US" altLang="zh-CN" dirty="0">
                <a:sym typeface="Wingdings" panose="05000000000000000000" pitchFamily="2" charset="2"/>
              </a:rPr>
              <a:t>2</a:t>
            </a:r>
            <a:r>
              <a:rPr lang="zh-CN" altLang="en-US" dirty="0">
                <a:sym typeface="Wingdings" panose="05000000000000000000" pitchFamily="2" charset="2"/>
              </a:rPr>
              <a:t>）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4E952A6-52A8-4359-A195-D5223FEACDBD}"/>
              </a:ext>
            </a:extLst>
          </p:cNvPr>
          <p:cNvSpPr txBox="1"/>
          <p:nvPr/>
        </p:nvSpPr>
        <p:spPr>
          <a:xfrm>
            <a:off x="7201754" y="5022050"/>
            <a:ext cx="8478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ym typeface="Wingdings" panose="05000000000000000000" pitchFamily="2" charset="2"/>
              </a:rPr>
              <a:t>（</a:t>
            </a:r>
            <a:r>
              <a:rPr lang="en-US" altLang="zh-CN" dirty="0">
                <a:sym typeface="Wingdings" panose="05000000000000000000" pitchFamily="2" charset="2"/>
              </a:rPr>
              <a:t>3</a:t>
            </a:r>
            <a:r>
              <a:rPr lang="zh-CN" altLang="en-US" dirty="0">
                <a:sym typeface="Wingdings" panose="05000000000000000000" pitchFamily="2" charset="2"/>
              </a:rPr>
              <a:t>）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41916F9D-EFF5-4659-BFAA-52DB4CEE9A93}"/>
                  </a:ext>
                </a:extLst>
              </p:cNvPr>
              <p:cNvSpPr txBox="1"/>
              <p:nvPr/>
            </p:nvSpPr>
            <p:spPr>
              <a:xfrm>
                <a:off x="7412570" y="5883487"/>
                <a:ext cx="289643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US" altLang="zh-CN" dirty="0"/>
                  <a:t>=600nm   </a:t>
                </a:r>
                <a:r>
                  <a:rPr lang="zh-CN" altLang="en-US" dirty="0"/>
                  <a:t>时，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+1 </m:t>
                    </m:r>
                  </m:oMath>
                </a14:m>
                <a:r>
                  <a:rPr lang="en-US" altLang="zh-CN" dirty="0"/>
                  <a:t>=7</a:t>
                </a:r>
              </a:p>
              <a:p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US" altLang="zh-CN" dirty="0"/>
                  <a:t>=466.7nm</a:t>
                </a:r>
                <a:r>
                  <a:rPr lang="zh-CN" altLang="en-US" dirty="0"/>
                  <a:t>时，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+1 </m:t>
                    </m:r>
                  </m:oMath>
                </a14:m>
                <a:r>
                  <a:rPr lang="en-US" altLang="zh-CN" dirty="0"/>
                  <a:t>=9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41916F9D-EFF5-4659-BFAA-52DB4CEE9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2570" y="5883487"/>
                <a:ext cx="2896434" cy="646331"/>
              </a:xfrm>
              <a:prstGeom prst="rect">
                <a:avLst/>
              </a:prstGeom>
              <a:blipFill>
                <a:blip r:embed="rId9"/>
                <a:stretch>
                  <a:fillRect t="-4717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8A751E01-43D9-4461-B97E-B5E37EAA9B32}"/>
                  </a:ext>
                </a:extLst>
              </p:cNvPr>
              <p:cNvSpPr txBox="1"/>
              <p:nvPr/>
            </p:nvSpPr>
            <p:spPr>
              <a:xfrm>
                <a:off x="7882832" y="4925777"/>
                <a:ext cx="2107628" cy="7532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𝑠𝑖𝑛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8A751E01-43D9-4461-B97E-B5E37EAA9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2832" y="4925777"/>
                <a:ext cx="2107628" cy="75328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0099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1" grpId="0"/>
      <p:bldP spid="14" grpId="0"/>
      <p:bldP spid="15" grpId="0"/>
      <p:bldP spid="17" grpId="0"/>
      <p:bldP spid="18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5F20117-3F43-45D7-9046-A69BB513DE1A}"/>
              </a:ext>
            </a:extLst>
          </p:cNvPr>
          <p:cNvSpPr txBox="1"/>
          <p:nvPr/>
        </p:nvSpPr>
        <p:spPr>
          <a:xfrm>
            <a:off x="512912" y="236500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解</a:t>
            </a:r>
            <a:r>
              <a:rPr lang="zh-CN" altLang="en-US" dirty="0">
                <a:sym typeface="Wingdings" panose="05000000000000000000" pitchFamily="2" charset="2"/>
              </a:rPr>
              <a:t>：单缝衍射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C2BA916-7C1C-4B59-96D6-BCD239AEA0A2}"/>
                  </a:ext>
                </a:extLst>
              </p:cNvPr>
              <p:cNvSpPr txBox="1"/>
              <p:nvPr/>
            </p:nvSpPr>
            <p:spPr>
              <a:xfrm>
                <a:off x="1125354" y="2734333"/>
                <a:ext cx="1914435" cy="4162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altLang="zh-CN" dirty="0"/>
                  <a:t>sin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=(2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+1)</m:t>
                    </m:r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C2BA916-7C1C-4B59-96D6-BCD239AEA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354" y="2734333"/>
                <a:ext cx="1914435" cy="416204"/>
              </a:xfrm>
              <a:prstGeom prst="rect">
                <a:avLst/>
              </a:prstGeom>
              <a:blipFill>
                <a:blip r:embed="rId2"/>
                <a:stretch>
                  <a:fillRect l="-4459" t="-1471" b="-17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DB3B32D-C491-4887-B5A5-8964825692B3}"/>
                  </a:ext>
                </a:extLst>
              </p:cNvPr>
              <p:cNvSpPr txBox="1"/>
              <p:nvPr/>
            </p:nvSpPr>
            <p:spPr>
              <a:xfrm>
                <a:off x="1039197" y="3150537"/>
                <a:ext cx="19144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/>
                  <a:t>=1</a:t>
                </a:r>
                <a:r>
                  <a:rPr lang="zh-CN" altLang="en-US" dirty="0"/>
                  <a:t>为一级明纹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DB3B32D-C491-4887-B5A5-896482569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197" y="3150537"/>
                <a:ext cx="1914435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A4CC2F3-7BD2-4F75-9B0D-161C38BDA1D9}"/>
                  </a:ext>
                </a:extLst>
              </p:cNvPr>
              <p:cNvSpPr txBox="1"/>
              <p:nvPr/>
            </p:nvSpPr>
            <p:spPr>
              <a:xfrm>
                <a:off x="1039197" y="3424231"/>
                <a:ext cx="2000592" cy="4942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/>
                  <a:t>sin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zh-CN" altLang="en-US" dirty="0"/>
                  <a:t>≈</a:t>
                </a:r>
                <a:r>
                  <a:rPr lang="en-US" altLang="zh-CN" dirty="0"/>
                  <a:t>tan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A4CC2F3-7BD2-4F75-9B0D-161C38BDA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197" y="3424231"/>
                <a:ext cx="2000592" cy="494238"/>
              </a:xfrm>
              <a:prstGeom prst="rect">
                <a:avLst/>
              </a:prstGeom>
              <a:blipFill>
                <a:blip r:embed="rId4"/>
                <a:stretch>
                  <a:fillRect l="-2432" b="-61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D1EDFA8-8582-4A41-8D59-F07045D33B74}"/>
                  </a:ext>
                </a:extLst>
              </p:cNvPr>
              <p:cNvSpPr txBox="1"/>
              <p:nvPr/>
            </p:nvSpPr>
            <p:spPr>
              <a:xfrm>
                <a:off x="1125354" y="3823854"/>
                <a:ext cx="949939" cy="5850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000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D1EDFA8-8582-4A41-8D59-F07045D33B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354" y="3823854"/>
                <a:ext cx="949939" cy="5850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576FDA9-DD8D-460B-A2A3-31D60C102993}"/>
                  </a:ext>
                </a:extLst>
              </p:cNvPr>
              <p:cNvSpPr txBox="1"/>
              <p:nvPr/>
            </p:nvSpPr>
            <p:spPr>
              <a:xfrm>
                <a:off x="1039197" y="4663204"/>
                <a:ext cx="6094520" cy="4925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nor/>
                          </m:rPr>
                          <a:rPr lang="el-GR" altLang="zh-CN" dirty="0"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λ</m:t>
                        </m:r>
                        <m:r>
                          <m:rPr>
                            <m:nor/>
                          </m:rPr>
                          <a:rPr lang="en-US" altLang="zh-CN" baseline="-25000" dirty="0"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∗0.5∗400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∗10</m:t>
                        </m:r>
                        <m:r>
                          <a:rPr lang="en-US" altLang="zh-CN" i="1" baseline="30000" dirty="0">
                            <a:latin typeface="Cambria Math" panose="02040503050406030204" pitchFamily="18" charset="0"/>
                          </a:rPr>
                          <m:t>-</m:t>
                        </m:r>
                        <m:r>
                          <a:rPr lang="en-US" altLang="zh-CN" b="0" i="1" baseline="30000" dirty="0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altLang="zh-CN" i="1" baseline="30000" dirty="0" smtClean="0">
                            <a:latin typeface="Cambria Math" panose="02040503050406030204" pitchFamily="18" charset="0"/>
                          </a:rPr>
                          <m:t>-</m:t>
                        </m:r>
                        <m:r>
                          <a:rPr lang="en-US" altLang="zh-CN" b="0" i="1" baseline="3000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∗10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𝑚𝑚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576FDA9-DD8D-460B-A2A3-31D60C102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197" y="4663204"/>
                <a:ext cx="6094520" cy="492571"/>
              </a:xfrm>
              <a:prstGeom prst="rect">
                <a:avLst/>
              </a:prstGeom>
              <a:blipFill>
                <a:blip r:embed="rId6"/>
                <a:stretch>
                  <a:fillRect b="-61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B6A09ED-083E-471D-AECA-888C68125CED}"/>
                  </a:ext>
                </a:extLst>
              </p:cNvPr>
              <p:cNvSpPr txBox="1"/>
              <p:nvPr/>
            </p:nvSpPr>
            <p:spPr>
              <a:xfrm>
                <a:off x="1063208" y="5229517"/>
                <a:ext cx="6094520" cy="4925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nor/>
                          </m:rPr>
                          <a:rPr lang="el-GR" altLang="zh-CN" dirty="0"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λ</m:t>
                        </m:r>
                        <m:r>
                          <m:rPr>
                            <m:nor/>
                          </m:rPr>
                          <a:rPr lang="en-US" altLang="zh-CN" baseline="-25000" dirty="0"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∗0.5∗760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∗10</m:t>
                        </m:r>
                        <m:r>
                          <a:rPr lang="en-US" altLang="zh-CN" i="1" baseline="30000" dirty="0" smtClean="0">
                            <a:latin typeface="Cambria Math" panose="02040503050406030204" pitchFamily="18" charset="0"/>
                          </a:rPr>
                          <m:t>-</m:t>
                        </m:r>
                        <m:r>
                          <a:rPr lang="en-US" altLang="zh-CN" i="1" baseline="30000" dirty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2∗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altLang="zh-CN" i="1" baseline="30000" dirty="0">
                            <a:latin typeface="Cambria Math" panose="02040503050406030204" pitchFamily="18" charset="0"/>
                          </a:rPr>
                          <m:t>-</m:t>
                        </m:r>
                        <m:r>
                          <a:rPr lang="en-US" altLang="zh-CN" i="1" baseline="30000" dirty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=5.7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∗10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=5.7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𝑚𝑚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B6A09ED-083E-471D-AECA-888C68125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208" y="5229517"/>
                <a:ext cx="6094520" cy="492571"/>
              </a:xfrm>
              <a:prstGeom prst="rect">
                <a:avLst/>
              </a:prstGeom>
              <a:blipFill>
                <a:blip r:embed="rId7"/>
                <a:stretch>
                  <a:fillRect b="-61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77C6F7A-AF08-4774-8AAB-2CC0053E557C}"/>
                  </a:ext>
                </a:extLst>
              </p:cNvPr>
              <p:cNvSpPr txBox="1"/>
              <p:nvPr/>
            </p:nvSpPr>
            <p:spPr>
              <a:xfrm>
                <a:off x="1063208" y="5833679"/>
                <a:ext cx="13286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=2.7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𝑚𝑚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77C6F7A-AF08-4774-8AAB-2CC0053E5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208" y="5833679"/>
                <a:ext cx="1328633" cy="276999"/>
              </a:xfrm>
              <a:prstGeom prst="rect">
                <a:avLst/>
              </a:prstGeom>
              <a:blipFill>
                <a:blip r:embed="rId8"/>
                <a:stretch>
                  <a:fillRect l="-3211" r="-3670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B0CBB6E6-9D06-442B-8206-F787E5A6083A}"/>
              </a:ext>
            </a:extLst>
          </p:cNvPr>
          <p:cNvSpPr txBox="1"/>
          <p:nvPr/>
        </p:nvSpPr>
        <p:spPr>
          <a:xfrm>
            <a:off x="6671326" y="230109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光栅衍射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AC6AAC88-F420-46D1-8298-EC2C8E8E7A0E}"/>
                  </a:ext>
                </a:extLst>
              </p:cNvPr>
              <p:cNvSpPr txBox="1"/>
              <p:nvPr/>
            </p:nvSpPr>
            <p:spPr>
              <a:xfrm>
                <a:off x="6742205" y="2626183"/>
                <a:ext cx="1264898" cy="4054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altLang="zh-CN" dirty="0"/>
                  <a:t>sin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𝑘</m:t>
                    </m:r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AC6AAC88-F420-46D1-8298-EC2C8E8E7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2205" y="2626183"/>
                <a:ext cx="1264898" cy="405496"/>
              </a:xfrm>
              <a:prstGeom prst="rect">
                <a:avLst/>
              </a:prstGeom>
              <a:blipFill>
                <a:blip r:embed="rId9"/>
                <a:stretch>
                  <a:fillRect l="-6731" t="-1515" r="-4327" b="-212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33C2D06-95F0-4175-A8E6-A30B4715FEC9}"/>
                  </a:ext>
                </a:extLst>
              </p:cNvPr>
              <p:cNvSpPr txBox="1"/>
              <p:nvPr/>
            </p:nvSpPr>
            <p:spPr>
              <a:xfrm>
                <a:off x="6671326" y="2937582"/>
                <a:ext cx="2643672" cy="485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其中</a:t>
                </a:r>
                <a:r>
                  <a:rPr lang="en-US" altLang="zh-CN" dirty="0"/>
                  <a:t>d=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1000</m:t>
                        </m:r>
                      </m:den>
                    </m:f>
                  </m:oMath>
                </a14:m>
                <a:r>
                  <a:rPr lang="en-US" altLang="zh-CN" dirty="0"/>
                  <a:t> cm=0.01mm</a:t>
                </a:r>
                <a:endParaRPr lang="zh-CN" altLang="en-US" dirty="0"/>
              </a:p>
            </p:txBody>
          </p:sp>
        </mc:Choice>
        <mc:Fallback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33C2D06-95F0-4175-A8E6-A30B4715FE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1326" y="2937582"/>
                <a:ext cx="2643672" cy="485197"/>
              </a:xfrm>
              <a:prstGeom prst="rect">
                <a:avLst/>
              </a:prstGeom>
              <a:blipFill>
                <a:blip r:embed="rId10"/>
                <a:stretch>
                  <a:fillRect l="-1843" r="-1613" b="-88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1A1D3EF4-66D8-4849-B2C9-C6B6E2B73D30}"/>
                  </a:ext>
                </a:extLst>
              </p:cNvPr>
              <p:cNvSpPr txBox="1"/>
              <p:nvPr/>
            </p:nvSpPr>
            <p:spPr>
              <a:xfrm>
                <a:off x="6671326" y="3365321"/>
                <a:ext cx="19144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/>
                  <a:t>=1</a:t>
                </a:r>
                <a:r>
                  <a:rPr lang="zh-CN" altLang="en-US" dirty="0"/>
                  <a:t>为一级明纹</a:t>
                </a: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1A1D3EF4-66D8-4849-B2C9-C6B6E2B73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1326" y="3365321"/>
                <a:ext cx="1914435" cy="369332"/>
              </a:xfrm>
              <a:prstGeom prst="rect">
                <a:avLst/>
              </a:prstGeom>
              <a:blipFill>
                <a:blip r:embed="rId11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E6C073E3-DA40-4930-A609-8272A8411040}"/>
                  </a:ext>
                </a:extLst>
              </p:cNvPr>
              <p:cNvSpPr txBox="1"/>
              <p:nvPr/>
            </p:nvSpPr>
            <p:spPr>
              <a:xfrm>
                <a:off x="6742205" y="4085214"/>
                <a:ext cx="814967" cy="5850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000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E6C073E3-DA40-4930-A609-8272A8411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2205" y="4085214"/>
                <a:ext cx="814967" cy="58509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02C1EDD-EC39-4838-AAA4-60B25D4EA52A}"/>
                  </a:ext>
                </a:extLst>
              </p:cNvPr>
              <p:cNvSpPr txBox="1"/>
              <p:nvPr/>
            </p:nvSpPr>
            <p:spPr>
              <a:xfrm>
                <a:off x="6671326" y="3724044"/>
                <a:ext cx="2000592" cy="4942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/>
                  <a:t>sin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zh-CN" altLang="en-US" dirty="0"/>
                  <a:t>≈</a:t>
                </a:r>
                <a:r>
                  <a:rPr lang="en-US" altLang="zh-CN" dirty="0"/>
                  <a:t>tan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02C1EDD-EC39-4838-AAA4-60B25D4EA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1326" y="3724044"/>
                <a:ext cx="2000592" cy="494238"/>
              </a:xfrm>
              <a:prstGeom prst="rect">
                <a:avLst/>
              </a:prstGeom>
              <a:blipFill>
                <a:blip r:embed="rId13"/>
                <a:stretch>
                  <a:fillRect l="-2432" b="-61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8E8079DF-AD01-424C-9FA3-8FCB24A8DEBA}"/>
                  </a:ext>
                </a:extLst>
              </p:cNvPr>
              <p:cNvSpPr txBox="1"/>
              <p:nvPr/>
            </p:nvSpPr>
            <p:spPr>
              <a:xfrm>
                <a:off x="6722400" y="4691315"/>
                <a:ext cx="6094520" cy="4925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nor/>
                          </m:rPr>
                          <a:rPr lang="el-GR" altLang="zh-CN" dirty="0"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λ</m:t>
                        </m:r>
                        <m:r>
                          <m:rPr>
                            <m:nor/>
                          </m:rPr>
                          <a:rPr lang="en-US" altLang="zh-CN" baseline="-25000" dirty="0"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0.5∗400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∗10</m:t>
                        </m:r>
                        <m:r>
                          <a:rPr lang="en-US" altLang="zh-CN" i="1" baseline="30000" dirty="0" smtClean="0">
                            <a:latin typeface="Cambria Math" panose="02040503050406030204" pitchFamily="18" charset="0"/>
                          </a:rPr>
                          <m:t>-</m:t>
                        </m:r>
                        <m:r>
                          <a:rPr lang="en-US" altLang="zh-CN" i="1" baseline="30000" dirty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altLang="zh-CN" i="1" baseline="30000" dirty="0" smtClean="0">
                            <a:latin typeface="Cambria Math" panose="02040503050406030204" pitchFamily="18" charset="0"/>
                          </a:rPr>
                          <m:t>-</m:t>
                        </m:r>
                        <m:r>
                          <a:rPr lang="en-US" altLang="zh-CN" b="0" i="1" baseline="30000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.0∗10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=2.0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𝑐𝑚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8E8079DF-AD01-424C-9FA3-8FCB24A8D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2400" y="4691315"/>
                <a:ext cx="6094520" cy="492571"/>
              </a:xfrm>
              <a:prstGeom prst="rect">
                <a:avLst/>
              </a:prstGeom>
              <a:blipFill>
                <a:blip r:embed="rId14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3F6FC68-4158-4AF9-BB75-AC92103DA765}"/>
                  </a:ext>
                </a:extLst>
              </p:cNvPr>
              <p:cNvSpPr txBox="1"/>
              <p:nvPr/>
            </p:nvSpPr>
            <p:spPr>
              <a:xfrm>
                <a:off x="6746411" y="5142217"/>
                <a:ext cx="6094520" cy="4925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nor/>
                          </m:rPr>
                          <a:rPr lang="el-GR" altLang="zh-CN" dirty="0"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λ</m:t>
                        </m:r>
                        <m:r>
                          <m:rPr>
                            <m:nor/>
                          </m:rPr>
                          <a:rPr lang="en-US" altLang="zh-CN" baseline="-25000" dirty="0"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0.5∗760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∗10</m:t>
                        </m:r>
                        <m:r>
                          <a:rPr lang="en-US" altLang="zh-CN" i="1" baseline="30000" dirty="0" smtClean="0">
                            <a:latin typeface="Cambria Math" panose="02040503050406030204" pitchFamily="18" charset="0"/>
                          </a:rPr>
                          <m:t>-</m:t>
                        </m:r>
                        <m:r>
                          <a:rPr lang="en-US" altLang="zh-CN" i="1" baseline="30000" dirty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altLang="zh-CN" i="1" baseline="30000" dirty="0" smtClean="0">
                            <a:latin typeface="Cambria Math" panose="02040503050406030204" pitchFamily="18" charset="0"/>
                          </a:rPr>
                          <m:t>-</m:t>
                        </m:r>
                        <m:r>
                          <a:rPr lang="en-US" altLang="zh-CN" i="1" baseline="30000" dirty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=3.8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∗10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=3.8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𝑐𝑚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3F6FC68-4158-4AF9-BB75-AC92103DA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6411" y="5142217"/>
                <a:ext cx="6094520" cy="492571"/>
              </a:xfrm>
              <a:prstGeom prst="rect">
                <a:avLst/>
              </a:prstGeom>
              <a:blipFill>
                <a:blip r:embed="rId15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A78F0910-FB07-4B2C-AD8C-5DA48F01A305}"/>
                  </a:ext>
                </a:extLst>
              </p:cNvPr>
              <p:cNvSpPr txBox="1"/>
              <p:nvPr/>
            </p:nvSpPr>
            <p:spPr>
              <a:xfrm>
                <a:off x="6802356" y="5742358"/>
                <a:ext cx="10986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1.8cm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A78F0910-FB07-4B2C-AD8C-5DA48F01A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356" y="5742358"/>
                <a:ext cx="1098634" cy="276999"/>
              </a:xfrm>
              <a:prstGeom prst="rect">
                <a:avLst/>
              </a:prstGeom>
              <a:blipFill>
                <a:blip r:embed="rId16"/>
                <a:stretch>
                  <a:fillRect l="-7778" t="-28889" r="-12222" b="-5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>
            <a:extLst>
              <a:ext uri="{FF2B5EF4-FFF2-40B4-BE49-F238E27FC236}">
                <a16:creationId xmlns:a16="http://schemas.microsoft.com/office/drawing/2014/main" id="{B6860C63-F9FC-40FF-A466-CEC0289548D2}"/>
              </a:ext>
            </a:extLst>
          </p:cNvPr>
          <p:cNvSpPr txBox="1"/>
          <p:nvPr/>
        </p:nvSpPr>
        <p:spPr>
          <a:xfrm>
            <a:off x="3727502" y="6424311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光栅衍射比单缝衍射条纹间距更宽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EBB4275-C07D-425D-B9E0-4ED4733A752F}"/>
              </a:ext>
            </a:extLst>
          </p:cNvPr>
          <p:cNvSpPr/>
          <p:nvPr/>
        </p:nvSpPr>
        <p:spPr>
          <a:xfrm>
            <a:off x="925849" y="4533"/>
            <a:ext cx="9958975" cy="2345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6. </a:t>
            </a: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已知单缝宽度 </a:t>
            </a:r>
            <a:r>
              <a:rPr lang="zh-CN" alt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1.0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-4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m </a:t>
            </a: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，透镜焦距 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=0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50m</a:t>
            </a: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，用 </a:t>
            </a:r>
            <a:r>
              <a:rPr lang="el-GR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λ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400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nm  </a:t>
            </a: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l-GR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λ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=760nm </a:t>
            </a: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的单色平行光分别垂直照射，</a:t>
            </a:r>
            <a:endParaRPr lang="en-US" altLang="zh-CN" sz="20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求这两种光的第一级明纹离屏中心的距离，以及这两条明纹之间的距离。若用每厘米刻有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1000</a:t>
            </a: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条刻线的光栅代替这个单缝，则这两种单色光的第一级明纹分别距屏中心多远?这两条明纹之间的距离又是多少？试比较两者的差异。</a:t>
            </a:r>
          </a:p>
        </p:txBody>
      </p:sp>
    </p:spTree>
    <p:extLst>
      <p:ext uri="{BB962C8B-B14F-4D97-AF65-F5344CB8AC3E}">
        <p14:creationId xmlns:p14="http://schemas.microsoft.com/office/powerpoint/2010/main" val="3128673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8" grpId="0"/>
      <p:bldP spid="9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54232" y="602727"/>
            <a:ext cx="105755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一定量的理想气体经如图所示的循环过程，请填写表格中的空格。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4253" t="7739" r="5053" b="6683"/>
          <a:stretch/>
        </p:blipFill>
        <p:spPr>
          <a:xfrm>
            <a:off x="1137111" y="1619704"/>
            <a:ext cx="3084022" cy="2518756"/>
          </a:xfrm>
          <a:prstGeom prst="rect">
            <a:avLst/>
          </a:prstGeom>
        </p:spPr>
      </p:pic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4368"/>
              </p:ext>
            </p:extLst>
          </p:nvPr>
        </p:nvGraphicFramePr>
        <p:xfrm>
          <a:off x="4620145" y="1361740"/>
          <a:ext cx="666022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190">
                  <a:extLst>
                    <a:ext uri="{9D8B030D-6E8A-4147-A177-3AD203B41FA5}">
                      <a16:colId xmlns:a16="http://schemas.microsoft.com/office/drawing/2014/main" val="1640730652"/>
                    </a:ext>
                  </a:extLst>
                </a:gridCol>
                <a:gridCol w="1952726">
                  <a:extLst>
                    <a:ext uri="{9D8B030D-6E8A-4147-A177-3AD203B41FA5}">
                      <a16:colId xmlns:a16="http://schemas.microsoft.com/office/drawing/2014/main" val="129004074"/>
                    </a:ext>
                  </a:extLst>
                </a:gridCol>
                <a:gridCol w="1615506">
                  <a:extLst>
                    <a:ext uri="{9D8B030D-6E8A-4147-A177-3AD203B41FA5}">
                      <a16:colId xmlns:a16="http://schemas.microsoft.com/office/drawing/2014/main" val="4290037799"/>
                    </a:ext>
                  </a:extLst>
                </a:gridCol>
                <a:gridCol w="1465804">
                  <a:extLst>
                    <a:ext uri="{9D8B030D-6E8A-4147-A177-3AD203B41FA5}">
                      <a16:colId xmlns:a16="http://schemas.microsoft.com/office/drawing/2014/main" val="34067477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过程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内能增量∆</a:t>
                      </a:r>
                      <a:r>
                        <a:rPr lang="en-US" altLang="zh-CN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E/J</a:t>
                      </a:r>
                      <a:endParaRPr lang="zh-CN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做功</a:t>
                      </a:r>
                      <a:r>
                        <a:rPr lang="en-US" altLang="zh-CN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W/J</a:t>
                      </a:r>
                      <a:endParaRPr lang="zh-CN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吸热</a:t>
                      </a:r>
                      <a:r>
                        <a:rPr lang="en-US" altLang="zh-CN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Q/J</a:t>
                      </a:r>
                      <a:endParaRPr lang="zh-CN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142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  A         B</a:t>
                      </a:r>
                      <a:endParaRPr lang="zh-CN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50</a:t>
                      </a:r>
                      <a:endParaRPr lang="zh-CN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804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  B         C</a:t>
                      </a:r>
                      <a:endParaRPr lang="zh-CN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-50</a:t>
                      </a:r>
                      <a:endParaRPr lang="zh-CN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919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  C         D</a:t>
                      </a:r>
                      <a:endParaRPr lang="zh-CN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-50</a:t>
                      </a:r>
                      <a:endParaRPr lang="zh-CN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-150</a:t>
                      </a:r>
                      <a:endParaRPr lang="zh-CN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153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  D         A</a:t>
                      </a:r>
                      <a:endParaRPr lang="zh-CN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816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ABCDA</a:t>
                      </a:r>
                      <a:endParaRPr lang="zh-CN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循环效率</a:t>
                      </a:r>
                      <a:r>
                        <a:rPr lang="el-GR" altLang="zh-CN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η</a:t>
                      </a:r>
                      <a:r>
                        <a:rPr lang="en-US" altLang="zh-CN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=</a:t>
                      </a:r>
                      <a:endParaRPr lang="zh-CN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78328"/>
                  </a:ext>
                </a:extLst>
              </a:tr>
            </a:tbl>
          </a:graphicData>
        </a:graphic>
      </p:graphicFrame>
      <p:cxnSp>
        <p:nvCxnSpPr>
          <p:cNvPr id="9" name="直接箭头连接符 8"/>
          <p:cNvCxnSpPr/>
          <p:nvPr/>
        </p:nvCxnSpPr>
        <p:spPr>
          <a:xfrm>
            <a:off x="5218659" y="2010700"/>
            <a:ext cx="5715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5218659" y="2453152"/>
            <a:ext cx="5715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5218659" y="2895604"/>
            <a:ext cx="5715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5218659" y="3293810"/>
            <a:ext cx="5715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83FA9DE0-2A99-4D7B-81E0-E5F21A540932}"/>
              </a:ext>
            </a:extLst>
          </p:cNvPr>
          <p:cNvSpPr txBox="1"/>
          <p:nvPr/>
        </p:nvSpPr>
        <p:spPr>
          <a:xfrm>
            <a:off x="5640572" y="235511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33A647B-D139-48E3-BA82-4F0A9B02F7B2}"/>
                  </a:ext>
                </a:extLst>
              </p:cNvPr>
              <p:cNvSpPr txBox="1"/>
              <p:nvPr/>
            </p:nvSpPr>
            <p:spPr>
              <a:xfrm>
                <a:off x="954232" y="4416773"/>
                <a:ext cx="12411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=∆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33A647B-D139-48E3-BA82-4F0A9B02F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232" y="4416773"/>
                <a:ext cx="1241109" cy="276999"/>
              </a:xfrm>
              <a:prstGeom prst="rect">
                <a:avLst/>
              </a:prstGeom>
              <a:blipFill>
                <a:blip r:embed="rId3"/>
                <a:stretch>
                  <a:fillRect l="-5419" r="-3448" b="-3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3772694-D602-445B-AA86-FA5DD9BD1840}"/>
                  </a:ext>
                </a:extLst>
              </p:cNvPr>
              <p:cNvSpPr txBox="1"/>
              <p:nvPr/>
            </p:nvSpPr>
            <p:spPr>
              <a:xfrm>
                <a:off x="653330" y="4787419"/>
                <a:ext cx="26427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A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到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等温过程，</a:t>
                </a:r>
                <a:r>
                  <a:rPr lang="en-US" altLang="zh-CN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altLang="zh-CN" dirty="0"/>
                  <a:t>T=0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3772694-D602-445B-AA86-FA5DD9BD18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330" y="4787419"/>
                <a:ext cx="2642763" cy="369332"/>
              </a:xfrm>
              <a:prstGeom prst="rect">
                <a:avLst/>
              </a:prstGeom>
              <a:blipFill>
                <a:blip r:embed="rId4"/>
                <a:stretch>
                  <a:fillRect l="-230" t="-9836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7BAB0F8-3F7A-4A57-A0E8-E8D192997756}"/>
                  </a:ext>
                </a:extLst>
              </p:cNvPr>
              <p:cNvSpPr txBox="1"/>
              <p:nvPr/>
            </p:nvSpPr>
            <p:spPr>
              <a:xfrm>
                <a:off x="668707" y="5156751"/>
                <a:ext cx="262738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dirty="0"/>
                  <a:t>=</a:t>
                </a:r>
                <a:r>
                  <a:rPr lang="el-GR" altLang="zh-CN" dirty="0"/>
                  <a:t>ν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</m:oMath>
                </a14:m>
                <a:r>
                  <a:rPr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altLang="zh-CN" dirty="0"/>
                  <a:t>T=0</a:t>
                </a:r>
                <a:r>
                  <a:rPr lang="zh-CN" altLang="en-US" dirty="0"/>
                  <a:t>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7BAB0F8-3F7A-4A57-A0E8-E8D192997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707" y="5156751"/>
                <a:ext cx="2627386" cy="646331"/>
              </a:xfrm>
              <a:prstGeom prst="rect">
                <a:avLst/>
              </a:prstGeom>
              <a:blipFill>
                <a:blip r:embed="rId5"/>
                <a:stretch>
                  <a:fillRect t="-5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64F1CA2F-1E3F-4DAB-B872-5A773C4C510F}"/>
              </a:ext>
            </a:extLst>
          </p:cNvPr>
          <p:cNvSpPr txBox="1"/>
          <p:nvPr/>
        </p:nvSpPr>
        <p:spPr>
          <a:xfrm>
            <a:off x="7102550" y="1826034"/>
            <a:ext cx="414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3FD7258-094D-4ADE-80E4-AAC48AE88B7F}"/>
              </a:ext>
            </a:extLst>
          </p:cNvPr>
          <p:cNvSpPr txBox="1"/>
          <p:nvPr/>
        </p:nvSpPr>
        <p:spPr>
          <a:xfrm>
            <a:off x="10292316" y="182603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50</a:t>
            </a:r>
            <a:endParaRPr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28A7C9D9-2101-412E-A973-7AD4D3C56C1F}"/>
                  </a:ext>
                </a:extLst>
              </p:cNvPr>
              <p:cNvSpPr txBox="1"/>
              <p:nvPr/>
            </p:nvSpPr>
            <p:spPr>
              <a:xfrm>
                <a:off x="668707" y="5549062"/>
                <a:ext cx="272307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到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绝热过程，</a:t>
                </a:r>
                <a:r>
                  <a:rPr lang="en-US" altLang="zh-CN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altLang="zh-CN" dirty="0"/>
                  <a:t>=0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28A7C9D9-2101-412E-A973-7AD4D3C56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707" y="5549062"/>
                <a:ext cx="2723079" cy="369332"/>
              </a:xfrm>
              <a:prstGeom prst="rect">
                <a:avLst/>
              </a:prstGeom>
              <a:blipFill>
                <a:blip r:embed="rId6"/>
                <a:stretch>
                  <a:fillRect l="-2018" t="-9836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7448B09-17B0-42F4-820A-6BC1CB4F2429}"/>
                  </a:ext>
                </a:extLst>
              </p:cNvPr>
              <p:cNvSpPr txBox="1"/>
              <p:nvPr/>
            </p:nvSpPr>
            <p:spPr>
              <a:xfrm>
                <a:off x="733602" y="5895415"/>
                <a:ext cx="9762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7448B09-17B0-42F4-820A-6BC1CB4F2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602" y="5895415"/>
                <a:ext cx="976293" cy="276999"/>
              </a:xfrm>
              <a:prstGeom prst="rect">
                <a:avLst/>
              </a:prstGeom>
              <a:blipFill>
                <a:blip r:embed="rId7"/>
                <a:stretch>
                  <a:fillRect l="-4375" r="-5000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>
            <a:extLst>
              <a:ext uri="{FF2B5EF4-FFF2-40B4-BE49-F238E27FC236}">
                <a16:creationId xmlns:a16="http://schemas.microsoft.com/office/drawing/2014/main" id="{CFC53A34-9D21-46BE-895F-794B1D0C9DD5}"/>
              </a:ext>
            </a:extLst>
          </p:cNvPr>
          <p:cNvSpPr txBox="1"/>
          <p:nvPr/>
        </p:nvSpPr>
        <p:spPr>
          <a:xfrm>
            <a:off x="10369767" y="2228410"/>
            <a:ext cx="414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977D56C-CB13-4584-8AA0-A4B1170D9337}"/>
              </a:ext>
            </a:extLst>
          </p:cNvPr>
          <p:cNvSpPr txBox="1"/>
          <p:nvPr/>
        </p:nvSpPr>
        <p:spPr>
          <a:xfrm>
            <a:off x="8800741" y="2250822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50</a:t>
            </a:r>
            <a:endParaRPr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A58A9A6-9467-4FEF-B191-5DBF03F66B05}"/>
                  </a:ext>
                </a:extLst>
              </p:cNvPr>
              <p:cNvSpPr txBox="1"/>
              <p:nvPr/>
            </p:nvSpPr>
            <p:spPr>
              <a:xfrm>
                <a:off x="4142869" y="4701834"/>
                <a:ext cx="358700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到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D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等压收缩过程，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=∆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A58A9A6-9467-4FEF-B191-5DBF03F66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2869" y="4701834"/>
                <a:ext cx="3587001" cy="646331"/>
              </a:xfrm>
              <a:prstGeom prst="rect">
                <a:avLst/>
              </a:prstGeom>
              <a:blipFill>
                <a:blip r:embed="rId8"/>
                <a:stretch>
                  <a:fillRect l="-1531" t="-5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0F9F704B-59AD-49F4-BAB9-142A55272DBC}"/>
              </a:ext>
            </a:extLst>
          </p:cNvPr>
          <p:cNvSpPr txBox="1"/>
          <p:nvPr/>
        </p:nvSpPr>
        <p:spPr>
          <a:xfrm>
            <a:off x="6875400" y="2673549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-100</a:t>
            </a:r>
            <a:endParaRPr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5DC36F4-A5CA-4A79-9769-90D6277BEF1A}"/>
                  </a:ext>
                </a:extLst>
              </p:cNvPr>
              <p:cNvSpPr txBox="1"/>
              <p:nvPr/>
            </p:nvSpPr>
            <p:spPr>
              <a:xfrm>
                <a:off x="4142868" y="5549062"/>
                <a:ext cx="3587001" cy="4121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D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到</a:t>
                </a:r>
                <a:r>
                  <a:rPr lang="en-US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等体过程，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A=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d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𝑉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=0</m:t>
                        </m:r>
                      </m:e>
                    </m:nary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5DC36F4-A5CA-4A79-9769-90D6277BE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2868" y="5549062"/>
                <a:ext cx="3587001" cy="412164"/>
              </a:xfrm>
              <a:prstGeom prst="rect">
                <a:avLst/>
              </a:prstGeom>
              <a:blipFill>
                <a:blip r:embed="rId9"/>
                <a:stretch>
                  <a:fillRect l="-1531" t="-132353" b="-191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94B9AB16-7770-44D3-8690-8C9B46327E5A}"/>
              </a:ext>
            </a:extLst>
          </p:cNvPr>
          <p:cNvSpPr txBox="1"/>
          <p:nvPr/>
        </p:nvSpPr>
        <p:spPr>
          <a:xfrm>
            <a:off x="8861655" y="310914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0</a:t>
            </a:r>
            <a:endParaRPr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23063F4E-E6A7-44C6-9DF9-FEE4708CB7E2}"/>
                  </a:ext>
                </a:extLst>
              </p:cNvPr>
              <p:cNvSpPr txBox="1"/>
              <p:nvPr/>
            </p:nvSpPr>
            <p:spPr>
              <a:xfrm>
                <a:off x="4221133" y="5914221"/>
                <a:ext cx="8172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=∆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23063F4E-E6A7-44C6-9DF9-FEE4708CB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1133" y="5914221"/>
                <a:ext cx="817275" cy="276999"/>
              </a:xfrm>
              <a:prstGeom prst="rect">
                <a:avLst/>
              </a:prstGeom>
              <a:blipFill>
                <a:blip r:embed="rId10"/>
                <a:stretch>
                  <a:fillRect l="-8148" r="-5185" b="-282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3EA1CC06-B0BF-41A6-AE88-230C065B58D3}"/>
                  </a:ext>
                </a:extLst>
              </p:cNvPr>
              <p:cNvSpPr txBox="1"/>
              <p:nvPr/>
            </p:nvSpPr>
            <p:spPr>
              <a:xfrm>
                <a:off x="7360075" y="5009496"/>
                <a:ext cx="417859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整个循环过程体系状态不变，</a:t>
                </a:r>
                <a:r>
                  <a:rPr lang="en-US" altLang="zh-CN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𝐴𝐵</m:t>
                        </m:r>
                      </m:sub>
                    </m:sSub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𝐵𝐶</m:t>
                        </m:r>
                      </m:sub>
                    </m:sSub>
                  </m:oMath>
                </a14:m>
                <a:r>
                  <a:rPr lang="en-US" altLang="zh-CN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𝐶𝐷</m:t>
                        </m:r>
                      </m:sub>
                    </m:sSub>
                  </m:oMath>
                </a14:m>
                <a:r>
                  <a:rPr lang="en-US" altLang="zh-CN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𝐷𝐴</m:t>
                        </m:r>
                      </m:sub>
                    </m:sSub>
                  </m:oMath>
                </a14:m>
                <a:r>
                  <a:rPr lang="en-US" altLang="zh-CN" dirty="0"/>
                  <a:t>=0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3EA1CC06-B0BF-41A6-AE88-230C065B5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0075" y="5009496"/>
                <a:ext cx="4178595" cy="646331"/>
              </a:xfrm>
              <a:prstGeom prst="rect">
                <a:avLst/>
              </a:prstGeom>
              <a:blipFill>
                <a:blip r:embed="rId11"/>
                <a:stretch>
                  <a:fillRect l="-1166" t="-5660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本框 27">
            <a:extLst>
              <a:ext uri="{FF2B5EF4-FFF2-40B4-BE49-F238E27FC236}">
                <a16:creationId xmlns:a16="http://schemas.microsoft.com/office/drawing/2014/main" id="{68094226-F0D9-4F0E-817F-7965CB2CFA15}"/>
              </a:ext>
            </a:extLst>
          </p:cNvPr>
          <p:cNvSpPr txBox="1"/>
          <p:nvPr/>
        </p:nvSpPr>
        <p:spPr>
          <a:xfrm>
            <a:off x="6992360" y="3070175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150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038AB9F-9E73-4E5E-B493-30FAD4787829}"/>
              </a:ext>
            </a:extLst>
          </p:cNvPr>
          <p:cNvSpPr txBox="1"/>
          <p:nvPr/>
        </p:nvSpPr>
        <p:spPr>
          <a:xfrm>
            <a:off x="10316915" y="3081970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150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AF86CA6-11B7-465C-B866-0CB1F844EE1B}"/>
              </a:ext>
            </a:extLst>
          </p:cNvPr>
          <p:cNvSpPr txBox="1"/>
          <p:nvPr/>
        </p:nvSpPr>
        <p:spPr>
          <a:xfrm>
            <a:off x="9441713" y="3537149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25%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8C7B75B7-A5F0-4389-8DA9-16978B5CFF82}"/>
                  </a:ext>
                </a:extLst>
              </p:cNvPr>
              <p:cNvSpPr txBox="1"/>
              <p:nvPr/>
            </p:nvSpPr>
            <p:spPr>
              <a:xfrm>
                <a:off x="7808134" y="5832717"/>
                <a:ext cx="2501582" cy="5295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吸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50+50−50+0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50+150</m:t>
                        </m:r>
                      </m:den>
                    </m:f>
                  </m:oMath>
                </a14:m>
                <a:r>
                  <a:rPr lang="en-US" altLang="zh-CN" dirty="0"/>
                  <a:t>=25%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8C7B75B7-A5F0-4389-8DA9-16978B5CF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134" y="5832717"/>
                <a:ext cx="2501582" cy="529504"/>
              </a:xfrm>
              <a:prstGeom prst="rect">
                <a:avLst/>
              </a:prstGeom>
              <a:blipFill>
                <a:blip r:embed="rId12"/>
                <a:stretch>
                  <a:fillRect l="-3415" t="-3448" r="-4878" b="-18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033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13" grpId="0"/>
      <p:bldP spid="14" grpId="0"/>
      <p:bldP spid="15" grpId="0"/>
      <p:bldP spid="17" grpId="0"/>
      <p:bldP spid="18" grpId="0"/>
      <p:bldP spid="19" grpId="0"/>
      <p:bldP spid="20" grpId="0"/>
      <p:bldP spid="21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0351" y="1460150"/>
            <a:ext cx="3022911" cy="24826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488DA15-45E7-4937-9B26-CC88859E4314}"/>
                  </a:ext>
                </a:extLst>
              </p:cNvPr>
              <p:cNvSpPr txBox="1"/>
              <p:nvPr/>
            </p:nvSpPr>
            <p:spPr>
              <a:xfrm>
                <a:off x="858069" y="2263890"/>
                <a:ext cx="1699055" cy="6465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吸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dirty="0"/>
                  <a:t>= 1-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放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吸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488DA15-45E7-4937-9B26-CC88859E4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069" y="2263890"/>
                <a:ext cx="1699055" cy="6465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FC155EF-ECF5-420F-8D94-061ABD4E0648}"/>
                  </a:ext>
                </a:extLst>
              </p:cNvPr>
              <p:cNvSpPr txBox="1"/>
              <p:nvPr/>
            </p:nvSpPr>
            <p:spPr>
              <a:xfrm>
                <a:off x="825625" y="2915901"/>
                <a:ext cx="10655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𝑃𝑉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𝜈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FC155EF-ECF5-420F-8D94-061ABD4E0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25" y="2915901"/>
                <a:ext cx="1065548" cy="276999"/>
              </a:xfrm>
              <a:prstGeom prst="rect">
                <a:avLst/>
              </a:prstGeom>
              <a:blipFill>
                <a:blip r:embed="rId4"/>
                <a:stretch>
                  <a:fillRect l="-4000" r="-4571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9705342-F80B-4CA0-A02E-C03D4AAF65B6}"/>
                  </a:ext>
                </a:extLst>
              </p:cNvPr>
              <p:cNvSpPr txBox="1"/>
              <p:nvPr/>
            </p:nvSpPr>
            <p:spPr>
              <a:xfrm>
                <a:off x="754603" y="4084493"/>
                <a:ext cx="27588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C</a:t>
                </a:r>
                <a:r>
                  <a:rPr lang="zh-CN" altLang="en-US" dirty="0"/>
                  <a:t>到</a:t>
                </a:r>
                <a:r>
                  <a:rPr lang="en-US" altLang="zh-CN" dirty="0"/>
                  <a:t>D</a:t>
                </a:r>
                <a:r>
                  <a:rPr lang="zh-CN" altLang="en-US" dirty="0"/>
                  <a:t>，等压收缩，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altLang="zh-CN" dirty="0"/>
                  <a:t>&gt;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9705342-F80B-4CA0-A02E-C03D4AAF6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603" y="4084493"/>
                <a:ext cx="2758832" cy="369332"/>
              </a:xfrm>
              <a:prstGeom prst="rect">
                <a:avLst/>
              </a:prstGeom>
              <a:blipFill>
                <a:blip r:embed="rId5"/>
                <a:stretch>
                  <a:fillRect l="-1991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32FEC81-43E1-4ADD-974A-A5748FB2F98F}"/>
                  </a:ext>
                </a:extLst>
              </p:cNvPr>
              <p:cNvSpPr txBox="1"/>
              <p:nvPr/>
            </p:nvSpPr>
            <p:spPr>
              <a:xfrm>
                <a:off x="825625" y="3633084"/>
                <a:ext cx="302291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sub>
                    </m:sSub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𝜈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l-GR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𝜈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zh-CN" dirty="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zh-CN" dirty="0"/>
                  <a:t>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32FEC81-43E1-4ADD-974A-A5748FB2F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25" y="3633084"/>
                <a:ext cx="3022911" cy="276999"/>
              </a:xfrm>
              <a:prstGeom prst="rect">
                <a:avLst/>
              </a:prstGeom>
              <a:blipFill>
                <a:blip r:embed="rId6"/>
                <a:stretch>
                  <a:fillRect l="-3427" t="-28889" b="-5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8E1EB491-CAAA-4E7D-9B45-D3BAD784CCCA}"/>
              </a:ext>
            </a:extLst>
          </p:cNvPr>
          <p:cNvSpPr txBox="1"/>
          <p:nvPr/>
        </p:nvSpPr>
        <p:spPr>
          <a:xfrm>
            <a:off x="3693112" y="3611949"/>
            <a:ext cx="958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吸热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0E82085-BB31-4E73-B879-9CB7F76D25A5}"/>
                  </a:ext>
                </a:extLst>
              </p:cNvPr>
              <p:cNvSpPr txBox="1"/>
              <p:nvPr/>
            </p:nvSpPr>
            <p:spPr>
              <a:xfrm>
                <a:off x="754603" y="3224859"/>
                <a:ext cx="26959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A</a:t>
                </a:r>
                <a:r>
                  <a:rPr lang="zh-CN" altLang="en-US" dirty="0"/>
                  <a:t>到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，等压膨胀，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zh-CN" dirty="0"/>
                  <a:t>&gt;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0E82085-BB31-4E73-B879-9CB7F76D2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603" y="3224859"/>
                <a:ext cx="2695994" cy="369332"/>
              </a:xfrm>
              <a:prstGeom prst="rect">
                <a:avLst/>
              </a:prstGeom>
              <a:blipFill>
                <a:blip r:embed="rId7"/>
                <a:stretch>
                  <a:fillRect l="-2036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96B3C67-2579-4DB7-988B-DD4DAE6280EF}"/>
                  </a:ext>
                </a:extLst>
              </p:cNvPr>
              <p:cNvSpPr txBox="1"/>
              <p:nvPr/>
            </p:nvSpPr>
            <p:spPr>
              <a:xfrm>
                <a:off x="858069" y="4431526"/>
                <a:ext cx="302291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𝐶𝐷</m:t>
                        </m:r>
                      </m:sub>
                    </m:sSub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𝜈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l-GR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𝜈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altLang="zh-CN" dirty="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altLang="zh-CN" dirty="0"/>
                  <a:t>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96B3C67-2579-4DB7-988B-DD4DAE628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069" y="4431526"/>
                <a:ext cx="3022911" cy="276999"/>
              </a:xfrm>
              <a:prstGeom prst="rect">
                <a:avLst/>
              </a:prstGeom>
              <a:blipFill>
                <a:blip r:embed="rId8"/>
                <a:stretch>
                  <a:fillRect l="-3427" t="-28889" b="-5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B9F4D952-724B-440E-B971-035ED934992F}"/>
              </a:ext>
            </a:extLst>
          </p:cNvPr>
          <p:cNvSpPr txBox="1"/>
          <p:nvPr/>
        </p:nvSpPr>
        <p:spPr>
          <a:xfrm>
            <a:off x="3693112" y="440311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放热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B6A500B-59D5-4F17-BD8A-4726482D2FA6}"/>
              </a:ext>
            </a:extLst>
          </p:cNvPr>
          <p:cNvSpPr txBox="1"/>
          <p:nvPr/>
        </p:nvSpPr>
        <p:spPr>
          <a:xfrm>
            <a:off x="691765" y="5162480"/>
            <a:ext cx="1378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r>
              <a:rPr lang="zh-CN" altLang="en-US" dirty="0"/>
              <a:t>到</a:t>
            </a:r>
            <a:r>
              <a:rPr lang="en-US" altLang="zh-CN" dirty="0"/>
              <a:t>C</a:t>
            </a:r>
            <a:r>
              <a:rPr lang="zh-CN" altLang="en-US" dirty="0"/>
              <a:t>，绝热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22AC3DE-F942-4BE5-A924-B70D5CBDB90A}"/>
                  </a:ext>
                </a:extLst>
              </p:cNvPr>
              <p:cNvSpPr txBox="1"/>
              <p:nvPr/>
            </p:nvSpPr>
            <p:spPr>
              <a:xfrm>
                <a:off x="691765" y="5626265"/>
                <a:ext cx="2097561" cy="3292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22AC3DE-F942-4BE5-A924-B70D5CBDB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765" y="5626265"/>
                <a:ext cx="2097561" cy="329257"/>
              </a:xfrm>
              <a:prstGeom prst="rect">
                <a:avLst/>
              </a:prstGeom>
              <a:blipFill>
                <a:blip r:embed="rId9"/>
                <a:stretch>
                  <a:fillRect l="-1739" r="-290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D248CC9-5C8B-4C8A-B008-8CAF89943FAE}"/>
                  </a:ext>
                </a:extLst>
              </p:cNvPr>
              <p:cNvSpPr txBox="1"/>
              <p:nvPr/>
            </p:nvSpPr>
            <p:spPr>
              <a:xfrm>
                <a:off x="3124940" y="5550828"/>
                <a:ext cx="1643463" cy="4278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dirty="0"/>
                          <m:t>(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nor/>
                          </m:rPr>
                          <a:rPr lang="en-US" altLang="zh-CN" dirty="0"/>
                          <m:t>)</m:t>
                        </m:r>
                      </m:e>
                      <m:sup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dirty="0"/>
                          <m:t>(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nor/>
                          </m:rPr>
                          <a:rPr lang="en-US" altLang="zh-CN" dirty="0"/>
                          <m:t>)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𝛾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D248CC9-5C8B-4C8A-B008-8CAF89943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940" y="5550828"/>
                <a:ext cx="1643463" cy="427874"/>
              </a:xfrm>
              <a:prstGeom prst="rect">
                <a:avLst/>
              </a:prstGeom>
              <a:blipFill>
                <a:blip r:embed="rId10"/>
                <a:stretch>
                  <a:fillRect l="-6691" t="-4286" r="-2602" b="-1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B0E5579A-0B31-4370-8E60-02599C598497}"/>
              </a:ext>
            </a:extLst>
          </p:cNvPr>
          <p:cNvSpPr txBox="1"/>
          <p:nvPr/>
        </p:nvSpPr>
        <p:spPr>
          <a:xfrm>
            <a:off x="728756" y="6007337"/>
            <a:ext cx="1409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</a:t>
            </a:r>
            <a:r>
              <a:rPr lang="zh-CN" altLang="en-US" dirty="0"/>
              <a:t>到</a:t>
            </a:r>
            <a:r>
              <a:rPr lang="en-US" altLang="zh-CN" dirty="0"/>
              <a:t>A</a:t>
            </a:r>
            <a:r>
              <a:rPr lang="zh-CN" altLang="en-US" dirty="0"/>
              <a:t>，绝热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036F901-56FE-4095-A988-3EB425740F10}"/>
                  </a:ext>
                </a:extLst>
              </p:cNvPr>
              <p:cNvSpPr txBox="1"/>
              <p:nvPr/>
            </p:nvSpPr>
            <p:spPr>
              <a:xfrm>
                <a:off x="728756" y="6471122"/>
                <a:ext cx="2097561" cy="3388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036F901-56FE-4095-A988-3EB425740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56" y="6471122"/>
                <a:ext cx="2097561" cy="338811"/>
              </a:xfrm>
              <a:prstGeom prst="rect">
                <a:avLst/>
              </a:prstGeom>
              <a:blipFill>
                <a:blip r:embed="rId11"/>
                <a:stretch>
                  <a:fillRect l="-2035" r="-581" b="-14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2744FCB8-A31B-4986-AEAE-256BABE4124E}"/>
                  </a:ext>
                </a:extLst>
              </p:cNvPr>
              <p:cNvSpPr txBox="1"/>
              <p:nvPr/>
            </p:nvSpPr>
            <p:spPr>
              <a:xfrm>
                <a:off x="3161931" y="6395685"/>
                <a:ext cx="1665905" cy="4372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dirty="0"/>
                          <m:t>(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nor/>
                          </m:rPr>
                          <a:rPr lang="en-US" altLang="zh-CN" dirty="0"/>
                          <m:t>)</m:t>
                        </m:r>
                      </m:e>
                      <m:sup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dirty="0"/>
                          <m:t>(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nor/>
                          </m:rPr>
                          <a:rPr lang="en-US" altLang="zh-CN" dirty="0"/>
                          <m:t>)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𝛾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2744FCB8-A31B-4986-AEAE-256BABE41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931" y="6395685"/>
                <a:ext cx="1665905" cy="437236"/>
              </a:xfrm>
              <a:prstGeom prst="rect">
                <a:avLst/>
              </a:prstGeom>
              <a:blipFill>
                <a:blip r:embed="rId12"/>
                <a:stretch>
                  <a:fillRect l="-6593" t="-4167" r="-1832" b="-97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E06425D-5AD6-42E7-A722-D4A9B7B6B74C}"/>
                  </a:ext>
                </a:extLst>
              </p:cNvPr>
              <p:cNvSpPr txBox="1"/>
              <p:nvPr/>
            </p:nvSpPr>
            <p:spPr>
              <a:xfrm>
                <a:off x="4768403" y="2764458"/>
                <a:ext cx="20851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∵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E06425D-5AD6-42E7-A722-D4A9B7B6B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8403" y="2764458"/>
                <a:ext cx="2085158" cy="369332"/>
              </a:xfrm>
              <a:prstGeom prst="rect">
                <a:avLst/>
              </a:prstGeom>
              <a:blipFill>
                <a:blip r:embed="rId1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610DB553-95DA-44D4-B925-20939C9CD8C6}"/>
                  </a:ext>
                </a:extLst>
              </p:cNvPr>
              <p:cNvSpPr txBox="1"/>
              <p:nvPr/>
            </p:nvSpPr>
            <p:spPr>
              <a:xfrm>
                <a:off x="5063911" y="3221736"/>
                <a:ext cx="2085158" cy="5184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610DB553-95DA-44D4-B925-20939C9CD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3911" y="3221736"/>
                <a:ext cx="2085158" cy="5184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AB8DF415-719B-418D-8C39-29B68DD87C1B}"/>
                  </a:ext>
                </a:extLst>
              </p:cNvPr>
              <p:cNvSpPr txBox="1"/>
              <p:nvPr/>
            </p:nvSpPr>
            <p:spPr>
              <a:xfrm>
                <a:off x="5029044" y="3788837"/>
                <a:ext cx="1289040" cy="5295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AB8DF415-719B-418D-8C39-29B68DD87C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044" y="3788837"/>
                <a:ext cx="1289040" cy="5295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8011B6DF-4CB7-4E5A-97B5-F56FEE568214}"/>
                  </a:ext>
                </a:extLst>
              </p:cNvPr>
              <p:cNvSpPr txBox="1"/>
              <p:nvPr/>
            </p:nvSpPr>
            <p:spPr>
              <a:xfrm>
                <a:off x="4948080" y="4265367"/>
                <a:ext cx="6094520" cy="14736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热机的效率</a:t>
                </a:r>
                <a:r>
                  <a:rPr lang="el-GR" altLang="zh-CN" sz="1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η</a:t>
                </a:r>
                <a:r>
                  <a:rPr lang="en-US" altLang="zh-CN" sz="1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dirty="0"/>
                  <a:t> 1-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放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吸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dirty="0"/>
                  <a:t>=1-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𝜈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CN" dirty="0"/>
                          <m:t>(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CN" dirty="0"/>
                          <m:t>− 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CN" dirty="0"/>
                          <m:t>)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𝜈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CN" dirty="0"/>
                          <m:t>(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CN" dirty="0"/>
                          <m:t>− 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CN" dirty="0"/>
                          <m:t>)</m:t>
                        </m:r>
                      </m:den>
                    </m:f>
                  </m:oMath>
                </a14:m>
                <a:r>
                  <a:rPr lang="en-US" altLang="zh-CN" dirty="0"/>
                  <a:t>=1-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CN" dirty="0"/>
                          <m:t>− 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CN" dirty="0"/>
                          <m:t>− 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dirty="0"/>
              </a:p>
              <a:p>
                <a:r>
                  <a:rPr lang="en-US" altLang="zh-CN" dirty="0"/>
                  <a:t>                    = 1-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(1−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altLang="zh-CN" dirty="0"/>
                              <m:t> 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nor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(1−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nor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altLang="zh-CN" dirty="0"/>
                  <a:t>=1-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dirty="0"/>
                  <a:t>=1-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8011B6DF-4CB7-4E5A-97B5-F56FEE568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8080" y="4265367"/>
                <a:ext cx="6094520" cy="1473609"/>
              </a:xfrm>
              <a:prstGeom prst="rect">
                <a:avLst/>
              </a:prstGeom>
              <a:blipFill>
                <a:blip r:embed="rId16"/>
                <a:stretch>
                  <a:fillRect l="-9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2B196FCA-75AE-4A99-BC7B-E74B2BB67415}"/>
              </a:ext>
            </a:extLst>
          </p:cNvPr>
          <p:cNvSpPr txBox="1"/>
          <p:nvPr/>
        </p:nvSpPr>
        <p:spPr>
          <a:xfrm>
            <a:off x="153139" y="2316355"/>
            <a:ext cx="801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9056581-B060-4F0E-A825-91257DDBF0D3}"/>
              </a:ext>
            </a:extLst>
          </p:cNvPr>
          <p:cNvSpPr txBox="1"/>
          <p:nvPr/>
        </p:nvSpPr>
        <p:spPr>
          <a:xfrm>
            <a:off x="5143460" y="5692166"/>
            <a:ext cx="11873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75D3BA1-E3E5-4D39-969D-C5C9F8C8AF89}"/>
              </a:ext>
            </a:extLst>
          </p:cNvPr>
          <p:cNvSpPr txBox="1"/>
          <p:nvPr/>
        </p:nvSpPr>
        <p:spPr>
          <a:xfrm>
            <a:off x="5737153" y="5826122"/>
            <a:ext cx="47651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卡诺循环是在两个温度恒定的热源之间的循环过程，包含两个等温过程和两个绝热过程。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DF93FB6-CB02-4E8A-9F1B-2695C6649F63}"/>
                  </a:ext>
                </a:extLst>
              </p:cNvPr>
              <p:cNvSpPr txBox="1"/>
              <p:nvPr/>
            </p:nvSpPr>
            <p:spPr>
              <a:xfrm>
                <a:off x="1381217" y="4662475"/>
                <a:ext cx="4001610" cy="7388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l-GR" altLang="zh-CN" sz="1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η</a:t>
                </a:r>
                <a:r>
                  <a:rPr lang="en-US" altLang="zh-CN" sz="1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dirty="0"/>
                  <a:t> 1-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放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吸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dirty="0"/>
                  <a:t>=1-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𝜈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CN" dirty="0"/>
                          <m:t>(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CN" dirty="0"/>
                          <m:t>− 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CN" dirty="0"/>
                          <m:t>)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𝜈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CN" dirty="0"/>
                          <m:t>(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CN" dirty="0"/>
                          <m:t>− 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CN" dirty="0"/>
                          <m:t>)</m:t>
                        </m:r>
                      </m:den>
                    </m:f>
                  </m:oMath>
                </a14:m>
                <a:r>
                  <a:rPr lang="en-US" altLang="zh-CN" dirty="0"/>
                  <a:t>=1-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CN" dirty="0"/>
                          <m:t>− 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CN" dirty="0"/>
                          <m:t>− 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DF93FB6-CB02-4E8A-9F1B-2695C6649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217" y="4662475"/>
                <a:ext cx="4001610" cy="738857"/>
              </a:xfrm>
              <a:prstGeom prst="rect">
                <a:avLst/>
              </a:prstGeom>
              <a:blipFill>
                <a:blip r:embed="rId17"/>
                <a:stretch>
                  <a:fillRect l="-13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矩形 29">
            <a:extLst>
              <a:ext uri="{FF2B5EF4-FFF2-40B4-BE49-F238E27FC236}">
                <a16:creationId xmlns:a16="http://schemas.microsoft.com/office/drawing/2014/main" id="{47FE20BF-B7F0-4AB4-8CBD-B15E8CD0DA1D}"/>
              </a:ext>
            </a:extLst>
          </p:cNvPr>
          <p:cNvSpPr/>
          <p:nvPr/>
        </p:nvSpPr>
        <p:spPr>
          <a:xfrm>
            <a:off x="978427" y="-102955"/>
            <a:ext cx="9665110" cy="2242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8.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一定量的理想气体，经历如图所示的循环过程。其中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是等压过程，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是绝热过程。已知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点温度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点温度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en-US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。 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457200" indent="-95250">
              <a:lnSpc>
                <a:spcPct val="150000"/>
              </a:lnSpc>
              <a:buAutoNum type="arabicParenBoth"/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证明该热机的效率 </a:t>
            </a:r>
            <a:r>
              <a:rPr lang="el-GR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η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1-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457200" indent="-95250">
              <a:lnSpc>
                <a:spcPct val="150000"/>
              </a:lnSpc>
              <a:buAutoNum type="arabicParenBoth"/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这个循环是卡诺循环吗?</a:t>
            </a:r>
          </a:p>
        </p:txBody>
      </p:sp>
    </p:spTree>
    <p:extLst>
      <p:ext uri="{BB962C8B-B14F-4D97-AF65-F5344CB8AC3E}">
        <p14:creationId xmlns:p14="http://schemas.microsoft.com/office/powerpoint/2010/main" val="3377118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9" grpId="0"/>
      <p:bldP spid="21" grpId="0"/>
      <p:bldP spid="22" grpId="0"/>
      <p:bldP spid="24" grpId="0"/>
      <p:bldP spid="26" grpId="0"/>
      <p:bldP spid="28" grpId="0"/>
      <p:bldP spid="29" grpId="0"/>
      <p:bldP spid="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3C5DF7C-1D1E-478E-B142-F384DAA49DEC}"/>
              </a:ext>
            </a:extLst>
          </p:cNvPr>
          <p:cNvSpPr txBox="1"/>
          <p:nvPr/>
        </p:nvSpPr>
        <p:spPr>
          <a:xfrm>
            <a:off x="756038" y="1839442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解：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B6EAAB2-68FC-4D2D-A013-6573BF7A9626}"/>
                  </a:ext>
                </a:extLst>
              </p:cNvPr>
              <p:cNvSpPr txBox="1"/>
              <p:nvPr/>
            </p:nvSpPr>
            <p:spPr>
              <a:xfrm>
                <a:off x="1381716" y="1839441"/>
                <a:ext cx="407117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/>
                  <a:t>电子的动能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B6EAAB2-68FC-4D2D-A013-6573BF7A96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716" y="1839441"/>
                <a:ext cx="4071179" cy="461665"/>
              </a:xfrm>
              <a:prstGeom prst="rect">
                <a:avLst/>
              </a:prstGeom>
              <a:blipFill>
                <a:blip r:embed="rId2"/>
                <a:stretch>
                  <a:fillRect l="-2395" t="-9333" b="-3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F760C85-0F27-49A1-8C2B-60E629057A13}"/>
                  </a:ext>
                </a:extLst>
              </p:cNvPr>
              <p:cNvSpPr txBox="1"/>
              <p:nvPr/>
            </p:nvSpPr>
            <p:spPr>
              <a:xfrm>
                <a:off x="5381418" y="1885607"/>
                <a:ext cx="109901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F760C85-0F27-49A1-8C2B-60E629057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1418" y="1885607"/>
                <a:ext cx="1099019" cy="369332"/>
              </a:xfrm>
              <a:prstGeom prst="rect">
                <a:avLst/>
              </a:prstGeom>
              <a:blipFill>
                <a:blip r:embed="rId3"/>
                <a:stretch>
                  <a:fillRect l="-1667" r="-1667"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1751EA7-DC88-4302-9DC5-A02A444F73AF}"/>
                  </a:ext>
                </a:extLst>
              </p:cNvPr>
              <p:cNvSpPr txBox="1"/>
              <p:nvPr/>
            </p:nvSpPr>
            <p:spPr>
              <a:xfrm>
                <a:off x="1454573" y="2328173"/>
                <a:ext cx="207874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2400" dirty="0"/>
                  <a:t>=2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1751EA7-DC88-4302-9DC5-A02A444F73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573" y="2328173"/>
                <a:ext cx="2078740" cy="461665"/>
              </a:xfrm>
              <a:prstGeom prst="rect">
                <a:avLst/>
              </a:prstGeom>
              <a:blipFill>
                <a:blip r:embed="rId4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8626CB9-F685-4BE4-BB5F-9C644BAA2372}"/>
                  </a:ext>
                </a:extLst>
              </p:cNvPr>
              <p:cNvSpPr txBox="1"/>
              <p:nvPr/>
            </p:nvSpPr>
            <p:spPr>
              <a:xfrm>
                <a:off x="1507241" y="2848072"/>
                <a:ext cx="1623778" cy="7952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rad>
                      </m:den>
                    </m:f>
                  </m:oMath>
                </a14:m>
                <a:r>
                  <a:rPr lang="en-US" altLang="zh-CN" sz="2400" dirty="0"/>
                  <a:t> =2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8626CB9-F685-4BE4-BB5F-9C644BAA2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241" y="2848072"/>
                <a:ext cx="1623778" cy="795282"/>
              </a:xfrm>
              <a:prstGeom prst="rect">
                <a:avLst/>
              </a:prstGeom>
              <a:blipFill>
                <a:blip r:embed="rId5"/>
                <a:stretch>
                  <a:fillRect t="-45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3DE9C54-67A3-4AC9-9B13-0FAA61C4F665}"/>
                  </a:ext>
                </a:extLst>
              </p:cNvPr>
              <p:cNvSpPr txBox="1"/>
              <p:nvPr/>
            </p:nvSpPr>
            <p:spPr>
              <a:xfrm>
                <a:off x="4003829" y="2665491"/>
                <a:ext cx="1235018" cy="7746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3DE9C54-67A3-4AC9-9B13-0FAA61C4F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3829" y="2665491"/>
                <a:ext cx="1235018" cy="7746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箭头: 右 9">
            <a:extLst>
              <a:ext uri="{FF2B5EF4-FFF2-40B4-BE49-F238E27FC236}">
                <a16:creationId xmlns:a16="http://schemas.microsoft.com/office/drawing/2014/main" id="{F0275F17-3854-496C-9A9B-AF0CA2CF2F97}"/>
              </a:ext>
            </a:extLst>
          </p:cNvPr>
          <p:cNvSpPr/>
          <p:nvPr/>
        </p:nvSpPr>
        <p:spPr>
          <a:xfrm>
            <a:off x="3233112" y="3027285"/>
            <a:ext cx="668624" cy="2396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1E7578D-F5D1-4202-8005-EABADF3CAE24}"/>
              </a:ext>
            </a:extLst>
          </p:cNvPr>
          <p:cNvSpPr txBox="1"/>
          <p:nvPr/>
        </p:nvSpPr>
        <p:spPr>
          <a:xfrm>
            <a:off x="1518224" y="389729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动量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C678B25-F156-4DB7-9DA8-3EDBD6FCF11D}"/>
                  </a:ext>
                </a:extLst>
              </p:cNvPr>
              <p:cNvSpPr txBox="1"/>
              <p:nvPr/>
            </p:nvSpPr>
            <p:spPr>
              <a:xfrm>
                <a:off x="2388135" y="3931216"/>
                <a:ext cx="3659463" cy="4041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i="1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endParaRPr lang="zh-CN" altLang="en-US" sz="2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C678B25-F156-4DB7-9DA8-3EDBD6FCF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135" y="3931216"/>
                <a:ext cx="3659463" cy="404150"/>
              </a:xfrm>
              <a:prstGeom prst="rect">
                <a:avLst/>
              </a:prstGeom>
              <a:blipFill>
                <a:blip r:embed="rId7"/>
                <a:stretch>
                  <a:fillRect t="-18182" r="-4000" b="-424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839F25D-30F5-4740-BAA6-47597399C20F}"/>
                  </a:ext>
                </a:extLst>
              </p:cNvPr>
              <p:cNvSpPr txBox="1"/>
              <p:nvPr/>
            </p:nvSpPr>
            <p:spPr>
              <a:xfrm>
                <a:off x="2663303" y="4307587"/>
                <a:ext cx="4829452" cy="4041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altLang="zh-CN" sz="2400" dirty="0"/>
                  <a:t>×9.11 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2400" dirty="0"/>
                          <m:t>10</m:t>
                        </m:r>
                      </m:e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−31</m:t>
                        </m:r>
                      </m:sup>
                    </m:sSup>
                  </m:oMath>
                </a14:m>
                <a:r>
                  <a:rPr lang="en-US" altLang="zh-CN" sz="2400" dirty="0"/>
                  <a:t>× 3×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2400" dirty="0"/>
                          <m:t>10</m:t>
                        </m:r>
                      </m:e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839F25D-30F5-4740-BAA6-47597399C2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3303" y="4307587"/>
                <a:ext cx="4829452" cy="404150"/>
              </a:xfrm>
              <a:prstGeom prst="rect">
                <a:avLst/>
              </a:prstGeom>
              <a:blipFill>
                <a:blip r:embed="rId8"/>
                <a:stretch>
                  <a:fillRect t="-13636" b="-469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E33FA13-2A18-4D25-8283-1481132EAD5D}"/>
                  </a:ext>
                </a:extLst>
              </p:cNvPr>
              <p:cNvSpPr txBox="1"/>
              <p:nvPr/>
            </p:nvSpPr>
            <p:spPr>
              <a:xfrm>
                <a:off x="2591080" y="4725401"/>
                <a:ext cx="60945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.73</m:t>
                    </m:r>
                    <m:r>
                      <m:rPr>
                        <m:nor/>
                      </m:rPr>
                      <a:rPr lang="en-US" altLang="zh-CN" sz="2400" dirty="0"/>
                      <m:t>×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2400" dirty="0"/>
                          <m:t>10</m:t>
                        </m:r>
                      </m:e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</m:oMath>
                </a14:m>
                <a:r>
                  <a:rPr lang="zh-CN" altLang="en-US" sz="2400" dirty="0"/>
                  <a:t> </a:t>
                </a:r>
                <a:r>
                  <a:rPr lang="en-US" altLang="zh-CN" sz="2400" dirty="0"/>
                  <a:t>N.S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E33FA13-2A18-4D25-8283-1481132EA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080" y="4725401"/>
                <a:ext cx="6094520" cy="461665"/>
              </a:xfrm>
              <a:prstGeom prst="rect">
                <a:avLst/>
              </a:prstGeom>
              <a:blipFill>
                <a:blip r:embed="rId9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4ABBDF6-BE85-436A-B438-8DF182635AB5}"/>
                  </a:ext>
                </a:extLst>
              </p:cNvPr>
              <p:cNvSpPr txBox="1"/>
              <p:nvPr/>
            </p:nvSpPr>
            <p:spPr>
              <a:xfrm>
                <a:off x="2520060" y="5207014"/>
                <a:ext cx="4060920" cy="5981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sz="24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</m:oMath>
                </a14:m>
                <a:r>
                  <a:rPr lang="en-US" altLang="zh-CN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6.6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en-US" altLang="zh-CN" sz="2400" dirty="0"/>
                          <m:t>×</m:t>
                        </m:r>
                        <m:sSup>
                          <m:sSup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altLang="zh-CN" sz="2400" dirty="0"/>
                              <m:t>10</m:t>
                            </m:r>
                          </m:e>
                          <m:sup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34</m:t>
                            </m:r>
                          </m:sup>
                        </m:sSup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4.73</m:t>
                        </m:r>
                        <m:r>
                          <m:rPr>
                            <m:nor/>
                          </m:rPr>
                          <a:rPr lang="en-US" altLang="zh-CN" sz="2400" dirty="0"/>
                          <m:t>×</m:t>
                        </m:r>
                        <m:sSup>
                          <m:sSup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altLang="zh-CN" sz="2400" dirty="0"/>
                              <m:t>10</m:t>
                            </m:r>
                          </m:e>
                          <m:sup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−22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400" dirty="0"/>
                  <a:t>= 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1.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dirty="0" smtClean="0"/>
                      <m:t>×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2400" dirty="0"/>
                          <m:t>10</m:t>
                        </m:r>
                      </m:e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/>
                  <a:t>m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4ABBDF6-BE85-436A-B438-8DF182635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0060" y="5207014"/>
                <a:ext cx="4060920" cy="598112"/>
              </a:xfrm>
              <a:prstGeom prst="rect">
                <a:avLst/>
              </a:prstGeom>
              <a:blipFill>
                <a:blip r:embed="rId10"/>
                <a:stretch>
                  <a:fillRect l="-450" r="-3748" b="-173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D67118B5-23BF-4553-B595-158A7237C1ED}"/>
              </a:ext>
            </a:extLst>
          </p:cNvPr>
          <p:cNvSpPr txBox="1"/>
          <p:nvPr/>
        </p:nvSpPr>
        <p:spPr>
          <a:xfrm>
            <a:off x="1527100" y="530466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波长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2E92033-72A2-428F-9BA6-C29306832C1E}"/>
              </a:ext>
            </a:extLst>
          </p:cNvPr>
          <p:cNvSpPr/>
          <p:nvPr/>
        </p:nvSpPr>
        <p:spPr>
          <a:xfrm>
            <a:off x="756038" y="213490"/>
            <a:ext cx="10180462" cy="1134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9. 若一个电子的动能等于它的静能，试求:该电子的动量、速度、德布罗意波长。</a:t>
            </a:r>
          </a:p>
        </p:txBody>
      </p:sp>
    </p:spTree>
    <p:extLst>
      <p:ext uri="{BB962C8B-B14F-4D97-AF65-F5344CB8AC3E}">
        <p14:creationId xmlns:p14="http://schemas.microsoft.com/office/powerpoint/2010/main" val="2170755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8" grpId="0"/>
      <p:bldP spid="9" grpId="0"/>
      <p:bldP spid="10" grpId="0" animBg="1"/>
      <p:bldP spid="11" grpId="0"/>
      <p:bldP spid="12" grpId="0"/>
      <p:bldP spid="13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03909" y="208637"/>
            <a:ext cx="3967753" cy="4301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10. 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已知一维运动粒子的波函数为</a:t>
            </a:r>
          </a:p>
        </p:txBody>
      </p:sp>
      <p:sp>
        <p:nvSpPr>
          <p:cNvPr id="3" name="矩形 2"/>
          <p:cNvSpPr/>
          <p:nvPr/>
        </p:nvSpPr>
        <p:spPr>
          <a:xfrm>
            <a:off x="1320162" y="638819"/>
            <a:ext cx="8972100" cy="1884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式中</a:t>
            </a:r>
            <a:r>
              <a:rPr lang="el-GR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λ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&gt;0,试求: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 归一化常数A和归一化波函数;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 该粒子位置坐标的概率分布函数(又称概率密度);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  在何处找到粒子的概率最大。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66984" y="329304"/>
            <a:ext cx="3704854" cy="97442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13429A1-8424-4C70-8054-73D23B778B15}"/>
              </a:ext>
            </a:extLst>
          </p:cNvPr>
          <p:cNvSpPr txBox="1"/>
          <p:nvPr/>
        </p:nvSpPr>
        <p:spPr>
          <a:xfrm>
            <a:off x="340199" y="2528149"/>
            <a:ext cx="1662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解： （</a:t>
            </a:r>
            <a:r>
              <a:rPr lang="en-US" altLang="zh-CN" sz="2400" dirty="0"/>
              <a:t>1</a:t>
            </a:r>
            <a:r>
              <a:rPr lang="zh-CN" altLang="en-US" sz="2400" dirty="0"/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ACDED92-F0CF-494B-AB44-B0CA160D1DB6}"/>
              </a:ext>
            </a:extLst>
          </p:cNvPr>
          <p:cNvSpPr txBox="1"/>
          <p:nvPr/>
        </p:nvSpPr>
        <p:spPr>
          <a:xfrm>
            <a:off x="1869390" y="2526433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归一化条件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297AB61-F643-4E34-8146-164ACB11DB0E}"/>
                  </a:ext>
                </a:extLst>
              </p:cNvPr>
              <p:cNvSpPr txBox="1"/>
              <p:nvPr/>
            </p:nvSpPr>
            <p:spPr>
              <a:xfrm>
                <a:off x="1725909" y="3029739"/>
                <a:ext cx="2854115" cy="7968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brk m:alnAt="23"/>
                            </m:rP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l-GR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Ψ</m:t>
                              </m:r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（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）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297AB61-F643-4E34-8146-164ACB11D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909" y="3029739"/>
                <a:ext cx="2854115" cy="7968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69C3BDD-17B0-4B3E-9973-22E9942C6F42}"/>
                  </a:ext>
                </a:extLst>
              </p:cNvPr>
              <p:cNvSpPr txBox="1"/>
              <p:nvPr/>
            </p:nvSpPr>
            <p:spPr>
              <a:xfrm>
                <a:off x="1695804" y="3867610"/>
                <a:ext cx="2864310" cy="7991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zh-CN" altLang="en-US" sz="2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69C3BDD-17B0-4B3E-9973-22E9942C6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5804" y="3867610"/>
                <a:ext cx="2864310" cy="7991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43364A6-5A7E-4C76-AFDD-F56EBD7E4C0B}"/>
                  </a:ext>
                </a:extLst>
              </p:cNvPr>
              <p:cNvSpPr txBox="1"/>
              <p:nvPr/>
            </p:nvSpPr>
            <p:spPr>
              <a:xfrm>
                <a:off x="1869390" y="4620787"/>
                <a:ext cx="849976" cy="5053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sz="2400" dirty="0"/>
                  <a:t>A=2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43364A6-5A7E-4C76-AFDD-F56EBD7E4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390" y="4620787"/>
                <a:ext cx="849976" cy="505331"/>
              </a:xfrm>
              <a:prstGeom prst="rect">
                <a:avLst/>
              </a:prstGeom>
              <a:blipFill>
                <a:blip r:embed="rId5"/>
                <a:stretch>
                  <a:fillRect l="-22302" b="-373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E3EB84E-AE4B-412E-A3C1-6DE406BE8720}"/>
                  </a:ext>
                </a:extLst>
              </p:cNvPr>
              <p:cNvSpPr txBox="1"/>
              <p:nvPr/>
            </p:nvSpPr>
            <p:spPr>
              <a:xfrm>
                <a:off x="746119" y="5170924"/>
                <a:ext cx="4952213" cy="1051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Ψ</m:t>
                      </m:r>
                      <m:d>
                        <m:dPr>
                          <m:begChr m:val="（"/>
                          <m:endChr m:val="）"/>
                          <m:ctrlPr>
                            <a:rPr lang="zh-CN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lang="en-US" altLang="zh-CN" sz="2400" dirty="0"/>
                                <m:t>2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              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0                             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E3EB84E-AE4B-412E-A3C1-6DE406BE8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119" y="5170924"/>
                <a:ext cx="4952213" cy="10515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2C99F9E6-718A-4F3E-BB78-1991B72ACE6A}"/>
              </a:ext>
            </a:extLst>
          </p:cNvPr>
          <p:cNvSpPr txBox="1"/>
          <p:nvPr/>
        </p:nvSpPr>
        <p:spPr>
          <a:xfrm>
            <a:off x="5160146" y="2496382"/>
            <a:ext cx="7967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E70E354-8AD8-42AF-9834-15542DEF90AD}"/>
                  </a:ext>
                </a:extLst>
              </p:cNvPr>
              <p:cNvSpPr txBox="1"/>
              <p:nvPr/>
            </p:nvSpPr>
            <p:spPr>
              <a:xfrm>
                <a:off x="5972151" y="2296611"/>
                <a:ext cx="6094520" cy="916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l-GR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Ψ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（</m:t>
                        </m:r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）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nor/>
                              </m:rPr>
                              <a:rPr lang="en-US" altLang="zh-CN" sz="2400" b="0" i="0" dirty="0" smtClean="0"/>
                              <m:t>4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         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≥0</m:t>
                            </m:r>
                          </m:e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0                             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</m:eqArr>
                      </m:e>
                    </m:d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E70E354-8AD8-42AF-9834-15542DEF9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2151" y="2296611"/>
                <a:ext cx="6094520" cy="91614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BF2CA610-704D-4744-BB28-0348FD439CA9}"/>
              </a:ext>
            </a:extLst>
          </p:cNvPr>
          <p:cNvSpPr txBox="1"/>
          <p:nvPr/>
        </p:nvSpPr>
        <p:spPr>
          <a:xfrm>
            <a:off x="5143867" y="3527671"/>
            <a:ext cx="7967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02F7BE9-0A27-46DC-B9C7-DB4270CE5A30}"/>
                  </a:ext>
                </a:extLst>
              </p:cNvPr>
              <p:cNvSpPr txBox="1"/>
              <p:nvPr/>
            </p:nvSpPr>
            <p:spPr>
              <a:xfrm>
                <a:off x="6078808" y="3428149"/>
                <a:ext cx="4777846" cy="5319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𝑑𝑤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US" altLang="zh-CN" sz="2400" dirty="0"/>
                  <a:t>=0</a:t>
                </a:r>
                <a:r>
                  <a:rPr lang="zh-CN" altLang="en-US" sz="2400" dirty="0"/>
                  <a:t>时，</a:t>
                </a:r>
                <a:r>
                  <a:rPr lang="el-GR" altLang="zh-CN" sz="2400" dirty="0"/>
                  <a:t>8λ</a:t>
                </a:r>
                <a:r>
                  <a:rPr lang="el-GR" altLang="zh-CN" sz="2400" baseline="30000" dirty="0"/>
                  <a:t>3</a:t>
                </a:r>
                <a:r>
                  <a:rPr lang="el-GR" altLang="zh-CN" sz="2400" dirty="0"/>
                  <a:t> </a:t>
                </a:r>
                <a:r>
                  <a:rPr lang="en-US" altLang="zh-CN" sz="2400" dirty="0"/>
                  <a:t>xe</a:t>
                </a:r>
                <a:r>
                  <a:rPr lang="en-US" altLang="zh-CN" sz="2400" baseline="30000" dirty="0"/>
                  <a:t>−2</a:t>
                </a:r>
                <a:r>
                  <a:rPr lang="el-GR" altLang="zh-CN" sz="2400" baseline="30000" dirty="0"/>
                  <a:t>λ</a:t>
                </a:r>
                <a:r>
                  <a:rPr lang="en-US" altLang="zh-CN" sz="2400" baseline="30000" dirty="0"/>
                  <a:t>x </a:t>
                </a:r>
                <a:r>
                  <a:rPr lang="en-US" altLang="zh-CN" sz="2400" dirty="0"/>
                  <a:t>(1−</a:t>
                </a:r>
                <a:r>
                  <a:rPr lang="el-GR" altLang="zh-CN" sz="2400" dirty="0"/>
                  <a:t>λ</a:t>
                </a:r>
                <a:r>
                  <a:rPr lang="en-US" altLang="zh-CN" sz="2400" dirty="0"/>
                  <a:t>x)=0</a:t>
                </a:r>
                <a:r>
                  <a:rPr lang="zh-CN" altLang="en-US" sz="2400" dirty="0"/>
                  <a:t>取极值</a:t>
                </a: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02F7BE9-0A27-46DC-B9C7-DB4270CE5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8808" y="3428149"/>
                <a:ext cx="4777846" cy="531940"/>
              </a:xfrm>
              <a:prstGeom prst="rect">
                <a:avLst/>
              </a:prstGeom>
              <a:blipFill>
                <a:blip r:embed="rId8"/>
                <a:stretch>
                  <a:fillRect t="-2273" r="-2934" b="-20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箭头: 右 17">
            <a:extLst>
              <a:ext uri="{FF2B5EF4-FFF2-40B4-BE49-F238E27FC236}">
                <a16:creationId xmlns:a16="http://schemas.microsoft.com/office/drawing/2014/main" id="{B9E0EAA6-6514-4D21-B01A-2BD1A36739FB}"/>
              </a:ext>
            </a:extLst>
          </p:cNvPr>
          <p:cNvSpPr/>
          <p:nvPr/>
        </p:nvSpPr>
        <p:spPr>
          <a:xfrm>
            <a:off x="5526517" y="4151765"/>
            <a:ext cx="647854" cy="2308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925648B-2E8A-4BEA-9066-38500EC18429}"/>
                  </a:ext>
                </a:extLst>
              </p:cNvPr>
              <p:cNvSpPr txBox="1"/>
              <p:nvPr/>
            </p:nvSpPr>
            <p:spPr>
              <a:xfrm>
                <a:off x="6665484" y="4037247"/>
                <a:ext cx="148162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US" altLang="zh-CN" sz="24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altLang="zh-CN" sz="2400" dirty="0"/>
                  <a:t>(1-x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sz="2400" dirty="0"/>
                  <a:t>)=0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925648B-2E8A-4BEA-9066-38500EC18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5484" y="4037247"/>
                <a:ext cx="1481624" cy="369332"/>
              </a:xfrm>
              <a:prstGeom prst="rect">
                <a:avLst/>
              </a:prstGeom>
              <a:blipFill>
                <a:blip r:embed="rId9"/>
                <a:stretch>
                  <a:fillRect l="-6996" t="-22951" r="-11934" b="-508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B4CB0F92-7C84-4D32-88C6-9D5DB7CBB64B}"/>
                  </a:ext>
                </a:extLst>
              </p:cNvPr>
              <p:cNvSpPr txBox="1"/>
              <p:nvPr/>
            </p:nvSpPr>
            <p:spPr>
              <a:xfrm>
                <a:off x="5956917" y="4429832"/>
                <a:ext cx="2726837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=0(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舍去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或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B4CB0F92-7C84-4D32-88C6-9D5DB7CBB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917" y="4429832"/>
                <a:ext cx="2726837" cy="6938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79D86C0-062D-441D-BF39-1D91F90DAFE6}"/>
                  </a:ext>
                </a:extLst>
              </p:cNvPr>
              <p:cNvSpPr txBox="1"/>
              <p:nvPr/>
            </p:nvSpPr>
            <p:spPr>
              <a:xfrm>
                <a:off x="5940638" y="5170924"/>
                <a:ext cx="4088748" cy="5427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l-GR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Ψ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（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）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lang="en-US" altLang="zh-CN" sz="2400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l-GR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Ψ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（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den>
                        </m:f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）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79D86C0-062D-441D-BF39-1D91F90DA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0638" y="5170924"/>
                <a:ext cx="4088748" cy="542713"/>
              </a:xfrm>
              <a:prstGeom prst="rect">
                <a:avLst/>
              </a:prstGeom>
              <a:blipFill>
                <a:blip r:embed="rId11"/>
                <a:stretch>
                  <a:fillRect b="-21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4588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1" grpId="0"/>
      <p:bldP spid="13" grpId="0"/>
      <p:bldP spid="16" grpId="0"/>
      <p:bldP spid="17" grpId="0"/>
      <p:bldP spid="18" grpId="0" animBg="1"/>
      <p:bldP spid="19" grpId="0"/>
      <p:bldP spid="20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5623" y="237971"/>
            <a:ext cx="10169848" cy="1688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11. 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试证在光电效应过程中必须有第三者原子核参加。(可把光电效应过程假设为只有光子与静止的自由电子参加，没有第三者原子核参加，光子与电子作用后消失，产生光电子。)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C68D5CA-FA80-44D4-890A-AFB4CD8190B2}"/>
              </a:ext>
            </a:extLst>
          </p:cNvPr>
          <p:cNvSpPr txBox="1"/>
          <p:nvPr/>
        </p:nvSpPr>
        <p:spPr>
          <a:xfrm>
            <a:off x="313495" y="2132401"/>
            <a:ext cx="117262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假设只有光子与静止的自由电子作用，没有第三者原子核参加，光子与电子作用后消失，产生光电子。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EC0B468-B3B7-4AB0-97F9-7CBDC4BB590A}"/>
                  </a:ext>
                </a:extLst>
              </p:cNvPr>
              <p:cNvSpPr txBox="1"/>
              <p:nvPr/>
            </p:nvSpPr>
            <p:spPr>
              <a:xfrm>
                <a:off x="2631250" y="2538530"/>
                <a:ext cx="1104405" cy="5260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光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子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EC0B468-B3B7-4AB0-97F9-7CBDC4BB5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250" y="2538530"/>
                <a:ext cx="1104405" cy="5260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252B070-3684-415E-9AEA-F3BAEF4792B3}"/>
                  </a:ext>
                </a:extLst>
              </p:cNvPr>
              <p:cNvSpPr txBox="1"/>
              <p:nvPr/>
            </p:nvSpPr>
            <p:spPr>
              <a:xfrm>
                <a:off x="5030591" y="2565962"/>
                <a:ext cx="1531398" cy="4378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光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子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𝜈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252B070-3684-415E-9AEA-F3BAEF479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0591" y="2565962"/>
                <a:ext cx="1531398" cy="437877"/>
              </a:xfrm>
              <a:prstGeom prst="rect">
                <a:avLst/>
              </a:prstGeom>
              <a:blipFill>
                <a:blip r:embed="rId3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4FF8CED-DF0F-4BBA-8AF0-0B80A6C92B26}"/>
                  </a:ext>
                </a:extLst>
              </p:cNvPr>
              <p:cNvSpPr txBox="1"/>
              <p:nvPr/>
            </p:nvSpPr>
            <p:spPr>
              <a:xfrm>
                <a:off x="2631250" y="3101474"/>
                <a:ext cx="1106007" cy="3483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电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子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4FF8CED-DF0F-4BBA-8AF0-0B80A6C92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250" y="3101474"/>
                <a:ext cx="1106007" cy="348365"/>
              </a:xfrm>
              <a:prstGeom prst="rect">
                <a:avLst/>
              </a:prstGeom>
              <a:blipFill>
                <a:blip r:embed="rId4"/>
                <a:stretch>
                  <a:fillRect l="-4420" r="-4420" b="-315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F961F1C-6839-4536-A300-A300B0E68BB5}"/>
                  </a:ext>
                </a:extLst>
              </p:cNvPr>
              <p:cNvSpPr txBox="1"/>
              <p:nvPr/>
            </p:nvSpPr>
            <p:spPr>
              <a:xfrm>
                <a:off x="5032069" y="3073468"/>
                <a:ext cx="1822883" cy="4462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电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子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F961F1C-6839-4536-A300-A300B0E68B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069" y="3073468"/>
                <a:ext cx="1822883" cy="446212"/>
              </a:xfrm>
              <a:prstGeom prst="rect">
                <a:avLst/>
              </a:prstGeom>
              <a:blipFill>
                <a:blip r:embed="rId5"/>
                <a:stretch>
                  <a:fillRect b="-150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8DC5A8A-42DD-4E6D-87DC-47F260AFCF18}"/>
                  </a:ext>
                </a:extLst>
              </p:cNvPr>
              <p:cNvSpPr txBox="1"/>
              <p:nvPr/>
            </p:nvSpPr>
            <p:spPr>
              <a:xfrm>
                <a:off x="2665128" y="3636987"/>
                <a:ext cx="1445845" cy="3483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光电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子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i="1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altLang="zh-CN" dirty="0"/>
                  <a:t>v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8DC5A8A-42DD-4E6D-87DC-47F260AFC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5128" y="3636987"/>
                <a:ext cx="1445845" cy="348365"/>
              </a:xfrm>
              <a:prstGeom prst="rect">
                <a:avLst/>
              </a:prstGeom>
              <a:blipFill>
                <a:blip r:embed="rId6"/>
                <a:stretch>
                  <a:fillRect l="-5485" t="-21053" r="-9283" b="-315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6250BB2-6046-4469-8641-4654C8630281}"/>
                  </a:ext>
                </a:extLst>
              </p:cNvPr>
              <p:cNvSpPr txBox="1"/>
              <p:nvPr/>
            </p:nvSpPr>
            <p:spPr>
              <a:xfrm>
                <a:off x="4691019" y="3539140"/>
                <a:ext cx="2504982" cy="4462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光电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子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6250BB2-6046-4469-8641-4654C86302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1019" y="3539140"/>
                <a:ext cx="2504982" cy="446212"/>
              </a:xfrm>
              <a:prstGeom prst="rect">
                <a:avLst/>
              </a:prstGeom>
              <a:blipFill>
                <a:blip r:embed="rId7"/>
                <a:stretch>
                  <a:fillRect b="-150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AE2E8746-73D0-4FB7-984B-7ABCC2E0920F}"/>
              </a:ext>
            </a:extLst>
          </p:cNvPr>
          <p:cNvSpPr txBox="1"/>
          <p:nvPr/>
        </p:nvSpPr>
        <p:spPr>
          <a:xfrm>
            <a:off x="843815" y="434649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动量守恒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CD01708-636D-42C8-94DB-57875E3BEFCE}"/>
              </a:ext>
            </a:extLst>
          </p:cNvPr>
          <p:cNvSpPr txBox="1"/>
          <p:nvPr/>
        </p:nvSpPr>
        <p:spPr>
          <a:xfrm>
            <a:off x="843815" y="479132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能量守恒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CF08B7F-6A09-40A8-A763-3BC92213DCB6}"/>
                  </a:ext>
                </a:extLst>
              </p:cNvPr>
              <p:cNvSpPr txBox="1"/>
              <p:nvPr/>
            </p:nvSpPr>
            <p:spPr>
              <a:xfrm>
                <a:off x="2177958" y="4262537"/>
                <a:ext cx="1625946" cy="498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r>
                  <a:rPr lang="en-US" altLang="zh-CN" dirty="0"/>
                  <a:t>+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0=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en-US" altLang="zh-CN" dirty="0"/>
                      <m:t>v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CF08B7F-6A09-40A8-A763-3BC92213D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7958" y="4262537"/>
                <a:ext cx="1625946" cy="498983"/>
              </a:xfrm>
              <a:prstGeom prst="rect">
                <a:avLst/>
              </a:prstGeom>
              <a:blipFill>
                <a:blip r:embed="rId8"/>
                <a:stretch>
                  <a:fillRect b="-73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5383097-1AD4-41E7-A704-FA5C9F422851}"/>
                  </a:ext>
                </a:extLst>
              </p:cNvPr>
              <p:cNvSpPr txBox="1"/>
              <p:nvPr/>
            </p:nvSpPr>
            <p:spPr>
              <a:xfrm>
                <a:off x="2177958" y="4782972"/>
                <a:ext cx="22920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5383097-1AD4-41E7-A704-FA5C9F422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7958" y="4782972"/>
                <a:ext cx="229209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1B4CF1C-A802-4915-8704-5DA5C3FBCBD5}"/>
                  </a:ext>
                </a:extLst>
              </p:cNvPr>
              <p:cNvSpPr txBox="1"/>
              <p:nvPr/>
            </p:nvSpPr>
            <p:spPr>
              <a:xfrm>
                <a:off x="7238843" y="2980884"/>
                <a:ext cx="1740833" cy="7952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2400" dirty="0"/>
                  <a:t>m=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rad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1B4CF1C-A802-4915-8704-5DA5C3FBC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8843" y="2980884"/>
                <a:ext cx="1740833" cy="795282"/>
              </a:xfrm>
              <a:prstGeom prst="rect">
                <a:avLst/>
              </a:prstGeom>
              <a:blipFill>
                <a:blip r:embed="rId10"/>
                <a:stretch>
                  <a:fillRect l="-10490" t="-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箭头: 右 17">
            <a:extLst>
              <a:ext uri="{FF2B5EF4-FFF2-40B4-BE49-F238E27FC236}">
                <a16:creationId xmlns:a16="http://schemas.microsoft.com/office/drawing/2014/main" id="{4A9CA945-3AAD-48F6-8CB9-64647C5B9B16}"/>
              </a:ext>
            </a:extLst>
          </p:cNvPr>
          <p:cNvSpPr/>
          <p:nvPr/>
        </p:nvSpPr>
        <p:spPr>
          <a:xfrm>
            <a:off x="4206240" y="4901184"/>
            <a:ext cx="731520" cy="1554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5C09AC7-0FD0-4310-A7E3-2518A4680880}"/>
                  </a:ext>
                </a:extLst>
              </p:cNvPr>
              <p:cNvSpPr txBox="1"/>
              <p:nvPr/>
            </p:nvSpPr>
            <p:spPr>
              <a:xfrm>
                <a:off x="5030591" y="4748922"/>
                <a:ext cx="2292096" cy="498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5C09AC7-0FD0-4310-A7E3-2518A4680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0591" y="4748922"/>
                <a:ext cx="2292096" cy="498663"/>
              </a:xfrm>
              <a:prstGeom prst="rect">
                <a:avLst/>
              </a:prstGeom>
              <a:blipFill>
                <a:blip r:embed="rId11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箭头: 右 19">
            <a:extLst>
              <a:ext uri="{FF2B5EF4-FFF2-40B4-BE49-F238E27FC236}">
                <a16:creationId xmlns:a16="http://schemas.microsoft.com/office/drawing/2014/main" id="{A49EBA68-A7DA-4A23-98BE-B4EE53230603}"/>
              </a:ext>
            </a:extLst>
          </p:cNvPr>
          <p:cNvSpPr/>
          <p:nvPr/>
        </p:nvSpPr>
        <p:spPr>
          <a:xfrm>
            <a:off x="7028688" y="4888992"/>
            <a:ext cx="731520" cy="1554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83C68004-DF63-41B1-947B-FE5360B7E4D6}"/>
                  </a:ext>
                </a:extLst>
              </p:cNvPr>
              <p:cNvSpPr txBox="1"/>
              <p:nvPr/>
            </p:nvSpPr>
            <p:spPr>
              <a:xfrm>
                <a:off x="7981055" y="4718442"/>
                <a:ext cx="2292096" cy="498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/>
                    </m:sSup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/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83C68004-DF63-41B1-947B-FE5360B7E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055" y="4718442"/>
                <a:ext cx="2292096" cy="498663"/>
              </a:xfrm>
              <a:prstGeom prst="rect">
                <a:avLst/>
              </a:prstGeom>
              <a:blipFill>
                <a:blip r:embed="rId12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8B9FB85-E7D7-44E1-BDD8-9AE5B29D51D9}"/>
                  </a:ext>
                </a:extLst>
              </p:cNvPr>
              <p:cNvSpPr txBox="1"/>
              <p:nvPr/>
            </p:nvSpPr>
            <p:spPr>
              <a:xfrm>
                <a:off x="2162423" y="5218314"/>
                <a:ext cx="2292096" cy="392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/>
                    </m:sSup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/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8B9FB85-E7D7-44E1-BDD8-9AE5B29D5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2423" y="5218314"/>
                <a:ext cx="2292096" cy="39299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箭头: 右 22">
            <a:extLst>
              <a:ext uri="{FF2B5EF4-FFF2-40B4-BE49-F238E27FC236}">
                <a16:creationId xmlns:a16="http://schemas.microsoft.com/office/drawing/2014/main" id="{3398D01C-E9BB-449F-992D-F266510EC519}"/>
              </a:ext>
            </a:extLst>
          </p:cNvPr>
          <p:cNvSpPr/>
          <p:nvPr/>
        </p:nvSpPr>
        <p:spPr>
          <a:xfrm>
            <a:off x="1377696" y="5382768"/>
            <a:ext cx="731520" cy="1554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ED023E72-7F42-4430-A0A4-F22839CEE4A1}"/>
                  </a:ext>
                </a:extLst>
              </p:cNvPr>
              <p:cNvSpPr txBox="1"/>
              <p:nvPr/>
            </p:nvSpPr>
            <p:spPr>
              <a:xfrm>
                <a:off x="5241665" y="5266011"/>
                <a:ext cx="3284353" cy="392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/>
                    </m:sSup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</m:d>
                      </m:e>
                      <m:sup/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ED023E72-7F42-4430-A0A4-F22839CEE4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665" y="5266011"/>
                <a:ext cx="3284353" cy="39299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箭头: 右 26">
            <a:extLst>
              <a:ext uri="{FF2B5EF4-FFF2-40B4-BE49-F238E27FC236}">
                <a16:creationId xmlns:a16="http://schemas.microsoft.com/office/drawing/2014/main" id="{0DC6B73A-156E-42C0-AA96-160D7A386FBB}"/>
              </a:ext>
            </a:extLst>
          </p:cNvPr>
          <p:cNvSpPr/>
          <p:nvPr/>
        </p:nvSpPr>
        <p:spPr>
          <a:xfrm>
            <a:off x="4450843" y="5398008"/>
            <a:ext cx="731520" cy="1554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8B066C3E-1A0B-4D32-87A6-52C278875428}"/>
              </a:ext>
            </a:extLst>
          </p:cNvPr>
          <p:cNvSpPr/>
          <p:nvPr/>
        </p:nvSpPr>
        <p:spPr>
          <a:xfrm>
            <a:off x="1353312" y="5843016"/>
            <a:ext cx="731520" cy="1554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BA2454B2-0E21-46DD-8DF8-56961ECB276E}"/>
                  </a:ext>
                </a:extLst>
              </p:cNvPr>
              <p:cNvSpPr txBox="1"/>
              <p:nvPr/>
            </p:nvSpPr>
            <p:spPr>
              <a:xfrm>
                <a:off x="2180710" y="5701875"/>
                <a:ext cx="3516002" cy="7550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/>
                    </m:sSup>
                  </m:oMath>
                </a14:m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 sz="2000" dirty="0"/>
                      <m:t>= </m:t>
                    </m:r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rad>
                      </m:den>
                    </m:f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</m:d>
                      </m:e>
                      <m:sup/>
                    </m:sSup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BA2454B2-0E21-46DD-8DF8-56961ECB2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0710" y="5701875"/>
                <a:ext cx="3516002" cy="75507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FCC3A760-B190-4062-B96E-4FD547252A91}"/>
                  </a:ext>
                </a:extLst>
              </p:cNvPr>
              <p:cNvSpPr txBox="1"/>
              <p:nvPr/>
            </p:nvSpPr>
            <p:spPr>
              <a:xfrm>
                <a:off x="5362496" y="5815584"/>
                <a:ext cx="1654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𝜈</m:t>
                      </m:r>
                      <m:r>
                        <m:rPr>
                          <m:nor/>
                        </m:rP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FCC3A760-B190-4062-B96E-4FD547252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496" y="5815584"/>
                <a:ext cx="165400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本框 31">
            <a:extLst>
              <a:ext uri="{FF2B5EF4-FFF2-40B4-BE49-F238E27FC236}">
                <a16:creationId xmlns:a16="http://schemas.microsoft.com/office/drawing/2014/main" id="{DC9EB684-8B97-4CAC-9B3D-DD33589E2067}"/>
              </a:ext>
            </a:extLst>
          </p:cNvPr>
          <p:cNvSpPr txBox="1"/>
          <p:nvPr/>
        </p:nvSpPr>
        <p:spPr>
          <a:xfrm>
            <a:off x="6088004" y="5815584"/>
            <a:ext cx="1672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违反相对论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EE34102-8499-48A9-BCD1-B2937D9AEC0F}"/>
              </a:ext>
            </a:extLst>
          </p:cNvPr>
          <p:cNvSpPr txBox="1"/>
          <p:nvPr/>
        </p:nvSpPr>
        <p:spPr>
          <a:xfrm>
            <a:off x="7981055" y="5861750"/>
            <a:ext cx="3639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若没有</a:t>
            </a:r>
            <a:r>
              <a: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第三者原子核参加，无法同时满足动量守恒和能量守恒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E268381-134B-4163-82DD-DBD84FDD4DB7}"/>
              </a:ext>
            </a:extLst>
          </p:cNvPr>
          <p:cNvSpPr txBox="1"/>
          <p:nvPr/>
        </p:nvSpPr>
        <p:spPr>
          <a:xfrm>
            <a:off x="1704883" y="2888802"/>
            <a:ext cx="960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碰撞前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73725DC-7247-4C39-A72E-C408EE809838}"/>
              </a:ext>
            </a:extLst>
          </p:cNvPr>
          <p:cNvSpPr txBox="1"/>
          <p:nvPr/>
        </p:nvSpPr>
        <p:spPr>
          <a:xfrm>
            <a:off x="1697835" y="3649918"/>
            <a:ext cx="960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碰撞后</a:t>
            </a:r>
          </a:p>
        </p:txBody>
      </p:sp>
    </p:spTree>
    <p:extLst>
      <p:ext uri="{BB962C8B-B14F-4D97-AF65-F5344CB8AC3E}">
        <p14:creationId xmlns:p14="http://schemas.microsoft.com/office/powerpoint/2010/main" val="1292591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4" grpId="0"/>
      <p:bldP spid="16" grpId="0"/>
      <p:bldP spid="17" grpId="0"/>
      <p:bldP spid="18" grpId="0" animBg="1"/>
      <p:bldP spid="19" grpId="0"/>
      <p:bldP spid="20" grpId="0" animBg="1"/>
      <p:bldP spid="21" grpId="0"/>
      <p:bldP spid="22" grpId="0"/>
      <p:bldP spid="23" grpId="0" animBg="1"/>
      <p:bldP spid="26" grpId="0"/>
      <p:bldP spid="27" grpId="0" animBg="1"/>
      <p:bldP spid="28" grpId="0" animBg="1"/>
      <p:bldP spid="29" grpId="0"/>
      <p:bldP spid="31" grpId="0"/>
      <p:bldP spid="32" grpId="0"/>
      <p:bldP spid="33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2103</TotalTime>
  <Words>2189</Words>
  <Application>Microsoft Office PowerPoint</Application>
  <PresentationFormat>宽屏</PresentationFormat>
  <Paragraphs>224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等线</vt:lpstr>
      <vt:lpstr>等线 Light</vt:lpstr>
      <vt:lpstr>华文中宋</vt:lpstr>
      <vt:lpstr>微软雅黑</vt:lpstr>
      <vt:lpstr>Arial</vt:lpstr>
      <vt:lpstr>Cambria Math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一生有你</dc:creator>
  <cp:lastModifiedBy>yzhang</cp:lastModifiedBy>
  <cp:revision>90</cp:revision>
  <cp:lastPrinted>2025-12-23T02:44:57Z</cp:lastPrinted>
  <dcterms:created xsi:type="dcterms:W3CDTF">2018-12-06T11:50:11Z</dcterms:created>
  <dcterms:modified xsi:type="dcterms:W3CDTF">2025-12-23T09:49:17Z</dcterms:modified>
</cp:coreProperties>
</file>