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  <p:sldId id="301" r:id="rId4"/>
    <p:sldId id="300" r:id="rId5"/>
    <p:sldId id="261" r:id="rId6"/>
    <p:sldId id="266" r:id="rId7"/>
    <p:sldId id="267" r:id="rId8"/>
    <p:sldId id="268" r:id="rId9"/>
    <p:sldId id="276" r:id="rId10"/>
    <p:sldId id="259" r:id="rId11"/>
    <p:sldId id="262" r:id="rId12"/>
    <p:sldId id="272" r:id="rId13"/>
    <p:sldId id="256" r:id="rId14"/>
    <p:sldId id="298" r:id="rId15"/>
    <p:sldId id="299" r:id="rId16"/>
    <p:sldId id="270" r:id="rId17"/>
    <p:sldId id="271" r:id="rId18"/>
    <p:sldId id="25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7" d="100"/>
          <a:sy n="107" d="100"/>
        </p:scale>
        <p:origin x="64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8ED89-E6DB-4FD3-4CDD-76C68AD11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D8D747-31A4-6789-5FCB-4711FE39E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84F359-1FA8-E039-02A4-A086BB36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A28827-1FE2-8CB1-0E30-30858E73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918455-FC44-A952-995C-6C062137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7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7E7A0-D392-8123-37F8-1437161BD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6854E-111B-A6AB-8620-E5A8F6E1E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34F2E4-2A8F-ADDD-4DCA-A1EFF1C1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31C0B-23E2-E320-8F62-E39DAB18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549FD-15E1-B8DA-9365-A3DF4CAA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44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66854-9DCD-3EAC-F550-035EFDC7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8DD68C-DAB6-62DF-4F26-0EE2E6826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85DAE3-0C07-9DCD-686B-D7690F6F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9568B2-0328-F15A-68E5-ED5F13CB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DEE76C-3401-0AF3-8AE4-1CC3F9ED9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448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04553-F1A5-3302-44CB-A7F8CE19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E6D202-DA2F-5692-2358-69D8593CE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39E468-CA5E-3B10-A2F3-920E5FD38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F4EF8C-2295-C49B-98FD-C85A4AA2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27CBA4-4DE5-F70C-CBFA-C88631C3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0FD052-43AD-B7D1-7AE4-9ECFF730B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55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B3A09-F827-6FEB-A445-A8740962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AED97A-DC2F-0119-CBC1-08D1EA2BA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CB475E-B033-A14A-00AB-B490F5D90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5D30A2-8FC0-5CFC-C822-31C130935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C841B7-4292-2D5A-601E-7DE48C440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F479CF-7BA4-68DB-4A5D-EDC5A75D6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873B7E-87D9-A528-0545-526C11688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BE299E-6F96-5835-4D4F-2873B5FF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470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0F3A2-0701-ECB8-219A-54009682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94CF1F-BCF8-B40F-987D-232F174A8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C272B3-132C-E110-344C-C1F89297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D19131-C2B1-1090-1A89-0512EE61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E818D5-504F-BC72-A07D-19AE337D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391E0F-FDE1-250C-F2E8-25ED526C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2A634-6F0F-2906-19A0-7DB7AE8B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8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75AD5-1F2E-77CF-8B58-C6C19EB0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03BD80-99AE-B248-B7C7-62DEC742D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2D06E3-0634-790E-0044-9A221898A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FA7C11-8D5C-B878-C0CD-E466E213E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FAD1D6-3A15-8948-1E2B-2766F4A87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013342-0767-86BE-0DA4-C1113B97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339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8D989A-4FEC-266A-2691-51FAD7F2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B9417F-E8DD-8A73-5C2E-59622C3DB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47C573-CA34-126C-B7E9-59BA23B38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516D3A-B975-C47B-6310-C553F8AD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382E87-766C-72F7-16A6-30DE340D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0733C8-3EF0-482D-60BB-E1AEE126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70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7042F-4185-2B50-1B28-9F0411518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1C0D3E-3741-8E84-DD90-6A3756637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4C544-89D2-2508-23FA-C8A15245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EDD6E9-4CB0-ED14-C5DF-D56BBDA63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E8189-490A-CD7F-1188-0C624B4E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327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1CCB40-5E75-A2C7-BE40-E2DB40FE1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94D4D5-39B4-795F-ADD1-3B955A62F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BF63B3-3EB5-1A30-7499-2F5B03DF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23D999-33E7-8A44-AD74-6743E8CB6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97B39-5060-3903-2840-4464A2B1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06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6D4AE6B-A318-5300-7300-C16F7EA3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FB598-A924-EC62-3AAA-4F3F0DFB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22BF8A-FFA0-D185-4274-179D1B4C7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2F4D7-7077-4CEF-864B-12293F4425AC}" type="datetimeFigureOut">
              <a:rPr lang="zh-CN" altLang="en-US" smtClean="0"/>
              <a:t>2022-9-24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4FAE3-5969-AF26-932F-A8F9A6051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AA6DB-B263-1D11-1B6B-A28B1E2A7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1E35C-396C-4FF4-80D9-AE9A6497E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28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.wmf"/><Relationship Id="rId3" Type="http://schemas.openxmlformats.org/officeDocument/2006/relationships/image" Target="../media/image5.png"/><Relationship Id="rId21" Type="http://schemas.openxmlformats.org/officeDocument/2006/relationships/oleObject" Target="../embeddings/oleObject3.bin"/><Relationship Id="rId7" Type="http://schemas.openxmlformats.org/officeDocument/2006/relationships/image" Target="../../clipboard/media/image5.png"/><Relationship Id="rId12" Type="http://schemas.openxmlformats.org/officeDocument/2006/relationships/image" Target="../media/image10.emf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.emf"/><Relationship Id="rId20" Type="http://schemas.openxmlformats.org/officeDocument/2006/relationships/image" Target="../media/image2.wmf"/><Relationship Id="rId1" Type="http://schemas.openxmlformats.org/officeDocument/2006/relationships/vmlDrawing" Target="../drawings/vmlDrawing1.vml"/><Relationship Id="rId6" Type="http://schemas.openxmlformats.org/officeDocument/2006/relationships/image" Target="../../clipboard/media/image4.png"/><Relationship Id="rId11" Type="http://schemas.openxmlformats.org/officeDocument/2006/relationships/image" Target="../media/image9.emf"/><Relationship Id="rId24" Type="http://schemas.openxmlformats.org/officeDocument/2006/relationships/image" Target="../media/image4.wmf"/><Relationship Id="rId5" Type="http://schemas.openxmlformats.org/officeDocument/2006/relationships/image" Target="../../clipboard/media/image3.png"/><Relationship Id="rId15" Type="http://schemas.openxmlformats.org/officeDocument/2006/relationships/image" Target="../media/image13.emf"/><Relationship Id="rId23" Type="http://schemas.openxmlformats.org/officeDocument/2006/relationships/oleObject" Target="../embeddings/oleObject4.bin"/><Relationship Id="rId10" Type="http://schemas.openxmlformats.org/officeDocument/2006/relationships/image" Target="../media/image8.emf"/><Relationship Id="rId19" Type="http://schemas.openxmlformats.org/officeDocument/2006/relationships/oleObject" Target="../embeddings/oleObject2.bin"/><Relationship Id="rId4" Type="http://schemas.openxmlformats.org/officeDocument/2006/relationships/image" Target="../../clipboard/media/image2.png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png"/><Relationship Id="rId11" Type="http://schemas.openxmlformats.org/officeDocument/2006/relationships/oleObject" Target="../embeddings/oleObject6.bin"/><Relationship Id="rId5" Type="http://schemas.openxmlformats.org/officeDocument/2006/relationships/image" Target="../media/image18.emf"/><Relationship Id="rId10" Type="http://schemas.openxmlformats.org/officeDocument/2006/relationships/image" Target="../media/image15.w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microsoft.com/office/2007/relationships/hdphoto" Target="../media/hdphoto1.wdp"/><Relationship Id="rId7" Type="http://schemas.openxmlformats.org/officeDocument/2006/relationships/image" Target="../media/image20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../clipboard/media/image20.png"/><Relationship Id="rId2" Type="http://schemas.openxmlformats.org/officeDocument/2006/relationships/image" Target="../../clipboard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../clipboard/media/image40.png"/><Relationship Id="rId4" Type="http://schemas.openxmlformats.org/officeDocument/2006/relationships/image" Target="../../clipboard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enwen.sogou.com/s/?w=%E5%8F%8D%E5%B0%84%E6%B3%A2&amp;ch=ww.xqy.chain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1.png"/><Relationship Id="rId4" Type="http://schemas.openxmlformats.org/officeDocument/2006/relationships/image" Target="../media/image34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50.png"/><Relationship Id="rId4" Type="http://schemas.openxmlformats.org/officeDocument/2006/relationships/image" Target="../media/image4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0577" y="289295"/>
            <a:ext cx="11755832" cy="1011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图示为两个同方向，同频率的谐振动的位移-时间曲线，则谐振动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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和谐振动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的相位差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4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</a:t>
            </a:r>
            <a:endParaRPr lang="zh-CN" altLang="en-US" sz="2400" b="1" baseline="-25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572" y="1192697"/>
            <a:ext cx="2999246" cy="1019928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6" name="文本框 5"/>
          <p:cNvSpPr txBox="1"/>
          <p:nvPr/>
        </p:nvSpPr>
        <p:spPr>
          <a:xfrm>
            <a:off x="397566" y="1843293"/>
            <a:ext cx="596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993914" y="1702661"/>
                <a:ext cx="2678041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14" y="1702661"/>
                <a:ext cx="2678041" cy="61093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137160" y="1623627"/>
                <a:ext cx="2317942" cy="5821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160" y="1623627"/>
                <a:ext cx="2317942" cy="58214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099337" y="2243403"/>
                <a:ext cx="2328586" cy="5821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337" y="2243403"/>
                <a:ext cx="2328586" cy="58214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844231" y="2956393"/>
                <a:ext cx="11553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31" y="2956393"/>
                <a:ext cx="1155316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923357" y="5175099"/>
            <a:ext cx="115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谐振动</a:t>
            </a:r>
            <a:r>
              <a:rPr lang="en-US" altLang="zh-CN" dirty="0"/>
              <a:t>2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43623" y="4439039"/>
            <a:ext cx="115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谐振动</a:t>
            </a:r>
            <a:r>
              <a:rPr lang="en-US" altLang="zh-CN" dirty="0"/>
              <a:t>1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2934" y="2980598"/>
            <a:ext cx="571500" cy="3810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9195" y="2980598"/>
            <a:ext cx="1200150" cy="381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8843" y="2972831"/>
            <a:ext cx="1009650" cy="381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3754" y="2937030"/>
            <a:ext cx="1162050" cy="381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6719" y="3647599"/>
            <a:ext cx="952500" cy="381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3207" y="3639020"/>
            <a:ext cx="1409700" cy="3810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3754" y="3577791"/>
            <a:ext cx="885825" cy="3810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6719" y="4439039"/>
            <a:ext cx="638175" cy="381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67307" y="4295092"/>
            <a:ext cx="923925" cy="657225"/>
          </a:xfrm>
          <a:prstGeom prst="rect">
            <a:avLst/>
          </a:prstGeom>
        </p:spPr>
      </p:pic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128895" y="3630295"/>
          <a:ext cx="1216025" cy="389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r:id="rId17" imgW="673100" imgH="215900" progId="Equation.KSEE3">
                  <p:embed/>
                </p:oleObj>
              </mc:Choice>
              <mc:Fallback>
                <p:oleObj r:id="rId17" imgW="673100" imgH="215900" progId="Equation.KSEE3">
                  <p:embed/>
                  <p:pic>
                    <p:nvPicPr>
                      <p:cNvPr id="2" name="对象 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28895" y="3630295"/>
                        <a:ext cx="1216025" cy="389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35200" y="5175250"/>
          <a:ext cx="692785" cy="368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r:id="rId19" imgW="405765" imgH="215900" progId="Equation.KSEE3">
                  <p:embed/>
                </p:oleObj>
              </mc:Choice>
              <mc:Fallback>
                <p:oleObj r:id="rId19" imgW="405765" imgH="215900" progId="Equation.KSEE3">
                  <p:embed/>
                  <p:pic>
                    <p:nvPicPr>
                      <p:cNvPr id="3" name="对象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35200" y="5175250"/>
                        <a:ext cx="692785" cy="368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99803" y="5175250"/>
          <a:ext cx="858520" cy="374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21" imgW="495300" imgH="215900" progId="Equation.KSEE3">
                  <p:embed/>
                </p:oleObj>
              </mc:Choice>
              <mc:Fallback>
                <p:oleObj r:id="rId21" imgW="495300" imgH="215900" progId="Equation.KSEE3">
                  <p:embed/>
                  <p:pic>
                    <p:nvPicPr>
                      <p:cNvPr id="7" name="对象 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99803" y="5175250"/>
                        <a:ext cx="858520" cy="374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74925" y="5989955"/>
          <a:ext cx="1986915" cy="699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23" imgW="1117600" imgH="393700" progId="Equation.KSEE3">
                  <p:embed/>
                </p:oleObj>
              </mc:Choice>
              <mc:Fallback>
                <p:oleObj r:id="rId23" imgW="1117600" imgH="393700" progId="Equation.KSEE3">
                  <p:embed/>
                  <p:pic>
                    <p:nvPicPr>
                      <p:cNvPr id="12" name="对象 1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574925" y="5989955"/>
                        <a:ext cx="1986915" cy="699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259" y="1135606"/>
            <a:ext cx="2999246" cy="1019928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" name="文本框 2"/>
          <p:cNvSpPr txBox="1"/>
          <p:nvPr/>
        </p:nvSpPr>
        <p:spPr>
          <a:xfrm>
            <a:off x="467138" y="735496"/>
            <a:ext cx="5377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由旋转矢量法求初始相位，然后再求相位差</a:t>
            </a:r>
          </a:p>
        </p:txBody>
      </p:sp>
      <p:sp>
        <p:nvSpPr>
          <p:cNvPr id="4" name="椭圆 3"/>
          <p:cNvSpPr/>
          <p:nvPr/>
        </p:nvSpPr>
        <p:spPr>
          <a:xfrm>
            <a:off x="1292088" y="1967948"/>
            <a:ext cx="3498573" cy="3498573"/>
          </a:xfrm>
          <a:prstGeom prst="ellipse">
            <a:avLst/>
          </a:prstGeom>
          <a:noFill/>
          <a:ln>
            <a:solidFill>
              <a:schemeClr val="accent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576470" y="3617851"/>
            <a:ext cx="52677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038022" y="3588041"/>
            <a:ext cx="824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</a:t>
            </a:r>
            <a:endParaRPr lang="zh-CN" altLang="en-US" sz="2400" dirty="0"/>
          </a:p>
        </p:txBody>
      </p:sp>
      <p:cxnSp>
        <p:nvCxnSpPr>
          <p:cNvPr id="20" name="直接箭头连接符 19"/>
          <p:cNvCxnSpPr>
            <a:endCxn id="4" idx="4"/>
          </p:cNvCxnSpPr>
          <p:nvPr/>
        </p:nvCxnSpPr>
        <p:spPr>
          <a:xfrm>
            <a:off x="3041374" y="3617851"/>
            <a:ext cx="1" cy="18486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1292088" y="3607903"/>
            <a:ext cx="1759225" cy="99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448" y="5917863"/>
            <a:ext cx="276225" cy="3810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58" y="3717234"/>
            <a:ext cx="323850" cy="381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6"/>
          <a:srcRect r="44845" b="4012"/>
          <a:stretch>
            <a:fillRect/>
          </a:stretch>
        </p:blipFill>
        <p:spPr>
          <a:xfrm>
            <a:off x="1570382" y="1170108"/>
            <a:ext cx="735495" cy="1065106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1909" y="1516606"/>
            <a:ext cx="444523" cy="349268"/>
          </a:xfrm>
          <a:prstGeom prst="rect">
            <a:avLst/>
          </a:prstGeom>
        </p:spPr>
      </p:pic>
      <p:cxnSp>
        <p:nvCxnSpPr>
          <p:cNvPr id="50" name="直接箭头连接符 49"/>
          <p:cNvCxnSpPr/>
          <p:nvPr/>
        </p:nvCxnSpPr>
        <p:spPr>
          <a:xfrm flipV="1">
            <a:off x="3041374" y="1865874"/>
            <a:ext cx="27334" cy="35843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4175" y="4363085"/>
            <a:ext cx="910590" cy="462915"/>
          </a:xfrm>
          <a:prstGeom prst="rect">
            <a:avLst/>
          </a:prstGeom>
        </p:spPr>
      </p:pic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004175" y="3587750"/>
          <a:ext cx="910590" cy="688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9" imgW="520700" imgH="393700" progId="Equation.KSEE3">
                  <p:embed/>
                </p:oleObj>
              </mc:Choice>
              <mc:Fallback>
                <p:oleObj r:id="rId9" imgW="520700" imgH="393700" progId="Equation.KSEE3">
                  <p:embed/>
                  <p:pic>
                    <p:nvPicPr>
                      <p:cNvPr id="5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04175" y="3587750"/>
                        <a:ext cx="910590" cy="688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004175" y="5056505"/>
          <a:ext cx="1960880" cy="69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11" imgW="1117600" imgH="393700" progId="Equation.KSEE3">
                  <p:embed/>
                </p:oleObj>
              </mc:Choice>
              <mc:Fallback>
                <p:oleObj r:id="rId11" imgW="1117600" imgH="393700" progId="Equation.KSEE3">
                  <p:embed/>
                  <p:pic>
                    <p:nvPicPr>
                      <p:cNvPr id="6" name="对象 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04175" y="5056505"/>
                        <a:ext cx="1960880" cy="690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ED19007-DAD4-4D6B-AF61-888629A19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5" y="1206812"/>
            <a:ext cx="5799640" cy="440406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111C60-D93F-4602-8452-5C79C8928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112" y="1075763"/>
            <a:ext cx="5824510" cy="45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4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4A34C24-A49F-49EC-8E64-F6E280BC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294" y="27340"/>
            <a:ext cx="6239329" cy="46522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29E61BA-E1D8-4AD4-B256-C4DC3BA32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578" y="4787153"/>
            <a:ext cx="6406180" cy="188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3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4568" y="474752"/>
            <a:ext cx="10530840" cy="3490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一轻弹簧的劲度系数为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，下端悬一质量为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的盘子，今 有一质量为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的物体从离盘底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高处自由下落到盘中，并和盘子粘在一起，于是盘于开始振动。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求此时的振动周期与空盘子作振动时的同期的比值?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取物体落入盘中后的平衡位置为坐标原点，坐标的正方向向下，并以碰撞结束时开始计时，试写出振动的振幅和振动方程。</a:t>
            </a:r>
          </a:p>
          <a:p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620" y="3757847"/>
            <a:ext cx="2385516" cy="2862618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8138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2653" y="666749"/>
            <a:ext cx="7973291" cy="683079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物体与托盘粘结在一起的过程用时极短，因此可以应用动量守恒定律来计算初始时刻的初速度，计算如下：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rcRect b="40705"/>
          <a:stretch>
            <a:fillRect/>
          </a:stretch>
        </p:blipFill>
        <p:spPr>
          <a:xfrm>
            <a:off x="704630" y="1926852"/>
            <a:ext cx="1949399" cy="2580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401158" y="1349828"/>
                <a:ext cx="1533881" cy="465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𝑔h</m:t>
                          </m:r>
                        </m:e>
                      </m:rad>
                    </m:oMath>
                  </m:oMathPara>
                </a14:m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158" y="1349828"/>
                <a:ext cx="1533881" cy="465064"/>
              </a:xfrm>
              <a:prstGeom prst="rect">
                <a:avLst/>
              </a:prstGeom>
              <a:blipFill rotWithShape="1"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6012494" y="1853334"/>
                <a:ext cx="23217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494" y="1853334"/>
                <a:ext cx="2321789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112653" y="2298426"/>
                <a:ext cx="4950971" cy="529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即初始速度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                             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𝑀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𝑀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𝑚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𝑔h</m:t>
                        </m:r>
                      </m:e>
                    </m:rad>
                  </m:oMath>
                </a14:m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653" y="2298426"/>
                <a:ext cx="4950971" cy="529376"/>
              </a:xfrm>
              <a:prstGeom prst="rect">
                <a:avLst/>
              </a:prstGeom>
              <a:blipFill>
                <a:blip r:embed="rId6"/>
                <a:stretch>
                  <a:fillRect l="-1355"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3112653" y="3044017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规定物体落入托盘后的平衡位置为坐标原点，则由平衡位置和碰撞结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束位置可得，有：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007299" y="3751360"/>
                <a:ext cx="2576411" cy="668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𝐻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𝑚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𝑀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𝑘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𝑔</m:t>
                      </m:r>
                    </m:oMath>
                  </m:oMathPara>
                </a14:m>
                <a:endParaRPr lang="zh-CN" altLang="en-US" sz="2000" i="1" dirty="0"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299" y="3751360"/>
                <a:ext cx="2576411" cy="6685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5843953" y="4506972"/>
                <a:ext cx="3346301" cy="668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953" y="4506972"/>
                <a:ext cx="3346301" cy="6685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112653" y="5468983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上式中的</a:t>
            </a:r>
            <a:r>
              <a:rPr lang="en-US" altLang="zh-CN" sz="2000" i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为弹簧上端的位置坐标，</a:t>
            </a:r>
            <a:r>
              <a:rPr lang="en-US" altLang="zh-CN" sz="2000" i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为弹簧的原长。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ldLvl="0" animBg="1"/>
      <p:bldP spid="6" grpId="0" bldLvl="0" animBg="1"/>
      <p:bldP spid="7" grpId="0" bldLvl="0" animBg="1"/>
      <p:bldP spid="8" grpId="0"/>
      <p:bldP spid="9" grpId="0" bldLvl="0" animBg="1"/>
      <p:bldP spid="10" grpId="0" bldLvl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7951"/>
            <a:ext cx="10515600" cy="3570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当振子距离平衡位置为</a:t>
            </a:r>
            <a:r>
              <a:rPr lang="en-US" altLang="zh-CN" sz="2000" i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时，振子受到的作用力为：</a:t>
            </a:r>
            <a:endParaRPr lang="en-US" altLang="zh-CN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642539" y="2078073"/>
                <a:ext cx="4906921" cy="674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𝐹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𝑚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𝑀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𝑔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𝑘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𝑘</m:t>
                              </m:r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𝑘𝑥</m:t>
                      </m:r>
                    </m:oMath>
                  </m:oMathPara>
                </a14:m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539" y="2078073"/>
                <a:ext cx="4906921" cy="67499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838200" y="3154661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所以物体的振动是简谐振动。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38200" y="4125746"/>
                <a:ext cx="10515600" cy="1628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根据简谐振动的周期公式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=2</m:t>
                    </m:r>
                    <m:r>
                      <m:rPr>
                        <m:sty m:val="p"/>
                      </m:rPr>
                      <a:rPr lang="el-GR" altLang="zh-CN" sz="20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π</m:t>
                    </m:r>
                    <m:rad>
                      <m:radPr>
                        <m:degHide m:val="on"/>
                        <m:ctrlPr>
                          <a:rPr lang="el-GR" altLang="zh-CN" sz="20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l-GR" altLang="zh-CN" sz="20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rad>
                    <m:r>
                      <a:rPr lang="zh-CN" altLang="en-US" sz="20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可以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得到：</a:t>
                </a:r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𝑇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𝑀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5746"/>
                <a:ext cx="10515600" cy="1628010"/>
              </a:xfrm>
              <a:prstGeom prst="rect">
                <a:avLst/>
              </a:prstGeom>
              <a:blipFill rotWithShape="1">
                <a:blip r:embed="rId3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838200" y="851620"/>
            <a:ext cx="86367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sz="20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求此时的振动周期与空盘子作振动时的周期的比值</a:t>
            </a:r>
            <a:r>
              <a:rPr lang="en-US" altLang="zh-CN" sz="20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?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77CA8C-35CD-4443-864E-59BA71700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2205" y="1528728"/>
            <a:ext cx="1944793" cy="25788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ldLvl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05394"/>
            <a:ext cx="10515600" cy="740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取物体落入盘中后的平衡位置为坐标原点，坐标的正方向向下，并以碰撞结束时开时计时，试写出振动的振幅和振动方程</a:t>
            </a:r>
            <a:endParaRPr lang="en-US" altLang="zh-CN" sz="20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38200" y="1445623"/>
                <a:ext cx="58735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假设振动的振幅为</a:t>
                </a:r>
                <a:r>
                  <a:rPr lang="en-US" altLang="zh-CN" i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A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，振动的方程是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𝐴𝑐𝑜𝑠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ω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+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zh-CN" altLang="en-US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45623"/>
                <a:ext cx="5873531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935" t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838200" y="1985797"/>
            <a:ext cx="2351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则时间</a:t>
            </a:r>
            <a:r>
              <a:rPr lang="en-US" altLang="zh-CN" sz="2000" i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t=0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时可得：</a:t>
            </a:r>
            <a:endParaRPr lang="zh-CN" altLang="en-US" sz="2000" i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845209" y="2385907"/>
                <a:ext cx="2501582" cy="609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𝐴𝑐𝑜𝑠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𝑀𝑔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209" y="2385907"/>
                <a:ext cx="2501582" cy="6090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929862" y="3032238"/>
                <a:ext cx="4413452" cy="6154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𝑔h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862" y="3032238"/>
                <a:ext cx="4413452" cy="61549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838200" y="364772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因此，得到：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3847500" y="4231277"/>
                <a:ext cx="4595489" cy="9352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  <m: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𝑔h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500" y="4231277"/>
                <a:ext cx="4595489" cy="93525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70C62825-6871-4447-91AD-E110F95C5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007" y="1913082"/>
            <a:ext cx="1944793" cy="25788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6" grpId="0" bldLvl="0" animBg="1"/>
      <p:bldP spid="7" grpId="0" bldLvl="0" animBg="1"/>
      <p:bldP spid="8" grpId="0"/>
      <p:bldP spid="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818606"/>
                <a:ext cx="10515600" cy="3831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相位角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00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φ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的计算：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18606"/>
                <a:ext cx="10515600" cy="383177"/>
              </a:xfrm>
              <a:blipFill rotWithShape="1">
                <a:blip r:embed="rId2"/>
                <a:stretch>
                  <a:fillRect l="-638" t="-19048" b="-206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700055" y="1201783"/>
                <a:ext cx="4532138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0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l-GR" altLang="zh-CN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𝜔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0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𝑎𝑟𝑐𝑡𝑎𝑛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h𝑘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𝑔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𝑀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r>
                      <a:rPr lang="el-GR" altLang="zh-CN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dirty="0"/>
                  <a:t>？</a:t>
                </a: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055" y="1201783"/>
                <a:ext cx="4532138" cy="656013"/>
              </a:xfrm>
              <a:prstGeom prst="rect">
                <a:avLst/>
              </a:prstGeom>
              <a:blipFill>
                <a:blip r:embed="rId3"/>
                <a:stretch>
                  <a:fillRect r="-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838200" y="2429692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我们可以得到振动方程如下：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230438" y="3147012"/>
                <a:ext cx="5645584" cy="6738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𝑔h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en-US" dirty="0"/>
                  <a:t>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⁡(</m:t>
                    </m:r>
                    <m:rad>
                      <m:radPr>
                        <m:deg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ra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𝑎𝑟𝑐𝑡𝑎𝑛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h𝑘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𝑔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𝑀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438" y="3147012"/>
                <a:ext cx="5645584" cy="673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224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ldLvl="0" animBg="1"/>
      <p:bldP spid="5" grpId="0"/>
      <p:bldP spid="6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9933" y="649656"/>
            <a:ext cx="11469534" cy="100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一平面简谐波在空间以速度 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v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传播，已知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点的振动方程为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t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，就下面四种选定的坐标系。写出各自的波函数：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871" y="2934232"/>
            <a:ext cx="3806719" cy="2268516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49933" y="1744910"/>
                <a:ext cx="6803471" cy="5595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解：由题意知</a:t>
                </a:r>
                <a:endPara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(1)p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作为坐标原点，则距离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的任意一点的振动要比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落后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所以振动表达式为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(2)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同理可知，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则距离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的任意一点的振动要比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超前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所以振动表达式为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𝐴𝑐𝑜𝑠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(3)O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作为坐标原点，则距离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O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的任意一点的振动要比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落后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所以振动表达式为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(4)O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作为坐标原点，则距离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O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的任意一点的振动要比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超前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所以振动表达式为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0"/>
                <a:endParaRPr lang="en-US" altLang="zh-CN" sz="2000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3" y="1744910"/>
                <a:ext cx="6803471" cy="5595378"/>
              </a:xfrm>
              <a:prstGeom prst="rect">
                <a:avLst/>
              </a:prstGeom>
              <a:blipFill>
                <a:blip r:embed="rId3"/>
                <a:stretch>
                  <a:fillRect l="-896" t="-545" r="-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92352" y="691819"/>
            <a:ext cx="9634728" cy="108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如图所示，BC为波密介质的反射面，波由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点反射，已知入射波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时刻的波形曲线，则反射波为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721" y="2244914"/>
            <a:ext cx="8175359" cy="2788650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3" name="文本框 2"/>
          <p:cNvSpPr txBox="1"/>
          <p:nvPr/>
        </p:nvSpPr>
        <p:spPr>
          <a:xfrm>
            <a:off x="654341" y="4433399"/>
            <a:ext cx="5276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分析：</a:t>
            </a:r>
            <a:r>
              <a:rPr lang="en-US" altLang="zh-CN" dirty="0"/>
              <a:t>BC</a:t>
            </a:r>
            <a:r>
              <a:rPr lang="zh-CN" altLang="en-US" dirty="0"/>
              <a:t>为波密介质的反射面，则因反射将产生</a:t>
            </a:r>
            <a:r>
              <a:rPr lang="zh-CN" altLang="en-US" dirty="0">
                <a:solidFill>
                  <a:srgbClr val="FF0000"/>
                </a:solidFill>
              </a:rPr>
              <a:t>半波损失</a:t>
            </a:r>
            <a:r>
              <a:rPr lang="en-US" altLang="zh-CN" dirty="0"/>
              <a:t>,</a:t>
            </a:r>
            <a:r>
              <a:rPr lang="zh-CN" altLang="en-US" dirty="0"/>
              <a:t>即反射波与入射波在</a:t>
            </a:r>
            <a:r>
              <a:rPr lang="en-US" altLang="zh-CN" dirty="0"/>
              <a:t>P</a:t>
            </a:r>
            <a:r>
              <a:rPr lang="zh-CN" altLang="en-US" dirty="0"/>
              <a:t>点引起的</a:t>
            </a:r>
            <a:r>
              <a:rPr lang="zh-CN" altLang="en-US" dirty="0">
                <a:solidFill>
                  <a:srgbClr val="FF0000"/>
                </a:solidFill>
              </a:rPr>
              <a:t>振动反相</a:t>
            </a:r>
            <a:r>
              <a:rPr lang="zh-CN" altLang="en-US" dirty="0"/>
              <a:t>。入射波在</a:t>
            </a:r>
            <a:r>
              <a:rPr lang="en-US" altLang="zh-CN" dirty="0"/>
              <a:t>P</a:t>
            </a:r>
            <a:r>
              <a:rPr lang="zh-CN" altLang="en-US" dirty="0"/>
              <a:t>点的振动方向沿</a:t>
            </a:r>
            <a:r>
              <a:rPr lang="en-US" altLang="zh-CN" dirty="0"/>
              <a:t>y</a:t>
            </a:r>
            <a:r>
              <a:rPr lang="zh-CN" altLang="en-US" dirty="0"/>
              <a:t>轴负方向，则反射波在</a:t>
            </a:r>
            <a:r>
              <a:rPr lang="en-US" altLang="zh-CN" dirty="0"/>
              <a:t>P</a:t>
            </a:r>
            <a:r>
              <a:rPr lang="zh-CN" altLang="en-US" dirty="0"/>
              <a:t>点的振动方向应该沿</a:t>
            </a:r>
            <a:r>
              <a:rPr lang="en-US" altLang="zh-CN" dirty="0"/>
              <a:t>y</a:t>
            </a:r>
            <a:r>
              <a:rPr lang="zh-CN" altLang="en-US" dirty="0"/>
              <a:t>轴正方向。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54341" y="5775903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镜像法判断：把波形补充完整，去掉半个波形，然后直接反射过去就是</a:t>
            </a:r>
            <a:r>
              <a:rPr lang="zh-CN" altLang="en-US" b="0" i="0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3"/>
              </a:rPr>
              <a:t>反射波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的波形了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16864" y="345454"/>
            <a:ext cx="10722864" cy="20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7.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已知平面余弦波波源的振动周期 </a:t>
            </a:r>
            <a:r>
              <a:rPr lang="en-US" altLang="zh-CN" sz="2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=0.5s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，波长 </a:t>
            </a:r>
            <a:r>
              <a:rPr lang="zh-CN" altLang="en-US" sz="2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10m，振幅 </a:t>
            </a:r>
            <a:r>
              <a:rPr lang="zh-CN" altLang="en-US" sz="2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0.1m。当 </a:t>
            </a:r>
            <a:r>
              <a:rPr lang="en-US" altLang="zh-CN" sz="2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时，波源处振动的位移恰好为正方向的最大值，取波源处为坐标原点，并设此波沿 </a:t>
            </a:r>
            <a:r>
              <a:rPr lang="zh-CN" altLang="en-US" sz="2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轴正方向传播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(1)写出此波的波函数。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(2)写出沿波传播方向距离波源为 </a:t>
            </a:r>
            <a:r>
              <a:rPr lang="zh-CN" altLang="en-US" sz="2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 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处的振动方程。</a:t>
            </a:r>
            <a:endParaRPr lang="en-US" altLang="zh-CN" sz="20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(3)画出 </a:t>
            </a:r>
            <a:r>
              <a:rPr lang="en-US" altLang="zh-CN" sz="2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zh-CN" altLang="en-US" sz="20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 时刻的波形曲线。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792" y="2381589"/>
            <a:ext cx="3743884" cy="1937624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41972" y="2739007"/>
                <a:ext cx="8053433" cy="3592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解：</a:t>
                </a:r>
                <a:r>
                  <a:rPr lang="zh-CN" altLang="en-US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dirty="0">
                    <a:sym typeface="Wingdings" panose="05000000000000000000" pitchFamily="2" charset="2"/>
                  </a:rPr>
                  <a:t>1</a:t>
                </a:r>
                <a:r>
                  <a:rPr lang="zh-CN" altLang="en-US" dirty="0">
                    <a:sym typeface="Wingdings" panose="05000000000000000000" pitchFamily="2" charset="2"/>
                  </a:rPr>
                  <a:t>）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由题意知：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t=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0时，波源处振动的位移恰好为正方向的最大值。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设此方程为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𝐴𝑐𝑜𝑠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a:rPr lang="zh-CN" alt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𝜑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代入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已知条件可得：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dirty="0"/>
                  <a:t>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0.1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0.5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𝑡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𝜇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  <m:r>
                              <a:rPr lang="zh-CN" altLang="en-US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𝜑</m:t>
                            </m:r>
                          </m:e>
                        </m:d>
                      </m:e>
                    </m:func>
                    <m:r>
                      <a:rPr lang="en-US" altLang="zh-CN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=0.1   </m:t>
                    </m:r>
                    <m:r>
                      <a:rPr lang="zh-CN" altLang="en-US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得到</m:t>
                    </m:r>
                    <m:r>
                      <a:rPr lang="zh-CN" altLang="en-US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𝜑</m:t>
                    </m:r>
                    <m:r>
                      <a:rPr lang="en-US" altLang="zh-CN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</m:oMath>
                </a14:m>
                <a:r>
                  <a:rPr lang="en-US" altLang="zh-CN" dirty="0"/>
                  <a:t>0</a:t>
                </a: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所以波动方程为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𝑥𝑇</m:t>
                                    </m:r>
                                  </m:num>
                                  <m:den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[4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]⁡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                                   =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⁡(4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</a:t>
                </a:r>
              </a:p>
              <a:p>
                <a:r>
                  <a:rPr lang="en-US" altLang="zh-CN" dirty="0"/>
                  <a:t>           (2)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时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其振动方程为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⁡(4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</a:t>
                </a:r>
              </a:p>
              <a:p>
                <a:r>
                  <a:rPr lang="en-US" altLang="zh-CN" dirty="0"/>
                  <a:t>           (3)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振动方程为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当</a:t>
                </a:r>
                <a:r>
                  <a:rPr lang="en-US" altLang="zh-CN" dirty="0"/>
                  <a:t>x=0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时</a:t>
                </a:r>
                <a:r>
                  <a:rPr lang="zh-CN" altLang="en-US" dirty="0"/>
                  <a:t>，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y=-0.1,x=5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时，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                  	y=0.1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，所以波形曲线为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2" y="2739007"/>
                <a:ext cx="8053433" cy="3592650"/>
              </a:xfrm>
              <a:prstGeom prst="rect">
                <a:avLst/>
              </a:prstGeom>
              <a:blipFill>
                <a:blip r:embed="rId3"/>
                <a:stretch>
                  <a:fillRect l="-606" t="-1356" r="-681" b="-1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863" y="4580462"/>
            <a:ext cx="2621896" cy="1598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3472" y="336598"/>
            <a:ext cx="10165055" cy="3001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一平面简谐波沿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轴正向一反射面入射，如图所示，入射波的振幅为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，周期为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，波长为 </a:t>
            </a:r>
            <a:r>
              <a:rPr lang="el-GR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时刻，在原点处的质元由平衡位置向位移为正的方向运动，入射波在界面处发生全反射，反射波的振幅等于入射被的振幅，而且反射点为波节。求：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)入射波的波函数；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71472" y="1612656"/>
            <a:ext cx="3774264" cy="2758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3CA6CA6-905E-4485-BBB9-7C66497DC77F}"/>
                  </a:ext>
                </a:extLst>
              </p:cNvPr>
              <p:cNvSpPr txBox="1"/>
              <p:nvPr/>
            </p:nvSpPr>
            <p:spPr>
              <a:xfrm>
                <a:off x="1071197" y="3085464"/>
                <a:ext cx="6858000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解</a:t>
                </a:r>
                <a:r>
                  <a:rPr lang="zh-CN" altLang="en-US" dirty="0"/>
                  <a:t>：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y(</a:t>
                </a:r>
                <a:r>
                  <a:rPr lang="en-US" altLang="zh-CN" sz="2400" dirty="0" err="1">
                    <a:sym typeface="Wingdings" panose="05000000000000000000" pitchFamily="2" charset="2"/>
                  </a:rPr>
                  <a:t>x,t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)=A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𝜔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u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3CA6CA6-905E-4485-BBB9-7C66497DC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197" y="3085464"/>
                <a:ext cx="6858000" cy="645048"/>
              </a:xfrm>
              <a:prstGeom prst="rect">
                <a:avLst/>
              </a:prstGeom>
              <a:blipFill>
                <a:blip r:embed="rId4"/>
                <a:stretch>
                  <a:fillRect l="-1867" t="-188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338DE32-E674-489C-8AC9-1A53C7C78857}"/>
              </a:ext>
            </a:extLst>
          </p:cNvPr>
          <p:cNvSpPr txBox="1"/>
          <p:nvPr/>
        </p:nvSpPr>
        <p:spPr>
          <a:xfrm>
            <a:off x="848454" y="4281103"/>
            <a:ext cx="87664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t=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0时刻，在原点处的质元由平衡位置向位移为正的方向运动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5C2898-0DE8-4EF6-AD0C-CD811A39BA01}"/>
                  </a:ext>
                </a:extLst>
              </p:cNvPr>
              <p:cNvSpPr txBox="1"/>
              <p:nvPr/>
            </p:nvSpPr>
            <p:spPr>
              <a:xfrm>
                <a:off x="2386535" y="4742768"/>
                <a:ext cx="3042823" cy="582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</m:oMath>
                </a14:m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5C2898-0DE8-4EF6-AD0C-CD811A39B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535" y="4742768"/>
                <a:ext cx="3042823" cy="582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B4E42C5-491D-4F30-8BE9-3C130200F690}"/>
                  </a:ext>
                </a:extLst>
              </p:cNvPr>
              <p:cNvSpPr txBox="1"/>
              <p:nvPr/>
            </p:nvSpPr>
            <p:spPr>
              <a:xfrm>
                <a:off x="2367889" y="3597433"/>
                <a:ext cx="4039445" cy="633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其中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=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𝑇</m:t>
                        </m:r>
                      </m:den>
                    </m:f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u=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λ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𝑇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B4E42C5-491D-4F30-8BE9-3C130200F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889" y="3597433"/>
                <a:ext cx="4039445" cy="633058"/>
              </a:xfrm>
              <a:prstGeom prst="rect">
                <a:avLst/>
              </a:prstGeom>
              <a:blipFill>
                <a:blip r:embed="rId6"/>
                <a:stretch>
                  <a:fillRect l="-2262" b="-10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39066F9-83B2-4384-A33C-663834C5806D}"/>
                  </a:ext>
                </a:extLst>
              </p:cNvPr>
              <p:cNvSpPr txBox="1"/>
              <p:nvPr/>
            </p:nvSpPr>
            <p:spPr>
              <a:xfrm>
                <a:off x="1674879" y="5325043"/>
                <a:ext cx="6858000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入</m:t>
                        </m:r>
                      </m:sub>
                    </m:sSub>
                  </m:oMath>
                </a14:m>
                <a:r>
                  <a:rPr lang="en-US" altLang="zh-CN" sz="2400" dirty="0">
                    <a:sym typeface="Wingdings" panose="05000000000000000000" pitchFamily="2" charset="2"/>
                  </a:rPr>
                  <a:t>(</a:t>
                </a:r>
                <a:r>
                  <a:rPr lang="en-US" altLang="zh-CN" sz="2400" dirty="0" err="1">
                    <a:sym typeface="Wingdings" panose="05000000000000000000" pitchFamily="2" charset="2"/>
                  </a:rPr>
                  <a:t>x,t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)=A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𝑇</m:t>
                            </m:r>
                          </m:den>
                        </m:f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40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λ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altLang="zh-CN" sz="2400" dirty="0"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400" b="0" i="0" dirty="0" smtClean="0"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39066F9-83B2-4384-A33C-663834C58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879" y="5325043"/>
                <a:ext cx="6858000" cy="645048"/>
              </a:xfrm>
              <a:prstGeom prst="rect">
                <a:avLst/>
              </a:prstGeom>
              <a:blipFill>
                <a:blip r:embed="rId7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27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3472" y="336598"/>
            <a:ext cx="10165055" cy="2484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一平面简谐波沿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轴正向一反射面入射，如图所示，入射波的振幅为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，周期为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，波长为 </a:t>
            </a:r>
            <a:r>
              <a:rPr lang="el-GR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时刻，在原点处的质元由平衡位置向位移为正的方向运动，入射波在界面处发生全反射，反射波的振幅等于入射被的振幅，而且反射点为波节。求：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反射被的波函数；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8845" y="1749007"/>
            <a:ext cx="3774264" cy="2758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80E806-00CA-4633-A750-436CACE61EF3}"/>
                  </a:ext>
                </a:extLst>
              </p:cNvPr>
              <p:cNvSpPr txBox="1"/>
              <p:nvPr/>
            </p:nvSpPr>
            <p:spPr>
              <a:xfrm>
                <a:off x="433677" y="2931327"/>
                <a:ext cx="70391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解：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入</m:t>
                        </m:r>
                      </m:sub>
                    </m:sSub>
                  </m:oMath>
                </a14:m>
                <a:r>
                  <a:rPr lang="en-US" altLang="zh-CN" sz="2400" dirty="0">
                    <a:sym typeface="Wingdings" panose="05000000000000000000" pitchFamily="2" charset="2"/>
                  </a:rPr>
                  <a:t>(</a:t>
                </a:r>
                <a:r>
                  <a:rPr lang="en-US" altLang="zh-CN" sz="2400" dirty="0" err="1">
                    <a:sym typeface="Wingdings" panose="05000000000000000000" pitchFamily="2" charset="2"/>
                  </a:rPr>
                  <a:t>x,t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)=A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𝑇</m:t>
                            </m:r>
                          </m:den>
                        </m:f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λ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altLang="zh-CN" sz="2400" dirty="0"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 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func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80E806-00CA-4633-A750-436CACE61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77" y="2931327"/>
                <a:ext cx="7039101" cy="646331"/>
              </a:xfrm>
              <a:prstGeom prst="rect">
                <a:avLst/>
              </a:prstGeom>
              <a:blipFill>
                <a:blip r:embed="rId4"/>
                <a:stretch>
                  <a:fillRect l="-1299" b="-8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8B1321F1-87DB-46AD-B282-B1F1C4BDAA69}"/>
              </a:ext>
            </a:extLst>
          </p:cNvPr>
          <p:cNvSpPr txBox="1"/>
          <p:nvPr/>
        </p:nvSpPr>
        <p:spPr>
          <a:xfrm>
            <a:off x="1849451" y="4120961"/>
            <a:ext cx="6720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反射波与入射波在反射点存在半波损失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C41D722-DF76-45D0-8B71-782E4DD7058F}"/>
                  </a:ext>
                </a:extLst>
              </p:cNvPr>
              <p:cNvSpPr txBox="1"/>
              <p:nvPr/>
            </p:nvSpPr>
            <p:spPr>
              <a:xfrm>
                <a:off x="1834591" y="4974883"/>
                <a:ext cx="9852671" cy="799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反</m:t>
                        </m:r>
                      </m:sub>
                    </m:sSub>
                  </m:oMath>
                </a14:m>
                <a:r>
                  <a:rPr lang="en-US" altLang="zh-CN" sz="2400" dirty="0">
                    <a:sym typeface="Wingdings" panose="05000000000000000000" pitchFamily="2" charset="2"/>
                  </a:rPr>
                  <a:t>(</a:t>
                </a:r>
                <a:r>
                  <a:rPr lang="en-US" altLang="zh-CN" sz="2400" dirty="0" err="1">
                    <a:sym typeface="Wingdings" panose="05000000000000000000" pitchFamily="2" charset="2"/>
                  </a:rPr>
                  <a:t>x,t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)= A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𝑇</m:t>
                            </m:r>
                          </m:den>
                        </m:f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Symbol" panose="05050102010706020507" pitchFamily="18" charset="2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Symbol" panose="05050102010706020507" pitchFamily="18" charset="2"/>
                                      </a:rPr>
                                      <m:t>λ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Symbol" panose="05050102010706020507" pitchFamily="18" charset="2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x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λ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𝑇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altLang="zh-CN" sz="2400" dirty="0"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400" b="0" i="0" dirty="0" smtClean="0"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π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]=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sym typeface="Wingdings" panose="05000000000000000000" pitchFamily="2" charset="2"/>
                          </a:rPr>
                          <m:t>A</m:t>
                        </m:r>
                        <m:func>
                          <m:func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cos</m:t>
                            </m:r>
                          </m:fNam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[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𝑇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𝑇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λ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nor/>
                              </m:rPr>
                              <a:rPr lang="en-US" altLang="zh-CN" sz="2400" dirty="0"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]</m:t>
                            </m:r>
                          </m:e>
                        </m:func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C41D722-DF76-45D0-8B71-782E4DD70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591" y="4974883"/>
                <a:ext cx="9852671" cy="799514"/>
              </a:xfrm>
              <a:prstGeom prst="rect">
                <a:avLst/>
              </a:prstGeom>
              <a:blipFill>
                <a:blip r:embed="rId5"/>
                <a:stretch>
                  <a:fillRect b="-6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46BF381-E4CE-4073-B340-F4B2925ACFBD}"/>
                  </a:ext>
                </a:extLst>
              </p:cNvPr>
              <p:cNvSpPr txBox="1"/>
              <p:nvPr/>
            </p:nvSpPr>
            <p:spPr>
              <a:xfrm>
                <a:off x="1849451" y="3557311"/>
                <a:ext cx="7636526" cy="633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ym typeface="Wingdings" panose="05000000000000000000" pitchFamily="2" charset="2"/>
                  </a:rPr>
                  <a:t>x=</a:t>
                </a:r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λ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den>
                    </m:f>
                    <m:r>
                      <a:rPr lang="zh-CN" alt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处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p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入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sym typeface="Wingdings" panose="05000000000000000000" pitchFamily="2" charset="2"/>
                  </a:rPr>
                  <a:t>(</a:t>
                </a:r>
                <a:r>
                  <a:rPr lang="en-US" altLang="zh-CN" sz="2400" dirty="0" err="1">
                    <a:sym typeface="Wingdings" panose="05000000000000000000" pitchFamily="2" charset="2"/>
                  </a:rPr>
                  <a:t>x,t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)= A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𝑇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 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π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func>
                    <m:r>
                      <a:rPr lang="en-US" altLang="zh-CN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46BF381-E4CE-4073-B340-F4B2925AC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51" y="3557311"/>
                <a:ext cx="7636526" cy="633058"/>
              </a:xfrm>
              <a:prstGeom prst="rect">
                <a:avLst/>
              </a:prstGeom>
              <a:blipFill>
                <a:blip r:embed="rId6"/>
                <a:stretch>
                  <a:fillRect l="-1197" b="-17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BB38F29-53DB-40BE-8B9F-42F6C1254592}"/>
                  </a:ext>
                </a:extLst>
              </p:cNvPr>
              <p:cNvSpPr txBox="1"/>
              <p:nvPr/>
            </p:nvSpPr>
            <p:spPr>
              <a:xfrm>
                <a:off x="1849451" y="4582626"/>
                <a:ext cx="6094520" cy="635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p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反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>
                    <a:sym typeface="Wingdings" panose="05000000000000000000" pitchFamily="2" charset="2"/>
                  </a:rPr>
                  <a:t>(</a:t>
                </a:r>
                <a:r>
                  <a:rPr lang="en-US" altLang="zh-CN" sz="2400" dirty="0" err="1">
                    <a:sym typeface="Wingdings" panose="05000000000000000000" pitchFamily="2" charset="2"/>
                  </a:rPr>
                  <a:t>x,t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)= A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𝑇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π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BB38F29-53DB-40BE-8B9F-42F6C1254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51" y="4582626"/>
                <a:ext cx="6094520" cy="635430"/>
              </a:xfrm>
              <a:prstGeom prst="rect">
                <a:avLst/>
              </a:prstGeom>
              <a:blipFill>
                <a:blip r:embed="rId7"/>
                <a:stretch>
                  <a:fillRect l="-300" t="-1923" b="-18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19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3472" y="336598"/>
            <a:ext cx="10165055" cy="2413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一平面简谐波沿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轴正向一反射面入射，如图所示，入射波的振幅为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，周期为 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，波长为 </a:t>
            </a:r>
            <a:r>
              <a:rPr lang="el-GR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时刻，在原点处的质元由平衡位置向位移为正的方向运动，入射波在界面处发生全反射，反射波的振幅等于入射被的振幅，而且反射点为波节。求：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3) 求合成波，并标出因叠加而静止的各点的坐标。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95995" y="3762549"/>
            <a:ext cx="3774264" cy="2758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80E806-00CA-4633-A750-436CACE61EF3}"/>
                  </a:ext>
                </a:extLst>
              </p:cNvPr>
              <p:cNvSpPr txBox="1"/>
              <p:nvPr/>
            </p:nvSpPr>
            <p:spPr>
              <a:xfrm>
                <a:off x="385037" y="3045738"/>
                <a:ext cx="9598090" cy="1002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解：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入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反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2Acos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λ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dirty="0"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cos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𝑇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r>
                      <m:rPr>
                        <m:nor/>
                      </m:rPr>
                      <a:rPr lang="en-US" altLang="zh-CN" sz="2400" dirty="0"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 x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λ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den>
                    </m:f>
                  </m:oMath>
                </a14:m>
                <a:endParaRPr lang="zh-CN" altLang="en-US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980E806-00CA-4633-A750-436CACE61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37" y="3045738"/>
                <a:ext cx="9598090" cy="1002390"/>
              </a:xfrm>
              <a:prstGeom prst="rect">
                <a:avLst/>
              </a:prstGeom>
              <a:blipFill>
                <a:blip r:embed="rId4"/>
                <a:stretch>
                  <a:fillRect l="-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7684398-A1AA-4CE8-B328-72F7C07527DD}"/>
                  </a:ext>
                </a:extLst>
              </p:cNvPr>
              <p:cNvSpPr txBox="1"/>
              <p:nvPr/>
            </p:nvSpPr>
            <p:spPr>
              <a:xfrm>
                <a:off x="1784913" y="3762549"/>
                <a:ext cx="6094520" cy="6166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波节处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x</m:t>
                    </m:r>
                    <m:r>
                      <m:rPr>
                        <m:nor/>
                      </m:rPr>
                      <a:rPr lang="en-US" altLang="zh-CN" sz="2400" dirty="0"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=0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7684398-A1AA-4CE8-B328-72F7C0752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913" y="3762549"/>
                <a:ext cx="6094520" cy="616644"/>
              </a:xfrm>
              <a:prstGeom prst="rect">
                <a:avLst/>
              </a:prstGeom>
              <a:blipFill>
                <a:blip r:embed="rId5"/>
                <a:stretch>
                  <a:fillRect l="-1600" b="-10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E4D8A2-66E8-4E59-BBFF-0002FA3978C4}"/>
                  </a:ext>
                </a:extLst>
              </p:cNvPr>
              <p:cNvSpPr txBox="1"/>
              <p:nvPr/>
            </p:nvSpPr>
            <p:spPr>
              <a:xfrm>
                <a:off x="1784913" y="4252301"/>
                <a:ext cx="6094520" cy="12314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x</m:t>
                    </m:r>
                    <m:r>
                      <m:rPr>
                        <m:nor/>
                      </m:rPr>
                      <a:rPr lang="en-US" altLang="zh-CN" sz="2400" dirty="0"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=(2k+1)</a:t>
                </a:r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2400" dirty="0"/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</a:t>
                </a:r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（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k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+1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）</m:t>
                        </m:r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λ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dirty="0"/>
                  <a:t>,  k=1,0,-1,-2,…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E4D8A2-66E8-4E59-BBFF-0002FA397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913" y="4252301"/>
                <a:ext cx="6094520" cy="1231491"/>
              </a:xfrm>
              <a:prstGeom prst="rect">
                <a:avLst/>
              </a:prstGeom>
              <a:blipFill>
                <a:blip r:embed="rId6"/>
                <a:stretch>
                  <a:fillRect l="-1600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24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040892" y="518114"/>
                <a:ext cx="10110216" cy="36899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9. 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已知 </a:t>
                </a:r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/2 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时刻(</a:t>
                </a:r>
                <a:r>
                  <a:rPr lang="zh-CN" altLang="en-US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为周期)，某驻波的波形和某一沿 </a:t>
                </a:r>
                <a:r>
                  <a:rPr lang="zh-CN" altLang="en-US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x 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轴负方向传播的行波的波形如图所示，图中</a:t>
                </a:r>
                <a:r>
                  <a:rPr lang="el-GR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λ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为波长，</a:t>
                </a:r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两点的</a:t>
                </a:r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| </a:t>
                </a:r>
                <a:r>
                  <a:rPr lang="en-US" altLang="zh-CN" sz="2600" b="1" i="1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600" b="1" i="1" baseline="-25000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| = | </a:t>
                </a:r>
                <a:r>
                  <a:rPr lang="en-US" altLang="zh-CN" sz="2600" b="1" i="1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600" b="1" i="1" baseline="-25000" dirty="0" err="1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|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，则</a:t>
                </a:r>
                <a:endPara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pPr indent="-342900">
                  <a:lnSpc>
                    <a:spcPct val="130000"/>
                  </a:lnSpc>
                  <a:buAutoNum type="arabicParenBoth"/>
                </a:pP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对驻波来说，它们的相位差为多少？</a:t>
                </a:r>
                <a:endPara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pPr indent="-342900">
                  <a:lnSpc>
                    <a:spcPct val="130000"/>
                  </a:lnSpc>
                  <a:buAutoNum type="arabicParenBoth"/>
                </a:pP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对行波来说，</a:t>
                </a:r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两点的相位差为多少？</a:t>
                </a:r>
                <a:endPara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  <a:p>
                <a:pPr indent="-342900">
                  <a:lnSpc>
                    <a:spcPct val="130000"/>
                  </a:lnSpc>
                  <a:buAutoNum type="arabicParenBoth"/>
                </a:pPr>
                <a:r>
                  <a:rPr lang="zh-CN" altLang="en-US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该行波的波函数？</a:t>
                </a:r>
                <a:endParaRPr lang="en-US" altLang="zh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解</a:t>
                </a: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：（</a:t>
                </a: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1</a:t>
                </a: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）对驻波来说，</a:t>
                </a: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</a:t>
                </a: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、</a:t>
                </a: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</a:t>
                </a: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两点的振幅</a:t>
                </a:r>
                <a:endParaRPr lang="en-US" altLang="zh-CN" sz="26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大小相等，方向相反，所以相位差为</a:t>
                </a:r>
                <a14:m>
                  <m:oMath xmlns:m="http://schemas.openxmlformats.org/officeDocument/2006/math">
                    <m:r>
                      <a:rPr lang="zh-CN" altLang="en-US" sz="2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92" y="518114"/>
                <a:ext cx="10110216" cy="3689985"/>
              </a:xfrm>
              <a:prstGeom prst="rect">
                <a:avLst/>
              </a:prstGeom>
              <a:blipFill>
                <a:blip r:embed="rId2"/>
                <a:stretch>
                  <a:fillRect l="-1086" r="-1086" b="-3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316" y="3009551"/>
            <a:ext cx="4261916" cy="2147225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50416" y="485181"/>
                <a:ext cx="11641584" cy="739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/>
              </a:p>
              <a:p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16" y="485181"/>
                <a:ext cx="11641584" cy="739946"/>
              </a:xfrm>
              <a:prstGeom prst="rect">
                <a:avLst/>
              </a:prstGeom>
              <a:blipFill>
                <a:blip r:embed="rId2"/>
                <a:stretch>
                  <a:fillRect l="-419" b="-4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921" y="1528799"/>
            <a:ext cx="2129790" cy="634365"/>
          </a:xfrm>
          <a:prstGeom prst="rect">
            <a:avLst/>
          </a:prstGeom>
        </p:spPr>
      </p:pic>
      <p:sp>
        <p:nvSpPr>
          <p:cNvPr id="8" name="箭头: 右 7"/>
          <p:cNvSpPr/>
          <p:nvPr/>
        </p:nvSpPr>
        <p:spPr>
          <a:xfrm>
            <a:off x="3604334" y="1282103"/>
            <a:ext cx="701336" cy="1775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443614" y="1053484"/>
                <a:ext cx="2281561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nor/>
                            </m:rPr>
                            <a:rPr lang="zh-CN" altLang="en-US" dirty="0"/>
                            <m:t> 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nor/>
                            </m:rPr>
                            <a:rPr lang="zh-CN" altLang="en-US" dirty="0"/>
                            <m:t> 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614" y="1053484"/>
                <a:ext cx="2281561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63480" y="3040400"/>
                <a:ext cx="7084381" cy="2808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(3)</a:t>
                </a:r>
                <a:r>
                  <a:rPr lang="zh-CN" altLang="en-US" dirty="0"/>
                  <a:t>坐标原点的振动方程为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（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则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</m:fName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)=−1,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即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  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05" y="3030875"/>
                <a:ext cx="7084381" cy="2808846"/>
              </a:xfrm>
              <a:prstGeom prst="rect">
                <a:avLst/>
              </a:prstGeom>
              <a:blipFill rotWithShape="1">
                <a:blip r:embed="rId5"/>
                <a:stretch>
                  <a:fillRect l="-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7948D9F9-EC0D-42CE-81AC-27C07D8F1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3711" y="2589115"/>
            <a:ext cx="4724809" cy="2609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2678" y="215618"/>
            <a:ext cx="9590297" cy="2277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10.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一起声波探测器，在海水中发出一束频率为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0000Hz 的超声波，刚好被向着探测器驶来的潜艇反射回来，两列波合成后得到频率为 341Hz 的拍，则潜艇的速率为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________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。(设超声波在海水中的波速为 1500m/s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F0EAB4B-C541-4258-BA21-6FB07DADA796}"/>
                  </a:ext>
                </a:extLst>
              </p:cNvPr>
              <p:cNvSpPr txBox="1"/>
              <p:nvPr/>
            </p:nvSpPr>
            <p:spPr>
              <a:xfrm>
                <a:off x="754602" y="2353227"/>
                <a:ext cx="11061577" cy="3982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解：</a:t>
                </a:r>
                <a:endParaRPr lang="en-US" altLang="zh-CN" sz="2400" dirty="0"/>
              </a:p>
              <a:p>
                <a:r>
                  <a:rPr lang="zh-CN" altLang="en-US" sz="2400" dirty="0">
                    <a:latin typeface="+mn-ea"/>
                  </a:rPr>
                  <a:t>        拍频：在数值上等于两列波频率之差的绝对值</a:t>
                </a:r>
                <a:endParaRPr lang="en-US" altLang="zh-CN" sz="2400" dirty="0">
                  <a:latin typeface="+mn-ea"/>
                </a:endParaRPr>
              </a:p>
              <a:p>
                <a:r>
                  <a:rPr lang="zh-CN" altLang="en-US" sz="2400" dirty="0">
                    <a:latin typeface="+mn-ea"/>
                  </a:rPr>
                  <a:t> 设波源与观察者无相对运动的原始频率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n-ea"/>
                  </a:rPr>
                  <a:t>=30000Hz</a:t>
                </a:r>
                <a:r>
                  <a:rPr lang="zh-CN" altLang="en-US" sz="2400" dirty="0">
                    <a:latin typeface="+mn-ea"/>
                  </a:rPr>
                  <a:t>；</a:t>
                </a:r>
                <a:endParaRPr lang="en-US" altLang="zh-CN" sz="2400" dirty="0">
                  <a:latin typeface="+mn-ea"/>
                </a:endParaRPr>
              </a:p>
              <a:p>
                <a:r>
                  <a:rPr lang="zh-CN" altLang="en-US" sz="2400" dirty="0">
                    <a:latin typeface="+mn-ea"/>
                  </a:rPr>
                  <a:t> 声波波速</a:t>
                </a:r>
                <a:r>
                  <a:rPr lang="en-US" altLang="zh-CN" sz="2400" dirty="0">
                    <a:latin typeface="+mn-ea"/>
                  </a:rPr>
                  <a:t>u=1500</a:t>
                </a:r>
                <a:r>
                  <a:rPr lang="zh-CN" altLang="en-US" sz="2400" dirty="0">
                    <a:latin typeface="+mn-ea"/>
                    <a:cs typeface="Times New Roman" panose="02020603050405020304" pitchFamily="18" charset="0"/>
                  </a:rPr>
                  <a:t> m/s；潜艇速率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𝑣</m:t>
                    </m:r>
                  </m:oMath>
                </a14:m>
                <a:endParaRPr lang="en-US" altLang="zh-CN" sz="2400" dirty="0">
                  <a:latin typeface="+mn-ea"/>
                </a:endParaRPr>
              </a:p>
              <a:p>
                <a:r>
                  <a:rPr lang="en-US" altLang="zh-CN" sz="2400" dirty="0">
                    <a:latin typeface="+mn-ea"/>
                  </a:rPr>
                  <a:t>        </a:t>
                </a:r>
                <a:r>
                  <a:rPr lang="zh-CN" altLang="en-US" sz="2400" dirty="0">
                    <a:latin typeface="+mn-ea"/>
                  </a:rPr>
                  <a:t>根据多普勒效应，潜艇接收到的超声波频率为：</a:t>
                </a:r>
                <a:r>
                  <a:rPr lang="el-GR" altLang="zh-CN" sz="2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qt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n-ea"/>
                  </a:rPr>
                  <a:t>=</a:t>
                </a:r>
                <a:r>
                  <a:rPr lang="en-US" altLang="zh-CN" sz="2400" dirty="0">
                    <a:latin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</m:den>
                    </m:f>
                  </m:oMath>
                </a14:m>
                <a:r>
                  <a:rPr lang="el-GR" altLang="zh-CN" sz="2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endParaRPr lang="en-US" altLang="zh-CN" sz="2400" dirty="0">
                  <a:latin typeface="+mn-ea"/>
                </a:endParaRPr>
              </a:p>
              <a:p>
                <a:r>
                  <a:rPr lang="en-US" altLang="zh-CN" sz="2400" dirty="0">
                    <a:latin typeface="+mn-ea"/>
                  </a:rPr>
                  <a:t>        </a:t>
                </a:r>
                <a:r>
                  <a:rPr lang="zh-CN" altLang="en-US" sz="2400" dirty="0">
                    <a:latin typeface="+mn-ea"/>
                  </a:rPr>
                  <a:t>探测器接收到反射回来的波频率为：</a:t>
                </a:r>
                <a:r>
                  <a:rPr lang="el-GR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tc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n-ea"/>
                  </a:rPr>
                  <a:t>=</a:t>
                </a:r>
                <a:r>
                  <a:rPr lang="en-US" altLang="zh-CN" sz="2400" dirty="0">
                    <a:latin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den>
                    </m:f>
                    <m:sSub>
                      <m:sSubPr>
                        <m:ctrlPr>
                          <a:rPr lang="el-GR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qt</m:t>
                        </m:r>
                      </m:sub>
                    </m:sSub>
                  </m:oMath>
                </a14:m>
                <a:endParaRPr lang="en-US" altLang="zh-CN" sz="2400" dirty="0">
                  <a:latin typeface="+mn-ea"/>
                </a:endParaRPr>
              </a:p>
              <a:p>
                <a:r>
                  <a:rPr lang="en-US" altLang="zh-CN" sz="2400" dirty="0">
                    <a:latin typeface="+mn-ea"/>
                  </a:rPr>
                  <a:t>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tc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n-ea"/>
                  </a:rPr>
                  <a:t>=</a:t>
                </a:r>
                <a:r>
                  <a:rPr lang="en-US" altLang="zh-CN" sz="2400" dirty="0">
                    <a:latin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den>
                    </m:f>
                    <m:sSub>
                      <m:sSubPr>
                        <m:ctrlPr>
                          <a:rPr lang="el-GR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qt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latin typeface="+mn-ea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 dirty="0">
                        <a:latin typeface="+mn-ea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+mn-ea"/>
                  </a:rPr>
                  <a:t>*</a:t>
                </a:r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</m:den>
                    </m:f>
                  </m:oMath>
                </a14:m>
                <a:r>
                  <a:rPr lang="el-GR" altLang="zh-CN" sz="2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n-ea"/>
                  </a:rPr>
                  <a:t>=</a:t>
                </a:r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den>
                    </m:f>
                  </m:oMath>
                </a14:m>
                <a:r>
                  <a:rPr lang="el-GR" altLang="zh-CN" sz="2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endParaRPr lang="en-US" altLang="zh-CN" sz="2400" dirty="0">
                  <a:latin typeface="+mn-ea"/>
                </a:endParaRPr>
              </a:p>
              <a:p>
                <a:r>
                  <a:rPr lang="zh-CN" altLang="en-US" sz="2400" dirty="0">
                    <a:latin typeface="+mn-ea"/>
                  </a:rPr>
                  <a:t>拍频为：</a:t>
                </a:r>
                <a:r>
                  <a:rPr lang="el-GR" altLang="zh-CN" sz="2400" dirty="0">
                    <a:latin typeface="+mn-ea"/>
                  </a:rPr>
                  <a:t>Δ</a:t>
                </a:r>
                <a:r>
                  <a:rPr lang="el-GR" altLang="zh-CN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0" i="0" dirty="0" smtClean="0">
                        <a:latin typeface="+mn-ea"/>
                      </a:rPr>
                      <m:t>f</m:t>
                    </m:r>
                  </m:oMath>
                </a14:m>
                <a:r>
                  <a:rPr lang="en-US" altLang="zh-CN" sz="2400" dirty="0">
                    <a:latin typeface="+mn-ea"/>
                  </a:rPr>
                  <a:t>=|</a:t>
                </a:r>
                <a:r>
                  <a:rPr lang="el-GR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tc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n-ea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n-ea"/>
                  </a:rPr>
                  <a:t>|=</a:t>
                </a:r>
                <a:r>
                  <a:rPr lang="en-US" altLang="zh-CN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𝑣</m:t>
                        </m:r>
                      </m:den>
                    </m:f>
                  </m:oMath>
                </a14:m>
                <a:r>
                  <a:rPr lang="el-GR" altLang="zh-CN" sz="2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b="0" i="0" dirty="0" smtClean="0">
                            <a:latin typeface="+mn-ea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n-ea"/>
                  </a:rPr>
                  <a:t>=341Hz</a:t>
                </a:r>
              </a:p>
              <a:p>
                <a:r>
                  <a:rPr lang="zh-CN" altLang="en-US" sz="2400" dirty="0">
                    <a:latin typeface="+mn-ea"/>
                  </a:rPr>
                  <a:t>        所以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𝑣</m:t>
                    </m:r>
                  </m:oMath>
                </a14:m>
                <a:r>
                  <a:rPr lang="en-US" altLang="zh-CN" sz="2400" dirty="0">
                    <a:latin typeface="+mn-ea"/>
                  </a:rPr>
                  <a:t>=8.477</a:t>
                </a:r>
                <a:r>
                  <a:rPr lang="zh-CN" altLang="en-US" sz="2400" dirty="0">
                    <a:latin typeface="+mn-ea"/>
                    <a:cs typeface="Times New Roman" panose="02020603050405020304" pitchFamily="18" charset="0"/>
                  </a:rPr>
                  <a:t> m/s</a:t>
                </a:r>
                <a:endParaRPr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F0EAB4B-C541-4258-BA21-6FB07DADA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02" y="2353227"/>
                <a:ext cx="11061577" cy="3982693"/>
              </a:xfrm>
              <a:prstGeom prst="rect">
                <a:avLst/>
              </a:prstGeom>
              <a:blipFill>
                <a:blip r:embed="rId2"/>
                <a:stretch>
                  <a:fillRect l="-882" t="-1072" b="-2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9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1836</Words>
  <Application>Microsoft Office PowerPoint</Application>
  <PresentationFormat>宽屏</PresentationFormat>
  <Paragraphs>108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等线</vt:lpstr>
      <vt:lpstr>等线 Light</vt:lpstr>
      <vt:lpstr>仿宋</vt:lpstr>
      <vt:lpstr>黑体</vt:lpstr>
      <vt:lpstr>华文中宋</vt:lpstr>
      <vt:lpstr>宋体</vt:lpstr>
      <vt:lpstr>Arial</vt:lpstr>
      <vt:lpstr>Cambria Math</vt:lpstr>
      <vt:lpstr>Symbol</vt:lpstr>
      <vt:lpstr>Times New Roman</vt:lpstr>
      <vt:lpstr>Wingdings</vt:lpstr>
      <vt:lpstr>Office 主题​​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物体与托盘粘结在一起的过程用时极短，因此可以应用动量守恒定律来计算初始时刻的初速度，计算如下：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Erhu</dc:creator>
  <cp:lastModifiedBy>ZHANG Erhu</cp:lastModifiedBy>
  <cp:revision>5</cp:revision>
  <dcterms:created xsi:type="dcterms:W3CDTF">2022-09-14T07:33:30Z</dcterms:created>
  <dcterms:modified xsi:type="dcterms:W3CDTF">2022-09-24T12:09:01Z</dcterms:modified>
</cp:coreProperties>
</file>