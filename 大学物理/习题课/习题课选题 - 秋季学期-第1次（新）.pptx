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6" r:id="rId4"/>
    <p:sldId id="261" r:id="rId5"/>
    <p:sldId id="259" r:id="rId6"/>
    <p:sldId id="262" r:id="rId7"/>
    <p:sldId id="264" r:id="rId8"/>
    <p:sldId id="256" r:id="rId9"/>
    <p:sldId id="263" r:id="rId10"/>
    <p:sldId id="25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4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5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42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24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64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00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959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89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19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06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64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86137-16B2-4427-AD25-49EC9A1E9DE6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78FAD-3A63-4AEC-8B56-ABE4E93C8B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73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64336" y="874699"/>
            <a:ext cx="10110216" cy="1087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图示为两个同方向，同频率的谐振动的位移-时间曲线，则谐振动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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和谐振动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的相位差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sz="26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</a:t>
            </a:r>
            <a:endParaRPr lang="zh-CN" altLang="en-US" sz="2600" b="1" baseline="-25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020" y="2287596"/>
            <a:ext cx="4331260" cy="2026211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1850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57BBE2F-997A-4E04-B62A-B2EB9C3CB4F6}"/>
                  </a:ext>
                </a:extLst>
              </p:cNvPr>
              <p:cNvSpPr txBox="1"/>
              <p:nvPr/>
            </p:nvSpPr>
            <p:spPr>
              <a:xfrm>
                <a:off x="833887" y="749392"/>
                <a:ext cx="10524226" cy="2299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26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US" altLang="zh-CN" b="1" dirty="0">
                    <a:ea typeface="华文中宋" panose="02010600040101010101" pitchFamily="2" charset="-122"/>
                  </a:rPr>
                  <a:t>2. </a:t>
                </a:r>
                <a:r>
                  <a:rPr lang="zh-CN" altLang="en-US" b="1" dirty="0">
                    <a:solidFill>
                      <a:srgbClr val="FF0000"/>
                    </a:solidFill>
                    <a:highlight>
                      <a:srgbClr val="FFFF00"/>
                    </a:highlight>
                    <a:ea typeface="华文中宋" panose="02010600040101010101" pitchFamily="2" charset="-122"/>
                  </a:rPr>
                  <a:t>两质点沿着长为</a:t>
                </a:r>
                <a:r>
                  <a:rPr lang="en-US" altLang="zh-CN" b="1" dirty="0">
                    <a:solidFill>
                      <a:srgbClr val="FF0000"/>
                    </a:solidFill>
                    <a:highlight>
                      <a:srgbClr val="FFFF00"/>
                    </a:highlight>
                    <a:ea typeface="华文中宋" panose="02010600040101010101" pitchFamily="2" charset="-122"/>
                  </a:rPr>
                  <a:t>A</a:t>
                </a:r>
                <a:r>
                  <a:rPr lang="zh-CN" altLang="en-US" b="1" dirty="0">
                    <a:solidFill>
                      <a:srgbClr val="FF0000"/>
                    </a:solidFill>
                    <a:highlight>
                      <a:srgbClr val="FFFF00"/>
                    </a:highlight>
                    <a:ea typeface="华文中宋" panose="02010600040101010101" pitchFamily="2" charset="-122"/>
                  </a:rPr>
                  <a:t>的同一段直线路径作谐振动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。每一个质点具有</a:t>
                </a:r>
                <a:r>
                  <a:rPr lang="en-US" altLang="zh-CN" b="1" dirty="0">
                    <a:ea typeface="华文中宋" panose="02010600040101010101" pitchFamily="2" charset="-122"/>
                  </a:rPr>
                  <a:t>1.5s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的周期，但相位相差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zh-CN" altLang="en-US" b="1" dirty="0">
                    <a:ea typeface="华文中宋" panose="02010600040101010101" pitchFamily="2" charset="-122"/>
                  </a:rPr>
                  <a:t>。试问</a:t>
                </a:r>
                <a:r>
                  <a:rPr lang="zh-CN" altLang="en-US" b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：</a:t>
                </a:r>
                <a:r>
                  <a:rPr lang="en-US" altLang="zh-CN" b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(</a:t>
                </a:r>
                <a:r>
                  <a:rPr lang="en-US" altLang="zh-CN" b="1" i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a</a:t>
                </a:r>
                <a:r>
                  <a:rPr lang="en-US" altLang="zh-CN" b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) 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当超前的质点出发</a:t>
                </a:r>
                <a:r>
                  <a:rPr lang="en-US" altLang="zh-CN" b="1" dirty="0">
                    <a:ea typeface="华文中宋" panose="02010600040101010101" pitchFamily="2" charset="-122"/>
                  </a:rPr>
                  <a:t>0.5s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后，落后的质点离开直线路径的一端，这时它们相隔多远（用</a:t>
                </a:r>
                <a:r>
                  <a:rPr lang="en-US" altLang="zh-CN" b="1" dirty="0">
                    <a:ea typeface="华文中宋" panose="02010600040101010101" pitchFamily="2" charset="-122"/>
                  </a:rPr>
                  <a:t>A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表示）？</a:t>
                </a:r>
                <a:r>
                  <a:rPr lang="en-US" altLang="zh-CN" b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 (</a:t>
                </a:r>
                <a:r>
                  <a:rPr lang="en-US" altLang="zh-CN" b="1" i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b</a:t>
                </a:r>
                <a:r>
                  <a:rPr lang="en-US" altLang="zh-CN" b="1" dirty="0">
                    <a:ea typeface="华文中宋" panose="02010600040101010101" pitchFamily="2" charset="-122"/>
                    <a:sym typeface="Wingdings" panose="05000000000000000000" pitchFamily="2" charset="2"/>
                  </a:rPr>
                  <a:t>) 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这时它们是沿着同一方向运动呢？还是相向运动，或是相互分离？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57BBE2F-997A-4E04-B62A-B2EB9C3CB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87" y="749392"/>
                <a:ext cx="10524226" cy="2299412"/>
              </a:xfrm>
              <a:prstGeom prst="rect">
                <a:avLst/>
              </a:prstGeom>
              <a:blipFill>
                <a:blip r:embed="rId2"/>
                <a:stretch>
                  <a:fillRect l="-1043" b="-5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39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ABF84115-AA7C-4773-900E-2A11E95CDFDA}"/>
              </a:ext>
            </a:extLst>
          </p:cNvPr>
          <p:cNvSpPr txBox="1"/>
          <p:nvPr/>
        </p:nvSpPr>
        <p:spPr>
          <a:xfrm>
            <a:off x="674297" y="585968"/>
            <a:ext cx="10843405" cy="1609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>
                <a:ea typeface="华文中宋" panose="02010600040101010101" pitchFamily="2" charset="-122"/>
              </a:rPr>
              <a:t>3. </a:t>
            </a:r>
            <a:r>
              <a:rPr lang="zh-CN" altLang="en-US" b="1" dirty="0">
                <a:ea typeface="华文中宋" panose="02010600040101010101" pitchFamily="2" charset="-122"/>
              </a:rPr>
              <a:t>一物体沿 </a:t>
            </a:r>
            <a:r>
              <a:rPr lang="en-US" altLang="zh-CN" b="1" i="1" dirty="0">
                <a:ea typeface="华文中宋" panose="02010600040101010101" pitchFamily="2" charset="-122"/>
              </a:rPr>
              <a:t>x </a:t>
            </a:r>
            <a:r>
              <a:rPr lang="zh-CN" altLang="en-US" b="1" dirty="0">
                <a:ea typeface="华文中宋" panose="02010600040101010101" pitchFamily="2" charset="-122"/>
              </a:rPr>
              <a:t>轴作谐振动，振幅为 </a:t>
            </a:r>
            <a:r>
              <a:rPr lang="en-US" altLang="zh-CN" b="1" dirty="0">
                <a:ea typeface="华文中宋" panose="02010600040101010101" pitchFamily="2" charset="-122"/>
              </a:rPr>
              <a:t>10.0cm</a:t>
            </a:r>
            <a:r>
              <a:rPr lang="zh-CN" altLang="en-US" b="1" dirty="0">
                <a:ea typeface="华文中宋" panose="02010600040101010101" pitchFamily="2" charset="-122"/>
              </a:rPr>
              <a:t>，周期为 </a:t>
            </a:r>
            <a:r>
              <a:rPr lang="en-US" altLang="zh-CN" b="1" dirty="0">
                <a:ea typeface="华文中宋" panose="02010600040101010101" pitchFamily="2" charset="-122"/>
              </a:rPr>
              <a:t>2.0s</a:t>
            </a:r>
            <a:r>
              <a:rPr lang="zh-CN" altLang="en-US" b="1" dirty="0">
                <a:ea typeface="华文中宋" panose="02010600040101010101" pitchFamily="2" charset="-122"/>
              </a:rPr>
              <a:t>，在 </a:t>
            </a:r>
            <a:r>
              <a:rPr lang="en-US" altLang="zh-CN" b="1" i="1" dirty="0">
                <a:ea typeface="华文中宋" panose="02010600040101010101" pitchFamily="2" charset="-122"/>
              </a:rPr>
              <a:t>t</a:t>
            </a:r>
            <a:r>
              <a:rPr lang="en-US" altLang="zh-CN" b="1" dirty="0">
                <a:ea typeface="华文中宋" panose="02010600040101010101" pitchFamily="2" charset="-122"/>
              </a:rPr>
              <a:t>=0 </a:t>
            </a:r>
            <a:r>
              <a:rPr lang="zh-CN" altLang="en-US" b="1" dirty="0">
                <a:ea typeface="华文中宋" panose="02010600040101010101" pitchFamily="2" charset="-122"/>
              </a:rPr>
              <a:t>时，坐标为 </a:t>
            </a:r>
            <a:r>
              <a:rPr lang="en-US" altLang="zh-CN" b="1" dirty="0">
                <a:ea typeface="华文中宋" panose="02010600040101010101" pitchFamily="2" charset="-122"/>
              </a:rPr>
              <a:t>5.0cm</a:t>
            </a:r>
            <a:r>
              <a:rPr lang="zh-CN" altLang="en-US" b="1" dirty="0">
                <a:ea typeface="华文中宋" panose="02010600040101010101" pitchFamily="2" charset="-122"/>
              </a:rPr>
              <a:t>，且向 </a:t>
            </a:r>
            <a:r>
              <a:rPr lang="en-US" altLang="zh-CN" b="1" i="1" dirty="0">
                <a:ea typeface="华文中宋" panose="02010600040101010101" pitchFamily="2" charset="-122"/>
              </a:rPr>
              <a:t>x </a:t>
            </a:r>
            <a:r>
              <a:rPr lang="zh-CN" altLang="en-US" b="1" dirty="0">
                <a:ea typeface="华文中宋" panose="02010600040101010101" pitchFamily="2" charset="-122"/>
              </a:rPr>
              <a:t>轴负方向运动。求在 </a:t>
            </a:r>
            <a:r>
              <a:rPr lang="en-US" altLang="zh-CN" b="1" i="1">
                <a:ea typeface="华文中宋" panose="02010600040101010101" pitchFamily="2" charset="-122"/>
              </a:rPr>
              <a:t>x</a:t>
            </a:r>
            <a:r>
              <a:rPr lang="en-US" altLang="zh-CN" b="1">
                <a:ea typeface="华文中宋" panose="02010600040101010101" pitchFamily="2" charset="-122"/>
              </a:rPr>
              <a:t>=-6</a:t>
            </a:r>
            <a:r>
              <a:rPr lang="zh-CN" altLang="en-US" b="1"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</a:rPr>
              <a:t>cm</a:t>
            </a:r>
            <a:r>
              <a:rPr lang="zh-CN" altLang="en-US" b="1" dirty="0">
                <a:ea typeface="华文中宋" panose="02010600040101010101" pitchFamily="2" charset="-122"/>
              </a:rPr>
              <a:t>处，沿 </a:t>
            </a:r>
            <a:r>
              <a:rPr lang="en-US" altLang="zh-CN" b="1" i="1" dirty="0">
                <a:ea typeface="华文中宋" panose="02010600040101010101" pitchFamily="2" charset="-122"/>
              </a:rPr>
              <a:t>x </a:t>
            </a:r>
            <a:r>
              <a:rPr lang="zh-CN" altLang="en-US" b="1" dirty="0">
                <a:ea typeface="华文中宋" panose="02010600040101010101" pitchFamily="2" charset="-122"/>
              </a:rPr>
              <a:t>轴负方向运动时，物体的速度和加速度以及它从这个位置回到平衡位置所需最短时间。</a:t>
            </a:r>
          </a:p>
        </p:txBody>
      </p:sp>
    </p:spTree>
    <p:extLst>
      <p:ext uri="{BB962C8B-B14F-4D97-AF65-F5344CB8AC3E}">
        <p14:creationId xmlns:p14="http://schemas.microsoft.com/office/powerpoint/2010/main" val="399262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4568" y="474752"/>
            <a:ext cx="10530840" cy="349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一轻弹簧的劲度系数为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，下端悬一质量为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的盘子，今有一质量为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的物体从离盘底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高处自由下落到盘中，并和盘子粘在一起，于是盘于开始振动。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求此时的振动周期与空盘子作振动时的同期的比值?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取物体落入盘中后的平衡位置为坐标原点，坐标的正方向向下，并</a:t>
            </a:r>
            <a:r>
              <a:rPr lang="zh-CN" altLang="en-US" sz="2600" b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以碰撞结束时开始计时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，试写出振动的振幅和振动方程。</a:t>
            </a:r>
          </a:p>
          <a:p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620" y="3757847"/>
            <a:ext cx="2385516" cy="2862618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1385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07" y="682675"/>
            <a:ext cx="10815007" cy="1087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一平面简谐波在空间以速度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v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传播，已知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点的振动方程为 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600" b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t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，就下面四种选定的坐标系。写出各自的波函数：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631" y="2292509"/>
            <a:ext cx="7734732" cy="3281814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90534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596" y="691819"/>
            <a:ext cx="10340484" cy="1081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如图所示，BC为波密介质的反射面，波由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点反射，已知入射波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时刻的波形曲线，则反射波为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075" y="2295761"/>
            <a:ext cx="8175359" cy="2788650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31047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16864" y="345454"/>
            <a:ext cx="10722864" cy="3213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已知平面余弦波波源的振动周期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=0.5s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，波长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10m，振幅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0.1m。当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时，波源处振动的位移恰好为正方向的最大值，取波源处为坐标原点，并设此波沿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轴正方向传播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(1)写出此波的波函数。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(2)写出沿波传播方向距离波源为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处的振动方程。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(3)画出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 时刻的波形曲线。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96" y="3700293"/>
            <a:ext cx="3743884" cy="1937624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91060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3472" y="594053"/>
            <a:ext cx="10165055" cy="420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一平面简谐波沿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轴正向一反射面入射，如图所示，入射波的振幅为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，周期为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，波长为 </a:t>
            </a:r>
            <a:r>
              <a:rPr lang="el-GR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时刻，在原点处的质元由平衡位置向位移为正的方向运动，入射波在界面处发生全反射，反射波的振幅等于入射被的振幅，而且反射点为波节。求：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)入射波的波函数；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反射波的波函数；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3) 求合成波，并标出因叠加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而静止的各点的坐标。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98399" y="2879032"/>
            <a:ext cx="3774264" cy="275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78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0892" y="518114"/>
            <a:ext cx="10110216" cy="2642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9.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时刻(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为周期)，某驻波的波形和某一沿 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轴负方向传播的行波的波形如图所示，图中</a:t>
            </a:r>
            <a:r>
              <a:rPr lang="el-GR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为波长，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两点的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| = |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|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，则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AutoNum type="arabicParenBoth"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对驻波来说，它们的相位差为多少？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AutoNum type="arabicParenBoth"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对行波来说，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两点的相位差为多少？</a:t>
            </a:r>
            <a:endParaRPr lang="en-US" altLang="zh-CN" sz="26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AutoNum type="arabicParenBoth"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该行波的波函数？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037" y="3228744"/>
            <a:ext cx="4261916" cy="2147225"/>
          </a:xfrm>
          <a:prstGeom prst="rect">
            <a:avLst/>
          </a:prstGeom>
          <a:ln w="228600" cap="sq" cmpd="thickThin">
            <a:solidFill>
              <a:schemeClr val="bg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26796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6099" y="969024"/>
            <a:ext cx="10593901" cy="1609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10.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一起声波探测器，在海水中发出一束频率为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0000Hz 的超声波，刚好被向着探测器驶来的潜艇反射回来，两列波合成后得到频率为 341Hz 的拍，则潜艇的速率为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________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。(设超声波在海水中的波速为 1500m/s )</a:t>
            </a:r>
          </a:p>
        </p:txBody>
      </p:sp>
    </p:spTree>
    <p:extLst>
      <p:ext uri="{BB962C8B-B14F-4D97-AF65-F5344CB8AC3E}">
        <p14:creationId xmlns:p14="http://schemas.microsoft.com/office/powerpoint/2010/main" val="38539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5020</TotalTime>
  <Words>736</Words>
  <Application>Microsoft Office PowerPoint</Application>
  <PresentationFormat>宽屏</PresentationFormat>
  <Paragraphs>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等线 Light</vt:lpstr>
      <vt:lpstr>华文中宋</vt:lpstr>
      <vt:lpstr>Arial</vt:lpstr>
      <vt:lpstr>Cambria Math</vt:lpstr>
      <vt:lpstr>Symbol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一生有你</dc:creator>
  <cp:lastModifiedBy>yzhang</cp:lastModifiedBy>
  <cp:revision>43</cp:revision>
  <dcterms:created xsi:type="dcterms:W3CDTF">2018-10-10T12:37:25Z</dcterms:created>
  <dcterms:modified xsi:type="dcterms:W3CDTF">2025-09-22T07:24:14Z</dcterms:modified>
</cp:coreProperties>
</file>