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71" r:id="rId3"/>
    <p:sldId id="256" r:id="rId4"/>
    <p:sldId id="279" r:id="rId5"/>
    <p:sldId id="267" r:id="rId6"/>
    <p:sldId id="257" r:id="rId7"/>
    <p:sldId id="297" r:id="rId8"/>
    <p:sldId id="660" r:id="rId9"/>
    <p:sldId id="258" r:id="rId10"/>
    <p:sldId id="304" r:id="rId11"/>
    <p:sldId id="259" r:id="rId12"/>
    <p:sldId id="275" r:id="rId13"/>
    <p:sldId id="276" r:id="rId14"/>
    <p:sldId id="260" r:id="rId15"/>
    <p:sldId id="661" r:id="rId16"/>
    <p:sldId id="662" r:id="rId17"/>
    <p:sldId id="663" r:id="rId18"/>
    <p:sldId id="659" r:id="rId19"/>
    <p:sldId id="283" r:id="rId20"/>
    <p:sldId id="285" r:id="rId21"/>
    <p:sldId id="286" r:id="rId22"/>
    <p:sldId id="261" r:id="rId23"/>
    <p:sldId id="292" r:id="rId24"/>
    <p:sldId id="664" r:id="rId25"/>
    <p:sldId id="263" r:id="rId26"/>
    <p:sldId id="665" r:id="rId27"/>
    <p:sldId id="262" r:id="rId28"/>
    <p:sldId id="293" r:id="rId29"/>
  </p:sldIdLst>
  <p:sldSz cx="12192000" cy="6858000"/>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110" d="100"/>
          <a:sy n="110"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5" Type="http://schemas.openxmlformats.org/officeDocument/2006/relationships/image" Target="../media/image11.wmf"/><Relationship Id="rId4"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5" Type="http://schemas.openxmlformats.org/officeDocument/2006/relationships/image" Target="../media/image16.wmf"/><Relationship Id="rId4"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333766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2896088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1714421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145889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2561148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2324292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87814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1248314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3350217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263402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27410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F31D29-E87D-43A8-B599-EC8DACC8F572}" type="datetimeFigureOut">
              <a:rPr lang="zh-CN" altLang="en-US" smtClean="0"/>
              <a:t>2025/11/25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21D2E-EDF1-490F-8B78-FFE4FE0C93C5}" type="slidenum">
              <a:rPr lang="zh-CN" altLang="en-US" smtClean="0"/>
              <a:t>‹#›</a:t>
            </a:fld>
            <a:endParaRPr lang="zh-CN" altLang="en-US"/>
          </a:p>
        </p:txBody>
      </p:sp>
    </p:spTree>
    <p:extLst>
      <p:ext uri="{BB962C8B-B14F-4D97-AF65-F5344CB8AC3E}">
        <p14:creationId xmlns:p14="http://schemas.microsoft.com/office/powerpoint/2010/main" val="384509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10.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1.wmf"/><Relationship Id="rId3" Type="http://schemas.openxmlformats.org/officeDocument/2006/relationships/image" Target="../media/image6.png"/><Relationship Id="rId7" Type="http://schemas.openxmlformats.org/officeDocument/2006/relationships/image" Target="../media/image8.wmf"/><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0.wmf"/><Relationship Id="rId5" Type="http://schemas.openxmlformats.org/officeDocument/2006/relationships/image" Target="../media/image7.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9.wmf"/><Relationship Id="rId14" Type="http://schemas.openxmlformats.org/officeDocument/2006/relationships/image" Target="NUL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6.wmf"/><Relationship Id="rId3" Type="http://schemas.openxmlformats.org/officeDocument/2006/relationships/image" Target="../media/image6.png"/><Relationship Id="rId7" Type="http://schemas.openxmlformats.org/officeDocument/2006/relationships/image" Target="../media/image13.wmf"/><Relationship Id="rId12"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4.wmf"/><Relationship Id="rId14" Type="http://schemas.openxmlformats.org/officeDocument/2006/relationships/image" Target="NUL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7.jp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41.png"/><Relationship Id="rId7" Type="http://schemas.openxmlformats.org/officeDocument/2006/relationships/image" Target="../media/image180.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41.png"/><Relationship Id="rId4" Type="http://schemas.openxmlformats.org/officeDocument/2006/relationships/image" Target="../media/image150.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20.png"/><Relationship Id="rId7" Type="http://schemas.openxmlformats.org/officeDocument/2006/relationships/image" Target="../media/image260.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271.png"/><Relationship Id="rId5" Type="http://schemas.openxmlformats.org/officeDocument/2006/relationships/image" Target="../media/image240.png"/><Relationship Id="rId4" Type="http://schemas.openxmlformats.org/officeDocument/2006/relationships/image" Target="../media/image230.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1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6.png"/><Relationship Id="rId2" Type="http://schemas.openxmlformats.org/officeDocument/2006/relationships/image" Target="../media/image32.emf"/><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45.png"/><Relationship Id="rId4" Type="http://schemas.openxmlformats.org/officeDocument/2006/relationships/image" Target="../media/image34.emf"/></Relationships>
</file>

<file path=ppt/slides/_rels/slide2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38.emf"/><Relationship Id="rId7" Type="http://schemas.openxmlformats.org/officeDocument/2006/relationships/image" Target="../media/image54.png"/><Relationship Id="rId2" Type="http://schemas.openxmlformats.org/officeDocument/2006/relationships/image" Target="../media/image37.emf"/><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0.png"/><Relationship Id="rId10" Type="http://schemas.openxmlformats.org/officeDocument/2006/relationships/image" Target="../media/image57.png"/><Relationship Id="rId4" Type="http://schemas.openxmlformats.org/officeDocument/2006/relationships/image" Target="../media/image39.emf"/><Relationship Id="rId9"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10.png"/><Relationship Id="rId1" Type="http://schemas.openxmlformats.org/officeDocument/2006/relationships/slideLayout" Target="../slideLayouts/slideLayout1.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3">
            <a:extLst>
              <a:ext uri="{FF2B5EF4-FFF2-40B4-BE49-F238E27FC236}">
                <a16:creationId xmlns:a16="http://schemas.microsoft.com/office/drawing/2014/main" id="{73863513-9B07-4818-9688-14ADAF7A04D5}"/>
              </a:ext>
            </a:extLst>
          </p:cNvPr>
          <p:cNvSpPr>
            <a:spLocks noGrp="1"/>
          </p:cNvSpPr>
          <p:nvPr>
            <p:ph type="sldNum" sz="quarter" idx="12"/>
          </p:nvPr>
        </p:nvSpPr>
        <p:spPr/>
        <p:txBody>
          <a:bodyPr/>
          <a:lstStyle/>
          <a:p>
            <a:fld id="{0EB3353F-1A63-4A8B-9547-A925AED3096E}" type="slidenum">
              <a:rPr lang="en-US" altLang="zh-CN"/>
              <a:pPr/>
              <a:t>1</a:t>
            </a:fld>
            <a:endParaRPr lang="en-US" altLang="zh-CN"/>
          </a:p>
        </p:txBody>
      </p:sp>
      <p:sp>
        <p:nvSpPr>
          <p:cNvPr id="6146" name="Text Box 2">
            <a:extLst>
              <a:ext uri="{FF2B5EF4-FFF2-40B4-BE49-F238E27FC236}">
                <a16:creationId xmlns:a16="http://schemas.microsoft.com/office/drawing/2014/main" id="{6DC0E2DA-D6C7-401D-81EC-5179B51D698B}"/>
              </a:ext>
            </a:extLst>
          </p:cNvPr>
          <p:cNvSpPr txBox="1">
            <a:spLocks noChangeArrowheads="1"/>
          </p:cNvSpPr>
          <p:nvPr/>
        </p:nvSpPr>
        <p:spPr bwMode="auto">
          <a:xfrm>
            <a:off x="1055076" y="381000"/>
            <a:ext cx="1088089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3200" dirty="0">
                <a:latin typeface="+mj-lt"/>
              </a:rPr>
              <a:t>1. </a:t>
            </a:r>
            <a:r>
              <a:rPr lang="zh-CN" altLang="en-US" sz="3200" dirty="0">
                <a:latin typeface="+mj-lt"/>
              </a:rPr>
              <a:t>如图，一绝热容器被一无摩擦可动导热板分成</a:t>
            </a:r>
            <a:r>
              <a:rPr lang="en-US" altLang="zh-CN" sz="3200" dirty="0">
                <a:latin typeface="+mj-lt"/>
              </a:rPr>
              <a:t>A</a:t>
            </a:r>
            <a:r>
              <a:rPr lang="zh-CN" altLang="en-US" sz="3200" dirty="0">
                <a:latin typeface="+mj-lt"/>
              </a:rPr>
              <a:t>、</a:t>
            </a:r>
            <a:r>
              <a:rPr lang="en-US" altLang="zh-CN" sz="3200" dirty="0">
                <a:latin typeface="+mj-lt"/>
              </a:rPr>
              <a:t>B</a:t>
            </a:r>
            <a:r>
              <a:rPr lang="zh-CN" altLang="en-US" sz="3200" dirty="0">
                <a:latin typeface="+mj-lt"/>
              </a:rPr>
              <a:t>两部分。 </a:t>
            </a:r>
            <a:endParaRPr lang="en-US" altLang="zh-CN" sz="3200" dirty="0">
              <a:latin typeface="+mj-lt"/>
            </a:endParaRPr>
          </a:p>
          <a:p>
            <a:r>
              <a:rPr lang="en-US" altLang="zh-CN" sz="3200" dirty="0">
                <a:latin typeface="+mj-lt"/>
              </a:rPr>
              <a:t>A</a:t>
            </a:r>
            <a:r>
              <a:rPr lang="zh-CN" altLang="en-US" sz="3200" dirty="0">
                <a:latin typeface="+mj-lt"/>
              </a:rPr>
              <a:t>，</a:t>
            </a:r>
            <a:r>
              <a:rPr lang="en-US" altLang="zh-CN" sz="3200" dirty="0">
                <a:latin typeface="+mj-lt"/>
              </a:rPr>
              <a:t>B</a:t>
            </a:r>
            <a:r>
              <a:rPr lang="zh-CN" altLang="en-US" sz="3200" dirty="0">
                <a:latin typeface="+mj-lt"/>
              </a:rPr>
              <a:t>内各有</a:t>
            </a:r>
            <a:r>
              <a:rPr lang="en-US" altLang="zh-CN" sz="3200" b="1" dirty="0">
                <a:latin typeface="+mj-lt"/>
              </a:rPr>
              <a:t>1mol</a:t>
            </a:r>
            <a:r>
              <a:rPr lang="zh-CN" altLang="en-US" sz="3200" dirty="0">
                <a:latin typeface="+mj-lt"/>
              </a:rPr>
              <a:t>的理想气体</a:t>
            </a:r>
            <a:r>
              <a:rPr lang="en-US" altLang="en-US" sz="3200" dirty="0">
                <a:latin typeface="+mj-lt"/>
              </a:rPr>
              <a:t> </a:t>
            </a:r>
            <a:r>
              <a:rPr lang="en-US" altLang="zh-CN" sz="3200" b="1" dirty="0">
                <a:latin typeface="+mj-lt"/>
              </a:rPr>
              <a:t>H</a:t>
            </a:r>
            <a:r>
              <a:rPr lang="en-US" altLang="zh-CN" sz="3200" b="1" baseline="-25000" dirty="0">
                <a:latin typeface="+mj-lt"/>
              </a:rPr>
              <a:t>e,</a:t>
            </a:r>
            <a:r>
              <a:rPr lang="en-US" altLang="zh-CN" sz="3200" b="1" dirty="0">
                <a:latin typeface="+mj-lt"/>
              </a:rPr>
              <a:t>O</a:t>
            </a:r>
            <a:r>
              <a:rPr lang="en-US" altLang="zh-CN" sz="3200" b="1" baseline="-25000" dirty="0">
                <a:latin typeface="+mj-lt"/>
              </a:rPr>
              <a:t>2.</a:t>
            </a:r>
            <a:r>
              <a:rPr lang="en-US" altLang="zh-CN" sz="3200" b="1" dirty="0"/>
              <a:t> </a:t>
            </a:r>
          </a:p>
          <a:p>
            <a:r>
              <a:rPr lang="zh-CN" altLang="en-US" sz="3200" dirty="0"/>
              <a:t>    已知初始时，</a:t>
            </a:r>
            <a:endParaRPr lang="en-US" altLang="zh-CN" sz="4000" dirty="0">
              <a:latin typeface="+mj-lt"/>
            </a:endParaRPr>
          </a:p>
        </p:txBody>
      </p:sp>
      <p:graphicFrame>
        <p:nvGraphicFramePr>
          <p:cNvPr id="6148" name="Object 4">
            <a:extLst>
              <a:ext uri="{FF2B5EF4-FFF2-40B4-BE49-F238E27FC236}">
                <a16:creationId xmlns:a16="http://schemas.microsoft.com/office/drawing/2014/main" id="{1040C14D-C865-4ADF-9E06-67A745D3FA81}"/>
              </a:ext>
            </a:extLst>
          </p:cNvPr>
          <p:cNvGraphicFramePr>
            <a:graphicFrameLocks noChangeAspect="1"/>
          </p:cNvGraphicFramePr>
          <p:nvPr>
            <p:extLst/>
          </p:nvPr>
        </p:nvGraphicFramePr>
        <p:xfrm>
          <a:off x="3812923" y="1365837"/>
          <a:ext cx="6973085" cy="603504"/>
        </p:xfrm>
        <a:graphic>
          <a:graphicData uri="http://schemas.openxmlformats.org/presentationml/2006/ole">
            <mc:AlternateContent xmlns:mc="http://schemas.openxmlformats.org/markup-compatibility/2006">
              <mc:Choice xmlns:v="urn:schemas-microsoft-com:vml" Requires="v">
                <p:oleObj spid="_x0000_s1034" name="Equation" r:id="rId4" imgW="2641320" imgH="228600" progId="Equation.DSMT4">
                  <p:embed/>
                </p:oleObj>
              </mc:Choice>
              <mc:Fallback>
                <p:oleObj name="Equation" r:id="rId4" imgW="2641320" imgH="228600" progId="Equation.DSMT4">
                  <p:embed/>
                  <p:pic>
                    <p:nvPicPr>
                      <p:cNvPr id="6148" name="Object 4">
                        <a:extLst>
                          <a:ext uri="{FF2B5EF4-FFF2-40B4-BE49-F238E27FC236}">
                            <a16:creationId xmlns:a16="http://schemas.microsoft.com/office/drawing/2014/main" id="{1040C14D-C865-4ADF-9E06-67A745D3FA81}"/>
                          </a:ext>
                        </a:extLst>
                      </p:cNvPr>
                      <p:cNvPicPr>
                        <a:picLocks noChangeAspect="1" noChangeArrowheads="1"/>
                      </p:cNvPicPr>
                      <p:nvPr/>
                    </p:nvPicPr>
                    <p:blipFill>
                      <a:blip r:embed="rId5"/>
                      <a:srcRect/>
                      <a:stretch>
                        <a:fillRect/>
                      </a:stretch>
                    </p:blipFill>
                    <p:spPr bwMode="auto">
                      <a:xfrm>
                        <a:off x="3812923" y="1365837"/>
                        <a:ext cx="6973085" cy="603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Text Box 5">
            <a:extLst>
              <a:ext uri="{FF2B5EF4-FFF2-40B4-BE49-F238E27FC236}">
                <a16:creationId xmlns:a16="http://schemas.microsoft.com/office/drawing/2014/main" id="{7199177D-CA8E-4CE8-A388-F39C06F1A486}"/>
              </a:ext>
            </a:extLst>
          </p:cNvPr>
          <p:cNvSpPr txBox="1">
            <a:spLocks noChangeArrowheads="1"/>
          </p:cNvSpPr>
          <p:nvPr/>
        </p:nvSpPr>
        <p:spPr bwMode="auto">
          <a:xfrm>
            <a:off x="1426728" y="2169442"/>
            <a:ext cx="81002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200" dirty="0"/>
              <a:t>求：当整个系统达到平衡时的温度</a:t>
            </a:r>
            <a:r>
              <a:rPr lang="en-US" altLang="zh-CN" sz="3200" dirty="0"/>
              <a:t>T</a:t>
            </a:r>
            <a:r>
              <a:rPr lang="zh-CN" altLang="en-US" sz="3200" dirty="0"/>
              <a:t>和压强</a:t>
            </a:r>
            <a:r>
              <a:rPr lang="en-US" altLang="zh-CN" sz="3200" dirty="0"/>
              <a:t>P.</a:t>
            </a:r>
          </a:p>
        </p:txBody>
      </p:sp>
      <p:grpSp>
        <p:nvGrpSpPr>
          <p:cNvPr id="6171" name="Group 27">
            <a:extLst>
              <a:ext uri="{FF2B5EF4-FFF2-40B4-BE49-F238E27FC236}">
                <a16:creationId xmlns:a16="http://schemas.microsoft.com/office/drawing/2014/main" id="{468BF85B-0BC8-40AB-BA31-30D18FAAE995}"/>
              </a:ext>
            </a:extLst>
          </p:cNvPr>
          <p:cNvGrpSpPr>
            <a:grpSpLocks/>
          </p:cNvGrpSpPr>
          <p:nvPr/>
        </p:nvGrpSpPr>
        <p:grpSpPr bwMode="auto">
          <a:xfrm>
            <a:off x="4448175" y="3074987"/>
            <a:ext cx="3581400" cy="3281363"/>
            <a:chOff x="288" y="1872"/>
            <a:chExt cx="2256" cy="2067"/>
          </a:xfrm>
        </p:grpSpPr>
        <p:sp>
          <p:nvSpPr>
            <p:cNvPr id="6167" name="AutoShape 23">
              <a:extLst>
                <a:ext uri="{FF2B5EF4-FFF2-40B4-BE49-F238E27FC236}">
                  <a16:creationId xmlns:a16="http://schemas.microsoft.com/office/drawing/2014/main" id="{26DFAB91-4F52-4B41-B8DD-21CF2144EBDF}"/>
                </a:ext>
              </a:extLst>
            </p:cNvPr>
            <p:cNvSpPr>
              <a:spLocks noChangeArrowheads="1"/>
            </p:cNvSpPr>
            <p:nvPr/>
          </p:nvSpPr>
          <p:spPr bwMode="auto">
            <a:xfrm>
              <a:off x="1968" y="2016"/>
              <a:ext cx="576" cy="384"/>
            </a:xfrm>
            <a:prstGeom prst="wedgeRoundRectCallout">
              <a:avLst>
                <a:gd name="adj1" fmla="val -40972"/>
                <a:gd name="adj2" fmla="val 95315"/>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400"/>
            </a:p>
          </p:txBody>
        </p:sp>
        <p:grpSp>
          <p:nvGrpSpPr>
            <p:cNvPr id="6164" name="Group 20">
              <a:extLst>
                <a:ext uri="{FF2B5EF4-FFF2-40B4-BE49-F238E27FC236}">
                  <a16:creationId xmlns:a16="http://schemas.microsoft.com/office/drawing/2014/main" id="{67893446-A6AC-48C5-B146-05E91EC60CA9}"/>
                </a:ext>
              </a:extLst>
            </p:cNvPr>
            <p:cNvGrpSpPr>
              <a:grpSpLocks/>
            </p:cNvGrpSpPr>
            <p:nvPr/>
          </p:nvGrpSpPr>
          <p:grpSpPr bwMode="auto">
            <a:xfrm>
              <a:off x="288" y="2544"/>
              <a:ext cx="2160" cy="1395"/>
              <a:chOff x="2832" y="2208"/>
              <a:chExt cx="2160" cy="1395"/>
            </a:xfrm>
          </p:grpSpPr>
          <p:sp>
            <p:nvSpPr>
              <p:cNvPr id="6150" name="Rectangle 6">
                <a:extLst>
                  <a:ext uri="{FF2B5EF4-FFF2-40B4-BE49-F238E27FC236}">
                    <a16:creationId xmlns:a16="http://schemas.microsoft.com/office/drawing/2014/main" id="{CAAEFCCC-D5D7-4024-A6F6-316254774EE9}"/>
                  </a:ext>
                </a:extLst>
              </p:cNvPr>
              <p:cNvSpPr>
                <a:spLocks noChangeArrowheads="1"/>
              </p:cNvSpPr>
              <p:nvPr/>
            </p:nvSpPr>
            <p:spPr bwMode="auto">
              <a:xfrm>
                <a:off x="2832" y="2208"/>
                <a:ext cx="2160" cy="105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2" name="Rectangle 8">
                <a:extLst>
                  <a:ext uri="{FF2B5EF4-FFF2-40B4-BE49-F238E27FC236}">
                    <a16:creationId xmlns:a16="http://schemas.microsoft.com/office/drawing/2014/main" id="{8732AD44-80C8-426D-9B37-A9C37F51AB14}"/>
                  </a:ext>
                </a:extLst>
              </p:cNvPr>
              <p:cNvSpPr>
                <a:spLocks noChangeArrowheads="1"/>
              </p:cNvSpPr>
              <p:nvPr/>
            </p:nvSpPr>
            <p:spPr bwMode="auto">
              <a:xfrm>
                <a:off x="2928" y="2304"/>
                <a:ext cx="1968"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400"/>
              </a:p>
            </p:txBody>
          </p:sp>
          <p:sp>
            <p:nvSpPr>
              <p:cNvPr id="6153" name="Rectangle 9">
                <a:extLst>
                  <a:ext uri="{FF2B5EF4-FFF2-40B4-BE49-F238E27FC236}">
                    <a16:creationId xmlns:a16="http://schemas.microsoft.com/office/drawing/2014/main" id="{CAC4F7AA-AD87-4597-BC7E-17DAB20B2BC3}"/>
                  </a:ext>
                </a:extLst>
              </p:cNvPr>
              <p:cNvSpPr>
                <a:spLocks noChangeArrowheads="1"/>
              </p:cNvSpPr>
              <p:nvPr/>
            </p:nvSpPr>
            <p:spPr bwMode="auto">
              <a:xfrm>
                <a:off x="3504" y="2304"/>
                <a:ext cx="96"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 name="Text Box 14">
                <a:extLst>
                  <a:ext uri="{FF2B5EF4-FFF2-40B4-BE49-F238E27FC236}">
                    <a16:creationId xmlns:a16="http://schemas.microsoft.com/office/drawing/2014/main" id="{23F73513-412C-4630-8967-51CA241ACBAB}"/>
                  </a:ext>
                </a:extLst>
              </p:cNvPr>
              <p:cNvSpPr txBox="1">
                <a:spLocks noChangeArrowheads="1"/>
              </p:cNvSpPr>
              <p:nvPr/>
            </p:nvSpPr>
            <p:spPr bwMode="auto">
              <a:xfrm>
                <a:off x="3120" y="2352"/>
                <a:ext cx="24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t>A</a:t>
                </a:r>
              </a:p>
            </p:txBody>
          </p:sp>
          <p:sp>
            <p:nvSpPr>
              <p:cNvPr id="6159" name="Text Box 15">
                <a:extLst>
                  <a:ext uri="{FF2B5EF4-FFF2-40B4-BE49-F238E27FC236}">
                    <a16:creationId xmlns:a16="http://schemas.microsoft.com/office/drawing/2014/main" id="{665DB87D-CC33-40D8-8171-521F6CAC54E5}"/>
                  </a:ext>
                </a:extLst>
              </p:cNvPr>
              <p:cNvSpPr txBox="1">
                <a:spLocks noChangeArrowheads="1"/>
              </p:cNvSpPr>
              <p:nvPr/>
            </p:nvSpPr>
            <p:spPr bwMode="auto">
              <a:xfrm>
                <a:off x="4166" y="2330"/>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t>B</a:t>
                </a:r>
              </a:p>
            </p:txBody>
          </p:sp>
          <p:sp>
            <p:nvSpPr>
              <p:cNvPr id="6160" name="Text Box 16">
                <a:extLst>
                  <a:ext uri="{FF2B5EF4-FFF2-40B4-BE49-F238E27FC236}">
                    <a16:creationId xmlns:a16="http://schemas.microsoft.com/office/drawing/2014/main" id="{E2EBCC27-08BE-4F2E-AB47-BFA54A14092F}"/>
                  </a:ext>
                </a:extLst>
              </p:cNvPr>
              <p:cNvSpPr txBox="1">
                <a:spLocks noChangeArrowheads="1"/>
              </p:cNvSpPr>
              <p:nvPr/>
            </p:nvSpPr>
            <p:spPr bwMode="auto">
              <a:xfrm>
                <a:off x="3158" y="2762"/>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t>H</a:t>
                </a:r>
                <a:r>
                  <a:rPr lang="en-US" altLang="zh-CN" sz="2400" baseline="-25000"/>
                  <a:t>e</a:t>
                </a:r>
              </a:p>
            </p:txBody>
          </p:sp>
          <p:sp>
            <p:nvSpPr>
              <p:cNvPr id="6161" name="Text Box 17">
                <a:extLst>
                  <a:ext uri="{FF2B5EF4-FFF2-40B4-BE49-F238E27FC236}">
                    <a16:creationId xmlns:a16="http://schemas.microsoft.com/office/drawing/2014/main" id="{48CCDB14-DE98-4AE8-BDE9-F55833CBFF6B}"/>
                  </a:ext>
                </a:extLst>
              </p:cNvPr>
              <p:cNvSpPr txBox="1">
                <a:spLocks noChangeArrowheads="1"/>
              </p:cNvSpPr>
              <p:nvPr/>
            </p:nvSpPr>
            <p:spPr bwMode="auto">
              <a:xfrm>
                <a:off x="4166" y="2762"/>
                <a:ext cx="3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400"/>
                  <a:t>O</a:t>
                </a:r>
                <a:r>
                  <a:rPr lang="en-US" altLang="zh-CN" sz="2400" baseline="-25000"/>
                  <a:t>2</a:t>
                </a:r>
              </a:p>
            </p:txBody>
          </p:sp>
          <p:sp>
            <p:nvSpPr>
              <p:cNvPr id="6162" name="Text Box 18">
                <a:extLst>
                  <a:ext uri="{FF2B5EF4-FFF2-40B4-BE49-F238E27FC236}">
                    <a16:creationId xmlns:a16="http://schemas.microsoft.com/office/drawing/2014/main" id="{CA1170C6-B217-45AF-BDB2-D490CDC02241}"/>
                  </a:ext>
                </a:extLst>
              </p:cNvPr>
              <p:cNvSpPr txBox="1">
                <a:spLocks noChangeArrowheads="1"/>
              </p:cNvSpPr>
              <p:nvPr/>
            </p:nvSpPr>
            <p:spPr bwMode="auto">
              <a:xfrm>
                <a:off x="2976" y="3312"/>
                <a:ext cx="5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400"/>
                  <a:t>300</a:t>
                </a:r>
                <a:r>
                  <a:rPr lang="en-US" altLang="zh-CN" sz="2400"/>
                  <a:t>K</a:t>
                </a:r>
              </a:p>
            </p:txBody>
          </p:sp>
          <p:sp>
            <p:nvSpPr>
              <p:cNvPr id="6163" name="Text Box 19">
                <a:extLst>
                  <a:ext uri="{FF2B5EF4-FFF2-40B4-BE49-F238E27FC236}">
                    <a16:creationId xmlns:a16="http://schemas.microsoft.com/office/drawing/2014/main" id="{84ADC8EC-1ED1-40F5-BE30-36F782EA4480}"/>
                  </a:ext>
                </a:extLst>
              </p:cNvPr>
              <p:cNvSpPr txBox="1">
                <a:spLocks noChangeArrowheads="1"/>
              </p:cNvSpPr>
              <p:nvPr/>
            </p:nvSpPr>
            <p:spPr bwMode="auto">
              <a:xfrm>
                <a:off x="4032" y="3312"/>
                <a:ext cx="529"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400"/>
                  <a:t>600</a:t>
                </a:r>
                <a:r>
                  <a:rPr lang="en-US" altLang="zh-CN" sz="2400"/>
                  <a:t>K</a:t>
                </a:r>
              </a:p>
            </p:txBody>
          </p:sp>
        </p:grpSp>
        <p:sp>
          <p:nvSpPr>
            <p:cNvPr id="6165" name="AutoShape 21">
              <a:extLst>
                <a:ext uri="{FF2B5EF4-FFF2-40B4-BE49-F238E27FC236}">
                  <a16:creationId xmlns:a16="http://schemas.microsoft.com/office/drawing/2014/main" id="{0500C2D3-2C0D-4A1A-AAE0-810D01E250F3}"/>
                </a:ext>
              </a:extLst>
            </p:cNvPr>
            <p:cNvSpPr>
              <a:spLocks noChangeArrowheads="1"/>
            </p:cNvSpPr>
            <p:nvPr/>
          </p:nvSpPr>
          <p:spPr bwMode="auto">
            <a:xfrm>
              <a:off x="384" y="1872"/>
              <a:ext cx="1200" cy="528"/>
            </a:xfrm>
            <a:prstGeom prst="wedgeRoundRectCallout">
              <a:avLst>
                <a:gd name="adj1" fmla="val 2167"/>
                <a:gd name="adj2" fmla="val 125190"/>
                <a:gd name="adj3" fmla="val 16667"/>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400"/>
            </a:p>
          </p:txBody>
        </p:sp>
        <p:sp>
          <p:nvSpPr>
            <p:cNvPr id="6155" name="Text Box 11">
              <a:extLst>
                <a:ext uri="{FF2B5EF4-FFF2-40B4-BE49-F238E27FC236}">
                  <a16:creationId xmlns:a16="http://schemas.microsoft.com/office/drawing/2014/main" id="{3F8F9019-8F1C-4A25-9CE2-41C5CA5473D1}"/>
                </a:ext>
              </a:extLst>
            </p:cNvPr>
            <p:cNvSpPr txBox="1">
              <a:spLocks noChangeArrowheads="1"/>
            </p:cNvSpPr>
            <p:nvPr/>
          </p:nvSpPr>
          <p:spPr bwMode="auto">
            <a:xfrm>
              <a:off x="432" y="1872"/>
              <a:ext cx="1086"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dirty="0"/>
                <a:t>无摩擦可动</a:t>
              </a:r>
            </a:p>
            <a:p>
              <a:pPr algn="l"/>
              <a:r>
                <a:rPr lang="zh-CN" altLang="en-US" sz="2400" dirty="0"/>
                <a:t>  导热板</a:t>
              </a:r>
            </a:p>
          </p:txBody>
        </p:sp>
        <p:sp>
          <p:nvSpPr>
            <p:cNvPr id="6166" name="Text Box 22">
              <a:extLst>
                <a:ext uri="{FF2B5EF4-FFF2-40B4-BE49-F238E27FC236}">
                  <a16:creationId xmlns:a16="http://schemas.microsoft.com/office/drawing/2014/main" id="{C5497BC8-8874-4D3B-82D1-34C322264BE4}"/>
                </a:ext>
              </a:extLst>
            </p:cNvPr>
            <p:cNvSpPr txBox="1">
              <a:spLocks noChangeArrowheads="1"/>
            </p:cNvSpPr>
            <p:nvPr/>
          </p:nvSpPr>
          <p:spPr bwMode="auto">
            <a:xfrm>
              <a:off x="2016" y="2064"/>
              <a:ext cx="5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400"/>
                <a:t>绝热</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71"/>
                                        </p:tgtEl>
                                        <p:attrNameLst>
                                          <p:attrName>style.visibility</p:attrName>
                                        </p:attrNameLst>
                                      </p:cBhvr>
                                      <p:to>
                                        <p:strVal val="visible"/>
                                      </p:to>
                                    </p:set>
                                    <p:animEffect transition="in" filter="wipe(left)">
                                      <p:cBhvr>
                                        <p:cTn id="7" dur="500"/>
                                        <p:tgtEl>
                                          <p:spTgt spid="6171"/>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wipe(left)">
                                      <p:cBhvr>
                                        <p:cTn id="12" dur="500"/>
                                        <p:tgtEl>
                                          <p:spTgt spid="6149"/>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97C79BE-ED1F-64EE-2442-E4272DDF5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548930" cy="405352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EC244A9-8AF3-5033-7147-DBD6A775BEE5}"/>
                  </a:ext>
                </a:extLst>
              </p:cNvPr>
              <p:cNvSpPr txBox="1"/>
              <p:nvPr/>
            </p:nvSpPr>
            <p:spPr>
              <a:xfrm>
                <a:off x="6014301" y="810705"/>
                <a:ext cx="6023728" cy="584525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𝛾</m:t>
                          </m:r>
                        </m:e>
                        <m:sub>
                          <m:r>
                            <a:rPr lang="en-US" altLang="zh-CN" i="1">
                              <a:latin typeface="Cambria Math" panose="02040503050406030204" pitchFamily="18" charset="0"/>
                            </a:rPr>
                            <m:t>𝐴</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𝐴</m:t>
                          </m:r>
                        </m:sub>
                      </m:sSub>
                      <m:r>
                        <a:rPr lang="en-US" altLang="zh-CN" i="1" dirty="0" smtClean="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𝑇</m:t>
                          </m:r>
                        </m:e>
                        <m:sub>
                          <m:r>
                            <a:rPr lang="en-US" altLang="zh-CN" b="0" i="1" dirty="0" smtClean="0">
                              <a:latin typeface="Cambria Math" panose="02040503050406030204" pitchFamily="18" charset="0"/>
                              <a:ea typeface="Cambria Math" panose="02040503050406030204" pitchFamily="18" charset="0"/>
                            </a:rPr>
                            <m:t>𝐴</m:t>
                          </m:r>
                        </m:sub>
                      </m:sSub>
                    </m:oMath>
                  </m:oMathPara>
                </a14:m>
                <a:endParaRPr lang="en-US" altLang="zh-CN" b="0" dirty="0">
                  <a:ea typeface="Cambria Math" panose="02040503050406030204" pitchFamily="18" charset="0"/>
                </a:endParaRPr>
              </a:p>
              <a:p>
                <a:r>
                  <a:rPr lang="en-US" altLang="zh-CN" dirty="0">
                    <a:ea typeface="Cambria Math" panose="02040503050406030204" pitchFamily="18" charset="0"/>
                  </a:rPr>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1×1.5</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−300</m:t>
                    </m:r>
                  </m:oMath>
                </a14:m>
                <a:r>
                  <a:rPr lang="en-US" altLang="zh-CN" b="0" dirty="0">
                    <a:ea typeface="Cambria Math" panose="02040503050406030204" pitchFamily="18" charset="0"/>
                  </a:rPr>
                  <a:t>)</a:t>
                </a:r>
              </a:p>
              <a:p>
                <a:pPr/>
                <a14:m>
                  <m:oMathPara xmlns:m="http://schemas.openxmlformats.org/officeDocument/2006/math">
                    <m:oMathParaPr>
                      <m:jc m:val="left"/>
                    </m:oMathParaPr>
                    <m:oMath xmlns:m="http://schemas.openxmlformats.org/officeDocument/2006/math">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zh-CN" altLang="en-US" i="1">
                              <a:latin typeface="Cambria Math" panose="02040503050406030204" pitchFamily="18" charset="0"/>
                            </a:rPr>
                            <m:t>𝛾</m:t>
                          </m:r>
                        </m:e>
                        <m:sub>
                          <m:r>
                            <a:rPr lang="en-US" altLang="zh-CN" i="1">
                              <a:latin typeface="Cambria Math" panose="02040503050406030204" pitchFamily="18" charset="0"/>
                            </a:rPr>
                            <m:t>𝐵</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𝐵</m:t>
                          </m:r>
                        </m:sub>
                      </m:sSub>
                      <m:r>
                        <a:rPr lang="en-US" altLang="zh-CN" i="1" dirty="0" smtClean="0">
                          <a:latin typeface="Cambria Math" panose="02040503050406030204" pitchFamily="18" charset="0"/>
                          <a:ea typeface="Cambria Math" panose="02040503050406030204" pitchFamily="18" charset="0"/>
                        </a:rPr>
                        <m:t>∆</m:t>
                      </m:r>
                      <m:sSub>
                        <m:sSubPr>
                          <m:ctrlPr>
                            <a:rPr lang="en-US" altLang="zh-CN"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𝑇</m:t>
                          </m:r>
                        </m:e>
                        <m:sub>
                          <m:r>
                            <a:rPr lang="en-US" altLang="zh-CN" b="0" i="1" dirty="0" smtClean="0">
                              <a:latin typeface="Cambria Math" panose="02040503050406030204" pitchFamily="18" charset="0"/>
                              <a:ea typeface="Cambria Math" panose="02040503050406030204" pitchFamily="18" charset="0"/>
                            </a:rPr>
                            <m:t>𝐵</m:t>
                          </m:r>
                        </m:sub>
                      </m:sSub>
                    </m:oMath>
                  </m:oMathPara>
                </a14:m>
                <a:endParaRPr lang="en-US" altLang="zh-CN" b="0" dirty="0">
                  <a:ea typeface="Cambria Math" panose="02040503050406030204" pitchFamily="18" charset="0"/>
                </a:endParaRPr>
              </a:p>
              <a:p>
                <a:r>
                  <a:rPr lang="en-US" altLang="zh-CN" dirty="0">
                    <a:ea typeface="Cambria Math" panose="02040503050406030204" pitchFamily="18" charset="0"/>
                  </a:rPr>
                  <a:t>        =</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1×2.5</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𝑇</m:t>
                    </m:r>
                    <m:r>
                      <a:rPr lang="en-US" altLang="zh-CN" b="0" i="1" smtClean="0">
                        <a:latin typeface="Cambria Math" panose="02040503050406030204" pitchFamily="18" charset="0"/>
                        <a:ea typeface="Cambria Math" panose="02040503050406030204" pitchFamily="18" charset="0"/>
                      </a:rPr>
                      <m:t>−600</m:t>
                    </m:r>
                  </m:oMath>
                </a14:m>
                <a:r>
                  <a:rPr lang="en-US" altLang="zh-CN" b="0" dirty="0">
                    <a:ea typeface="Cambria Math" panose="02040503050406030204" pitchFamily="18" charset="0"/>
                  </a:rPr>
                  <a:t>)</a:t>
                </a:r>
              </a:p>
              <a:p>
                <a14:m>
                  <m:oMath xmlns:m="http://schemas.openxmlformats.org/officeDocument/2006/math">
                    <m:r>
                      <a:rPr lang="zh-CN" altLang="en-US"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𝐸</m:t>
                        </m:r>
                      </m:e>
                      <m:sub>
                        <m:r>
                          <a:rPr lang="en-US" altLang="zh-CN" b="0" i="1" smtClean="0">
                            <a:latin typeface="Cambria Math" panose="02040503050406030204" pitchFamily="18" charset="0"/>
                            <a:ea typeface="Cambria Math" panose="02040503050406030204" pitchFamily="18" charset="0"/>
                          </a:rPr>
                          <m:t>𝐵</m:t>
                        </m:r>
                      </m:sub>
                    </m:sSub>
                  </m:oMath>
                </a14:m>
                <a:r>
                  <a:rPr lang="en-US" altLang="zh-CN" dirty="0"/>
                  <a:t>=0</a:t>
                </a:r>
              </a:p>
              <a:p>
                <a:r>
                  <a:rPr lang="zh-CN" altLang="en-US" b="0" dirty="0">
                    <a:ea typeface="Cambria Math" panose="02040503050406030204" pitchFamily="18" charset="0"/>
                  </a:rPr>
                  <a:t>解得：</a:t>
                </a:r>
                <a:r>
                  <a:rPr lang="en-US" altLang="zh-CN" b="0" dirty="0">
                    <a:ea typeface="Cambria Math" panose="02040503050406030204" pitchFamily="18" charset="0"/>
                  </a:rPr>
                  <a:t>T=487.5K</a:t>
                </a:r>
              </a:p>
              <a:p>
                <a:endParaRPr lang="en-US" altLang="zh-CN" b="0" dirty="0">
                  <a:ea typeface="Cambria Math" panose="02040503050406030204" pitchFamily="18" charset="0"/>
                </a:endParaRPr>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𝐴</m:t>
                        </m:r>
                      </m:sub>
                    </m:sSub>
                  </m:oMath>
                </a14:m>
                <a:r>
                  <a:rPr lang="en-US" altLang="zh-CN" dirty="0"/>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𝑉</m:t>
                        </m:r>
                      </m:e>
                      <m:sub>
                        <m:r>
                          <a:rPr lang="en-US" altLang="zh-CN" b="0" i="1" dirty="0" smtClean="0">
                            <a:latin typeface="Cambria Math" panose="02040503050406030204" pitchFamily="18" charset="0"/>
                          </a:rPr>
                          <m:t>𝐵</m:t>
                        </m:r>
                      </m:sub>
                    </m:sSub>
                  </m:oMath>
                </a14:m>
                <a:r>
                  <a:rPr lang="en-US" altLang="zh-CN" dirty="0"/>
                  <a:t>= </a:t>
                </a:r>
                <a14:m>
                  <m:oMath xmlns:m="http://schemas.openxmlformats.org/officeDocument/2006/math">
                    <m:sSup>
                      <m:sSupPr>
                        <m:ctrlPr>
                          <a:rPr lang="en-US" altLang="zh-CN" i="1" smtClean="0">
                            <a:latin typeface="Cambria Math" panose="02040503050406030204" pitchFamily="18" charset="0"/>
                          </a:rPr>
                        </m:ctrlPr>
                      </m:sSup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𝐴</m:t>
                            </m:r>
                          </m:sub>
                        </m:sSub>
                      </m:e>
                      <m:sup>
                        <m:r>
                          <a:rPr lang="en-US" altLang="zh-CN" b="0" i="1" smtClean="0">
                            <a:latin typeface="Cambria Math" panose="02040503050406030204" pitchFamily="18" charset="0"/>
                          </a:rPr>
                          <m:t>′</m:t>
                        </m:r>
                      </m:sup>
                    </m:sSup>
                  </m:oMath>
                </a14:m>
                <a:r>
                  <a:rPr lang="en-US" altLang="zh-CN" dirty="0"/>
                  <a:t>+</a:t>
                </a:r>
                <a14:m>
                  <m:oMath xmlns:m="http://schemas.openxmlformats.org/officeDocument/2006/math">
                    <m:sSup>
                      <m:sSupPr>
                        <m:ctrlPr>
                          <a:rPr lang="en-US" altLang="zh-CN" i="1" dirty="0" smtClean="0">
                            <a:latin typeface="Cambria Math" panose="02040503050406030204" pitchFamily="18" charset="0"/>
                          </a:rPr>
                        </m:ctrlPr>
                      </m:sSup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𝐵</m:t>
                            </m:r>
                          </m:sub>
                        </m:sSub>
                      </m:e>
                      <m:sup>
                        <m:r>
                          <a:rPr lang="en-US" altLang="zh-CN" b="0" i="1" dirty="0" smtClean="0">
                            <a:latin typeface="Cambria Math" panose="02040503050406030204" pitchFamily="18" charset="0"/>
                          </a:rPr>
                          <m:t>′</m:t>
                        </m:r>
                      </m:sup>
                    </m:sSup>
                  </m:oMath>
                </a14:m>
                <a:endParaRPr lang="en-US" altLang="zh-CN" dirty="0"/>
              </a:p>
              <a:p>
                <a:r>
                  <a:rPr lang="zh-CN" altLang="en-US" dirty="0">
                    <a:ea typeface="Cambria Math" panose="02040503050406030204" pitchFamily="18" charset="0"/>
                  </a:rPr>
                  <a:t>由</a:t>
                </a:r>
                <a:r>
                  <a:rPr lang="en-US" altLang="zh-CN" dirty="0"/>
                  <a:t>PV=</a:t>
                </a:r>
                <a14:m>
                  <m:oMath xmlns:m="http://schemas.openxmlformats.org/officeDocument/2006/math">
                    <m:r>
                      <a:rPr lang="zh-CN" altLang="en-US" i="1" smtClean="0">
                        <a:latin typeface="Cambria Math" panose="02040503050406030204" pitchFamily="18" charset="0"/>
                      </a:rPr>
                      <m:t>𝛾</m:t>
                    </m:r>
                  </m:oMath>
                </a14:m>
                <a:r>
                  <a:rPr lang="en-US" altLang="zh-CN" dirty="0"/>
                  <a:t>RT</a:t>
                </a:r>
                <a:r>
                  <a:rPr lang="zh-CN" altLang="en-US" dirty="0"/>
                  <a:t>，</a:t>
                </a:r>
                <a:r>
                  <a:rPr lang="en-US" altLang="zh-CN" dirty="0"/>
                  <a:t>V=</a:t>
                </a:r>
                <a14:m>
                  <m:oMath xmlns:m="http://schemas.openxmlformats.org/officeDocument/2006/math">
                    <m:r>
                      <a:rPr lang="zh-CN" altLang="en-US" i="1">
                        <a:latin typeface="Cambria Math" panose="02040503050406030204" pitchFamily="18" charset="0"/>
                      </a:rPr>
                      <m:t>𝛾</m:t>
                    </m:r>
                  </m:oMath>
                </a14:m>
                <a:r>
                  <a:rPr lang="en-US" altLang="zh-CN" dirty="0"/>
                  <a:t>RT/P</a:t>
                </a:r>
              </a:p>
              <a:p>
                <a14:m>
                  <m:oMath xmlns:m="http://schemas.openxmlformats.org/officeDocument/2006/math">
                    <m:box>
                      <m:boxPr>
                        <m:ctrlPr>
                          <a:rPr lang="en-US" altLang="zh-CN" sz="2000" i="1" smtClean="0">
                            <a:latin typeface="Cambria Math" panose="02040503050406030204" pitchFamily="18" charset="0"/>
                          </a:rPr>
                        </m:ctrlPr>
                      </m:boxPr>
                      <m:e>
                        <m:argPr>
                          <m:argSz m:val="-1"/>
                        </m:argPr>
                        <m:f>
                          <m:fPr>
                            <m:ctrlPr>
                              <a:rPr lang="en-US" altLang="zh-CN" sz="2000" i="1" smtClean="0">
                                <a:latin typeface="Cambria Math" panose="02040503050406030204" pitchFamily="18" charset="0"/>
                              </a:rPr>
                            </m:ctrlPr>
                          </m:fPr>
                          <m:num>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𝑇</m:t>
                                </m:r>
                              </m:e>
                              <m:sub>
                                <m:r>
                                  <a:rPr lang="en-US" altLang="zh-CN" sz="2000" i="1" dirty="0">
                                    <a:latin typeface="Cambria Math" panose="02040503050406030204" pitchFamily="18" charset="0"/>
                                    <a:ea typeface="Cambria Math" panose="02040503050406030204" pitchFamily="18" charset="0"/>
                                  </a:rPr>
                                  <m:t>𝐴</m:t>
                                </m:r>
                              </m:sub>
                            </m:sSub>
                          </m:num>
                          <m:den>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𝑃</m:t>
                                </m:r>
                              </m:e>
                              <m:sub>
                                <m:r>
                                  <a:rPr lang="en-US" altLang="zh-CN" sz="2000" b="0" i="1" smtClean="0">
                                    <a:latin typeface="Cambria Math" panose="02040503050406030204" pitchFamily="18" charset="0"/>
                                  </a:rPr>
                                  <m:t>𝐴</m:t>
                                </m:r>
                              </m:sub>
                            </m:sSub>
                          </m:den>
                        </m:f>
                      </m:e>
                    </m:box>
                    <m:r>
                      <a:rPr lang="en-US" altLang="zh-CN" sz="2000" b="0" i="0" smtClean="0">
                        <a:latin typeface="Cambria Math" panose="02040503050406030204" pitchFamily="18" charset="0"/>
                      </a:rPr>
                      <m:t>+</m:t>
                    </m:r>
                    <m:f>
                      <m:fPr>
                        <m:ctrlPr>
                          <a:rPr lang="en-US" altLang="zh-CN" sz="2000" i="1" dirty="0" smtClean="0">
                            <a:latin typeface="Cambria Math" panose="02040503050406030204" pitchFamily="18" charset="0"/>
                          </a:rPr>
                        </m:ctrlPr>
                      </m:fPr>
                      <m:num>
                        <m:sSub>
                          <m:sSubPr>
                            <m:ctrlPr>
                              <a:rPr lang="en-US" altLang="zh-CN" sz="2000" i="1" dirty="0">
                                <a:latin typeface="Cambria Math" panose="02040503050406030204" pitchFamily="18" charset="0"/>
                                <a:ea typeface="Cambria Math" panose="02040503050406030204" pitchFamily="18" charset="0"/>
                              </a:rPr>
                            </m:ctrlPr>
                          </m:sSubPr>
                          <m:e>
                            <m:r>
                              <a:rPr lang="en-US" altLang="zh-CN" sz="2000" i="1" dirty="0">
                                <a:latin typeface="Cambria Math" panose="02040503050406030204" pitchFamily="18" charset="0"/>
                                <a:ea typeface="Cambria Math" panose="02040503050406030204" pitchFamily="18" charset="0"/>
                              </a:rPr>
                              <m:t>𝑇</m:t>
                            </m:r>
                          </m:e>
                          <m:sub>
                            <m:r>
                              <a:rPr lang="en-US" altLang="zh-CN" sz="2000" i="1" dirty="0">
                                <a:latin typeface="Cambria Math" panose="02040503050406030204" pitchFamily="18" charset="0"/>
                                <a:ea typeface="Cambria Math" panose="02040503050406030204" pitchFamily="18" charset="0"/>
                              </a:rPr>
                              <m:t>𝐵</m:t>
                            </m:r>
                          </m:sub>
                        </m:sSub>
                      </m:num>
                      <m:den>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𝑃</m:t>
                            </m:r>
                          </m:e>
                          <m:sub>
                            <m:r>
                              <a:rPr lang="en-US" altLang="zh-CN" sz="2000" b="0" i="1" dirty="0" smtClean="0">
                                <a:latin typeface="Cambria Math" panose="02040503050406030204" pitchFamily="18" charset="0"/>
                              </a:rPr>
                              <m:t>𝐵</m:t>
                            </m:r>
                          </m:sub>
                        </m:sSub>
                      </m:den>
                    </m:f>
                  </m:oMath>
                </a14:m>
                <a:r>
                  <a:rPr lang="en-US" altLang="zh-CN" sz="2000" dirty="0"/>
                  <a:t>=</a:t>
                </a:r>
                <a14:m>
                  <m:oMath xmlns:m="http://schemas.openxmlformats.org/officeDocument/2006/math">
                    <m:r>
                      <a:rPr lang="en-US" altLang="zh-CN" sz="2000" b="0" i="0" dirty="0" smtClean="0">
                        <a:latin typeface="Cambria Math" panose="02040503050406030204" pitchFamily="18" charset="0"/>
                      </a:rPr>
                      <m:t>2</m:t>
                    </m:r>
                    <m:r>
                      <a:rPr lang="en-US" altLang="zh-CN" sz="2000" i="1" dirty="0">
                        <a:latin typeface="Cambria Math" panose="02040503050406030204" pitchFamily="18" charset="0"/>
                        <a:ea typeface="Cambria Math" panose="02040503050406030204" pitchFamily="18" charset="0"/>
                      </a:rPr>
                      <m:t>∙</m:t>
                    </m:r>
                    <m:f>
                      <m:fPr>
                        <m:ctrlPr>
                          <a:rPr lang="en-US" altLang="zh-CN" sz="2000" i="1" dirty="0" smtClean="0">
                            <a:latin typeface="Cambria Math" panose="02040503050406030204" pitchFamily="18" charset="0"/>
                          </a:rPr>
                        </m:ctrlPr>
                      </m:fPr>
                      <m:num>
                        <m:r>
                          <a:rPr lang="en-US" altLang="zh-CN" sz="2000" b="0" i="1" dirty="0" smtClean="0">
                            <a:latin typeface="Cambria Math" panose="02040503050406030204" pitchFamily="18" charset="0"/>
                          </a:rPr>
                          <m:t>𝑇</m:t>
                        </m:r>
                      </m:num>
                      <m:den>
                        <m:r>
                          <a:rPr lang="en-US" altLang="zh-CN" sz="2000" b="0" i="1" dirty="0" smtClean="0">
                            <a:latin typeface="Cambria Math" panose="02040503050406030204" pitchFamily="18" charset="0"/>
                          </a:rPr>
                          <m:t>𝑃</m:t>
                        </m:r>
                      </m:den>
                    </m:f>
                  </m:oMath>
                </a14:m>
                <a:endParaRPr lang="en-US" altLang="zh-CN" sz="2000" dirty="0"/>
              </a:p>
              <a:p>
                <a:r>
                  <a:rPr lang="zh-CN" altLang="en-US" sz="2000" dirty="0"/>
                  <a:t>解得：</a:t>
                </a:r>
                <a:r>
                  <a:rPr lang="en-US" altLang="zh-CN" sz="2000" dirty="0"/>
                  <a:t>P=</a:t>
                </a:r>
                <a14:m>
                  <m:oMath xmlns:m="http://schemas.openxmlformats.org/officeDocument/2006/math">
                    <m:r>
                      <a:rPr lang="en-US" altLang="zh-CN" sz="2000" b="0" i="1" smtClean="0">
                        <a:latin typeface="Cambria Math" panose="02040503050406030204" pitchFamily="18" charset="0"/>
                      </a:rPr>
                      <m:t>1.083</m:t>
                    </m:r>
                    <m:r>
                      <a:rPr lang="en-US" altLang="zh-CN" sz="2000" b="0" i="1" smtClean="0">
                        <a:latin typeface="Cambria Math" panose="02040503050406030204" pitchFamily="18" charset="0"/>
                      </a:rPr>
                      <m:t>𝑎𝑡𝑚</m:t>
                    </m:r>
                  </m:oMath>
                </a14:m>
                <a:endParaRPr lang="en-US" altLang="zh-CN" sz="2000" b="0" i="1" dirty="0">
                  <a:latin typeface="Cambria Math" panose="02040503050406030204" pitchFamily="18" charset="0"/>
                </a:endParaRPr>
              </a:p>
              <a:p>
                <a:r>
                  <a:rPr lang="en-US" altLang="zh-CN" sz="2000" b="0" dirty="0"/>
                  <a:t>             =</a:t>
                </a:r>
                <a14:m>
                  <m:oMath xmlns:m="http://schemas.openxmlformats.org/officeDocument/2006/math">
                    <m:r>
                      <a:rPr lang="en-US" altLang="zh-CN" sz="2000" b="0" i="0" smtClean="0">
                        <a:latin typeface="Cambria Math" panose="02040503050406030204" pitchFamily="18" charset="0"/>
                      </a:rPr>
                      <m:t>1.094</m:t>
                    </m:r>
                    <m:r>
                      <a:rPr lang="en-US" altLang="zh-CN" sz="2000" i="1">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10</m:t>
                        </m:r>
                      </m:e>
                      <m:sup>
                        <m:r>
                          <a:rPr lang="en-US" altLang="zh-CN" sz="2000" b="0" i="1" smtClean="0">
                            <a:latin typeface="Cambria Math" panose="02040503050406030204" pitchFamily="18" charset="0"/>
                          </a:rPr>
                          <m:t>5</m:t>
                        </m:r>
                      </m:sup>
                    </m:sSup>
                    <m:r>
                      <m:rPr>
                        <m:sty m:val="p"/>
                      </m:rPr>
                      <a:rPr lang="en-US" altLang="zh-CN" sz="2000" b="0" i="0" smtClean="0">
                        <a:latin typeface="Cambria Math" panose="02040503050406030204" pitchFamily="18" charset="0"/>
                      </a:rPr>
                      <m:t>P</m:t>
                    </m:r>
                  </m:oMath>
                </a14:m>
                <a:r>
                  <a:rPr lang="en-US" altLang="zh-CN" sz="2000" dirty="0"/>
                  <a:t>a</a:t>
                </a:r>
              </a:p>
              <a:p>
                <a:endParaRPr lang="en-US" altLang="zh-CN" sz="2000" dirty="0"/>
              </a:p>
              <a:p>
                <a:endParaRPr lang="en-US" altLang="zh-CN" sz="2000" dirty="0"/>
              </a:p>
              <a:p>
                <a:r>
                  <a:rPr lang="zh-CN" altLang="en-US" sz="2000" dirty="0"/>
                  <a:t>注：</a:t>
                </a:r>
                <a14:m>
                  <m:oMath xmlns:m="http://schemas.openxmlformats.org/officeDocument/2006/math">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𝑎𝑡𝑚</m:t>
                    </m:r>
                    <m:r>
                      <a:rPr lang="zh-CN" altLang="en-US" sz="2000" i="1">
                        <a:latin typeface="Cambria Math" panose="02040503050406030204" pitchFamily="18" charset="0"/>
                      </a:rPr>
                      <m:t>为</m:t>
                    </m:r>
                  </m:oMath>
                </a14:m>
                <a:r>
                  <a:rPr lang="zh-CN" altLang="en-US" sz="2000" dirty="0"/>
                  <a:t>一个标准大气压，约为</a:t>
                </a:r>
                <a14:m>
                  <m:oMath xmlns:m="http://schemas.openxmlformats.org/officeDocument/2006/math">
                    <m:r>
                      <a:rPr lang="en-US" altLang="zh-CN" sz="2000" b="0" i="1" smtClean="0">
                        <a:latin typeface="Cambria Math" panose="02040503050406030204" pitchFamily="18" charset="0"/>
                      </a:rPr>
                      <m:t>1.01</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10</m:t>
                        </m:r>
                      </m:e>
                      <m:sup>
                        <m:r>
                          <a:rPr lang="en-US" altLang="zh-CN" sz="2000" b="0" i="1" smtClean="0">
                            <a:latin typeface="Cambria Math" panose="02040503050406030204" pitchFamily="18" charset="0"/>
                          </a:rPr>
                          <m:t>5</m:t>
                        </m:r>
                      </m:sup>
                    </m:sSup>
                  </m:oMath>
                </a14:m>
                <a:r>
                  <a:rPr lang="en-US" altLang="zh-CN" sz="2000" dirty="0"/>
                  <a:t>Pa</a:t>
                </a:r>
              </a:p>
              <a:p>
                <a:endParaRPr lang="en-US" altLang="zh-CN" sz="2000" dirty="0"/>
              </a:p>
              <a:p>
                <a:endParaRPr lang="en-US" altLang="zh-CN" sz="2000" dirty="0"/>
              </a:p>
              <a:p>
                <a:endParaRPr lang="en-US" altLang="zh-CN" dirty="0"/>
              </a:p>
              <a:p>
                <a:endParaRPr lang="zh-CN" altLang="en-US" dirty="0"/>
              </a:p>
            </p:txBody>
          </p:sp>
        </mc:Choice>
        <mc:Fallback xmlns="">
          <p:sp>
            <p:nvSpPr>
              <p:cNvPr id="5" name="文本框 4">
                <a:extLst>
                  <a:ext uri="{FF2B5EF4-FFF2-40B4-BE49-F238E27FC236}">
                    <a16:creationId xmlns:a16="http://schemas.microsoft.com/office/drawing/2014/main" id="{3EC244A9-8AF3-5033-7147-DBD6A775BEE5}"/>
                  </a:ext>
                </a:extLst>
              </p:cNvPr>
              <p:cNvSpPr txBox="1">
                <a:spLocks noRot="1" noChangeAspect="1" noMove="1" noResize="1" noEditPoints="1" noAdjustHandles="1" noChangeArrowheads="1" noChangeShapeType="1" noTextEdit="1"/>
              </p:cNvSpPr>
              <p:nvPr/>
            </p:nvSpPr>
            <p:spPr>
              <a:xfrm>
                <a:off x="6014301" y="810705"/>
                <a:ext cx="6023728" cy="5845255"/>
              </a:xfrm>
              <a:prstGeom prst="rect">
                <a:avLst/>
              </a:prstGeom>
              <a:blipFill>
                <a:blip r:embed="rId3"/>
                <a:stretch>
                  <a:fillRect l="-11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751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arn(inVertic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arn(inVertic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arn(inVertic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arn(inVertic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arn(inVertic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barn(inVertical)">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barn(inVertical)">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barn(inVertical)">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barn(inVertical)">
                                      <p:cBhvr>
                                        <p:cTn id="52" dur="500"/>
                                        <p:tgtEl>
                                          <p:spTgt spid="5">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5">
                                            <p:txEl>
                                              <p:pRg st="11" end="11"/>
                                            </p:txEl>
                                          </p:spTgt>
                                        </p:tgtEl>
                                        <p:attrNameLst>
                                          <p:attrName>style.visibility</p:attrName>
                                        </p:attrNameLst>
                                      </p:cBhvr>
                                      <p:to>
                                        <p:strVal val="visible"/>
                                      </p:to>
                                    </p:set>
                                    <p:animEffect transition="in" filter="barn(inVertical)">
                                      <p:cBhvr>
                                        <p:cTn id="57"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902068" y="779400"/>
                <a:ext cx="9592559" cy="1950149"/>
              </a:xfrm>
              <a:prstGeom prst="rect">
                <a:avLst/>
              </a:prstGeom>
            </p:spPr>
            <p:txBody>
              <a:bodyPr wrap="square">
                <a:spAutoFit/>
              </a:bodyPr>
              <a:lstStyle/>
              <a:p>
                <a:pPr>
                  <a:lnSpc>
                    <a:spcPct val="130000"/>
                  </a:lnSpc>
                </a:pPr>
                <a:r>
                  <a:rPr lang="en-US" altLang="zh-CN" sz="3200" dirty="0">
                    <a:latin typeface="+mn-ea"/>
                    <a:cs typeface="Times New Roman" panose="02020603050405020304" pitchFamily="18" charset="0"/>
                  </a:rPr>
                  <a:t>2.   </a:t>
                </a:r>
                <a:r>
                  <a:rPr lang="zh-CN" altLang="en-US" sz="3200" dirty="0">
                    <a:latin typeface="+mn-ea"/>
                    <a:cs typeface="Times New Roman" panose="02020603050405020304" pitchFamily="18" charset="0"/>
                  </a:rPr>
                  <a:t>如图所示理想气体由状态</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𝑎</m:t>
                    </m:r>
                  </m:oMath>
                </a14:m>
                <a:r>
                  <a:rPr lang="zh-CN" altLang="en-US" sz="3200" dirty="0">
                    <a:latin typeface="+mn-ea"/>
                    <a:cs typeface="Times New Roman" panose="02020603050405020304" pitchFamily="18" charset="0"/>
                  </a:rPr>
                  <a:t>到达</a:t>
                </a:r>
                <a14:m>
                  <m:oMath xmlns:m="http://schemas.openxmlformats.org/officeDocument/2006/math">
                    <m:r>
                      <a:rPr lang="en-US" altLang="zh-CN" sz="3200" b="0" i="1" dirty="0" smtClean="0">
                        <a:latin typeface="Cambria Math" panose="02040503050406030204" pitchFamily="18" charset="0"/>
                        <a:cs typeface="Times New Roman" panose="02020603050405020304" pitchFamily="18" charset="0"/>
                      </a:rPr>
                      <m:t>𝑓</m:t>
                    </m:r>
                  </m:oMath>
                </a14:m>
                <a:r>
                  <a:rPr lang="zh-CN" altLang="en-US" sz="3200" dirty="0">
                    <a:latin typeface="+mn-ea"/>
                    <a:cs typeface="Times New Roman" panose="02020603050405020304" pitchFamily="18" charset="0"/>
                  </a:rPr>
                  <a:t>状态</a:t>
                </a:r>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经历四个过程</a:t>
                </a:r>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其中</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𝑎𝑐𝑓</m:t>
                    </m:r>
                  </m:oMath>
                </a14:m>
                <a:r>
                  <a:rPr lang="zh-CN" altLang="en-US" sz="3200" dirty="0">
                    <a:latin typeface="+mn-ea"/>
                    <a:cs typeface="Times New Roman" panose="02020603050405020304" pitchFamily="18" charset="0"/>
                  </a:rPr>
                  <a:t>为绝热过程，则平均摩尔热容最大的过程为:  </a:t>
                </a:r>
              </a:p>
            </p:txBody>
          </p:sp>
        </mc:Choice>
        <mc:Fallback xmlns="">
          <p:sp>
            <p:nvSpPr>
              <p:cNvPr id="4" name="矩形 3"/>
              <p:cNvSpPr>
                <a:spLocks noRot="1" noChangeAspect="1" noMove="1" noResize="1" noEditPoints="1" noAdjustHandles="1" noChangeArrowheads="1" noChangeShapeType="1" noTextEdit="1"/>
              </p:cNvSpPr>
              <p:nvPr/>
            </p:nvSpPr>
            <p:spPr>
              <a:xfrm>
                <a:off x="902068" y="779400"/>
                <a:ext cx="9592559" cy="1950149"/>
              </a:xfrm>
              <a:prstGeom prst="rect">
                <a:avLst/>
              </a:prstGeom>
              <a:blipFill>
                <a:blip r:embed="rId2"/>
                <a:stretch>
                  <a:fillRect l="-1652" r="-889" b="-10000"/>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4809" y="2538898"/>
            <a:ext cx="3758730" cy="3403174"/>
          </a:xfrm>
          <a:prstGeom prst="rect">
            <a:avLst/>
          </a:prstGeom>
        </p:spPr>
      </p:pic>
    </p:spTree>
    <p:extLst>
      <p:ext uri="{BB962C8B-B14F-4D97-AF65-F5344CB8AC3E}">
        <p14:creationId xmlns:p14="http://schemas.microsoft.com/office/powerpoint/2010/main" val="342093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902068" y="779400"/>
                <a:ext cx="10496860" cy="1014765"/>
              </a:xfrm>
              <a:prstGeom prst="rect">
                <a:avLst/>
              </a:prstGeom>
            </p:spPr>
            <p:txBody>
              <a:bodyPr wrap="square">
                <a:spAutoFit/>
              </a:bodyPr>
              <a:lstStyle/>
              <a:p>
                <a:pPr>
                  <a:lnSpc>
                    <a:spcPct val="130000"/>
                  </a:lnSpc>
                </a:pPr>
                <a:r>
                  <a:rPr lang="en-US" altLang="zh-CN" sz="2400" dirty="0">
                    <a:latin typeface="楷体" panose="02010609060101010101" pitchFamily="49" charset="-122"/>
                    <a:ea typeface="楷体" panose="02010609060101010101" pitchFamily="49" charset="-122"/>
                    <a:cs typeface="Times New Roman" panose="02020603050405020304" pitchFamily="18" charset="0"/>
                  </a:rPr>
                  <a:t>2.</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如图所示理想气体由状态</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𝑎</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到达</a:t>
                </a:r>
                <a14:m>
                  <m:oMath xmlns:m="http://schemas.openxmlformats.org/officeDocument/2006/math">
                    <m:r>
                      <a:rPr lang="en-US" altLang="zh-CN" sz="2400" b="0" i="1" dirty="0" smtClean="0">
                        <a:latin typeface="Cambria Math" panose="02040503050406030204" pitchFamily="18" charset="0"/>
                        <a:cs typeface="Times New Roman" panose="02020603050405020304" pitchFamily="18" charset="0"/>
                      </a:rPr>
                      <m:t>𝑓</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状态</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经历四个过程</a:t>
                </a:r>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其中</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𝑎𝑐𝑓</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为绝热过程，则平均摩尔热容最大的过程为:  </a:t>
                </a:r>
              </a:p>
            </p:txBody>
          </p:sp>
        </mc:Choice>
        <mc:Fallback xmlns="">
          <p:sp>
            <p:nvSpPr>
              <p:cNvPr id="4" name="矩形 3"/>
              <p:cNvSpPr>
                <a:spLocks noRot="1" noChangeAspect="1" noMove="1" noResize="1" noEditPoints="1" noAdjustHandles="1" noChangeArrowheads="1" noChangeShapeType="1" noTextEdit="1"/>
              </p:cNvSpPr>
              <p:nvPr/>
            </p:nvSpPr>
            <p:spPr>
              <a:xfrm>
                <a:off x="902068" y="779400"/>
                <a:ext cx="10496860" cy="1014765"/>
              </a:xfrm>
              <a:prstGeom prst="rect">
                <a:avLst/>
              </a:prstGeom>
              <a:blipFill>
                <a:blip r:embed="rId2"/>
                <a:stretch>
                  <a:fillRect l="-929" t="-602" r="-639" b="-10241"/>
                </a:stretch>
              </a:blipFill>
            </p:spPr>
            <p:txBody>
              <a:bodyPr/>
              <a:lstStyle/>
              <a:p>
                <a:r>
                  <a:rPr lang="zh-CN" altLang="en-US">
                    <a:noFill/>
                  </a:rPr>
                  <a:t> </a:t>
                </a:r>
              </a:p>
            </p:txBody>
          </p:sp>
        </mc:Fallback>
      </mc:AlternateContent>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654" y="2195100"/>
            <a:ext cx="3446520" cy="3120497"/>
          </a:xfrm>
          <a:prstGeom prst="rect">
            <a:avLst/>
          </a:prstGeom>
        </p:spPr>
      </p:pic>
      <mc:AlternateContent xmlns:mc="http://schemas.openxmlformats.org/markup-compatibility/2006" xmlns:a14="http://schemas.microsoft.com/office/drawing/2010/main">
        <mc:Choice Requires="a14">
          <p:sp>
            <p:nvSpPr>
              <p:cNvPr id="3" name="文本框 2"/>
              <p:cNvSpPr txBox="1"/>
              <p:nvPr/>
            </p:nvSpPr>
            <p:spPr>
              <a:xfrm>
                <a:off x="1018930" y="2252614"/>
                <a:ext cx="6793419" cy="3848169"/>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热力学第一定律告诉我们：</a:t>
                </a:r>
              </a:p>
              <a:p>
                <a:pPr>
                  <a:spcBef>
                    <a:spcPts val="600"/>
                  </a:spcBef>
                  <a:spcAft>
                    <a:spcPts val="600"/>
                  </a:spcAft>
                </a:pPr>
                <a:r>
                  <a:rPr lang="zh-CN" altLang="en-US" sz="2000" dirty="0">
                    <a:latin typeface="楷体" panose="02010609060101010101" pitchFamily="49" charset="-122"/>
                    <a:ea typeface="楷体" panose="02010609060101010101" pitchFamily="49" charset="-122"/>
                  </a:rPr>
                  <a:t>            𝑄 </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𝐸 </a:t>
                </a:r>
                <a14:m>
                  <m:oMath xmlns:m="http://schemas.openxmlformats.org/officeDocument/2006/math">
                    <m:r>
                      <a:rPr lang="en-US" altLang="zh-CN" sz="2000" b="0" i="1" smtClean="0">
                        <a:latin typeface="Cambria Math" panose="02040503050406030204" pitchFamily="18" charset="0"/>
                        <a:ea typeface="楷体" panose="02010609060101010101" pitchFamily="49" charset="-122"/>
                      </a:rPr>
                      <m:t>+ </m:t>
                    </m:r>
                    <m:r>
                      <a:rPr lang="en-US" altLang="zh-CN" sz="2000" b="0" i="1" smtClean="0">
                        <a:latin typeface="Cambria Math" panose="02040503050406030204" pitchFamily="18" charset="0"/>
                        <a:ea typeface="楷体" panose="02010609060101010101" pitchFamily="49" charset="-122"/>
                      </a:rPr>
                      <m:t>𝐴</m:t>
                    </m:r>
                  </m:oMath>
                </a14:m>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从外界的吸收热量 </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 内能的增加量 </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气体对外做功</a:t>
                </a:r>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其中内能是状态函数，与过程无关，四个过程中内能增量都是</a:t>
                </a:r>
                <a:r>
                  <a:rPr lang="zh-CN" altLang="en-US" sz="2000" dirty="0">
                    <a:latin typeface="楷体" panose="02010609060101010101" pitchFamily="49" charset="-122"/>
                    <a:ea typeface="楷体" panose="02010609060101010101" pitchFamily="49" charset="-122"/>
                    <a:cs typeface="Times New Roman" panose="02020603050405020304" pitchFamily="18" charset="0"/>
                  </a:rPr>
                  <a:t>∆𝐸</a:t>
                </a:r>
                <a:r>
                  <a:rPr lang="zh-CN" altLang="en-US" sz="2000" dirty="0">
                    <a:latin typeface="楷体" panose="02010609060101010101" pitchFamily="49" charset="-122"/>
                    <a:ea typeface="楷体" panose="02010609060101010101" pitchFamily="49" charset="-122"/>
                  </a:rPr>
                  <a:t>。</a:t>
                </a:r>
              </a:p>
              <a:p>
                <a:r>
                  <a:rPr lang="zh-CN" altLang="en-US" sz="2000" dirty="0">
                    <a:latin typeface="楷体" panose="02010609060101010101" pitchFamily="49" charset="-122"/>
                    <a:ea typeface="楷体" panose="02010609060101010101" pitchFamily="49" charset="-122"/>
                  </a:rPr>
                  <a:t>而气体对外做功是：</a:t>
                </a:r>
              </a:p>
              <a:p>
                <a:pPr algn="ctr"/>
                <a14:m>
                  <m:oMathPara xmlns:m="http://schemas.openxmlformats.org/officeDocument/2006/math">
                    <m:oMathParaPr>
                      <m:jc m:val="centerGroup"/>
                    </m:oMathParaPr>
                    <m:oMath xmlns:m="http://schemas.openxmlformats.org/officeDocument/2006/math">
                      <m:r>
                        <a:rPr lang="en-US" altLang="zh-CN" sz="2000" i="1">
                          <a:solidFill>
                            <a:prstClr val="black"/>
                          </a:solidFill>
                          <a:latin typeface="Cambria Math" panose="02040503050406030204" pitchFamily="18" charset="0"/>
                        </a:rPr>
                        <m:t>𝐴</m:t>
                      </m:r>
                      <m:r>
                        <a:rPr lang="en-US" altLang="zh-CN" sz="2000" i="1">
                          <a:solidFill>
                            <a:prstClr val="black"/>
                          </a:solidFill>
                          <a:latin typeface="Cambria Math" panose="02040503050406030204" pitchFamily="18" charset="0"/>
                        </a:rPr>
                        <m:t>=</m:t>
                      </m:r>
                      <m:nary>
                        <m:naryPr>
                          <m:limLoc m:val="undOvr"/>
                          <m:subHide m:val="on"/>
                          <m:supHide m:val="on"/>
                          <m:ctrlPr>
                            <a:rPr lang="en-US" altLang="zh-CN" sz="2000" i="1">
                              <a:solidFill>
                                <a:prstClr val="black"/>
                              </a:solidFill>
                              <a:latin typeface="Cambria Math" panose="02040503050406030204" pitchFamily="18" charset="0"/>
                            </a:rPr>
                          </m:ctrlPr>
                        </m:naryPr>
                        <m:sub/>
                        <m:sup/>
                        <m:e>
                          <m:r>
                            <a:rPr lang="en-US" altLang="zh-CN" sz="2000" i="1">
                              <a:solidFill>
                                <a:prstClr val="black"/>
                              </a:solidFill>
                              <a:latin typeface="Cambria Math" panose="02040503050406030204" pitchFamily="18" charset="0"/>
                            </a:rPr>
                            <m:t>𝑝𝑑𝑉</m:t>
                          </m:r>
                        </m:e>
                      </m:nary>
                    </m:oMath>
                  </m:oMathPara>
                </a14:m>
                <a:endParaRPr lang="en-US" altLang="zh-CN" sz="2000" dirty="0">
                  <a:latin typeface="楷体" panose="02010609060101010101" pitchFamily="49" charset="-122"/>
                  <a:ea typeface="楷体" panose="02010609060101010101" pitchFamily="49" charset="-122"/>
                </a:endParaRPr>
              </a:p>
              <a:p>
                <a:pPr algn="ctr"/>
                <a:r>
                  <a:rPr lang="zh-CN" altLang="en-US" sz="2000" dirty="0">
                    <a:latin typeface="楷体" panose="02010609060101010101" pitchFamily="49" charset="-122"/>
                    <a:ea typeface="楷体" panose="02010609060101010101" pitchFamily="49" charset="-122"/>
                  </a:rPr>
                  <a:t>这对应于状态曲线和横轴之间的近似梯形部分的面积。</a:t>
                </a:r>
              </a:p>
              <a:p>
                <a:r>
                  <a:rPr lang="zh-CN" altLang="en-US" sz="2000" dirty="0">
                    <a:latin typeface="楷体" panose="02010609060101010101" pitchFamily="49" charset="-122"/>
                    <a:ea typeface="楷体" panose="02010609060101010101" pitchFamily="49" charset="-122"/>
                  </a:rPr>
                  <a:t>从图中可以看到：</a:t>
                </a:r>
              </a:p>
              <a:p>
                <a:pPr/>
                <a14:m>
                  <m:oMathPara xmlns:m="http://schemas.openxmlformats.org/officeDocument/2006/math">
                    <m:oMathParaPr>
                      <m:jc m:val="centerGroup"/>
                    </m:oMathParaPr>
                    <m:oMath xmlns:m="http://schemas.openxmlformats.org/officeDocument/2006/math">
                      <m:sSub>
                        <m:sSubPr>
                          <m:ctrlPr>
                            <a:rPr lang="en-US" altLang="zh-CN" sz="2000" i="1">
                              <a:solidFill>
                                <a:prstClr val="black"/>
                              </a:solidFill>
                              <a:latin typeface="Cambria Math" panose="02040503050406030204" pitchFamily="18" charset="0"/>
                            </a:rPr>
                          </m:ctrlPr>
                        </m:sSubPr>
                        <m:e>
                          <m:r>
                            <a:rPr lang="en-US" altLang="zh-CN" sz="2000" b="0" i="1" smtClean="0">
                              <a:solidFill>
                                <a:prstClr val="black"/>
                              </a:solidFill>
                              <a:latin typeface="Cambria Math" panose="02040503050406030204" pitchFamily="18" charset="0"/>
                            </a:rPr>
                            <m:t>𝐴</m:t>
                          </m:r>
                        </m:e>
                        <m:sub>
                          <m:r>
                            <a:rPr lang="en-US" altLang="zh-CN" sz="2000" i="1">
                              <a:solidFill>
                                <a:prstClr val="black"/>
                              </a:solidFill>
                              <a:latin typeface="Cambria Math" panose="02040503050406030204" pitchFamily="18" charset="0"/>
                            </a:rPr>
                            <m:t>𝑎𝑒𝑓</m:t>
                          </m:r>
                        </m:sub>
                      </m:sSub>
                      <m:r>
                        <a:rPr lang="en-US" altLang="zh-CN" sz="2000" i="1">
                          <a:solidFill>
                            <a:prstClr val="black"/>
                          </a:solidFill>
                          <a:latin typeface="Cambria Math" panose="02040503050406030204" pitchFamily="18" charset="0"/>
                        </a:rPr>
                        <m:t>&gt;</m:t>
                      </m:r>
                      <m:sSub>
                        <m:sSubPr>
                          <m:ctrlPr>
                            <a:rPr lang="en-US" altLang="zh-CN" sz="2000" i="1">
                              <a:solidFill>
                                <a:prstClr val="black"/>
                              </a:solidFill>
                              <a:latin typeface="Cambria Math" panose="02040503050406030204" pitchFamily="18" charset="0"/>
                            </a:rPr>
                          </m:ctrlPr>
                        </m:sSubPr>
                        <m:e>
                          <m:r>
                            <a:rPr lang="en-US" altLang="zh-CN" sz="2000" b="0" i="1" smtClean="0">
                              <a:solidFill>
                                <a:prstClr val="black"/>
                              </a:solidFill>
                              <a:latin typeface="Cambria Math" panose="02040503050406030204" pitchFamily="18" charset="0"/>
                            </a:rPr>
                            <m:t>𝐴</m:t>
                          </m:r>
                        </m:e>
                        <m:sub>
                          <m:r>
                            <a:rPr lang="en-US" altLang="zh-CN" sz="2000" i="1">
                              <a:solidFill>
                                <a:prstClr val="black"/>
                              </a:solidFill>
                              <a:latin typeface="Cambria Math" panose="02040503050406030204" pitchFamily="18" charset="0"/>
                            </a:rPr>
                            <m:t>𝑎𝑑𝑓</m:t>
                          </m:r>
                        </m:sub>
                      </m:sSub>
                      <m:r>
                        <a:rPr lang="en-US" altLang="zh-CN" sz="2000" i="1">
                          <a:solidFill>
                            <a:prstClr val="black"/>
                          </a:solidFill>
                          <a:latin typeface="Cambria Math" panose="02040503050406030204" pitchFamily="18" charset="0"/>
                        </a:rPr>
                        <m:t>&gt;</m:t>
                      </m:r>
                      <m:sSub>
                        <m:sSubPr>
                          <m:ctrlPr>
                            <a:rPr lang="en-US" altLang="zh-CN" sz="2000" i="1">
                              <a:solidFill>
                                <a:prstClr val="black"/>
                              </a:solidFill>
                              <a:latin typeface="Cambria Math" panose="02040503050406030204" pitchFamily="18" charset="0"/>
                            </a:rPr>
                          </m:ctrlPr>
                        </m:sSubPr>
                        <m:e>
                          <m:r>
                            <a:rPr lang="en-US" altLang="zh-CN" sz="2000" b="0" i="1" smtClean="0">
                              <a:solidFill>
                                <a:prstClr val="black"/>
                              </a:solidFill>
                              <a:latin typeface="Cambria Math" panose="02040503050406030204" pitchFamily="18" charset="0"/>
                            </a:rPr>
                            <m:t>𝐴</m:t>
                          </m:r>
                        </m:e>
                        <m:sub>
                          <m:r>
                            <a:rPr lang="en-US" altLang="zh-CN" sz="2000" i="1">
                              <a:solidFill>
                                <a:prstClr val="black"/>
                              </a:solidFill>
                              <a:latin typeface="Cambria Math" panose="02040503050406030204" pitchFamily="18" charset="0"/>
                            </a:rPr>
                            <m:t>𝑎𝑐𝑓</m:t>
                          </m:r>
                        </m:sub>
                      </m:sSub>
                      <m:r>
                        <a:rPr lang="en-US" altLang="zh-CN" sz="2000" i="1">
                          <a:solidFill>
                            <a:prstClr val="black"/>
                          </a:solidFill>
                          <a:latin typeface="Cambria Math" panose="02040503050406030204" pitchFamily="18" charset="0"/>
                        </a:rPr>
                        <m:t>&gt;</m:t>
                      </m:r>
                      <m:sSub>
                        <m:sSubPr>
                          <m:ctrlPr>
                            <a:rPr lang="en-US" altLang="zh-CN" sz="2000" i="1">
                              <a:solidFill>
                                <a:prstClr val="black"/>
                              </a:solidFill>
                              <a:latin typeface="Cambria Math" panose="02040503050406030204" pitchFamily="18" charset="0"/>
                            </a:rPr>
                          </m:ctrlPr>
                        </m:sSubPr>
                        <m:e>
                          <m:r>
                            <a:rPr lang="en-US" altLang="zh-CN" sz="2000" b="0" i="1" smtClean="0">
                              <a:solidFill>
                                <a:prstClr val="black"/>
                              </a:solidFill>
                              <a:latin typeface="Cambria Math" panose="02040503050406030204" pitchFamily="18" charset="0"/>
                            </a:rPr>
                            <m:t>𝐴</m:t>
                          </m:r>
                        </m:e>
                        <m:sub>
                          <m:r>
                            <a:rPr lang="en-US" altLang="zh-CN" sz="2000" i="1">
                              <a:solidFill>
                                <a:prstClr val="black"/>
                              </a:solidFill>
                              <a:latin typeface="Cambria Math" panose="02040503050406030204" pitchFamily="18" charset="0"/>
                            </a:rPr>
                            <m:t>𝑎𝑏𝑓</m:t>
                          </m:r>
                        </m:sub>
                      </m:sSub>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1018930" y="2252614"/>
                <a:ext cx="6793419" cy="3848169"/>
              </a:xfrm>
              <a:prstGeom prst="rect">
                <a:avLst/>
              </a:prstGeom>
              <a:blipFill>
                <a:blip r:embed="rId4"/>
                <a:stretch>
                  <a:fillRect l="-897" t="-951" r="-807" b="-317"/>
                </a:stretch>
              </a:blipFill>
            </p:spPr>
            <p:txBody>
              <a:bodyPr/>
              <a:lstStyle/>
              <a:p>
                <a:r>
                  <a:rPr lang="zh-CN" altLang="en-US">
                    <a:noFill/>
                  </a:rPr>
                  <a:t> </a:t>
                </a:r>
              </a:p>
            </p:txBody>
          </p:sp>
        </mc:Fallback>
      </mc:AlternateContent>
      <p:cxnSp>
        <p:nvCxnSpPr>
          <p:cNvPr id="7" name="直接连接符 6"/>
          <p:cNvCxnSpPr>
            <a:cxnSpLocks/>
          </p:cNvCxnSpPr>
          <p:nvPr/>
        </p:nvCxnSpPr>
        <p:spPr>
          <a:xfrm>
            <a:off x="9017952" y="2809103"/>
            <a:ext cx="0" cy="1975961"/>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直接连接符 10"/>
          <p:cNvCxnSpPr>
            <a:cxnSpLocks/>
          </p:cNvCxnSpPr>
          <p:nvPr/>
        </p:nvCxnSpPr>
        <p:spPr>
          <a:xfrm>
            <a:off x="10334087" y="4296792"/>
            <a:ext cx="0" cy="488272"/>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0350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911702"/>
                <a:ext cx="10515600" cy="4898572"/>
              </a:xfrm>
            </p:spPr>
            <p:txBody>
              <a:bodyPr>
                <a:normAutofit/>
              </a:bodyPr>
              <a:lstStyle/>
              <a:p>
                <a:pPr marL="0" indent="0">
                  <a:buNone/>
                </a:pPr>
                <a:r>
                  <a:rPr lang="zh-CN" altLang="en-US" sz="2200" dirty="0">
                    <a:latin typeface="楷体" panose="02010609060101010101" pitchFamily="49" charset="-122"/>
                    <a:ea typeface="楷体" panose="02010609060101010101" pitchFamily="49" charset="-122"/>
                  </a:rPr>
                  <a:t>所以有：</a:t>
                </a:r>
              </a:p>
              <a:p>
                <a:pPr marL="0" indent="0">
                  <a:buNone/>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𝑄</m:t>
                          </m:r>
                        </m:e>
                        <m:sub>
                          <m:r>
                            <a:rPr lang="en-US" altLang="zh-CN" sz="2200" b="0" i="1" smtClean="0">
                              <a:latin typeface="Cambria Math" panose="02040503050406030204" pitchFamily="18" charset="0"/>
                            </a:rPr>
                            <m:t>𝑎𝑒𝑓</m:t>
                          </m:r>
                        </m:sub>
                      </m:sSub>
                      <m:r>
                        <a:rPr lang="en-US" altLang="zh-CN" sz="2200" b="0" i="1" smtClean="0">
                          <a:latin typeface="Cambria Math" panose="02040503050406030204" pitchFamily="18" charset="0"/>
                        </a:rPr>
                        <m:t>&gt;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𝑄</m:t>
                          </m:r>
                        </m:e>
                        <m:sub>
                          <m:r>
                            <a:rPr lang="en-US" altLang="zh-CN" sz="2200" b="0" i="1" smtClean="0">
                              <a:latin typeface="Cambria Math" panose="02040503050406030204" pitchFamily="18" charset="0"/>
                            </a:rPr>
                            <m:t>𝑎𝑑𝑓</m:t>
                          </m:r>
                        </m:sub>
                      </m:sSub>
                      <m:r>
                        <a:rPr lang="en-US" altLang="zh-CN" sz="2200" b="0" i="1" smtClean="0">
                          <a:latin typeface="Cambria Math" panose="02040503050406030204" pitchFamily="18" charset="0"/>
                        </a:rPr>
                        <m:t>&gt;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𝑄</m:t>
                          </m:r>
                        </m:e>
                        <m:sub>
                          <m:r>
                            <a:rPr lang="en-US" altLang="zh-CN" sz="2200" b="0" i="1" smtClean="0">
                              <a:latin typeface="Cambria Math" panose="02040503050406030204" pitchFamily="18" charset="0"/>
                            </a:rPr>
                            <m:t>𝑎𝑐𝑓</m:t>
                          </m:r>
                        </m:sub>
                      </m:sSub>
                      <m:r>
                        <a:rPr lang="en-US" altLang="zh-CN" sz="2200" b="0" i="1" smtClean="0">
                          <a:latin typeface="Cambria Math" panose="02040503050406030204" pitchFamily="18" charset="0"/>
                        </a:rPr>
                        <m:t>&gt;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𝑄</m:t>
                          </m:r>
                        </m:e>
                        <m:sub>
                          <m:r>
                            <a:rPr lang="en-US" altLang="zh-CN" sz="2200" b="0" i="1" smtClean="0">
                              <a:latin typeface="Cambria Math" panose="02040503050406030204" pitchFamily="18" charset="0"/>
                            </a:rPr>
                            <m:t>𝑎𝑏𝑓</m:t>
                          </m:r>
                        </m:sub>
                      </m:sSub>
                    </m:oMath>
                  </m:oMathPara>
                </a14:m>
                <a:endParaRPr lang="en-US" altLang="zh-CN" sz="2200" dirty="0">
                  <a:latin typeface="楷体" panose="02010609060101010101" pitchFamily="49" charset="-122"/>
                  <a:ea typeface="楷体" panose="02010609060101010101" pitchFamily="49" charset="-122"/>
                </a:endParaRPr>
              </a:p>
              <a:p>
                <a:pPr marL="0" indent="0">
                  <a:buNone/>
                </a:pPr>
                <a:r>
                  <a:rPr lang="zh-CN" altLang="en-US" sz="2200" dirty="0">
                    <a:latin typeface="楷体" panose="02010609060101010101" pitchFamily="49" charset="-122"/>
                    <a:ea typeface="楷体" panose="02010609060101010101" pitchFamily="49" charset="-122"/>
                  </a:rPr>
                  <a:t>过程</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cs typeface="Times New Roman" panose="02020603050405020304" pitchFamily="18" charset="0"/>
                      </a:rPr>
                      <m:t>𝑎𝑐𝑓</m:t>
                    </m:r>
                  </m:oMath>
                </a14:m>
                <a:r>
                  <a:rPr lang="zh-CN" altLang="en-US" sz="2200" dirty="0">
                    <a:latin typeface="楷体" panose="02010609060101010101" pitchFamily="49" charset="-122"/>
                    <a:ea typeface="楷体" panose="02010609060101010101" pitchFamily="49" charset="-122"/>
                    <a:cs typeface="Times New Roman" panose="02020603050405020304" pitchFamily="18" charset="0"/>
                  </a:rPr>
                  <a:t>是绝热过程，所以</a:t>
                </a:r>
                <a14:m>
                  <m:oMath xmlns:m="http://schemas.openxmlformats.org/officeDocument/2006/math">
                    <m:sSub>
                      <m:sSubPr>
                        <m:ctrlPr>
                          <a:rPr lang="en-US" altLang="zh-CN" sz="2200" i="1" smtClean="0">
                            <a:latin typeface="Cambria Math" panose="02040503050406030204" pitchFamily="18" charset="0"/>
                            <a:cs typeface="Times New Roman" panose="02020603050405020304" pitchFamily="18" charset="0"/>
                          </a:rPr>
                        </m:ctrlPr>
                      </m:sSubPr>
                      <m:e>
                        <m:r>
                          <a:rPr lang="en-US" altLang="zh-CN" sz="2200" b="0" i="1" smtClean="0">
                            <a:latin typeface="Cambria Math" panose="02040503050406030204" pitchFamily="18" charset="0"/>
                            <a:cs typeface="Times New Roman" panose="02020603050405020304" pitchFamily="18" charset="0"/>
                          </a:rPr>
                          <m:t>𝑄</m:t>
                        </m:r>
                      </m:e>
                      <m:sub>
                        <m:r>
                          <a:rPr lang="en-US" altLang="zh-CN" sz="2200" b="0" i="1" smtClean="0">
                            <a:latin typeface="Cambria Math" panose="02040503050406030204" pitchFamily="18" charset="0"/>
                            <a:cs typeface="Times New Roman" panose="02020603050405020304" pitchFamily="18" charset="0"/>
                          </a:rPr>
                          <m:t>𝑎𝑐𝑓</m:t>
                        </m:r>
                      </m:sub>
                    </m:sSub>
                    <m:r>
                      <a:rPr lang="en-US" altLang="zh-CN" sz="2200" b="0" i="1" smtClean="0">
                        <a:latin typeface="Cambria Math" panose="02040503050406030204" pitchFamily="18" charset="0"/>
                        <a:cs typeface="Times New Roman" panose="02020603050405020304" pitchFamily="18" charset="0"/>
                      </a:rPr>
                      <m:t>=0</m:t>
                    </m:r>
                  </m:oMath>
                </a14:m>
                <a:r>
                  <a:rPr lang="zh-CN" altLang="en-US" sz="2200" dirty="0">
                    <a:latin typeface="楷体" panose="02010609060101010101" pitchFamily="49" charset="-122"/>
                    <a:ea typeface="楷体" panose="02010609060101010101" pitchFamily="49" charset="-122"/>
                    <a:cs typeface="Times New Roman" panose="02020603050405020304" pitchFamily="18" charset="0"/>
                  </a:rPr>
                  <a:t>，</a:t>
                </a:r>
                <a:r>
                  <a:rPr lang="en-US" altLang="zh-CN" sz="2200" dirty="0"/>
                  <a:t> </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𝑄</m:t>
                        </m:r>
                      </m:e>
                      <m:sub>
                        <m:r>
                          <a:rPr lang="en-US" altLang="zh-CN" sz="2200" i="1">
                            <a:latin typeface="Cambria Math" panose="02040503050406030204" pitchFamily="18" charset="0"/>
                          </a:rPr>
                          <m:t>𝑎𝑏𝑓</m:t>
                        </m:r>
                      </m:sub>
                    </m:sSub>
                    <m:r>
                      <a:rPr lang="en-US" altLang="zh-CN" sz="2200">
                        <a:latin typeface="Cambria Math" panose="02040503050406030204" pitchFamily="18" charset="0"/>
                      </a:rPr>
                      <m:t>&lt;0</m:t>
                    </m:r>
                    <m:r>
                      <a:rPr lang="en-US" altLang="zh-CN" sz="2200" i="1">
                        <a:latin typeface="Cambria Math" panose="02040503050406030204" pitchFamily="18" charset="0"/>
                      </a:rPr>
                      <m:t> </m:t>
                    </m:r>
                  </m:oMath>
                </a14:m>
                <a:r>
                  <a:rPr lang="zh-CN" altLang="en-US" sz="22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200" dirty="0">
                    <a:latin typeface="楷体" panose="02010609060101010101" pitchFamily="49" charset="-122"/>
                    <a:ea typeface="楷体" panose="02010609060101010101" pitchFamily="49" charset="-122"/>
                    <a:cs typeface="Times New Roman" panose="02020603050405020304" pitchFamily="18" charset="0"/>
                  </a:rPr>
                  <a:t>可得</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lgn="ctr">
                  <a:buNone/>
                </a:pPr>
                <a14:m>
                  <m:oMath xmlns:m="http://schemas.openxmlformats.org/officeDocument/2006/math">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𝐸</m:t>
                    </m:r>
                    <m:r>
                      <a:rPr lang="en-US" altLang="zh-CN" sz="2200" i="1" smtClean="0">
                        <a:latin typeface="Cambria Math" panose="02040503050406030204" pitchFamily="18" charset="0"/>
                        <a:ea typeface="Cambria Math" panose="02040503050406030204" pitchFamily="18" charset="0"/>
                      </a:rPr>
                      <m:t>=</m:t>
                    </m:r>
                  </m:oMath>
                </a14:m>
                <a:r>
                  <a:rPr lang="en-US" altLang="zh-CN" sz="2200" dirty="0">
                    <a:latin typeface="楷体" panose="02010609060101010101" pitchFamily="49" charset="-122"/>
                    <a:ea typeface="楷体" panose="02010609060101010101" pitchFamily="49" charset="-122"/>
                    <a:cs typeface="Times New Roman" panose="02020603050405020304" pitchFamily="18" charset="0"/>
                  </a:rPr>
                  <a:t>-</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𝐴</m:t>
                        </m:r>
                      </m:e>
                      <m:sub>
                        <m:r>
                          <a:rPr lang="en-US" altLang="zh-CN" sz="2200" i="1">
                            <a:latin typeface="Cambria Math" panose="02040503050406030204" pitchFamily="18" charset="0"/>
                          </a:rPr>
                          <m:t>𝑎</m:t>
                        </m:r>
                        <m:r>
                          <m:rPr>
                            <m:sty m:val="p"/>
                          </m:rPr>
                          <a:rPr lang="en-US" altLang="zh-CN" sz="2200" i="1">
                            <a:latin typeface="Cambria Math" panose="02040503050406030204" pitchFamily="18" charset="0"/>
                          </a:rPr>
                          <m:t>c</m:t>
                        </m:r>
                        <m:r>
                          <a:rPr lang="en-US" altLang="zh-CN" sz="2200" i="1">
                            <a:latin typeface="Cambria Math" panose="02040503050406030204" pitchFamily="18" charset="0"/>
                          </a:rPr>
                          <m:t>𝑓</m:t>
                        </m:r>
                      </m:sub>
                    </m:sSub>
                    <m:r>
                      <a:rPr lang="en-US" altLang="zh-CN" sz="2200" b="0" i="0" smtClean="0">
                        <a:latin typeface="Cambria Math" panose="02040503050406030204" pitchFamily="18" charset="0"/>
                      </a:rPr>
                      <m:t>&lt;0</m:t>
                    </m:r>
                  </m:oMath>
                </a14:m>
                <a:endParaRPr lang="en-US" altLang="zh-CN" sz="2200" b="0" dirty="0">
                  <a:latin typeface="楷体" panose="02010609060101010101" pitchFamily="49" charset="-122"/>
                  <a:ea typeface="楷体" panose="02010609060101010101" pitchFamily="49" charset="-122"/>
                </a:endParaRPr>
              </a:p>
              <a:p>
                <a:pPr marL="0" indent="0">
                  <a:buNone/>
                </a:pPr>
                <a:r>
                  <a:rPr lang="zh-CN" altLang="en-US" sz="2200" dirty="0">
                    <a:latin typeface="楷体" panose="02010609060101010101" pitchFamily="49" charset="-122"/>
                    <a:ea typeface="楷体" panose="02010609060101010101" pitchFamily="49" charset="-122"/>
                    <a:cs typeface="Times New Roman" panose="02020603050405020304" pitchFamily="18" charset="0"/>
                  </a:rPr>
                  <a:t>由焦耳定律知道</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lgn="ctr">
                  <a:buNone/>
                </a:pPr>
                <a14:m>
                  <m:oMath xmlns:m="http://schemas.openxmlformats.org/officeDocument/2006/math">
                    <m:r>
                      <a:rPr lang="en-US" altLang="zh-CN" sz="2200" i="1">
                        <a:latin typeface="Cambria Math" panose="02040503050406030204" pitchFamily="18" charset="0"/>
                        <a:ea typeface="Cambria Math" panose="02040503050406030204" pitchFamily="18" charset="0"/>
                      </a:rPr>
                      <m:t>∆</m:t>
                    </m:r>
                  </m:oMath>
                </a14:m>
                <a:r>
                  <a:rPr lang="en-US" altLang="zh-CN" sz="2200" dirty="0">
                    <a:latin typeface="楷体" panose="02010609060101010101" pitchFamily="49" charset="-122"/>
                    <a:ea typeface="楷体" panose="02010609060101010101" pitchFamily="49" charset="-122"/>
                    <a:cs typeface="Times New Roman" panose="02020603050405020304" pitchFamily="18" charset="0"/>
                  </a:rPr>
                  <a:t>T&lt;0</a:t>
                </a:r>
              </a:p>
              <a:p>
                <a:pPr marL="0" indent="0">
                  <a:buNone/>
                </a:pPr>
                <a:r>
                  <a:rPr lang="zh-CN" altLang="en-US" sz="2200" dirty="0">
                    <a:latin typeface="楷体" panose="02010609060101010101" pitchFamily="49" charset="-122"/>
                    <a:ea typeface="楷体" panose="02010609060101010101" pitchFamily="49" charset="-122"/>
                    <a:cs typeface="Times New Roman" panose="02020603050405020304" pitchFamily="18" charset="0"/>
                  </a:rPr>
                  <a:t>所以平均摩尔热容𝐶</a:t>
                </a:r>
                <a:r>
                  <a:rPr lang="en-US" altLang="zh-CN" sz="2200" dirty="0">
                    <a:latin typeface="楷体" panose="02010609060101010101" pitchFamily="49" charset="-122"/>
                    <a:ea typeface="楷体" panose="02010609060101010101" pitchFamily="49" charset="-122"/>
                    <a:cs typeface="Times New Roman" panose="02020603050405020304" pitchFamily="18" charset="0"/>
                  </a:rPr>
                  <a:t>=∆</a:t>
                </a:r>
                <a:r>
                  <a:rPr lang="zh-CN" altLang="en-US" sz="2200" dirty="0">
                    <a:latin typeface="楷体" panose="02010609060101010101" pitchFamily="49" charset="-122"/>
                    <a:ea typeface="楷体" panose="02010609060101010101" pitchFamily="49" charset="-122"/>
                    <a:cs typeface="Times New Roman" panose="02020603050405020304" pitchFamily="18" charset="0"/>
                  </a:rPr>
                  <a:t>𝑄</a:t>
                </a:r>
                <a:r>
                  <a:rPr lang="en-US" altLang="zh-CN" sz="2200" dirty="0">
                    <a:latin typeface="楷体" panose="02010609060101010101" pitchFamily="49" charset="-122"/>
                    <a:ea typeface="楷体" panose="02010609060101010101" pitchFamily="49" charset="-122"/>
                    <a:cs typeface="Times New Roman" panose="02020603050405020304" pitchFamily="18" charset="0"/>
                  </a:rPr>
                  <a:t>/</a:t>
                </a:r>
                <a:r>
                  <a:rPr lang="zh-CN" altLang="en-US" sz="2200" dirty="0">
                    <a:latin typeface="楷体" panose="02010609060101010101" pitchFamily="49" charset="-122"/>
                    <a:ea typeface="楷体" panose="02010609060101010101" pitchFamily="49" charset="-122"/>
                    <a:cs typeface="Times New Roman" panose="02020603050405020304" pitchFamily="18" charset="0"/>
                  </a:rPr>
                  <a:t>𝜈∆𝑇的大小顺序是</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altLang="zh-CN" sz="2200" i="1" smtClean="0">
                              <a:latin typeface="Cambria Math" panose="02040503050406030204" pitchFamily="18" charset="0"/>
                            </a:rPr>
                          </m:ctrlPr>
                        </m:sSubPr>
                        <m:e>
                          <m:r>
                            <a:rPr lang="en-US" altLang="zh-CN" sz="2200" b="0" i="1" smtClean="0">
                              <a:latin typeface="Cambria Math" panose="02040503050406030204" pitchFamily="18" charset="0"/>
                            </a:rPr>
                            <m:t>𝐶</m:t>
                          </m:r>
                        </m:e>
                        <m:sub>
                          <m:r>
                            <a:rPr lang="en-US" altLang="zh-CN" sz="2200" i="1">
                              <a:latin typeface="Cambria Math" panose="02040503050406030204" pitchFamily="18" charset="0"/>
                            </a:rPr>
                            <m:t>𝑎𝑒𝑓</m:t>
                          </m:r>
                        </m:sub>
                      </m:sSub>
                      <m:r>
                        <a:rPr lang="en-US" altLang="zh-CN" sz="2200" b="0" i="1" smtClean="0">
                          <a:latin typeface="Cambria Math" panose="02040503050406030204" pitchFamily="18" charset="0"/>
                        </a:rPr>
                        <m:t>&lt;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𝐶</m:t>
                          </m:r>
                        </m:e>
                        <m:sub>
                          <m:r>
                            <a:rPr lang="en-US" altLang="zh-CN" sz="2200" i="1">
                              <a:latin typeface="Cambria Math" panose="02040503050406030204" pitchFamily="18" charset="0"/>
                            </a:rPr>
                            <m:t>𝑎𝑑𝑓</m:t>
                          </m:r>
                        </m:sub>
                      </m:sSub>
                      <m:r>
                        <a:rPr lang="en-US" altLang="zh-CN" sz="2200" b="0" i="1" smtClean="0">
                          <a:latin typeface="Cambria Math" panose="02040503050406030204" pitchFamily="18" charset="0"/>
                        </a:rPr>
                        <m:t>&lt;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𝐶</m:t>
                          </m:r>
                        </m:e>
                        <m:sub>
                          <m:r>
                            <a:rPr lang="en-US" altLang="zh-CN" sz="2200" i="1">
                              <a:latin typeface="Cambria Math" panose="02040503050406030204" pitchFamily="18" charset="0"/>
                            </a:rPr>
                            <m:t>𝑎𝑐𝑓</m:t>
                          </m:r>
                        </m:sub>
                      </m:sSub>
                      <m:r>
                        <a:rPr lang="en-US" altLang="zh-CN" sz="2200" b="0" i="1" smtClean="0">
                          <a:latin typeface="Cambria Math" panose="02040503050406030204" pitchFamily="18" charset="0"/>
                        </a:rPr>
                        <m:t>&lt;</m:t>
                      </m:r>
                      <m:sSub>
                        <m:sSubPr>
                          <m:ctrlPr>
                            <a:rPr lang="en-US" altLang="zh-CN" sz="2200" i="1">
                              <a:latin typeface="Cambria Math" panose="02040503050406030204" pitchFamily="18" charset="0"/>
                            </a:rPr>
                          </m:ctrlPr>
                        </m:sSubPr>
                        <m:e>
                          <m:r>
                            <a:rPr lang="en-US" altLang="zh-CN" sz="2200" b="0" i="1" smtClean="0">
                              <a:latin typeface="Cambria Math" panose="02040503050406030204" pitchFamily="18" charset="0"/>
                            </a:rPr>
                            <m:t>𝐶</m:t>
                          </m:r>
                        </m:e>
                        <m:sub>
                          <m:r>
                            <a:rPr lang="en-US" altLang="zh-CN" sz="2200" i="1">
                              <a:latin typeface="Cambria Math" panose="02040503050406030204" pitchFamily="18" charset="0"/>
                            </a:rPr>
                            <m:t>𝑎𝑏𝑓</m:t>
                          </m:r>
                        </m:sub>
                      </m:sSub>
                    </m:oMath>
                  </m:oMathPara>
                </a14:m>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r>
                  <a:rPr lang="zh-CN" altLang="en-US" sz="2200" dirty="0">
                    <a:latin typeface="楷体" panose="02010609060101010101" pitchFamily="49" charset="-122"/>
                    <a:ea typeface="楷体" panose="02010609060101010101" pitchFamily="49" charset="-122"/>
                    <a:cs typeface="Times New Roman" panose="02020603050405020304" pitchFamily="18" charset="0"/>
                  </a:rPr>
                  <a:t>即过程</a:t>
                </a:r>
                <a14:m>
                  <m:oMath xmlns:m="http://schemas.openxmlformats.org/officeDocument/2006/math">
                    <m:r>
                      <a:rPr lang="en-US" altLang="zh-CN" sz="2200" i="1" dirty="0" smtClean="0">
                        <a:latin typeface="Cambria Math" panose="02040503050406030204" pitchFamily="18" charset="0"/>
                        <a:ea typeface="楷体" panose="02010609060101010101" pitchFamily="49" charset="-122"/>
                        <a:cs typeface="Times New Roman" panose="02020603050405020304" pitchFamily="18" charset="0"/>
                      </a:rPr>
                      <m:t>𝑎𝑏𝑓</m:t>
                    </m:r>
                  </m:oMath>
                </a14:m>
                <a:r>
                  <a:rPr lang="zh-CN" altLang="en-US" sz="2200" dirty="0">
                    <a:latin typeface="楷体" panose="02010609060101010101" pitchFamily="49" charset="-122"/>
                    <a:ea typeface="楷体" panose="02010609060101010101" pitchFamily="49" charset="-122"/>
                    <a:cs typeface="Times New Roman" panose="02020603050405020304" pitchFamily="18" charset="0"/>
                  </a:rPr>
                  <a:t>的平均摩尔热容最大。</a:t>
                </a:r>
                <a:endParaRPr lang="en-US" altLang="zh-CN" sz="2200" dirty="0">
                  <a:latin typeface="楷体" panose="02010609060101010101" pitchFamily="49" charset="-122"/>
                  <a:ea typeface="楷体" panose="02010609060101010101" pitchFamily="49" charset="-122"/>
                  <a:cs typeface="Times New Roman" panose="02020603050405020304" pitchFamily="18" charset="0"/>
                </a:endParaRPr>
              </a:p>
              <a:p>
                <a:pPr marL="0" indent="0">
                  <a:buNone/>
                </a:pPr>
                <a:endParaRPr lang="zh-CN" altLang="en-US" i="1"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911702"/>
                <a:ext cx="10515600" cy="4898572"/>
              </a:xfrm>
              <a:blipFill>
                <a:blip r:embed="rId2"/>
                <a:stretch>
                  <a:fillRect l="-754" t="-16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119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6057" y="3814579"/>
            <a:ext cx="3733333" cy="2831746"/>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534757" y="508602"/>
                <a:ext cx="11122486" cy="4523098"/>
              </a:xfrm>
              <a:prstGeom prst="rect">
                <a:avLst/>
              </a:prstGeom>
            </p:spPr>
            <p:txBody>
              <a:bodyPr wrap="square">
                <a:spAutoFit/>
              </a:bodyPr>
              <a:lstStyle/>
              <a:p>
                <a:pPr>
                  <a:lnSpc>
                    <a:spcPct val="130000"/>
                  </a:lnSpc>
                </a:pPr>
                <a:r>
                  <a:rPr lang="en-US" altLang="zh-CN" sz="32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3200" dirty="0">
                    <a:latin typeface="+mn-ea"/>
                    <a:cs typeface="Times New Roman" panose="02020603050405020304" pitchFamily="18" charset="0"/>
                  </a:rPr>
                  <a:t>.    </a:t>
                </a:r>
                <a:r>
                  <a:rPr lang="zh-CN" altLang="en-US" sz="3200" dirty="0">
                    <a:latin typeface="+mn-ea"/>
                    <a:cs typeface="Times New Roman" panose="02020603050405020304" pitchFamily="18" charset="0"/>
                  </a:rPr>
                  <a:t>如图所示，某热力学系统沿过程</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𝑎𝑐𝑏</m:t>
                    </m:r>
                  </m:oMath>
                </a14:m>
                <a:r>
                  <a:rPr lang="zh-CN" altLang="en-US" sz="3200" dirty="0">
                    <a:latin typeface="+mn-ea"/>
                    <a:cs typeface="Times New Roman" panose="02020603050405020304" pitchFamily="18" charset="0"/>
                  </a:rPr>
                  <a:t>从</a:t>
                </a:r>
                <a14:m>
                  <m:oMath xmlns:m="http://schemas.openxmlformats.org/officeDocument/2006/math">
                    <m:r>
                      <a:rPr lang="en-US" altLang="zh-CN" sz="3200" b="0" i="1" dirty="0" smtClean="0">
                        <a:latin typeface="Cambria Math" panose="02040503050406030204" pitchFamily="18" charset="0"/>
                        <a:cs typeface="Times New Roman" panose="02020603050405020304" pitchFamily="18" charset="0"/>
                      </a:rPr>
                      <m:t>𝑎</m:t>
                    </m:r>
                  </m:oMath>
                </a14:m>
                <a:r>
                  <a:rPr lang="zh-CN" altLang="en-US" sz="3200" dirty="0">
                    <a:latin typeface="+mn-ea"/>
                    <a:cs typeface="Times New Roman" panose="02020603050405020304" pitchFamily="18" charset="0"/>
                  </a:rPr>
                  <a:t>状态到</a:t>
                </a:r>
                <a14:m>
                  <m:oMath xmlns:m="http://schemas.openxmlformats.org/officeDocument/2006/math">
                    <m:r>
                      <a:rPr lang="en-US" altLang="zh-CN" sz="3200" i="1">
                        <a:latin typeface="Cambria Math" panose="02040503050406030204" pitchFamily="18" charset="0"/>
                        <a:cs typeface="Times New Roman" panose="02020603050405020304" pitchFamily="18" charset="0"/>
                      </a:rPr>
                      <m:t>𝑏</m:t>
                    </m:r>
                  </m:oMath>
                </a14:m>
                <a:r>
                  <a:rPr lang="zh-CN" altLang="en-US" sz="3200" dirty="0">
                    <a:latin typeface="+mn-ea"/>
                    <a:cs typeface="Times New Roman" panose="02020603050405020304" pitchFamily="18" charset="0"/>
                  </a:rPr>
                  <a:t>态，系统吸热</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80</m:t>
                    </m:r>
                    <m:r>
                      <a:rPr lang="en-US" altLang="zh-CN" sz="3200" b="0" i="1" smtClean="0">
                        <a:latin typeface="Cambria Math" panose="02040503050406030204" pitchFamily="18" charset="0"/>
                        <a:cs typeface="Times New Roman" panose="02020603050405020304" pitchFamily="18" charset="0"/>
                      </a:rPr>
                      <m:t>𝐽</m:t>
                    </m:r>
                  </m:oMath>
                </a14:m>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并作功</a:t>
                </a:r>
                <a14:m>
                  <m:oMath xmlns:m="http://schemas.openxmlformats.org/officeDocument/2006/math">
                    <m:r>
                      <a:rPr lang="en-US" altLang="zh-CN" sz="3200" i="1" dirty="0" smtClean="0">
                        <a:latin typeface="Cambria Math" panose="02040503050406030204" pitchFamily="18" charset="0"/>
                        <a:cs typeface="Times New Roman" panose="02020603050405020304" pitchFamily="18" charset="0"/>
                      </a:rPr>
                      <m:t>3</m:t>
                    </m:r>
                    <m:r>
                      <a:rPr lang="en-US" altLang="zh-CN" sz="3200" i="1">
                        <a:latin typeface="Cambria Math" panose="02040503050406030204" pitchFamily="18" charset="0"/>
                        <a:cs typeface="Times New Roman" panose="02020603050405020304" pitchFamily="18" charset="0"/>
                      </a:rPr>
                      <m:t>0</m:t>
                    </m:r>
                    <m:r>
                      <a:rPr lang="en-US" altLang="zh-CN" sz="3200" i="1">
                        <a:latin typeface="Cambria Math" panose="02040503050406030204" pitchFamily="18" charset="0"/>
                        <a:cs typeface="Times New Roman" panose="02020603050405020304" pitchFamily="18" charset="0"/>
                      </a:rPr>
                      <m:t>𝐽</m:t>
                    </m:r>
                    <m:r>
                      <a:rPr lang="en-US" altLang="zh-CN" sz="3200" i="1">
                        <a:latin typeface="Cambria Math" panose="02040503050406030204" pitchFamily="18" charset="0"/>
                        <a:cs typeface="Times New Roman" panose="02020603050405020304" pitchFamily="18" charset="0"/>
                      </a:rPr>
                      <m:t> </m:t>
                    </m:r>
                  </m:oMath>
                </a14:m>
                <a:r>
                  <a:rPr lang="zh-CN" altLang="en-US" sz="3200" dirty="0">
                    <a:latin typeface="+mn-ea"/>
                    <a:cs typeface="Times New Roman" panose="02020603050405020304" pitchFamily="18" charset="0"/>
                  </a:rPr>
                  <a:t>：</a:t>
                </a:r>
                <a:endParaRPr lang="en-US" altLang="zh-CN" sz="3200" dirty="0">
                  <a:latin typeface="+mn-ea"/>
                  <a:cs typeface="Times New Roman" panose="02020603050405020304" pitchFamily="18" charset="0"/>
                </a:endParaRPr>
              </a:p>
              <a:p>
                <a:pPr>
                  <a:lnSpc>
                    <a:spcPct val="130000"/>
                  </a:lnSpc>
                </a:pPr>
                <a:r>
                  <a:rPr lang="en-US" altLang="zh-CN" sz="3200" dirty="0">
                    <a:latin typeface="+mn-ea"/>
                    <a:cs typeface="Times New Roman" panose="02020603050405020304" pitchFamily="18" charset="0"/>
                  </a:rPr>
                  <a:t>(1)  </a:t>
                </a:r>
                <a:r>
                  <a:rPr lang="zh-CN" altLang="en-US" sz="3200" dirty="0">
                    <a:latin typeface="+mn-ea"/>
                    <a:cs typeface="Times New Roman" panose="02020603050405020304" pitchFamily="18" charset="0"/>
                  </a:rPr>
                  <a:t>若系统沿</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𝑎𝑑𝑏</m:t>
                    </m:r>
                  </m:oMath>
                </a14:m>
                <a:r>
                  <a:rPr lang="zh-CN" altLang="en-US" sz="3200" dirty="0">
                    <a:latin typeface="+mn-ea"/>
                    <a:cs typeface="Times New Roman" panose="02020603050405020304" pitchFamily="18" charset="0"/>
                  </a:rPr>
                  <a:t>过程作功</a:t>
                </a:r>
                <a14:m>
                  <m:oMath xmlns:m="http://schemas.openxmlformats.org/officeDocument/2006/math">
                    <m:r>
                      <a:rPr lang="en-US" altLang="zh-CN" sz="3200" i="1" dirty="0" smtClean="0">
                        <a:latin typeface="Cambria Math" panose="02040503050406030204" pitchFamily="18" charset="0"/>
                        <a:cs typeface="Times New Roman" panose="02020603050405020304" pitchFamily="18" charset="0"/>
                      </a:rPr>
                      <m:t>1</m:t>
                    </m:r>
                    <m:r>
                      <a:rPr lang="en-US" altLang="zh-CN" sz="3200" i="1">
                        <a:latin typeface="Cambria Math" panose="02040503050406030204" pitchFamily="18" charset="0"/>
                        <a:cs typeface="Times New Roman" panose="02020603050405020304" pitchFamily="18" charset="0"/>
                      </a:rPr>
                      <m:t>0</m:t>
                    </m:r>
                    <m:r>
                      <a:rPr lang="en-US" altLang="zh-CN" sz="3200" i="1">
                        <a:latin typeface="Cambria Math" panose="02040503050406030204" pitchFamily="18" charset="0"/>
                        <a:cs typeface="Times New Roman" panose="02020603050405020304" pitchFamily="18" charset="0"/>
                      </a:rPr>
                      <m:t>𝐽</m:t>
                    </m:r>
                  </m:oMath>
                </a14:m>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它吸热多少焦耳？</a:t>
                </a:r>
                <a:br>
                  <a:rPr lang="zh-CN" altLang="en-US" sz="3200" dirty="0">
                    <a:latin typeface="+mn-ea"/>
                    <a:cs typeface="Times New Roman" panose="02020603050405020304" pitchFamily="18" charset="0"/>
                  </a:rPr>
                </a:br>
                <a:r>
                  <a:rPr lang="en-US" altLang="zh-CN" sz="3200" dirty="0">
                    <a:latin typeface="+mn-ea"/>
                    <a:cs typeface="Times New Roman" panose="02020603050405020304" pitchFamily="18" charset="0"/>
                  </a:rPr>
                  <a:t>(2)  </a:t>
                </a:r>
                <a:r>
                  <a:rPr lang="zh-CN" altLang="en-US" sz="3200" dirty="0">
                    <a:latin typeface="+mn-ea"/>
                    <a:cs typeface="Times New Roman" panose="02020603050405020304" pitchFamily="18" charset="0"/>
                  </a:rPr>
                  <a:t>若系统沿曲线由</a:t>
                </a:r>
                <a14:m>
                  <m:oMath xmlns:m="http://schemas.openxmlformats.org/officeDocument/2006/math">
                    <m:r>
                      <a:rPr lang="en-US" altLang="zh-CN" sz="3200" i="1">
                        <a:latin typeface="Cambria Math" panose="02040503050406030204" pitchFamily="18" charset="0"/>
                        <a:cs typeface="Times New Roman" panose="02020603050405020304" pitchFamily="18" charset="0"/>
                      </a:rPr>
                      <m:t>𝑏</m:t>
                    </m:r>
                  </m:oMath>
                </a14:m>
                <a:r>
                  <a:rPr lang="zh-CN" altLang="en-US" sz="3200" dirty="0">
                    <a:latin typeface="+mn-ea"/>
                    <a:cs typeface="Times New Roman" panose="02020603050405020304" pitchFamily="18" charset="0"/>
                  </a:rPr>
                  <a:t>态回到</a:t>
                </a:r>
                <a14:m>
                  <m:oMath xmlns:m="http://schemas.openxmlformats.org/officeDocument/2006/math">
                    <m:r>
                      <a:rPr lang="en-US" altLang="zh-CN" sz="3200" i="1" dirty="0">
                        <a:latin typeface="Cambria Math" panose="02040503050406030204" pitchFamily="18" charset="0"/>
                        <a:cs typeface="Times New Roman" panose="02020603050405020304" pitchFamily="18" charset="0"/>
                      </a:rPr>
                      <m:t>𝑎</m:t>
                    </m:r>
                  </m:oMath>
                </a14:m>
                <a:r>
                  <a:rPr lang="zh-CN" altLang="en-US" sz="3200" dirty="0">
                    <a:latin typeface="+mn-ea"/>
                    <a:cs typeface="Times New Roman" panose="02020603050405020304" pitchFamily="18" charset="0"/>
                  </a:rPr>
                  <a:t>态</a:t>
                </a:r>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外界作功</a:t>
                </a:r>
                <a14:m>
                  <m:oMath xmlns:m="http://schemas.openxmlformats.org/officeDocument/2006/math">
                    <m:r>
                      <a:rPr lang="en-US" altLang="zh-CN" sz="3200" i="1" dirty="0" smtClean="0">
                        <a:latin typeface="Cambria Math" panose="02040503050406030204" pitchFamily="18" charset="0"/>
                        <a:cs typeface="Times New Roman" panose="02020603050405020304" pitchFamily="18" charset="0"/>
                      </a:rPr>
                      <m:t>2</m:t>
                    </m:r>
                    <m:r>
                      <a:rPr lang="en-US" altLang="zh-CN" sz="3200" i="1">
                        <a:latin typeface="Cambria Math" panose="02040503050406030204" pitchFamily="18" charset="0"/>
                        <a:cs typeface="Times New Roman" panose="02020603050405020304" pitchFamily="18" charset="0"/>
                      </a:rPr>
                      <m:t>0</m:t>
                    </m:r>
                    <m:r>
                      <a:rPr lang="en-US" altLang="zh-CN" sz="3200" i="1">
                        <a:latin typeface="Cambria Math" panose="02040503050406030204" pitchFamily="18" charset="0"/>
                        <a:cs typeface="Times New Roman" panose="02020603050405020304" pitchFamily="18" charset="0"/>
                      </a:rPr>
                      <m:t>𝐽</m:t>
                    </m:r>
                  </m:oMath>
                </a14:m>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系统吸热多少？</a:t>
                </a:r>
                <a:endParaRPr lang="en-US" altLang="zh-CN" sz="3200" dirty="0">
                  <a:latin typeface="+mn-ea"/>
                  <a:cs typeface="Times New Roman" panose="02020603050405020304" pitchFamily="18" charset="0"/>
                </a:endParaRPr>
              </a:p>
              <a:p>
                <a:pPr>
                  <a:lnSpc>
                    <a:spcPct val="130000"/>
                  </a:lnSpc>
                </a:pPr>
                <a:r>
                  <a:rPr lang="en-US" altLang="zh-CN" sz="3200" dirty="0">
                    <a:latin typeface="+mn-ea"/>
                    <a:cs typeface="Times New Roman" panose="02020603050405020304" pitchFamily="18" charset="0"/>
                  </a:rPr>
                  <a:t>(3)  </a:t>
                </a:r>
                <a:r>
                  <a:rPr lang="zh-CN" altLang="en-US" sz="3200" dirty="0">
                    <a:latin typeface="+mn-ea"/>
                    <a:cs typeface="Times New Roman" panose="02020603050405020304" pitchFamily="18" charset="0"/>
                  </a:rPr>
                  <a:t>在上述条件下，若</a:t>
                </a:r>
                <a14:m>
                  <m:oMath xmlns:m="http://schemas.openxmlformats.org/officeDocument/2006/math">
                    <m:sSub>
                      <m:sSubPr>
                        <m:ctrlPr>
                          <a:rPr lang="en-US" altLang="zh-CN" sz="3200" i="1" smtClean="0">
                            <a:latin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cs typeface="Times New Roman" panose="02020603050405020304" pitchFamily="18" charset="0"/>
                          </a:rPr>
                          <m:t>𝐸</m:t>
                        </m:r>
                      </m:e>
                      <m:sub>
                        <m:r>
                          <a:rPr lang="en-US" altLang="zh-CN" sz="3200" b="0" i="1" smtClean="0">
                            <a:latin typeface="Cambria Math" panose="02040503050406030204" pitchFamily="18" charset="0"/>
                            <a:cs typeface="Times New Roman" panose="02020603050405020304" pitchFamily="18" charset="0"/>
                          </a:rPr>
                          <m:t>𝑑</m:t>
                        </m:r>
                      </m:sub>
                    </m:sSub>
                    <m:r>
                      <a:rPr lang="en-US" altLang="zh-CN" sz="32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32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3200" b="0" i="1" smtClean="0">
                            <a:latin typeface="Cambria Math" panose="02040503050406030204" pitchFamily="18" charset="0"/>
                            <a:ea typeface="Cambria Math" panose="02040503050406030204" pitchFamily="18" charset="0"/>
                            <a:cs typeface="Times New Roman" panose="02020603050405020304" pitchFamily="18" charset="0"/>
                          </a:rPr>
                          <m:t>𝑎</m:t>
                        </m:r>
                      </m:sub>
                    </m:sSub>
                  </m:oMath>
                </a14:m>
                <a:r>
                  <a:rPr lang="en-US" altLang="zh-CN" sz="3200" dirty="0">
                    <a:latin typeface="+mn-ea"/>
                    <a:cs typeface="Times New Roman" panose="02020603050405020304" pitchFamily="18" charset="0"/>
                  </a:rPr>
                  <a:t>=</a:t>
                </a:r>
                <a:r>
                  <a:rPr lang="en-US" altLang="zh-CN" sz="3200" dirty="0">
                    <a:cs typeface="Times New Roman" panose="02020603050405020304" pitchFamily="18" charset="0"/>
                  </a:rPr>
                  <a:t> </a:t>
                </a:r>
                <a14:m>
                  <m:oMath xmlns:m="http://schemas.openxmlformats.org/officeDocument/2006/math">
                    <m:r>
                      <a:rPr lang="en-US" altLang="zh-CN" sz="3200" i="1" dirty="0" smtClean="0">
                        <a:latin typeface="Cambria Math" panose="02040503050406030204" pitchFamily="18" charset="0"/>
                        <a:cs typeface="Times New Roman" panose="02020603050405020304" pitchFamily="18" charset="0"/>
                      </a:rPr>
                      <m:t>4</m:t>
                    </m:r>
                    <m:r>
                      <a:rPr lang="en-US" altLang="zh-CN" sz="3200" i="1">
                        <a:latin typeface="Cambria Math" panose="02040503050406030204" pitchFamily="18" charset="0"/>
                        <a:cs typeface="Times New Roman" panose="02020603050405020304" pitchFamily="18" charset="0"/>
                      </a:rPr>
                      <m:t>0</m:t>
                    </m:r>
                    <m:r>
                      <a:rPr lang="en-US" altLang="zh-CN" sz="3200" i="1">
                        <a:latin typeface="Cambria Math" panose="02040503050406030204" pitchFamily="18" charset="0"/>
                        <a:cs typeface="Times New Roman" panose="02020603050405020304" pitchFamily="18" charset="0"/>
                      </a:rPr>
                      <m:t>𝐽</m:t>
                    </m:r>
                    <m:r>
                      <a:rPr lang="en-US" altLang="zh-CN" sz="3200" b="0" i="1" smtClean="0">
                        <a:latin typeface="Cambria Math" panose="02040503050406030204" pitchFamily="18" charset="0"/>
                        <a:cs typeface="Times New Roman" panose="02020603050405020304" pitchFamily="18" charset="0"/>
                      </a:rPr>
                      <m:t>,</m:t>
                    </m:r>
                    <m:r>
                      <a:rPr lang="en-US" altLang="zh-CN" sz="3200" i="1">
                        <a:latin typeface="Cambria Math" panose="02040503050406030204" pitchFamily="18" charset="0"/>
                        <a:cs typeface="Times New Roman" panose="02020603050405020304" pitchFamily="18" charset="0"/>
                      </a:rPr>
                      <m:t>𝑎𝑏𝑑</m:t>
                    </m:r>
                  </m:oMath>
                </a14:m>
                <a:r>
                  <a:rPr lang="zh-CN" altLang="en-US" sz="3200" dirty="0">
                    <a:latin typeface="+mn-ea"/>
                    <a:cs typeface="Times New Roman" panose="02020603050405020304" pitchFamily="18" charset="0"/>
                  </a:rPr>
                  <a:t>过程中吸热多少焦耳</a:t>
                </a:r>
                <a:r>
                  <a:rPr lang="en-US" altLang="zh-CN" sz="3200" dirty="0">
                    <a:latin typeface="+mn-ea"/>
                    <a:cs typeface="Times New Roman" panose="02020603050405020304" pitchFamily="18" charset="0"/>
                  </a:rPr>
                  <a:t>,</a:t>
                </a:r>
                <a14:m>
                  <m:oMath xmlns:m="http://schemas.openxmlformats.org/officeDocument/2006/math">
                    <m:r>
                      <a:rPr lang="en-US" altLang="zh-CN" sz="3200" i="1">
                        <a:latin typeface="Cambria Math" panose="02040503050406030204" pitchFamily="18" charset="0"/>
                        <a:cs typeface="Times New Roman" panose="02020603050405020304" pitchFamily="18" charset="0"/>
                      </a:rPr>
                      <m:t>𝑎𝑑</m:t>
                    </m:r>
                  </m:oMath>
                </a14:m>
                <a:r>
                  <a:rPr lang="zh-CN" altLang="en-US" sz="3200" dirty="0">
                    <a:latin typeface="+mn-ea"/>
                    <a:cs typeface="Times New Roman" panose="02020603050405020304" pitchFamily="18" charset="0"/>
                  </a:rPr>
                  <a:t>过程中吸热多少焦耳？</a:t>
                </a:r>
                <a:br>
                  <a:rPr lang="zh-CN" altLang="en-US" sz="3200" dirty="0">
                    <a:latin typeface="+mn-ea"/>
                    <a:cs typeface="Times New Roman" panose="02020603050405020304" pitchFamily="18" charset="0"/>
                  </a:rPr>
                </a:br>
                <a:endParaRPr lang="zh-CN" altLang="en-US" sz="3200" dirty="0">
                  <a:latin typeface="+mn-ea"/>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534757" y="508602"/>
                <a:ext cx="11122486" cy="4523098"/>
              </a:xfrm>
              <a:prstGeom prst="rect">
                <a:avLst/>
              </a:prstGeom>
              <a:blipFill>
                <a:blip r:embed="rId3"/>
                <a:stretch>
                  <a:fillRect l="-1425" r="-9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1199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1612" y="238259"/>
            <a:ext cx="3733333" cy="2831746"/>
          </a:xfrm>
          <a:prstGeom prst="rect">
            <a:avLst/>
          </a:prstGeom>
        </p:spPr>
      </p:pic>
      <p:sp>
        <p:nvSpPr>
          <p:cNvPr id="5" name="文本框 4"/>
          <p:cNvSpPr txBox="1"/>
          <p:nvPr/>
        </p:nvSpPr>
        <p:spPr>
          <a:xfrm>
            <a:off x="818515" y="715010"/>
            <a:ext cx="3846830" cy="460375"/>
          </a:xfrm>
          <a:prstGeom prst="rect">
            <a:avLst/>
          </a:prstGeom>
          <a:noFill/>
        </p:spPr>
        <p:txBody>
          <a:bodyPr wrap="square" rtlCol="0">
            <a:spAutoFit/>
          </a:bodyPr>
          <a:lstStyle/>
          <a:p>
            <a:r>
              <a:rPr lang="zh-CN" altLang="en-US" sz="2400"/>
              <a:t>（</a:t>
            </a:r>
            <a:r>
              <a:rPr lang="en-US" altLang="zh-CN" sz="2400"/>
              <a:t>1</a:t>
            </a:r>
            <a:r>
              <a:rPr lang="zh-CN" altLang="en-US" sz="2400"/>
              <a:t>）</a:t>
            </a:r>
            <a:r>
              <a:rPr lang="en-US" altLang="zh-CN" sz="2400"/>
              <a:t>acb</a:t>
            </a:r>
            <a:r>
              <a:rPr lang="zh-CN" altLang="en-US" sz="2400"/>
              <a:t>过程内能的变化：</a:t>
            </a:r>
          </a:p>
        </p:txBody>
      </p:sp>
      <p:graphicFrame>
        <p:nvGraphicFramePr>
          <p:cNvPr id="11" name="对象 10"/>
          <p:cNvGraphicFramePr/>
          <p:nvPr/>
        </p:nvGraphicFramePr>
        <p:xfrm>
          <a:off x="1712278" y="1159828"/>
          <a:ext cx="4152900" cy="568325"/>
        </p:xfrm>
        <a:graphic>
          <a:graphicData uri="http://schemas.openxmlformats.org/presentationml/2006/ole">
            <mc:AlternateContent xmlns:mc="http://schemas.openxmlformats.org/markup-compatibility/2006">
              <mc:Choice xmlns:v="urn:schemas-microsoft-com:vml" Requires="v">
                <p:oleObj spid="_x0000_s2060" r:id="rId4" imgW="1765300" imgH="228600" progId="Equation.KSEE3">
                  <p:embed/>
                </p:oleObj>
              </mc:Choice>
              <mc:Fallback>
                <p:oleObj r:id="rId4" imgW="1765300" imgH="228600" progId="Equation.KSEE3">
                  <p:embed/>
                  <p:pic>
                    <p:nvPicPr>
                      <p:cNvPr id="11" name="对象 10"/>
                      <p:cNvPicPr/>
                      <p:nvPr/>
                    </p:nvPicPr>
                    <p:blipFill>
                      <a:blip r:embed="rId5"/>
                      <a:stretch>
                        <a:fillRect/>
                      </a:stretch>
                    </p:blipFill>
                    <p:spPr>
                      <a:xfrm>
                        <a:off x="1712278" y="1159828"/>
                        <a:ext cx="4152900" cy="568325"/>
                      </a:xfrm>
                      <a:prstGeom prst="rect">
                        <a:avLst/>
                      </a:prstGeom>
                    </p:spPr>
                  </p:pic>
                </p:oleObj>
              </mc:Fallback>
            </mc:AlternateContent>
          </a:graphicData>
        </a:graphic>
      </p:graphicFrame>
      <p:sp>
        <p:nvSpPr>
          <p:cNvPr id="13" name="文本框 12"/>
          <p:cNvSpPr txBox="1"/>
          <p:nvPr/>
        </p:nvSpPr>
        <p:spPr>
          <a:xfrm>
            <a:off x="1593850" y="2609850"/>
            <a:ext cx="4753610" cy="460375"/>
          </a:xfrm>
          <a:prstGeom prst="rect">
            <a:avLst/>
          </a:prstGeom>
          <a:noFill/>
        </p:spPr>
        <p:txBody>
          <a:bodyPr wrap="square" rtlCol="0">
            <a:spAutoFit/>
          </a:bodyPr>
          <a:lstStyle/>
          <a:p>
            <a:r>
              <a:rPr lang="en-US" altLang="zh-CN" sz="2400"/>
              <a:t>adb</a:t>
            </a:r>
            <a:r>
              <a:rPr lang="zh-CN" altLang="en-US" sz="2400"/>
              <a:t>过程下做功</a:t>
            </a:r>
            <a:r>
              <a:rPr lang="en-US" altLang="zh-CN" sz="2400"/>
              <a:t>10J</a:t>
            </a:r>
            <a:r>
              <a:rPr lang="zh-CN" altLang="en-US" sz="2400"/>
              <a:t>，则吸热：</a:t>
            </a:r>
          </a:p>
        </p:txBody>
      </p:sp>
      <p:graphicFrame>
        <p:nvGraphicFramePr>
          <p:cNvPr id="14" name="对象 13"/>
          <p:cNvGraphicFramePr/>
          <p:nvPr/>
        </p:nvGraphicFramePr>
        <p:xfrm>
          <a:off x="1712595" y="3074035"/>
          <a:ext cx="5026660" cy="522605"/>
        </p:xfrm>
        <a:graphic>
          <a:graphicData uri="http://schemas.openxmlformats.org/presentationml/2006/ole">
            <mc:AlternateContent xmlns:mc="http://schemas.openxmlformats.org/markup-compatibility/2006">
              <mc:Choice xmlns:v="urn:schemas-microsoft-com:vml" Requires="v">
                <p:oleObj spid="_x0000_s2061" r:id="rId6" imgW="1841500" imgH="228600" progId="Equation.KSEE3">
                  <p:embed/>
                </p:oleObj>
              </mc:Choice>
              <mc:Fallback>
                <p:oleObj r:id="rId6" imgW="1841500" imgH="228600" progId="Equation.KSEE3">
                  <p:embed/>
                  <p:pic>
                    <p:nvPicPr>
                      <p:cNvPr id="14" name="对象 13"/>
                      <p:cNvPicPr/>
                      <p:nvPr/>
                    </p:nvPicPr>
                    <p:blipFill>
                      <a:blip r:embed="rId7"/>
                      <a:stretch>
                        <a:fillRect/>
                      </a:stretch>
                    </p:blipFill>
                    <p:spPr>
                      <a:xfrm>
                        <a:off x="1712595" y="3074035"/>
                        <a:ext cx="5026660" cy="522605"/>
                      </a:xfrm>
                      <a:prstGeom prst="rect">
                        <a:avLst/>
                      </a:prstGeom>
                    </p:spPr>
                  </p:pic>
                </p:oleObj>
              </mc:Fallback>
            </mc:AlternateContent>
          </a:graphicData>
        </a:graphic>
      </p:graphicFrame>
      <p:sp>
        <p:nvSpPr>
          <p:cNvPr id="16" name="文本框 15"/>
          <p:cNvSpPr txBox="1"/>
          <p:nvPr/>
        </p:nvSpPr>
        <p:spPr>
          <a:xfrm>
            <a:off x="965200" y="3625850"/>
            <a:ext cx="4725035" cy="460375"/>
          </a:xfrm>
          <a:prstGeom prst="rect">
            <a:avLst/>
          </a:prstGeom>
          <a:noFill/>
        </p:spPr>
        <p:txBody>
          <a:bodyPr wrap="square" rtlCol="0">
            <a:spAutoFit/>
          </a:bodyPr>
          <a:lstStyle/>
          <a:p>
            <a:r>
              <a:rPr lang="zh-CN" altLang="en-US" sz="2400"/>
              <a:t>（</a:t>
            </a:r>
            <a:r>
              <a:rPr lang="en-US" altLang="zh-CN" sz="2400"/>
              <a:t>2</a:t>
            </a:r>
            <a:r>
              <a:rPr lang="zh-CN" altLang="en-US" sz="2400"/>
              <a:t>）</a:t>
            </a:r>
            <a:r>
              <a:rPr lang="en-US" altLang="zh-CN" sz="2400"/>
              <a:t>b</a:t>
            </a:r>
            <a:r>
              <a:rPr lang="en-US" altLang="zh-CN" sz="2400">
                <a:sym typeface="+mn-ea"/>
              </a:rPr>
              <a:t>a</a:t>
            </a:r>
            <a:r>
              <a:rPr lang="zh-CN" altLang="en-US" sz="2400">
                <a:sym typeface="+mn-ea"/>
              </a:rPr>
              <a:t>过程内能变化</a:t>
            </a:r>
            <a:r>
              <a:rPr lang="zh-CN" altLang="en-US">
                <a:sym typeface="+mn-ea"/>
              </a:rPr>
              <a:t>：</a:t>
            </a:r>
          </a:p>
        </p:txBody>
      </p:sp>
      <p:graphicFrame>
        <p:nvGraphicFramePr>
          <p:cNvPr id="18" name="对象 17"/>
          <p:cNvGraphicFramePr/>
          <p:nvPr/>
        </p:nvGraphicFramePr>
        <p:xfrm>
          <a:off x="1812925" y="4115435"/>
          <a:ext cx="2771140" cy="509270"/>
        </p:xfrm>
        <a:graphic>
          <a:graphicData uri="http://schemas.openxmlformats.org/presentationml/2006/ole">
            <mc:AlternateContent xmlns:mc="http://schemas.openxmlformats.org/markup-compatibility/2006">
              <mc:Choice xmlns:v="urn:schemas-microsoft-com:vml" Requires="v">
                <p:oleObj spid="_x0000_s2062" r:id="rId8" imgW="1295400" imgH="228600" progId="Equation.KSEE3">
                  <p:embed/>
                </p:oleObj>
              </mc:Choice>
              <mc:Fallback>
                <p:oleObj r:id="rId8" imgW="1295400" imgH="228600" progId="Equation.KSEE3">
                  <p:embed/>
                  <p:pic>
                    <p:nvPicPr>
                      <p:cNvPr id="18" name="对象 17"/>
                      <p:cNvPicPr/>
                      <p:nvPr/>
                    </p:nvPicPr>
                    <p:blipFill>
                      <a:blip r:embed="rId9"/>
                      <a:stretch>
                        <a:fillRect/>
                      </a:stretch>
                    </p:blipFill>
                    <p:spPr>
                      <a:xfrm>
                        <a:off x="1812925" y="4115435"/>
                        <a:ext cx="2771140" cy="509270"/>
                      </a:xfrm>
                      <a:prstGeom prst="rect">
                        <a:avLst/>
                      </a:prstGeom>
                    </p:spPr>
                  </p:pic>
                </p:oleObj>
              </mc:Fallback>
            </mc:AlternateContent>
          </a:graphicData>
        </a:graphic>
      </p:graphicFrame>
      <p:sp>
        <p:nvSpPr>
          <p:cNvPr id="20" name="文本框 19"/>
          <p:cNvSpPr txBox="1"/>
          <p:nvPr/>
        </p:nvSpPr>
        <p:spPr>
          <a:xfrm>
            <a:off x="1712595" y="4754880"/>
            <a:ext cx="3700780" cy="460375"/>
          </a:xfrm>
          <a:prstGeom prst="rect">
            <a:avLst/>
          </a:prstGeom>
          <a:noFill/>
        </p:spPr>
        <p:txBody>
          <a:bodyPr wrap="square" rtlCol="0">
            <a:spAutoFit/>
          </a:bodyPr>
          <a:lstStyle/>
          <a:p>
            <a:r>
              <a:rPr lang="zh-CN" altLang="en-US" sz="2400"/>
              <a:t>系统吸热：</a:t>
            </a:r>
          </a:p>
        </p:txBody>
      </p:sp>
      <p:graphicFrame>
        <p:nvGraphicFramePr>
          <p:cNvPr id="21" name="对象 20">
            <a:hlinkClick r:id="" action="ppaction://ole?verb=0"/>
          </p:cNvPr>
          <p:cNvGraphicFramePr>
            <a:graphicFrameLocks noChangeAspect="1"/>
          </p:cNvGraphicFramePr>
          <p:nvPr/>
        </p:nvGraphicFramePr>
        <p:xfrm>
          <a:off x="1859280" y="5203190"/>
          <a:ext cx="4382770" cy="518160"/>
        </p:xfrm>
        <a:graphic>
          <a:graphicData uri="http://schemas.openxmlformats.org/presentationml/2006/ole">
            <mc:AlternateContent xmlns:mc="http://schemas.openxmlformats.org/markup-compatibility/2006">
              <mc:Choice xmlns:v="urn:schemas-microsoft-com:vml" Requires="v">
                <p:oleObj spid="_x0000_s2063" r:id="rId10" imgW="1828800" imgH="215900" progId="Equation.KSEE3">
                  <p:embed/>
                </p:oleObj>
              </mc:Choice>
              <mc:Fallback>
                <p:oleObj r:id="rId10" imgW="1828800" imgH="215900" progId="Equation.KSEE3">
                  <p:embed/>
                  <p:pic>
                    <p:nvPicPr>
                      <p:cNvPr id="21" name="对象 20">
                        <a:hlinkClick r:id="" action="ppaction://ole?verb=0"/>
                      </p:cNvPr>
                      <p:cNvPicPr/>
                      <p:nvPr/>
                    </p:nvPicPr>
                    <p:blipFill>
                      <a:blip r:embed="rId11"/>
                      <a:stretch>
                        <a:fillRect/>
                      </a:stretch>
                    </p:blipFill>
                    <p:spPr>
                      <a:xfrm>
                        <a:off x="1859280" y="5203190"/>
                        <a:ext cx="4382770" cy="518160"/>
                      </a:xfrm>
                      <a:prstGeom prst="rect">
                        <a:avLst/>
                      </a:prstGeom>
                    </p:spPr>
                  </p:pic>
                </p:oleObj>
              </mc:Fallback>
            </mc:AlternateContent>
          </a:graphicData>
        </a:graphic>
      </p:graphicFrame>
      <p:sp>
        <p:nvSpPr>
          <p:cNvPr id="2" name="文本框 1"/>
          <p:cNvSpPr txBox="1"/>
          <p:nvPr/>
        </p:nvSpPr>
        <p:spPr>
          <a:xfrm>
            <a:off x="1593850" y="1695450"/>
            <a:ext cx="3554095" cy="460375"/>
          </a:xfrm>
          <a:prstGeom prst="rect">
            <a:avLst/>
          </a:prstGeom>
          <a:noFill/>
        </p:spPr>
        <p:txBody>
          <a:bodyPr wrap="square" rtlCol="0">
            <a:spAutoFit/>
          </a:bodyPr>
          <a:lstStyle/>
          <a:p>
            <a:r>
              <a:rPr lang="en-US" altLang="zh-CN" sz="2400"/>
              <a:t>内能是状态量；</a:t>
            </a:r>
          </a:p>
        </p:txBody>
      </p:sp>
      <p:graphicFrame>
        <p:nvGraphicFramePr>
          <p:cNvPr id="3" name="对象 2">
            <a:hlinkClick r:id="" action="ppaction://ole?verb=0"/>
          </p:cNvPr>
          <p:cNvGraphicFramePr>
            <a:graphicFrameLocks noChangeAspect="1"/>
          </p:cNvGraphicFramePr>
          <p:nvPr/>
        </p:nvGraphicFramePr>
        <p:xfrm>
          <a:off x="1712278" y="2090420"/>
          <a:ext cx="2971800" cy="519430"/>
        </p:xfrm>
        <a:graphic>
          <a:graphicData uri="http://schemas.openxmlformats.org/presentationml/2006/ole">
            <mc:AlternateContent xmlns:mc="http://schemas.openxmlformats.org/markup-compatibility/2006">
              <mc:Choice xmlns:v="urn:schemas-microsoft-com:vml" Requires="v">
                <p:oleObj spid="_x0000_s2064" r:id="rId12" imgW="1308100" imgH="228600" progId="Equation.KSEE3">
                  <p:embed/>
                </p:oleObj>
              </mc:Choice>
              <mc:Fallback>
                <p:oleObj r:id="rId12" imgW="1308100" imgH="228600" progId="Equation.KSEE3">
                  <p:embed/>
                  <p:pic>
                    <p:nvPicPr>
                      <p:cNvPr id="3" name="对象 2">
                        <a:hlinkClick r:id="" action="ppaction://ole?verb=0"/>
                      </p:cNvPr>
                      <p:cNvPicPr/>
                      <p:nvPr/>
                    </p:nvPicPr>
                    <p:blipFill>
                      <a:blip r:embed="rId13"/>
                      <a:stretch>
                        <a:fillRect/>
                      </a:stretch>
                    </p:blipFill>
                    <p:spPr>
                      <a:xfrm>
                        <a:off x="1712278" y="2090420"/>
                        <a:ext cx="2971800" cy="51943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7943850" y="3074035"/>
                <a:ext cx="3873500" cy="1819275"/>
              </a:xfrm>
              <a:prstGeom prst="rect">
                <a:avLst/>
              </a:prstGeom>
            </p:spPr>
            <p:txBody>
              <a:bodyPr wrap="square">
                <a:noAutofit/>
              </a:bodyPr>
              <a:lstStyle/>
              <a:p>
                <a:pPr>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400" dirty="0">
                    <a:latin typeface="+mn-ea"/>
                    <a:cs typeface="Times New Roman" panose="02020603050405020304" pitchFamily="18" charset="0"/>
                  </a:rPr>
                  <a:t>.    </a:t>
                </a:r>
                <a:r>
                  <a:rPr lang="zh-CN" altLang="en-US" sz="1400" dirty="0">
                    <a:latin typeface="+mn-ea"/>
                    <a:cs typeface="Times New Roman" panose="02020603050405020304" pitchFamily="18" charset="0"/>
                  </a:rPr>
                  <a:t>如图所示，某热力学系统沿过程</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𝑎𝑐𝑏</m:t>
                    </m:r>
                  </m:oMath>
                </a14:m>
                <a:r>
                  <a:rPr lang="zh-CN" altLang="en-US" sz="1400" dirty="0">
                    <a:latin typeface="+mn-ea"/>
                    <a:cs typeface="Times New Roman" panose="02020603050405020304" pitchFamily="18" charset="0"/>
                  </a:rPr>
                  <a:t>从</a:t>
                </a:r>
                <a14:m>
                  <m:oMath xmlns:m="http://schemas.openxmlformats.org/officeDocument/2006/math">
                    <m:r>
                      <a:rPr lang="en-US" altLang="zh-CN" sz="1400" b="0" i="1" dirty="0" smtClean="0">
                        <a:latin typeface="Cambria Math" panose="02040503050406030204" pitchFamily="18" charset="0"/>
                        <a:cs typeface="Times New Roman" panose="02020603050405020304" pitchFamily="18" charset="0"/>
                      </a:rPr>
                      <m:t>𝑎</m:t>
                    </m:r>
                  </m:oMath>
                </a14:m>
                <a:r>
                  <a:rPr lang="zh-CN" altLang="en-US" sz="1400" dirty="0">
                    <a:latin typeface="+mn-ea"/>
                    <a:cs typeface="Times New Roman" panose="02020603050405020304" pitchFamily="18" charset="0"/>
                  </a:rPr>
                  <a:t>状态到</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𝑏</m:t>
                    </m:r>
                  </m:oMath>
                </a14:m>
                <a:r>
                  <a:rPr lang="zh-CN" altLang="en-US" sz="1400" dirty="0">
                    <a:latin typeface="+mn-ea"/>
                    <a:cs typeface="Times New Roman" panose="02020603050405020304" pitchFamily="18" charset="0"/>
                  </a:rPr>
                  <a:t>态，系统吸热</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80</m:t>
                    </m:r>
                    <m:r>
                      <a:rPr lang="en-US" altLang="zh-CN" sz="1400" b="0" i="1" smtClean="0">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并作功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3</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r>
                      <a:rPr lang="en-US" altLang="zh-CN" sz="1400" i="1">
                        <a:latin typeface="Cambria Math" panose="02040503050406030204" pitchFamily="18" charset="0"/>
                        <a:cs typeface="Times New Roman" panose="02020603050405020304" pitchFamily="18" charset="0"/>
                      </a:rPr>
                      <m:t> </m:t>
                    </m:r>
                  </m:oMath>
                </a14:m>
                <a:r>
                  <a:rPr lang="zh-CN" altLang="en-US" sz="1400" dirty="0">
                    <a:latin typeface="+mn-ea"/>
                    <a:cs typeface="Times New Roman" panose="02020603050405020304" pitchFamily="18" charset="0"/>
                  </a:rPr>
                  <a:t>：</a:t>
                </a:r>
                <a:endParaRPr lang="en-US" altLang="zh-CN" sz="1400" dirty="0">
                  <a:latin typeface="+mn-ea"/>
                  <a:cs typeface="Times New Roman" panose="02020603050405020304" pitchFamily="18" charset="0"/>
                </a:endParaRPr>
              </a:p>
              <a:p>
                <a:pPr>
                  <a:lnSpc>
                    <a:spcPct val="130000"/>
                  </a:lnSpc>
                </a:pPr>
                <a:r>
                  <a:rPr lang="en-US" altLang="zh-CN" sz="1400" dirty="0">
                    <a:latin typeface="+mn-ea"/>
                    <a:cs typeface="Times New Roman" panose="02020603050405020304" pitchFamily="18" charset="0"/>
                  </a:rPr>
                  <a:t>(1)  </a:t>
                </a:r>
                <a:r>
                  <a:rPr lang="zh-CN" altLang="en-US" sz="1400" dirty="0">
                    <a:latin typeface="+mn-ea"/>
                    <a:cs typeface="Times New Roman" panose="02020603050405020304" pitchFamily="18" charset="0"/>
                  </a:rPr>
                  <a:t>若系统沿</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𝑎𝑑𝑏</m:t>
                    </m:r>
                  </m:oMath>
                </a14:m>
                <a:r>
                  <a:rPr lang="zh-CN" altLang="en-US" sz="1400" dirty="0">
                    <a:latin typeface="+mn-ea"/>
                    <a:cs typeface="Times New Roman" panose="02020603050405020304" pitchFamily="18" charset="0"/>
                  </a:rPr>
                  <a:t>过程作功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1</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它吸热多少焦耳？</a:t>
                </a:r>
                <a:br>
                  <a:rPr lang="zh-CN" altLang="en-US" sz="1400" dirty="0">
                    <a:latin typeface="+mn-ea"/>
                    <a:cs typeface="Times New Roman" panose="02020603050405020304" pitchFamily="18" charset="0"/>
                  </a:rPr>
                </a:br>
                <a:r>
                  <a:rPr lang="en-US" altLang="zh-CN" sz="1400" dirty="0">
                    <a:latin typeface="+mn-ea"/>
                    <a:cs typeface="Times New Roman" panose="02020603050405020304" pitchFamily="18" charset="0"/>
                  </a:rPr>
                  <a:t>(2)  </a:t>
                </a:r>
                <a:r>
                  <a:rPr lang="zh-CN" altLang="en-US" sz="1400" dirty="0">
                    <a:latin typeface="+mn-ea"/>
                    <a:cs typeface="Times New Roman" panose="02020603050405020304" pitchFamily="18" charset="0"/>
                  </a:rPr>
                  <a:t>若系统沿曲线由</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𝑏</m:t>
                    </m:r>
                  </m:oMath>
                </a14:m>
                <a:r>
                  <a:rPr lang="zh-CN" altLang="en-US" sz="1400" dirty="0">
                    <a:latin typeface="+mn-ea"/>
                    <a:cs typeface="Times New Roman" panose="02020603050405020304" pitchFamily="18" charset="0"/>
                  </a:rPr>
                  <a:t>态回到</a:t>
                </a:r>
                <a14:m>
                  <m:oMath xmlns:m="http://schemas.openxmlformats.org/officeDocument/2006/math">
                    <m:r>
                      <a:rPr lang="en-US" altLang="zh-CN" sz="1400" i="1" dirty="0">
                        <a:latin typeface="Cambria Math" panose="02040503050406030204" pitchFamily="18" charset="0"/>
                        <a:cs typeface="Times New Roman" panose="02020603050405020304" pitchFamily="18" charset="0"/>
                      </a:rPr>
                      <m:t>𝑎</m:t>
                    </m:r>
                  </m:oMath>
                </a14:m>
                <a:r>
                  <a:rPr lang="zh-CN" altLang="en-US" sz="1400" dirty="0">
                    <a:latin typeface="+mn-ea"/>
                    <a:cs typeface="Times New Roman" panose="02020603050405020304" pitchFamily="18" charset="0"/>
                  </a:rPr>
                  <a:t>态</a:t>
                </a:r>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外界作功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2</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系统吸热多少？</a:t>
                </a:r>
                <a:endParaRPr lang="en-US" altLang="zh-CN" sz="1400" dirty="0">
                  <a:latin typeface="+mn-ea"/>
                  <a:cs typeface="Times New Roman" panose="02020603050405020304" pitchFamily="18" charset="0"/>
                </a:endParaRPr>
              </a:p>
              <a:p>
                <a:pPr>
                  <a:lnSpc>
                    <a:spcPct val="130000"/>
                  </a:lnSpc>
                </a:pPr>
                <a:r>
                  <a:rPr lang="en-US" altLang="zh-CN" sz="1400" dirty="0">
                    <a:latin typeface="+mn-ea"/>
                    <a:cs typeface="Times New Roman" panose="02020603050405020304" pitchFamily="18" charset="0"/>
                  </a:rPr>
                  <a:t>(3)  </a:t>
                </a:r>
                <a:r>
                  <a:rPr lang="zh-CN" altLang="en-US" sz="1400" dirty="0">
                    <a:latin typeface="+mn-ea"/>
                    <a:cs typeface="Times New Roman" panose="02020603050405020304" pitchFamily="18" charset="0"/>
                  </a:rPr>
                  <a:t>在上述条件下，若</a:t>
                </a:r>
                <a14:m>
                  <m:oMath xmlns:m="http://schemas.openxmlformats.org/officeDocument/2006/math">
                    <m:sSub>
                      <m:sSubPr>
                        <m:ctrlPr>
                          <a:rPr lang="en-US" altLang="zh-CN" sz="1400" i="1" smtClean="0">
                            <a:latin typeface="Cambria Math" panose="02040503050406030204" pitchFamily="18" charset="0"/>
                            <a:cs typeface="Times New Roman" panose="02020603050405020304" pitchFamily="18" charset="0"/>
                          </a:rPr>
                        </m:ctrlPr>
                      </m:sSubPr>
                      <m:e>
                        <m:r>
                          <a:rPr lang="en-US" altLang="zh-CN" sz="1400" b="0" i="1" smtClean="0">
                            <a:latin typeface="Cambria Math" panose="02040503050406030204" pitchFamily="18" charset="0"/>
                            <a:cs typeface="Times New Roman" panose="02020603050405020304" pitchFamily="18" charset="0"/>
                          </a:rPr>
                          <m:t>𝐸</m:t>
                        </m:r>
                      </m:e>
                      <m:sub>
                        <m:r>
                          <a:rPr lang="en-US" altLang="zh-CN" sz="1400" b="0" i="1" smtClean="0">
                            <a:latin typeface="Cambria Math" panose="02040503050406030204" pitchFamily="18" charset="0"/>
                            <a:cs typeface="Times New Roman" panose="02020603050405020304" pitchFamily="18" charset="0"/>
                          </a:rPr>
                          <m:t>𝑑</m:t>
                        </m:r>
                      </m:sub>
                    </m:sSub>
                    <m: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𝑎</m:t>
                        </m:r>
                      </m:sub>
                    </m:sSub>
                  </m:oMath>
                </a14:m>
                <a:r>
                  <a:rPr lang="en-US" altLang="zh-CN" sz="1400" dirty="0">
                    <a:latin typeface="+mn-ea"/>
                    <a:cs typeface="Times New Roman" panose="02020603050405020304" pitchFamily="18" charset="0"/>
                  </a:rPr>
                  <a:t>=</a:t>
                </a:r>
                <a:r>
                  <a:rPr lang="en-US" altLang="zh-CN" sz="1400" dirty="0">
                    <a:cs typeface="Times New Roman" panose="02020603050405020304" pitchFamily="18" charset="0"/>
                  </a:rPr>
                  <a:t> </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4</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r>
                      <a:rPr lang="en-US" altLang="zh-CN" sz="1400" b="0" i="1" smtClean="0">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Times New Roman" panose="02020603050405020304" pitchFamily="18" charset="0"/>
                      </a:rPr>
                      <m:t>𝑎𝑏𝑑</m:t>
                    </m:r>
                  </m:oMath>
                </a14:m>
                <a:r>
                  <a:rPr lang="zh-CN" altLang="en-US" sz="1400" dirty="0">
                    <a:latin typeface="+mn-ea"/>
                    <a:cs typeface="Times New Roman" panose="02020603050405020304" pitchFamily="18" charset="0"/>
                  </a:rPr>
                  <a:t>过程中吸热多少焦耳</a:t>
                </a:r>
                <a:r>
                  <a:rPr lang="en-US" altLang="zh-CN" sz="1400" dirty="0">
                    <a:latin typeface="+mn-ea"/>
                    <a:cs typeface="Times New Roman" panose="02020603050405020304" pitchFamily="18" charset="0"/>
                  </a:rPr>
                  <a:t>,</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𝑎𝑑</m:t>
                    </m:r>
                  </m:oMath>
                </a14:m>
                <a:r>
                  <a:rPr lang="zh-CN" altLang="en-US" sz="1400" dirty="0">
                    <a:latin typeface="+mn-ea"/>
                    <a:cs typeface="Times New Roman" panose="02020603050405020304" pitchFamily="18" charset="0"/>
                  </a:rPr>
                  <a:t>过程中吸热多少焦耳？</a:t>
                </a:r>
                <a:br>
                  <a:rPr lang="zh-CN" altLang="en-US" sz="1400" dirty="0">
                    <a:latin typeface="+mn-ea"/>
                    <a:cs typeface="Times New Roman" panose="02020603050405020304" pitchFamily="18" charset="0"/>
                  </a:rPr>
                </a:br>
                <a:endParaRPr lang="zh-CN" altLang="en-US" sz="1400" dirty="0">
                  <a:latin typeface="+mn-ea"/>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7943850" y="3074035"/>
                <a:ext cx="3873500" cy="1819275"/>
              </a:xfrm>
              <a:prstGeom prst="rect">
                <a:avLst/>
              </a:prstGeom>
              <a:blipFill rotWithShape="1">
                <a:blip r:embed="rId14"/>
                <a:stretch>
                  <a:fillRect b="-24258"/>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3547" y="675774"/>
            <a:ext cx="3733333" cy="2831746"/>
          </a:xfrm>
          <a:prstGeom prst="rect">
            <a:avLst/>
          </a:prstGeom>
        </p:spPr>
      </p:pic>
      <p:sp>
        <p:nvSpPr>
          <p:cNvPr id="5" name="文本框 4"/>
          <p:cNvSpPr txBox="1"/>
          <p:nvPr/>
        </p:nvSpPr>
        <p:spPr>
          <a:xfrm>
            <a:off x="1155065" y="912495"/>
            <a:ext cx="5831205" cy="547370"/>
          </a:xfrm>
          <a:prstGeom prst="rect">
            <a:avLst/>
          </a:prstGeom>
          <a:noFill/>
        </p:spPr>
        <p:txBody>
          <a:bodyPr wrap="square" rtlCol="0">
            <a:noAutofit/>
          </a:bodyPr>
          <a:lstStyle/>
          <a:p>
            <a:r>
              <a:rPr lang="zh-CN" altLang="en-US"/>
              <a:t>（</a:t>
            </a:r>
            <a:r>
              <a:rPr lang="en-US" altLang="zh-CN" sz="2400"/>
              <a:t>3</a:t>
            </a:r>
            <a:r>
              <a:rPr lang="zh-CN" altLang="en-US" sz="2400"/>
              <a:t>）</a:t>
            </a:r>
            <a:r>
              <a:rPr lang="en-US" sz="2400"/>
              <a:t>ab</a:t>
            </a:r>
            <a:r>
              <a:rPr lang="zh-CN" altLang="en-US" sz="2400"/>
              <a:t>过程气体膨胀，系统对外做功：</a:t>
            </a:r>
          </a:p>
          <a:p>
            <a:endParaRPr lang="zh-CN" altLang="en-US"/>
          </a:p>
          <a:p>
            <a:pPr indent="457200"/>
            <a:endParaRPr lang="zh-CN" altLang="en-US"/>
          </a:p>
        </p:txBody>
      </p:sp>
      <p:graphicFrame>
        <p:nvGraphicFramePr>
          <p:cNvPr id="6" name="对象 5">
            <a:hlinkClick r:id="" action="ppaction://ole?verb=0"/>
          </p:cNvPr>
          <p:cNvGraphicFramePr>
            <a:graphicFrameLocks noChangeAspect="1"/>
          </p:cNvGraphicFramePr>
          <p:nvPr/>
        </p:nvGraphicFramePr>
        <p:xfrm>
          <a:off x="1944370" y="2230120"/>
          <a:ext cx="1143000" cy="556260"/>
        </p:xfrm>
        <a:graphic>
          <a:graphicData uri="http://schemas.openxmlformats.org/presentationml/2006/ole">
            <mc:AlternateContent xmlns:mc="http://schemas.openxmlformats.org/markup-compatibility/2006">
              <mc:Choice xmlns:v="urn:schemas-microsoft-com:vml" Requires="v">
                <p:oleObj spid="_x0000_s3084" r:id="rId4" imgW="457200" imgH="215900" progId="Equation.KSEE3">
                  <p:embed/>
                </p:oleObj>
              </mc:Choice>
              <mc:Fallback>
                <p:oleObj r:id="rId4" imgW="457200" imgH="215900" progId="Equation.KSEE3">
                  <p:embed/>
                  <p:pic>
                    <p:nvPicPr>
                      <p:cNvPr id="6" name="对象 5">
                        <a:hlinkClick r:id="" action="ppaction://ole?verb=0"/>
                      </p:cNvPr>
                      <p:cNvPicPr/>
                      <p:nvPr/>
                    </p:nvPicPr>
                    <p:blipFill>
                      <a:blip r:embed="rId5"/>
                      <a:stretch>
                        <a:fillRect/>
                      </a:stretch>
                    </p:blipFill>
                    <p:spPr>
                      <a:xfrm>
                        <a:off x="1944370" y="2230120"/>
                        <a:ext cx="1143000" cy="556260"/>
                      </a:xfrm>
                      <a:prstGeom prst="rect">
                        <a:avLst/>
                      </a:prstGeom>
                    </p:spPr>
                  </p:pic>
                </p:oleObj>
              </mc:Fallback>
            </mc:AlternateContent>
          </a:graphicData>
        </a:graphic>
      </p:graphicFrame>
      <p:sp>
        <p:nvSpPr>
          <p:cNvPr id="7" name="文本框 6"/>
          <p:cNvSpPr txBox="1"/>
          <p:nvPr/>
        </p:nvSpPr>
        <p:spPr>
          <a:xfrm>
            <a:off x="1901825" y="2786380"/>
            <a:ext cx="2399030" cy="460375"/>
          </a:xfrm>
          <a:prstGeom prst="rect">
            <a:avLst/>
          </a:prstGeom>
          <a:noFill/>
        </p:spPr>
        <p:txBody>
          <a:bodyPr wrap="square" rtlCol="0">
            <a:spAutoFit/>
          </a:bodyPr>
          <a:lstStyle/>
          <a:p>
            <a:r>
              <a:rPr lang="en-US" altLang="zh-CN" sz="2400"/>
              <a:t>abd</a:t>
            </a:r>
            <a:r>
              <a:rPr lang="zh-CN" altLang="en-US" sz="2400"/>
              <a:t>过程中吸热：</a:t>
            </a:r>
          </a:p>
        </p:txBody>
      </p:sp>
      <p:graphicFrame>
        <p:nvGraphicFramePr>
          <p:cNvPr id="8" name="对象 7">
            <a:hlinkClick r:id="" action="ppaction://ole?verb=0"/>
          </p:cNvPr>
          <p:cNvGraphicFramePr>
            <a:graphicFrameLocks noChangeAspect="1"/>
          </p:cNvGraphicFramePr>
          <p:nvPr/>
        </p:nvGraphicFramePr>
        <p:xfrm>
          <a:off x="1981200" y="3262630"/>
          <a:ext cx="6430645" cy="486410"/>
        </p:xfrm>
        <a:graphic>
          <a:graphicData uri="http://schemas.openxmlformats.org/presentationml/2006/ole">
            <mc:AlternateContent xmlns:mc="http://schemas.openxmlformats.org/markup-compatibility/2006">
              <mc:Choice xmlns:v="urn:schemas-microsoft-com:vml" Requires="v">
                <p:oleObj spid="_x0000_s3085" r:id="rId6" imgW="8590280" imgH="654050" progId="Equation.KSEE3">
                  <p:embed/>
                </p:oleObj>
              </mc:Choice>
              <mc:Fallback>
                <p:oleObj r:id="rId6" imgW="8590280" imgH="654050" progId="Equation.KSEE3">
                  <p:embed/>
                  <p:pic>
                    <p:nvPicPr>
                      <p:cNvPr id="8" name="对象 7">
                        <a:hlinkClick r:id="" action="ppaction://ole?verb=0"/>
                      </p:cNvPr>
                      <p:cNvPicPr/>
                      <p:nvPr/>
                    </p:nvPicPr>
                    <p:blipFill>
                      <a:blip r:embed="rId7"/>
                      <a:stretch>
                        <a:fillRect/>
                      </a:stretch>
                    </p:blipFill>
                    <p:spPr>
                      <a:xfrm>
                        <a:off x="1981200" y="3262630"/>
                        <a:ext cx="6430645" cy="486410"/>
                      </a:xfrm>
                      <a:prstGeom prst="rect">
                        <a:avLst/>
                      </a:prstGeom>
                    </p:spPr>
                  </p:pic>
                </p:oleObj>
              </mc:Fallback>
            </mc:AlternateContent>
          </a:graphicData>
        </a:graphic>
      </p:graphicFrame>
      <p:graphicFrame>
        <p:nvGraphicFramePr>
          <p:cNvPr id="9" name="对象 8">
            <a:hlinkClick r:id="" action="ppaction://ole?verb=0"/>
          </p:cNvPr>
          <p:cNvGraphicFramePr>
            <a:graphicFrameLocks noChangeAspect="1"/>
          </p:cNvGraphicFramePr>
          <p:nvPr/>
        </p:nvGraphicFramePr>
        <p:xfrm>
          <a:off x="1944370" y="1322705"/>
          <a:ext cx="1637665" cy="568325"/>
        </p:xfrm>
        <a:graphic>
          <a:graphicData uri="http://schemas.openxmlformats.org/presentationml/2006/ole">
            <mc:AlternateContent xmlns:mc="http://schemas.openxmlformats.org/markup-compatibility/2006">
              <mc:Choice xmlns:v="urn:schemas-microsoft-com:vml" Requires="v">
                <p:oleObj spid="_x0000_s3086" r:id="rId8" imgW="622300" imgH="215900" progId="Equation.KSEE3">
                  <p:embed/>
                </p:oleObj>
              </mc:Choice>
              <mc:Fallback>
                <p:oleObj r:id="rId8" imgW="622300" imgH="215900" progId="Equation.KSEE3">
                  <p:embed/>
                  <p:pic>
                    <p:nvPicPr>
                      <p:cNvPr id="9" name="对象 8">
                        <a:hlinkClick r:id="" action="ppaction://ole?verb=0"/>
                      </p:cNvPr>
                      <p:cNvPicPr/>
                      <p:nvPr/>
                    </p:nvPicPr>
                    <p:blipFill>
                      <a:blip r:embed="rId9"/>
                      <a:stretch>
                        <a:fillRect/>
                      </a:stretch>
                    </p:blipFill>
                    <p:spPr>
                      <a:xfrm>
                        <a:off x="1944370" y="1322705"/>
                        <a:ext cx="1637665" cy="568325"/>
                      </a:xfrm>
                      <a:prstGeom prst="rect">
                        <a:avLst/>
                      </a:prstGeom>
                    </p:spPr>
                  </p:pic>
                </p:oleObj>
              </mc:Fallback>
            </mc:AlternateContent>
          </a:graphicData>
        </a:graphic>
      </p:graphicFrame>
      <p:sp>
        <p:nvSpPr>
          <p:cNvPr id="10" name="文本框 9"/>
          <p:cNvSpPr txBox="1"/>
          <p:nvPr/>
        </p:nvSpPr>
        <p:spPr>
          <a:xfrm>
            <a:off x="1696085" y="1861185"/>
            <a:ext cx="3653790" cy="460375"/>
          </a:xfrm>
          <a:prstGeom prst="rect">
            <a:avLst/>
          </a:prstGeom>
          <a:noFill/>
        </p:spPr>
        <p:txBody>
          <a:bodyPr wrap="square" rtlCol="0">
            <a:spAutoFit/>
          </a:bodyPr>
          <a:lstStyle/>
          <a:p>
            <a:r>
              <a:rPr lang="en-US" altLang="zh-CN" sz="2400">
                <a:sym typeface="+mn-ea"/>
              </a:rPr>
              <a:t>  </a:t>
            </a:r>
            <a:r>
              <a:rPr lang="en-US" sz="2400">
                <a:sym typeface="+mn-ea"/>
              </a:rPr>
              <a:t>bd</a:t>
            </a:r>
            <a:r>
              <a:rPr lang="zh-CN" altLang="en-US" sz="2400">
                <a:sym typeface="+mn-ea"/>
              </a:rPr>
              <a:t>过程是一个等体过程：</a:t>
            </a:r>
            <a:endParaRPr lang="zh-CN" altLang="en-US" sz="2400"/>
          </a:p>
        </p:txBody>
      </p:sp>
      <p:sp>
        <p:nvSpPr>
          <p:cNvPr id="11" name="文本框 10"/>
          <p:cNvSpPr txBox="1"/>
          <p:nvPr/>
        </p:nvSpPr>
        <p:spPr>
          <a:xfrm>
            <a:off x="1944370" y="3808730"/>
            <a:ext cx="1006475" cy="460375"/>
          </a:xfrm>
          <a:prstGeom prst="rect">
            <a:avLst/>
          </a:prstGeom>
          <a:noFill/>
        </p:spPr>
        <p:txBody>
          <a:bodyPr wrap="square" rtlCol="0">
            <a:spAutoFit/>
          </a:bodyPr>
          <a:lstStyle/>
          <a:p>
            <a:r>
              <a:rPr lang="zh-CN" altLang="en-US" sz="2400"/>
              <a:t>同理，</a:t>
            </a:r>
            <a:endParaRPr lang="en-US" altLang="zh-CN" sz="2400"/>
          </a:p>
        </p:txBody>
      </p:sp>
      <p:graphicFrame>
        <p:nvGraphicFramePr>
          <p:cNvPr id="12" name="对象 11">
            <a:hlinkClick r:id="" action="ppaction://ole?verb=0"/>
          </p:cNvPr>
          <p:cNvGraphicFramePr>
            <a:graphicFrameLocks noChangeAspect="1"/>
          </p:cNvGraphicFramePr>
          <p:nvPr/>
        </p:nvGraphicFramePr>
        <p:xfrm>
          <a:off x="2024380" y="5226685"/>
          <a:ext cx="4249420" cy="511175"/>
        </p:xfrm>
        <a:graphic>
          <a:graphicData uri="http://schemas.openxmlformats.org/presentationml/2006/ole">
            <mc:AlternateContent xmlns:mc="http://schemas.openxmlformats.org/markup-compatibility/2006">
              <mc:Choice xmlns:v="urn:schemas-microsoft-com:vml" Requires="v">
                <p:oleObj spid="_x0000_s3087" r:id="rId10" imgW="1688465" imgH="203200" progId="Equation.KSEE3">
                  <p:embed/>
                </p:oleObj>
              </mc:Choice>
              <mc:Fallback>
                <p:oleObj r:id="rId10" imgW="1688465" imgH="203200" progId="Equation.KSEE3">
                  <p:embed/>
                  <p:pic>
                    <p:nvPicPr>
                      <p:cNvPr id="12" name="对象 11">
                        <a:hlinkClick r:id="" action="ppaction://ole?verb=0"/>
                      </p:cNvPr>
                      <p:cNvPicPr/>
                      <p:nvPr/>
                    </p:nvPicPr>
                    <p:blipFill>
                      <a:blip r:embed="rId11"/>
                      <a:stretch>
                        <a:fillRect/>
                      </a:stretch>
                    </p:blipFill>
                    <p:spPr>
                      <a:xfrm>
                        <a:off x="2024380" y="5226685"/>
                        <a:ext cx="4249420" cy="511175"/>
                      </a:xfrm>
                      <a:prstGeom prst="rect">
                        <a:avLst/>
                      </a:prstGeom>
                    </p:spPr>
                  </p:pic>
                </p:oleObj>
              </mc:Fallback>
            </mc:AlternateContent>
          </a:graphicData>
        </a:graphic>
      </p:graphicFrame>
      <p:sp>
        <p:nvSpPr>
          <p:cNvPr id="13" name="文本框 12"/>
          <p:cNvSpPr txBox="1"/>
          <p:nvPr/>
        </p:nvSpPr>
        <p:spPr>
          <a:xfrm>
            <a:off x="1981200" y="4750435"/>
            <a:ext cx="5053330" cy="460375"/>
          </a:xfrm>
          <a:prstGeom prst="rect">
            <a:avLst/>
          </a:prstGeom>
          <a:noFill/>
        </p:spPr>
        <p:txBody>
          <a:bodyPr wrap="square" rtlCol="0">
            <a:spAutoFit/>
          </a:bodyPr>
          <a:lstStyle/>
          <a:p>
            <a:r>
              <a:rPr lang="en-US" altLang="zh-CN" sz="2400"/>
              <a:t>ad</a:t>
            </a:r>
            <a:r>
              <a:rPr lang="zh-CN" altLang="en-US" sz="2400"/>
              <a:t>过程吸热</a:t>
            </a:r>
            <a:r>
              <a:rPr lang="zh-CN" altLang="en-US"/>
              <a:t>：</a:t>
            </a:r>
          </a:p>
        </p:txBody>
      </p:sp>
      <p:graphicFrame>
        <p:nvGraphicFramePr>
          <p:cNvPr id="2" name="对象 1">
            <a:hlinkClick r:id="" action="ppaction://ole?verb=0"/>
          </p:cNvPr>
          <p:cNvGraphicFramePr>
            <a:graphicFrameLocks noChangeAspect="1"/>
          </p:cNvGraphicFramePr>
          <p:nvPr/>
        </p:nvGraphicFramePr>
        <p:xfrm>
          <a:off x="1981200" y="4225290"/>
          <a:ext cx="2391410" cy="525145"/>
        </p:xfrm>
        <a:graphic>
          <a:graphicData uri="http://schemas.openxmlformats.org/presentationml/2006/ole">
            <mc:AlternateContent xmlns:mc="http://schemas.openxmlformats.org/markup-compatibility/2006">
              <mc:Choice xmlns:v="urn:schemas-microsoft-com:vml" Requires="v">
                <p:oleObj spid="_x0000_s3088" r:id="rId12" imgW="1041400" imgH="228600" progId="Equation.KSEE3">
                  <p:embed/>
                </p:oleObj>
              </mc:Choice>
              <mc:Fallback>
                <p:oleObj r:id="rId12" imgW="1041400" imgH="228600" progId="Equation.KSEE3">
                  <p:embed/>
                  <p:pic>
                    <p:nvPicPr>
                      <p:cNvPr id="2" name="对象 1">
                        <a:hlinkClick r:id="" action="ppaction://ole?verb=0"/>
                      </p:cNvPr>
                      <p:cNvPicPr/>
                      <p:nvPr/>
                    </p:nvPicPr>
                    <p:blipFill>
                      <a:blip r:embed="rId13"/>
                      <a:stretch>
                        <a:fillRect/>
                      </a:stretch>
                    </p:blipFill>
                    <p:spPr>
                      <a:xfrm>
                        <a:off x="1981200" y="4225290"/>
                        <a:ext cx="2391410" cy="52514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3" name="矩形 2"/>
              <p:cNvSpPr/>
              <p:nvPr/>
            </p:nvSpPr>
            <p:spPr>
              <a:xfrm>
                <a:off x="7943850" y="3918585"/>
                <a:ext cx="3873500" cy="1819275"/>
              </a:xfrm>
              <a:prstGeom prst="rect">
                <a:avLst/>
              </a:prstGeom>
            </p:spPr>
            <p:txBody>
              <a:bodyPr wrap="square">
                <a:noAutofit/>
              </a:bodyPr>
              <a:lstStyle/>
              <a:p>
                <a:pPr>
                  <a:lnSpc>
                    <a:spcPct val="1300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400" dirty="0">
                    <a:latin typeface="+mn-ea"/>
                    <a:cs typeface="Times New Roman" panose="02020603050405020304" pitchFamily="18" charset="0"/>
                  </a:rPr>
                  <a:t>.    </a:t>
                </a:r>
                <a:r>
                  <a:rPr lang="zh-CN" altLang="en-US" sz="1400" dirty="0">
                    <a:latin typeface="+mn-ea"/>
                    <a:cs typeface="Times New Roman" panose="02020603050405020304" pitchFamily="18" charset="0"/>
                  </a:rPr>
                  <a:t>如图所示，某热力学系统沿过程</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𝑎𝑐𝑏</m:t>
                    </m:r>
                  </m:oMath>
                </a14:m>
                <a:r>
                  <a:rPr lang="zh-CN" altLang="en-US" sz="1400" dirty="0">
                    <a:latin typeface="+mn-ea"/>
                    <a:cs typeface="Times New Roman" panose="02020603050405020304" pitchFamily="18" charset="0"/>
                  </a:rPr>
                  <a:t>从</a:t>
                </a:r>
                <a14:m>
                  <m:oMath xmlns:m="http://schemas.openxmlformats.org/officeDocument/2006/math">
                    <m:r>
                      <a:rPr lang="en-US" altLang="zh-CN" sz="1400" b="0" i="1" dirty="0" smtClean="0">
                        <a:latin typeface="Cambria Math" panose="02040503050406030204" pitchFamily="18" charset="0"/>
                        <a:cs typeface="Times New Roman" panose="02020603050405020304" pitchFamily="18" charset="0"/>
                      </a:rPr>
                      <m:t>𝑎</m:t>
                    </m:r>
                  </m:oMath>
                </a14:m>
                <a:r>
                  <a:rPr lang="zh-CN" altLang="en-US" sz="1400" dirty="0">
                    <a:latin typeface="+mn-ea"/>
                    <a:cs typeface="Times New Roman" panose="02020603050405020304" pitchFamily="18" charset="0"/>
                  </a:rPr>
                  <a:t>状态到</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𝑏</m:t>
                    </m:r>
                  </m:oMath>
                </a14:m>
                <a:r>
                  <a:rPr lang="zh-CN" altLang="en-US" sz="1400" dirty="0">
                    <a:latin typeface="+mn-ea"/>
                    <a:cs typeface="Times New Roman" panose="02020603050405020304" pitchFamily="18" charset="0"/>
                  </a:rPr>
                  <a:t>态，系统吸热</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80</m:t>
                    </m:r>
                    <m:r>
                      <a:rPr lang="en-US" altLang="zh-CN" sz="1400" b="0" i="1" smtClean="0">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并作功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3</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r>
                      <a:rPr lang="en-US" altLang="zh-CN" sz="1400" i="1">
                        <a:latin typeface="Cambria Math" panose="02040503050406030204" pitchFamily="18" charset="0"/>
                        <a:cs typeface="Times New Roman" panose="02020603050405020304" pitchFamily="18" charset="0"/>
                      </a:rPr>
                      <m:t> </m:t>
                    </m:r>
                  </m:oMath>
                </a14:m>
                <a:r>
                  <a:rPr lang="zh-CN" altLang="en-US" sz="1400" dirty="0">
                    <a:latin typeface="+mn-ea"/>
                    <a:cs typeface="Times New Roman" panose="02020603050405020304" pitchFamily="18" charset="0"/>
                  </a:rPr>
                  <a:t>：</a:t>
                </a:r>
                <a:endParaRPr lang="en-US" altLang="zh-CN" sz="1400" dirty="0">
                  <a:latin typeface="+mn-ea"/>
                  <a:cs typeface="Times New Roman" panose="02020603050405020304" pitchFamily="18" charset="0"/>
                </a:endParaRPr>
              </a:p>
              <a:p>
                <a:pPr>
                  <a:lnSpc>
                    <a:spcPct val="130000"/>
                  </a:lnSpc>
                </a:pPr>
                <a:r>
                  <a:rPr lang="en-US" altLang="zh-CN" sz="1400" dirty="0">
                    <a:latin typeface="+mn-ea"/>
                    <a:cs typeface="Times New Roman" panose="02020603050405020304" pitchFamily="18" charset="0"/>
                  </a:rPr>
                  <a:t>(1)  </a:t>
                </a:r>
                <a:r>
                  <a:rPr lang="zh-CN" altLang="en-US" sz="1400" dirty="0">
                    <a:latin typeface="+mn-ea"/>
                    <a:cs typeface="Times New Roman" panose="02020603050405020304" pitchFamily="18" charset="0"/>
                  </a:rPr>
                  <a:t>若系统沿</a:t>
                </a:r>
                <a14:m>
                  <m:oMath xmlns:m="http://schemas.openxmlformats.org/officeDocument/2006/math">
                    <m:r>
                      <a:rPr lang="en-US" altLang="zh-CN" sz="1400" b="0" i="1" smtClean="0">
                        <a:latin typeface="Cambria Math" panose="02040503050406030204" pitchFamily="18" charset="0"/>
                        <a:cs typeface="Times New Roman" panose="02020603050405020304" pitchFamily="18" charset="0"/>
                      </a:rPr>
                      <m:t>𝑎𝑑𝑏</m:t>
                    </m:r>
                  </m:oMath>
                </a14:m>
                <a:r>
                  <a:rPr lang="zh-CN" altLang="en-US" sz="1400" dirty="0">
                    <a:latin typeface="+mn-ea"/>
                    <a:cs typeface="Times New Roman" panose="02020603050405020304" pitchFamily="18" charset="0"/>
                  </a:rPr>
                  <a:t>过程作功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1</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它吸热多少焦耳？</a:t>
                </a:r>
                <a:br>
                  <a:rPr lang="zh-CN" altLang="en-US" sz="1400" dirty="0">
                    <a:latin typeface="+mn-ea"/>
                    <a:cs typeface="Times New Roman" panose="02020603050405020304" pitchFamily="18" charset="0"/>
                  </a:rPr>
                </a:br>
                <a:r>
                  <a:rPr lang="en-US" altLang="zh-CN" sz="1400" dirty="0">
                    <a:latin typeface="+mn-ea"/>
                    <a:cs typeface="Times New Roman" panose="02020603050405020304" pitchFamily="18" charset="0"/>
                  </a:rPr>
                  <a:t>(2)  </a:t>
                </a:r>
                <a:r>
                  <a:rPr lang="zh-CN" altLang="en-US" sz="1400" dirty="0">
                    <a:latin typeface="+mn-ea"/>
                    <a:cs typeface="Times New Roman" panose="02020603050405020304" pitchFamily="18" charset="0"/>
                  </a:rPr>
                  <a:t>若系统沿曲线由</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𝑏</m:t>
                    </m:r>
                  </m:oMath>
                </a14:m>
                <a:r>
                  <a:rPr lang="zh-CN" altLang="en-US" sz="1400" dirty="0">
                    <a:latin typeface="+mn-ea"/>
                    <a:cs typeface="Times New Roman" panose="02020603050405020304" pitchFamily="18" charset="0"/>
                  </a:rPr>
                  <a:t>态回到</a:t>
                </a:r>
                <a14:m>
                  <m:oMath xmlns:m="http://schemas.openxmlformats.org/officeDocument/2006/math">
                    <m:r>
                      <a:rPr lang="en-US" altLang="zh-CN" sz="1400" i="1" dirty="0">
                        <a:latin typeface="Cambria Math" panose="02040503050406030204" pitchFamily="18" charset="0"/>
                        <a:cs typeface="Times New Roman" panose="02020603050405020304" pitchFamily="18" charset="0"/>
                      </a:rPr>
                      <m:t>𝑎</m:t>
                    </m:r>
                  </m:oMath>
                </a14:m>
                <a:r>
                  <a:rPr lang="zh-CN" altLang="en-US" sz="1400" dirty="0">
                    <a:latin typeface="+mn-ea"/>
                    <a:cs typeface="Times New Roman" panose="02020603050405020304" pitchFamily="18" charset="0"/>
                  </a:rPr>
                  <a:t>态</a:t>
                </a:r>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外界作功</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2</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oMath>
                </a14:m>
                <a:r>
                  <a:rPr lang="en-US" altLang="zh-CN" sz="1400" dirty="0">
                    <a:latin typeface="+mn-ea"/>
                    <a:cs typeface="Times New Roman" panose="02020603050405020304" pitchFamily="18" charset="0"/>
                  </a:rPr>
                  <a:t>,</a:t>
                </a:r>
                <a:r>
                  <a:rPr lang="zh-CN" altLang="en-US" sz="1400" dirty="0">
                    <a:latin typeface="+mn-ea"/>
                    <a:cs typeface="Times New Roman" panose="02020603050405020304" pitchFamily="18" charset="0"/>
                  </a:rPr>
                  <a:t>系统吸热多少？</a:t>
                </a:r>
                <a:endParaRPr lang="en-US" altLang="zh-CN" sz="1400" dirty="0">
                  <a:latin typeface="+mn-ea"/>
                  <a:cs typeface="Times New Roman" panose="02020603050405020304" pitchFamily="18" charset="0"/>
                </a:endParaRPr>
              </a:p>
              <a:p>
                <a:pPr>
                  <a:lnSpc>
                    <a:spcPct val="130000"/>
                  </a:lnSpc>
                </a:pPr>
                <a:r>
                  <a:rPr lang="en-US" altLang="zh-CN" sz="1400" dirty="0">
                    <a:latin typeface="+mn-ea"/>
                    <a:cs typeface="Times New Roman" panose="02020603050405020304" pitchFamily="18" charset="0"/>
                  </a:rPr>
                  <a:t>(3)  </a:t>
                </a:r>
                <a:r>
                  <a:rPr lang="zh-CN" altLang="en-US" sz="1400" dirty="0">
                    <a:latin typeface="+mn-ea"/>
                    <a:cs typeface="Times New Roman" panose="02020603050405020304" pitchFamily="18" charset="0"/>
                  </a:rPr>
                  <a:t>在上述条件下，若</a:t>
                </a:r>
                <a14:m>
                  <m:oMath xmlns:m="http://schemas.openxmlformats.org/officeDocument/2006/math">
                    <m:sSub>
                      <m:sSubPr>
                        <m:ctrlPr>
                          <a:rPr lang="en-US" altLang="zh-CN" sz="1400" i="1" smtClean="0">
                            <a:latin typeface="Cambria Math" panose="02040503050406030204" pitchFamily="18" charset="0"/>
                            <a:cs typeface="Times New Roman" panose="02020603050405020304" pitchFamily="18" charset="0"/>
                          </a:rPr>
                        </m:ctrlPr>
                      </m:sSubPr>
                      <m:e>
                        <m:r>
                          <a:rPr lang="en-US" altLang="zh-CN" sz="1400" b="0" i="1" smtClean="0">
                            <a:latin typeface="Cambria Math" panose="02040503050406030204" pitchFamily="18" charset="0"/>
                            <a:cs typeface="Times New Roman" panose="02020603050405020304" pitchFamily="18" charset="0"/>
                          </a:rPr>
                          <m:t>𝐸</m:t>
                        </m:r>
                      </m:e>
                      <m:sub>
                        <m:r>
                          <a:rPr lang="en-US" altLang="zh-CN" sz="1400" b="0" i="1" smtClean="0">
                            <a:latin typeface="Cambria Math" panose="02040503050406030204" pitchFamily="18" charset="0"/>
                            <a:cs typeface="Times New Roman" panose="02020603050405020304" pitchFamily="18" charset="0"/>
                          </a:rPr>
                          <m:t>𝑑</m:t>
                        </m:r>
                      </m:sub>
                    </m:sSub>
                    <m: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1400" b="0" i="1" smtClean="0">
                            <a:latin typeface="Cambria Math" panose="02040503050406030204" pitchFamily="18" charset="0"/>
                            <a:ea typeface="Cambria Math" panose="02040503050406030204" pitchFamily="18" charset="0"/>
                            <a:cs typeface="Times New Roman" panose="02020603050405020304" pitchFamily="18" charset="0"/>
                          </a:rPr>
                          <m:t>𝑎</m:t>
                        </m:r>
                      </m:sub>
                    </m:sSub>
                  </m:oMath>
                </a14:m>
                <a:r>
                  <a:rPr lang="en-US" altLang="zh-CN" sz="1400" dirty="0">
                    <a:latin typeface="+mn-ea"/>
                    <a:cs typeface="Times New Roman" panose="02020603050405020304" pitchFamily="18" charset="0"/>
                  </a:rPr>
                  <a:t>=</a:t>
                </a:r>
                <a:r>
                  <a:rPr lang="en-US" altLang="zh-CN" sz="1400" dirty="0">
                    <a:cs typeface="Times New Roman" panose="02020603050405020304" pitchFamily="18" charset="0"/>
                  </a:rPr>
                  <a:t> </a:t>
                </a:r>
                <a14:m>
                  <m:oMath xmlns:m="http://schemas.openxmlformats.org/officeDocument/2006/math">
                    <m:r>
                      <a:rPr lang="en-US" altLang="zh-CN" sz="1400" i="1" dirty="0" smtClean="0">
                        <a:latin typeface="Cambria Math" panose="02040503050406030204" pitchFamily="18" charset="0"/>
                        <a:cs typeface="Times New Roman" panose="02020603050405020304" pitchFamily="18" charset="0"/>
                      </a:rPr>
                      <m:t>4</m:t>
                    </m:r>
                    <m:r>
                      <a:rPr lang="en-US" altLang="zh-CN" sz="1400" i="1">
                        <a:latin typeface="Cambria Math" panose="02040503050406030204" pitchFamily="18" charset="0"/>
                        <a:cs typeface="Times New Roman" panose="02020603050405020304" pitchFamily="18" charset="0"/>
                      </a:rPr>
                      <m:t>0</m:t>
                    </m:r>
                    <m:r>
                      <a:rPr lang="en-US" altLang="zh-CN" sz="1400" i="1">
                        <a:latin typeface="Cambria Math" panose="02040503050406030204" pitchFamily="18" charset="0"/>
                        <a:cs typeface="Times New Roman" panose="02020603050405020304" pitchFamily="18" charset="0"/>
                      </a:rPr>
                      <m:t>𝐽</m:t>
                    </m:r>
                    <m:r>
                      <a:rPr lang="en-US" altLang="zh-CN" sz="1400" b="0" i="1" smtClean="0">
                        <a:latin typeface="Cambria Math" panose="02040503050406030204" pitchFamily="18" charset="0"/>
                        <a:cs typeface="Times New Roman" panose="02020603050405020304" pitchFamily="18" charset="0"/>
                      </a:rPr>
                      <m:t>,</m:t>
                    </m:r>
                    <m:r>
                      <a:rPr lang="en-US" altLang="zh-CN" sz="1400" i="1">
                        <a:latin typeface="Cambria Math" panose="02040503050406030204" pitchFamily="18" charset="0"/>
                        <a:cs typeface="Times New Roman" panose="02020603050405020304" pitchFamily="18" charset="0"/>
                      </a:rPr>
                      <m:t>𝑎𝑏𝑑</m:t>
                    </m:r>
                  </m:oMath>
                </a14:m>
                <a:r>
                  <a:rPr lang="zh-CN" altLang="en-US" sz="1400" dirty="0">
                    <a:latin typeface="+mn-ea"/>
                    <a:cs typeface="Times New Roman" panose="02020603050405020304" pitchFamily="18" charset="0"/>
                  </a:rPr>
                  <a:t>过程中吸热多少焦耳</a:t>
                </a:r>
                <a:r>
                  <a:rPr lang="en-US" altLang="zh-CN" sz="1400" dirty="0">
                    <a:latin typeface="+mn-ea"/>
                    <a:cs typeface="Times New Roman" panose="02020603050405020304" pitchFamily="18" charset="0"/>
                  </a:rPr>
                  <a:t>,</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𝑎𝑑</m:t>
                    </m:r>
                  </m:oMath>
                </a14:m>
                <a:r>
                  <a:rPr lang="zh-CN" altLang="en-US" sz="1400" dirty="0">
                    <a:latin typeface="+mn-ea"/>
                    <a:cs typeface="Times New Roman" panose="02020603050405020304" pitchFamily="18" charset="0"/>
                  </a:rPr>
                  <a:t>过程中吸热多少焦耳？</a:t>
                </a:r>
                <a:br>
                  <a:rPr lang="zh-CN" altLang="en-US" sz="1400" dirty="0">
                    <a:latin typeface="+mn-ea"/>
                    <a:cs typeface="Times New Roman" panose="02020603050405020304" pitchFamily="18" charset="0"/>
                  </a:rPr>
                </a:br>
                <a:endParaRPr lang="zh-CN" altLang="en-US" sz="1400" dirty="0">
                  <a:latin typeface="+mn-ea"/>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7943850" y="3918585"/>
                <a:ext cx="3873500" cy="1819275"/>
              </a:xfrm>
              <a:prstGeom prst="rect">
                <a:avLst/>
              </a:prstGeom>
              <a:blipFill rotWithShape="1">
                <a:blip r:embed="rId14"/>
                <a:stretch>
                  <a:fillRect b="-24258"/>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4313" y="1005870"/>
            <a:ext cx="9743373" cy="682046"/>
          </a:xfrm>
          <a:prstGeom prst="rect">
            <a:avLst/>
          </a:prstGeom>
        </p:spPr>
        <p:txBody>
          <a:bodyPr wrap="none">
            <a:spAutoFit/>
          </a:bodyPr>
          <a:lstStyle/>
          <a:p>
            <a:pPr>
              <a:lnSpc>
                <a:spcPct val="130000"/>
              </a:lnSpc>
            </a:pPr>
            <a:r>
              <a:rPr lang="en-US" altLang="zh-CN" sz="3200" dirty="0">
                <a:latin typeface="+mn-ea"/>
                <a:cs typeface="Times New Roman" panose="02020603050405020304" pitchFamily="18" charset="0"/>
              </a:rPr>
              <a:t>4.  </a:t>
            </a:r>
            <a:r>
              <a:rPr lang="zh-CN" altLang="en-US" sz="3200" dirty="0">
                <a:latin typeface="+mn-ea"/>
                <a:cs typeface="Times New Roman" panose="02020603050405020304" pitchFamily="18" charset="0"/>
              </a:rPr>
              <a:t>证明一条等温线和一条绝热线不可能有两个交点。</a:t>
            </a:r>
          </a:p>
        </p:txBody>
      </p:sp>
    </p:spTree>
    <p:extLst>
      <p:ext uri="{BB962C8B-B14F-4D97-AF65-F5344CB8AC3E}">
        <p14:creationId xmlns:p14="http://schemas.microsoft.com/office/powerpoint/2010/main" val="2397015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85273" y="492064"/>
            <a:ext cx="9743373" cy="682046"/>
          </a:xfrm>
          <a:prstGeom prst="rect">
            <a:avLst/>
          </a:prstGeom>
        </p:spPr>
        <p:txBody>
          <a:bodyPr wrap="none">
            <a:spAutoFit/>
          </a:bodyPr>
          <a:lstStyle/>
          <a:p>
            <a:pPr>
              <a:lnSpc>
                <a:spcPct val="130000"/>
              </a:lnSpc>
            </a:pPr>
            <a:r>
              <a:rPr lang="en-US" altLang="zh-CN" sz="3200" dirty="0">
                <a:latin typeface="+mn-ea"/>
                <a:cs typeface="Times New Roman" panose="02020603050405020304" pitchFamily="18" charset="0"/>
              </a:rPr>
              <a:t>4.  </a:t>
            </a:r>
            <a:r>
              <a:rPr lang="zh-CN" altLang="en-US" sz="3200" dirty="0">
                <a:latin typeface="+mn-ea"/>
                <a:cs typeface="Times New Roman" panose="02020603050405020304" pitchFamily="18" charset="0"/>
              </a:rPr>
              <a:t>证明一条等温线和一条绝热线不可能有两个交点。</a:t>
            </a:r>
          </a:p>
        </p:txBody>
      </p:sp>
      <p:sp>
        <p:nvSpPr>
          <p:cNvPr id="3" name="文本框 2">
            <a:extLst>
              <a:ext uri="{FF2B5EF4-FFF2-40B4-BE49-F238E27FC236}">
                <a16:creationId xmlns:a16="http://schemas.microsoft.com/office/drawing/2014/main" id="{9F8E5973-3EB6-4657-A14E-7ACF11BE6CBC}"/>
              </a:ext>
            </a:extLst>
          </p:cNvPr>
          <p:cNvSpPr txBox="1"/>
          <p:nvPr/>
        </p:nvSpPr>
        <p:spPr>
          <a:xfrm>
            <a:off x="741896" y="1435058"/>
            <a:ext cx="2031325" cy="369332"/>
          </a:xfrm>
          <a:prstGeom prst="rect">
            <a:avLst/>
          </a:prstGeom>
          <a:noFill/>
        </p:spPr>
        <p:txBody>
          <a:bodyPr wrap="none" rtlCol="0">
            <a:spAutoFit/>
          </a:bodyPr>
          <a:lstStyle/>
          <a:p>
            <a:r>
              <a:rPr lang="zh-CN" altLang="en-US" dirty="0"/>
              <a:t>使用方法：反证法</a:t>
            </a:r>
          </a:p>
        </p:txBody>
      </p:sp>
      <p:pic>
        <p:nvPicPr>
          <p:cNvPr id="4" name="内容占位符 9">
            <a:extLst>
              <a:ext uri="{FF2B5EF4-FFF2-40B4-BE49-F238E27FC236}">
                <a16:creationId xmlns:a16="http://schemas.microsoft.com/office/drawing/2014/main" id="{22EA2B44-7B86-481D-9827-01D2E1A841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65" y="2002894"/>
            <a:ext cx="5334000" cy="4000500"/>
          </a:xfrm>
          <a:prstGeom prst="rect">
            <a:avLst/>
          </a:prstGeom>
        </p:spPr>
      </p:pic>
      <p:sp>
        <p:nvSpPr>
          <p:cNvPr id="5" name="文本框 4">
            <a:extLst>
              <a:ext uri="{FF2B5EF4-FFF2-40B4-BE49-F238E27FC236}">
                <a16:creationId xmlns:a16="http://schemas.microsoft.com/office/drawing/2014/main" id="{F5C173BB-769D-4A90-B78D-4A8C59547F28}"/>
              </a:ext>
            </a:extLst>
          </p:cNvPr>
          <p:cNvSpPr txBox="1"/>
          <p:nvPr/>
        </p:nvSpPr>
        <p:spPr>
          <a:xfrm>
            <a:off x="5984240" y="1905381"/>
            <a:ext cx="4570482" cy="369332"/>
          </a:xfrm>
          <a:prstGeom prst="rect">
            <a:avLst/>
          </a:prstGeom>
          <a:noFill/>
        </p:spPr>
        <p:txBody>
          <a:bodyPr wrap="none" rtlCol="0">
            <a:spAutoFit/>
          </a:bodyPr>
          <a:lstStyle/>
          <a:p>
            <a:r>
              <a:rPr lang="zh-CN" altLang="en-US" dirty="0"/>
              <a:t>情况一：过程一为等温线，过程二为绝热线</a:t>
            </a:r>
          </a:p>
        </p:txBody>
      </p:sp>
      <p:sp>
        <p:nvSpPr>
          <p:cNvPr id="6" name="文本框 5">
            <a:extLst>
              <a:ext uri="{FF2B5EF4-FFF2-40B4-BE49-F238E27FC236}">
                <a16:creationId xmlns:a16="http://schemas.microsoft.com/office/drawing/2014/main" id="{15E99FEF-5198-44BC-9C3B-753B14EB1A7E}"/>
              </a:ext>
            </a:extLst>
          </p:cNvPr>
          <p:cNvSpPr txBox="1"/>
          <p:nvPr/>
        </p:nvSpPr>
        <p:spPr>
          <a:xfrm>
            <a:off x="3403449" y="1421971"/>
            <a:ext cx="6271774" cy="369332"/>
          </a:xfrm>
          <a:prstGeom prst="rect">
            <a:avLst/>
          </a:prstGeom>
          <a:noFill/>
        </p:spPr>
        <p:txBody>
          <a:bodyPr wrap="square" rtlCol="0">
            <a:spAutoFit/>
          </a:bodyPr>
          <a:lstStyle/>
          <a:p>
            <a:r>
              <a:rPr lang="zh-CN" altLang="en-US" dirty="0"/>
              <a:t>假设等温线和绝热线有两个交点，如图，以热机循环为例</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16482D2-DA52-4EA2-857F-AE5F1EAA2E5F}"/>
                  </a:ext>
                </a:extLst>
              </p:cNvPr>
              <p:cNvSpPr txBox="1"/>
              <p:nvPr/>
            </p:nvSpPr>
            <p:spPr>
              <a:xfrm>
                <a:off x="5984240" y="4399390"/>
                <a:ext cx="4841914" cy="1477328"/>
              </a:xfrm>
              <a:prstGeom prst="rect">
                <a:avLst/>
              </a:prstGeom>
              <a:noFill/>
            </p:spPr>
            <p:txBody>
              <a:bodyPr wrap="square">
                <a:spAutoFit/>
              </a:bodyPr>
              <a:lstStyle/>
              <a:p>
                <a:r>
                  <a:rPr lang="zh-CN" altLang="en-US" dirty="0"/>
                  <a:t>则对于</a:t>
                </a:r>
                <a14:m>
                  <m:oMath xmlns:m="http://schemas.openxmlformats.org/officeDocument/2006/math">
                    <m:r>
                      <m:rPr>
                        <m:sty m:val="p"/>
                      </m:rPr>
                      <a:rPr lang="en-US" altLang="zh-CN" i="1" smtClean="0">
                        <a:latin typeface="Cambria Math" panose="02040503050406030204" pitchFamily="18" charset="0"/>
                      </a:rPr>
                      <m:t>A</m:t>
                    </m:r>
                    <m:r>
                      <a:rPr lang="en-US" altLang="zh-CN"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B</m:t>
                    </m:r>
                    <m:r>
                      <a:rPr lang="en-US" altLang="zh-CN" b="0"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A</m:t>
                    </m:r>
                    <m:r>
                      <a:rPr lang="en-US" altLang="zh-CN" b="0" i="1" smtClean="0">
                        <a:latin typeface="Cambria Math" panose="02040503050406030204" pitchFamily="18" charset="0"/>
                        <a:ea typeface="Cambria Math" panose="02040503050406030204" pitchFamily="18" charset="0"/>
                      </a:rPr>
                      <m:t>&gt;0,</m:t>
                    </m:r>
                    <m:r>
                      <a:rPr lang="en-US" altLang="zh-CN" i="1">
                        <a:latin typeface="Cambria Math" panose="02040503050406030204" pitchFamily="18" charset="0"/>
                      </a:rPr>
                      <m:t>𝑄</m:t>
                    </m:r>
                    <m:r>
                      <a:rPr lang="en-US" altLang="zh-CN" b="0" i="1" smtClean="0">
                        <a:latin typeface="Cambria Math" panose="02040503050406030204" pitchFamily="18" charset="0"/>
                      </a:rPr>
                      <m:t>&gt;</m:t>
                    </m:r>
                    <m:r>
                      <a:rPr lang="en-US" altLang="zh-CN" i="1">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𝐸</m:t>
                    </m:r>
                    <m:r>
                      <a:rPr lang="en-US" altLang="zh-CN" i="1" smtClean="0">
                        <a:latin typeface="Cambria Math" panose="02040503050406030204" pitchFamily="18" charset="0"/>
                        <a:ea typeface="Cambria Math" panose="02040503050406030204" pitchFamily="18" charset="0"/>
                      </a:rPr>
                      <m:t>=0</m:t>
                    </m:r>
                  </m:oMath>
                </a14:m>
                <a:endParaRPr lang="en-US" altLang="zh-CN" dirty="0">
                  <a:ea typeface="Cambria Math" panose="02040503050406030204" pitchFamily="18" charset="0"/>
                </a:endParaRPr>
              </a:p>
              <a:p>
                <a:r>
                  <a:rPr lang="zh-CN" altLang="en-US" dirty="0"/>
                  <a:t>对于</a:t>
                </a:r>
                <a14:m>
                  <m:oMath xmlns:m="http://schemas.openxmlformats.org/officeDocument/2006/math">
                    <m:r>
                      <m:rPr>
                        <m:sty m:val="p"/>
                      </m:rPr>
                      <a:rPr lang="en-US" altLang="zh-CN" i="1" dirty="0">
                        <a:latin typeface="Cambria Math" panose="02040503050406030204" pitchFamily="18" charset="0"/>
                      </a:rPr>
                      <m:t>B</m:t>
                    </m:r>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𝐴</m:t>
                    </m:r>
                    <m:r>
                      <a:rPr lang="en-US" altLang="zh-CN" b="0" i="1" dirty="0" smtClean="0">
                        <a:latin typeface="Cambria Math" panose="02040503050406030204" pitchFamily="18" charset="0"/>
                        <a:ea typeface="Cambria Math" panose="02040503050406030204" pitchFamily="18" charset="0"/>
                      </a:rPr>
                      <m:t> ,</m:t>
                    </m:r>
                    <m:r>
                      <a:rPr lang="en-US" altLang="zh-CN" b="0" i="1" dirty="0" smtClean="0">
                        <a:latin typeface="Cambria Math" panose="02040503050406030204" pitchFamily="18" charset="0"/>
                        <a:ea typeface="Cambria Math" panose="02040503050406030204" pitchFamily="18" charset="0"/>
                      </a:rPr>
                      <m:t>𝑄</m:t>
                    </m:r>
                    <m:r>
                      <a:rPr lang="en-US" altLang="zh-CN" b="0" i="1" dirty="0" smtClean="0">
                        <a:latin typeface="Cambria Math" panose="02040503050406030204" pitchFamily="18" charset="0"/>
                        <a:ea typeface="Cambria Math" panose="02040503050406030204" pitchFamily="18" charset="0"/>
                      </a:rPr>
                      <m:t>=0</m:t>
                    </m:r>
                  </m:oMath>
                </a14:m>
                <a:endParaRPr lang="en-US" altLang="zh-CN" dirty="0">
                  <a:ea typeface="Cambria Math" panose="02040503050406030204" pitchFamily="18" charset="0"/>
                </a:endParaRPr>
              </a:p>
              <a:p>
                <a:r>
                  <a:rPr lang="zh-CN" altLang="en-US" dirty="0"/>
                  <a:t>故对于</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𝐵</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𝐸</m:t>
                    </m:r>
                    <m:r>
                      <a:rPr lang="en-US" altLang="zh-CN" i="1">
                        <a:latin typeface="Cambria Math" panose="02040503050406030204" pitchFamily="18" charset="0"/>
                        <a:ea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&gt;0,</m:t>
                    </m:r>
                    <m:r>
                      <a:rPr lang="en-US" altLang="zh-CN" i="1">
                        <a:latin typeface="Cambria Math" panose="02040503050406030204" pitchFamily="18" charset="0"/>
                      </a:rPr>
                      <m:t>𝑄</m:t>
                    </m:r>
                    <m:r>
                      <a:rPr lang="en-US" altLang="zh-CN" i="1">
                        <a:latin typeface="Cambria Math" panose="02040503050406030204" pitchFamily="18" charset="0"/>
                      </a:rPr>
                      <m:t>&gt;0</m:t>
                    </m:r>
                  </m:oMath>
                </a14:m>
                <a:endParaRPr lang="zh-CN" altLang="en-US" dirty="0"/>
              </a:p>
              <a:p>
                <a:r>
                  <a:rPr lang="zh-CN" altLang="en-US" dirty="0"/>
                  <a:t>故在一个循环内，系统从外界吸收的热量全部转化为对外做功，违反热力学第二定律，矛盾</a:t>
                </a:r>
              </a:p>
            </p:txBody>
          </p:sp>
        </mc:Choice>
        <mc:Fallback xmlns="">
          <p:sp>
            <p:nvSpPr>
              <p:cNvPr id="7" name="文本框 6">
                <a:extLst>
                  <a:ext uri="{FF2B5EF4-FFF2-40B4-BE49-F238E27FC236}">
                    <a16:creationId xmlns:a16="http://schemas.microsoft.com/office/drawing/2014/main" id="{816482D2-DA52-4EA2-857F-AE5F1EAA2E5F}"/>
                  </a:ext>
                </a:extLst>
              </p:cNvPr>
              <p:cNvSpPr txBox="1">
                <a:spLocks noRot="1" noChangeAspect="1" noMove="1" noResize="1" noEditPoints="1" noAdjustHandles="1" noChangeArrowheads="1" noChangeShapeType="1" noTextEdit="1"/>
              </p:cNvSpPr>
              <p:nvPr/>
            </p:nvSpPr>
            <p:spPr>
              <a:xfrm>
                <a:off x="5984240" y="4399390"/>
                <a:ext cx="4841914" cy="1477328"/>
              </a:xfrm>
              <a:prstGeom prst="rect">
                <a:avLst/>
              </a:prstGeom>
              <a:blipFill>
                <a:blip r:embed="rId3"/>
                <a:stretch>
                  <a:fillRect l="-1134" t="-2479" b="-578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63FBB21-E385-4A36-9624-8C507C133C9D}"/>
              </a:ext>
            </a:extLst>
          </p:cNvPr>
          <p:cNvSpPr txBox="1"/>
          <p:nvPr/>
        </p:nvSpPr>
        <p:spPr>
          <a:xfrm>
            <a:off x="5984240" y="4030058"/>
            <a:ext cx="4570482" cy="369332"/>
          </a:xfrm>
          <a:prstGeom prst="rect">
            <a:avLst/>
          </a:prstGeom>
          <a:noFill/>
        </p:spPr>
        <p:txBody>
          <a:bodyPr wrap="none" rtlCol="0">
            <a:spAutoFit/>
          </a:bodyPr>
          <a:lstStyle/>
          <a:p>
            <a:r>
              <a:rPr lang="zh-CN" altLang="en-US" dirty="0"/>
              <a:t>情况二：过程一为绝热线，过程二为等温线</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ED4C860-D58D-46D8-B7BE-38022C65F90F}"/>
                  </a:ext>
                </a:extLst>
              </p:cNvPr>
              <p:cNvSpPr txBox="1"/>
              <p:nvPr/>
            </p:nvSpPr>
            <p:spPr>
              <a:xfrm>
                <a:off x="5984240" y="2306643"/>
                <a:ext cx="6096000" cy="369332"/>
              </a:xfrm>
              <a:prstGeom prst="rect">
                <a:avLst/>
              </a:prstGeom>
              <a:noFill/>
            </p:spPr>
            <p:txBody>
              <a:bodyPr wrap="square">
                <a:spAutoFit/>
              </a:bodyPr>
              <a:lstStyle/>
              <a:p>
                <a:r>
                  <a:rPr lang="zh-CN" altLang="en-US" dirty="0"/>
                  <a:t>则对于</a:t>
                </a:r>
                <a14:m>
                  <m:oMath xmlns:m="http://schemas.openxmlformats.org/officeDocument/2006/math">
                    <m:r>
                      <m:rPr>
                        <m:sty m:val="p"/>
                      </m:rPr>
                      <a:rPr lang="en-US" altLang="zh-CN">
                        <a:latin typeface="Cambria Math" panose="02040503050406030204" pitchFamily="18" charset="0"/>
                      </a:rPr>
                      <m:t>A</m:t>
                    </m:r>
                    <m:r>
                      <a:rPr lang="en-US" altLang="zh-CN">
                        <a:latin typeface="Cambria Math" panose="02040503050406030204" pitchFamily="18" charset="0"/>
                      </a:rPr>
                      <m:t>→</m:t>
                    </m:r>
                    <m:r>
                      <m:rPr>
                        <m:sty m:val="p"/>
                      </m:rPr>
                      <a:rPr lang="en-US" altLang="zh-CN">
                        <a:latin typeface="Cambria Math" panose="02040503050406030204" pitchFamily="18" charset="0"/>
                      </a:rPr>
                      <m:t>B</m:t>
                    </m:r>
                    <m:r>
                      <a:rPr lang="zh-CN" altLang="en-US">
                        <a:latin typeface="Cambria Math" panose="02040503050406030204" pitchFamily="18" charset="0"/>
                      </a:rPr>
                      <m:t>，</m:t>
                    </m:r>
                    <m:r>
                      <a:rPr lang="en-US" altLang="zh-CN" smtClean="0">
                        <a:latin typeface="Cambria Math" panose="02040503050406030204" pitchFamily="18" charset="0"/>
                      </a:rPr>
                      <m:t>𝑄</m:t>
                    </m:r>
                    <m:r>
                      <a:rPr lang="en-US" altLang="zh-CN" smtClean="0">
                        <a:latin typeface="Cambria Math" panose="02040503050406030204" pitchFamily="18" charset="0"/>
                      </a:rPr>
                      <m:t>=0</m:t>
                    </m:r>
                  </m:oMath>
                </a14:m>
                <a:endParaRPr lang="en-US" altLang="zh-CN" dirty="0"/>
              </a:p>
            </p:txBody>
          </p:sp>
        </mc:Choice>
        <mc:Fallback xmlns="">
          <p:sp>
            <p:nvSpPr>
              <p:cNvPr id="9" name="文本框 8">
                <a:extLst>
                  <a:ext uri="{FF2B5EF4-FFF2-40B4-BE49-F238E27FC236}">
                    <a16:creationId xmlns:a16="http://schemas.microsoft.com/office/drawing/2014/main" id="{6ED4C860-D58D-46D8-B7BE-38022C65F90F}"/>
                  </a:ext>
                </a:extLst>
              </p:cNvPr>
              <p:cNvSpPr txBox="1">
                <a:spLocks noRot="1" noChangeAspect="1" noMove="1" noResize="1" noEditPoints="1" noAdjustHandles="1" noChangeArrowheads="1" noChangeShapeType="1" noTextEdit="1"/>
              </p:cNvSpPr>
              <p:nvPr/>
            </p:nvSpPr>
            <p:spPr>
              <a:xfrm>
                <a:off x="5984240" y="2306643"/>
                <a:ext cx="6096000" cy="369332"/>
              </a:xfrm>
              <a:prstGeom prst="rect">
                <a:avLst/>
              </a:prstGeom>
              <a:blipFill>
                <a:blip r:embed="rId4"/>
                <a:stretch>
                  <a:fillRect l="-900"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EBAA60F-90AF-40B5-86F4-26DD7A32EE20}"/>
                  </a:ext>
                </a:extLst>
              </p:cNvPr>
              <p:cNvSpPr txBox="1"/>
              <p:nvPr/>
            </p:nvSpPr>
            <p:spPr>
              <a:xfrm>
                <a:off x="5984240" y="2612115"/>
                <a:ext cx="6096000" cy="369332"/>
              </a:xfrm>
              <a:prstGeom prst="rect">
                <a:avLst/>
              </a:prstGeom>
              <a:noFill/>
            </p:spPr>
            <p:txBody>
              <a:bodyPr wrap="square">
                <a:spAutoFit/>
              </a:bodyPr>
              <a:lstStyle/>
              <a:p>
                <a:r>
                  <a:rPr lang="zh-CN" altLang="en-US" dirty="0"/>
                  <a:t>对于</a:t>
                </a:r>
                <a14:m>
                  <m:oMath xmlns:m="http://schemas.openxmlformats.org/officeDocument/2006/math">
                    <m:r>
                      <m:rPr>
                        <m:sty m:val="p"/>
                      </m:rPr>
                      <a:rPr lang="en-US" altLang="zh-CN" dirty="0" smtClean="0">
                        <a:latin typeface="Cambria Math" panose="02040503050406030204" pitchFamily="18" charset="0"/>
                      </a:rPr>
                      <m:t>B</m:t>
                    </m:r>
                    <m:r>
                      <a:rPr lang="en-US" altLang="zh-CN" dirty="0">
                        <a:latin typeface="Cambria Math" panose="02040503050406030204" pitchFamily="18" charset="0"/>
                      </a:rPr>
                      <m:t>→</m:t>
                    </m:r>
                    <m:r>
                      <a:rPr lang="en-US" altLang="zh-CN" dirty="0">
                        <a:latin typeface="Cambria Math" panose="02040503050406030204" pitchFamily="18" charset="0"/>
                      </a:rPr>
                      <m:t>𝐴</m:t>
                    </m:r>
                    <m:r>
                      <a:rPr lang="en-US" altLang="zh-CN" dirty="0">
                        <a:latin typeface="Cambria Math" panose="02040503050406030204" pitchFamily="18" charset="0"/>
                      </a:rPr>
                      <m:t> </m:t>
                    </m:r>
                    <m:r>
                      <a:rPr lang="zh-CN" altLang="en-US" dirty="0">
                        <a:latin typeface="Cambria Math" panose="02040503050406030204" pitchFamily="18" charset="0"/>
                      </a:rPr>
                      <m:t>，</m:t>
                    </m:r>
                    <m:r>
                      <m:rPr>
                        <m:sty m:val="p"/>
                      </m:rPr>
                      <a:rPr lang="en-US" altLang="zh-CN" i="1" dirty="0">
                        <a:latin typeface="Cambria Math" panose="02040503050406030204" pitchFamily="18" charset="0"/>
                      </a:rPr>
                      <m:t>A</m:t>
                    </m:r>
                    <m:r>
                      <a:rPr lang="en-US" altLang="zh-CN" b="0" i="1" dirty="0" smtClean="0">
                        <a:latin typeface="Cambria Math" panose="02040503050406030204" pitchFamily="18" charset="0"/>
                      </a:rPr>
                      <m:t>&lt;0</m:t>
                    </m:r>
                    <m:r>
                      <a:rPr lang="zh-CN" altLang="en-US" i="1" dirty="0">
                        <a:latin typeface="Cambria Math" panose="02040503050406030204" pitchFamily="18" charset="0"/>
                      </a:rPr>
                      <m:t>，</m:t>
                    </m:r>
                    <m:r>
                      <a:rPr lang="en-US" altLang="zh-CN" dirty="0">
                        <a:latin typeface="Cambria Math" panose="02040503050406030204" pitchFamily="18" charset="0"/>
                      </a:rPr>
                      <m:t>𝑄</m:t>
                    </m:r>
                    <m:r>
                      <a:rPr lang="en-US" altLang="zh-CN" dirty="0">
                        <a:latin typeface="Cambria Math" panose="02040503050406030204" pitchFamily="18" charset="0"/>
                      </a:rPr>
                      <m:t>&lt;0</m:t>
                    </m:r>
                  </m:oMath>
                </a14:m>
                <a:r>
                  <a:rPr lang="en-US" altLang="zh-CN" dirty="0"/>
                  <a:t> </a:t>
                </a:r>
                <a14:m>
                  <m:oMath xmlns:m="http://schemas.openxmlformats.org/officeDocument/2006/math">
                    <m:r>
                      <a:rPr lang="zh-CN" altLang="en-US" dirty="0">
                        <a:latin typeface="Cambria Math" panose="02040503050406030204" pitchFamily="18" charset="0"/>
                      </a:rPr>
                      <m:t>，</m:t>
                    </m:r>
                    <m:r>
                      <a:rPr lang="en-US" altLang="zh-CN" dirty="0" smtClean="0">
                        <a:latin typeface="Cambria Math" panose="02040503050406030204" pitchFamily="18" charset="0"/>
                      </a:rPr>
                      <m:t>∆</m:t>
                    </m:r>
                    <m:r>
                      <a:rPr lang="en-US" altLang="zh-CN" dirty="0" smtClean="0">
                        <a:latin typeface="Cambria Math" panose="02040503050406030204" pitchFamily="18" charset="0"/>
                      </a:rPr>
                      <m:t>𝐸</m:t>
                    </m:r>
                    <m:r>
                      <a:rPr lang="en-US" altLang="zh-CN" dirty="0" smtClean="0">
                        <a:latin typeface="Cambria Math" panose="02040503050406030204" pitchFamily="18" charset="0"/>
                      </a:rPr>
                      <m:t>=0</m:t>
                    </m:r>
                  </m:oMath>
                </a14:m>
                <a:endParaRPr lang="en-US" altLang="zh-CN" dirty="0"/>
              </a:p>
            </p:txBody>
          </p:sp>
        </mc:Choice>
        <mc:Fallback xmlns="">
          <p:sp>
            <p:nvSpPr>
              <p:cNvPr id="10" name="文本框 9">
                <a:extLst>
                  <a:ext uri="{FF2B5EF4-FFF2-40B4-BE49-F238E27FC236}">
                    <a16:creationId xmlns:a16="http://schemas.microsoft.com/office/drawing/2014/main" id="{3EBAA60F-90AF-40B5-86F4-26DD7A32EE20}"/>
                  </a:ext>
                </a:extLst>
              </p:cNvPr>
              <p:cNvSpPr txBox="1">
                <a:spLocks noRot="1" noChangeAspect="1" noMove="1" noResize="1" noEditPoints="1" noAdjustHandles="1" noChangeArrowheads="1" noChangeShapeType="1" noTextEdit="1"/>
              </p:cNvSpPr>
              <p:nvPr/>
            </p:nvSpPr>
            <p:spPr>
              <a:xfrm>
                <a:off x="5984240" y="2612115"/>
                <a:ext cx="6096000" cy="369332"/>
              </a:xfrm>
              <a:prstGeom prst="rect">
                <a:avLst/>
              </a:prstGeom>
              <a:blipFill>
                <a:blip r:embed="rId5"/>
                <a:stretch>
                  <a:fillRect l="-900"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6C988DE-B984-4882-8261-080BC2654957}"/>
                  </a:ext>
                </a:extLst>
              </p:cNvPr>
              <p:cNvSpPr txBox="1"/>
              <p:nvPr/>
            </p:nvSpPr>
            <p:spPr>
              <a:xfrm>
                <a:off x="5984240" y="2901049"/>
                <a:ext cx="6096000" cy="369332"/>
              </a:xfrm>
              <a:prstGeom prst="rect">
                <a:avLst/>
              </a:prstGeom>
              <a:noFill/>
            </p:spPr>
            <p:txBody>
              <a:bodyPr wrap="square">
                <a:spAutoFit/>
              </a:bodyPr>
              <a:lstStyle/>
              <a:p>
                <a:r>
                  <a:rPr lang="zh-CN" altLang="en-US" dirty="0"/>
                  <a:t>故对于</a:t>
                </a:r>
                <a14:m>
                  <m:oMath xmlns:m="http://schemas.openxmlformats.org/officeDocument/2006/math">
                    <m:r>
                      <a:rPr lang="en-US" altLang="zh-CN">
                        <a:latin typeface="Cambria Math" panose="02040503050406030204" pitchFamily="18" charset="0"/>
                      </a:rPr>
                      <m:t>𝐴</m:t>
                    </m:r>
                    <m:r>
                      <a:rPr lang="en-US" altLang="zh-CN">
                        <a:latin typeface="Cambria Math" panose="02040503050406030204" pitchFamily="18" charset="0"/>
                      </a:rPr>
                      <m:t>→</m:t>
                    </m:r>
                    <m:r>
                      <a:rPr lang="en-US" altLang="zh-CN">
                        <a:latin typeface="Cambria Math" panose="02040503050406030204" pitchFamily="18" charset="0"/>
                      </a:rPr>
                      <m:t>𝐵</m:t>
                    </m:r>
                    <m:r>
                      <a:rPr lang="en-US" altLang="zh-CN">
                        <a:latin typeface="Cambria Math" panose="02040503050406030204" pitchFamily="18" charset="0"/>
                      </a:rPr>
                      <m:t>→</m:t>
                    </m:r>
                    <m:r>
                      <a:rPr lang="en-US" altLang="zh-CN">
                        <a:latin typeface="Cambria Math" panose="02040503050406030204" pitchFamily="18" charset="0"/>
                      </a:rPr>
                      <m:t>𝐴</m:t>
                    </m:r>
                    <m:r>
                      <a:rPr lang="en-US" altLang="zh-CN">
                        <a:latin typeface="Cambria Math" panose="02040503050406030204" pitchFamily="18" charset="0"/>
                      </a:rPr>
                      <m:t> </m:t>
                    </m:r>
                    <m:r>
                      <a:rPr lang="zh-CN" altLang="en-US">
                        <a:latin typeface="Cambria Math" panose="02040503050406030204" pitchFamily="18" charset="0"/>
                      </a:rPr>
                      <m:t>，</m:t>
                    </m:r>
                    <m:r>
                      <a:rPr lang="en-US" altLang="zh-CN">
                        <a:latin typeface="Cambria Math" panose="02040503050406030204" pitchFamily="18" charset="0"/>
                      </a:rPr>
                      <m:t>𝑄</m:t>
                    </m:r>
                    <m:r>
                      <a:rPr lang="en-US" altLang="zh-CN">
                        <a:latin typeface="Cambria Math" panose="02040503050406030204" pitchFamily="18" charset="0"/>
                      </a:rPr>
                      <m:t>&lt;0</m:t>
                    </m:r>
                    <m:r>
                      <a:rPr lang="zh-CN" altLang="en-US">
                        <a:latin typeface="Cambria Math" panose="02040503050406030204" pitchFamily="18" charset="0"/>
                      </a:rPr>
                      <m:t>，</m:t>
                    </m:r>
                    <m:r>
                      <a:rPr lang="en-US" altLang="zh-CN">
                        <a:latin typeface="Cambria Math" panose="02040503050406030204" pitchFamily="18" charset="0"/>
                      </a:rPr>
                      <m:t>∆</m:t>
                    </m:r>
                    <m:r>
                      <a:rPr lang="en-US" altLang="zh-CN">
                        <a:latin typeface="Cambria Math" panose="02040503050406030204" pitchFamily="18" charset="0"/>
                      </a:rPr>
                      <m:t>𝐸</m:t>
                    </m:r>
                    <m:r>
                      <a:rPr lang="en-US" altLang="zh-CN">
                        <a:latin typeface="Cambria Math" panose="02040503050406030204" pitchFamily="18" charset="0"/>
                      </a:rPr>
                      <m:t>=0</m:t>
                    </m:r>
                    <m:r>
                      <a:rPr lang="zh-CN" altLang="en-US">
                        <a:latin typeface="Cambria Math" panose="02040503050406030204" pitchFamily="18" charset="0"/>
                      </a:rPr>
                      <m:t>，</m:t>
                    </m:r>
                    <m:r>
                      <a:rPr lang="en-US" altLang="zh-CN">
                        <a:latin typeface="Cambria Math" panose="02040503050406030204" pitchFamily="18" charset="0"/>
                      </a:rPr>
                      <m:t>𝐴</m:t>
                    </m:r>
                    <m:r>
                      <a:rPr lang="en-US" altLang="zh-CN">
                        <a:latin typeface="Cambria Math" panose="02040503050406030204" pitchFamily="18" charset="0"/>
                      </a:rPr>
                      <m:t>&gt;0</m:t>
                    </m:r>
                  </m:oMath>
                </a14:m>
                <a:endParaRPr lang="zh-CN" altLang="en-US" dirty="0"/>
              </a:p>
            </p:txBody>
          </p:sp>
        </mc:Choice>
        <mc:Fallback xmlns="">
          <p:sp>
            <p:nvSpPr>
              <p:cNvPr id="11" name="文本框 10">
                <a:extLst>
                  <a:ext uri="{FF2B5EF4-FFF2-40B4-BE49-F238E27FC236}">
                    <a16:creationId xmlns:a16="http://schemas.microsoft.com/office/drawing/2014/main" id="{76C988DE-B984-4882-8261-080BC2654957}"/>
                  </a:ext>
                </a:extLst>
              </p:cNvPr>
              <p:cNvSpPr txBox="1">
                <a:spLocks noRot="1" noChangeAspect="1" noMove="1" noResize="1" noEditPoints="1" noAdjustHandles="1" noChangeArrowheads="1" noChangeShapeType="1" noTextEdit="1"/>
              </p:cNvSpPr>
              <p:nvPr/>
            </p:nvSpPr>
            <p:spPr>
              <a:xfrm>
                <a:off x="5984240" y="2901049"/>
                <a:ext cx="6096000" cy="369332"/>
              </a:xfrm>
              <a:prstGeom prst="rect">
                <a:avLst/>
              </a:prstGeom>
              <a:blipFill>
                <a:blip r:embed="rId6"/>
                <a:stretch>
                  <a:fillRect l="-900" t="-10000"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3904E75-32B5-4E5E-BF99-3FF21A061472}"/>
                  </a:ext>
                </a:extLst>
              </p:cNvPr>
              <p:cNvSpPr txBox="1"/>
              <p:nvPr/>
            </p:nvSpPr>
            <p:spPr>
              <a:xfrm>
                <a:off x="5984240" y="3221453"/>
                <a:ext cx="6096000" cy="646331"/>
              </a:xfrm>
              <a:prstGeom prst="rect">
                <a:avLst/>
              </a:prstGeom>
              <a:noFill/>
            </p:spPr>
            <p:txBody>
              <a:bodyPr wrap="square">
                <a:spAutoFit/>
              </a:bodyPr>
              <a:lstStyle/>
              <a:p>
                <a:r>
                  <a:rPr lang="zh-CN" altLang="en-US" dirty="0"/>
                  <a:t>由热力学第一定律</a:t>
                </a:r>
                <a14:m>
                  <m:oMath xmlns:m="http://schemas.openxmlformats.org/officeDocument/2006/math">
                    <m:r>
                      <a:rPr lang="zh-CN" altLang="en-US" dirty="0">
                        <a:latin typeface="Cambria Math" panose="02040503050406030204" pitchFamily="18" charset="0"/>
                      </a:rPr>
                      <m:t>有</m:t>
                    </m:r>
                    <m:r>
                      <m:rPr>
                        <m:sty m:val="p"/>
                      </m:rPr>
                      <a:rPr lang="en-US" altLang="zh-CN" dirty="0" smtClean="0">
                        <a:latin typeface="Cambria Math" panose="02040503050406030204" pitchFamily="18" charset="0"/>
                      </a:rPr>
                      <m:t>Q</m:t>
                    </m:r>
                    <m:r>
                      <a:rPr lang="en-US" altLang="zh-CN">
                        <a:latin typeface="Cambria Math" panose="02040503050406030204" pitchFamily="18" charset="0"/>
                      </a:rPr>
                      <m:t>=</m:t>
                    </m:r>
                    <m:r>
                      <a:rPr lang="en-US" altLang="zh-CN">
                        <a:latin typeface="Cambria Math" panose="02040503050406030204" pitchFamily="18" charset="0"/>
                      </a:rPr>
                      <m:t>𝐴</m:t>
                    </m:r>
                    <m:r>
                      <a:rPr lang="en-US" altLang="zh-CN">
                        <a:latin typeface="Cambria Math" panose="02040503050406030204" pitchFamily="18" charset="0"/>
                      </a:rPr>
                      <m:t>+∆</m:t>
                    </m:r>
                    <m:r>
                      <a:rPr lang="en-US" altLang="zh-CN">
                        <a:latin typeface="Cambria Math" panose="02040503050406030204" pitchFamily="18" charset="0"/>
                      </a:rPr>
                      <m:t>𝐸</m:t>
                    </m:r>
                    <m:r>
                      <a:rPr lang="zh-CN" altLang="en-US">
                        <a:latin typeface="Cambria Math" panose="02040503050406030204" pitchFamily="18" charset="0"/>
                      </a:rPr>
                      <m:t>，显然等式</m:t>
                    </m:r>
                  </m:oMath>
                </a14:m>
                <a:r>
                  <a:rPr lang="zh-CN" altLang="en-US" dirty="0"/>
                  <a:t>不成立，</a:t>
                </a:r>
                <a:endParaRPr lang="en-US" altLang="zh-CN" dirty="0"/>
              </a:p>
              <a:p>
                <a:r>
                  <a:rPr lang="zh-CN" altLang="en-US" dirty="0"/>
                  <a:t>违反热力学第一定律，矛盾</a:t>
                </a:r>
              </a:p>
            </p:txBody>
          </p:sp>
        </mc:Choice>
        <mc:Fallback xmlns="">
          <p:sp>
            <p:nvSpPr>
              <p:cNvPr id="12" name="文本框 11">
                <a:extLst>
                  <a:ext uri="{FF2B5EF4-FFF2-40B4-BE49-F238E27FC236}">
                    <a16:creationId xmlns:a16="http://schemas.microsoft.com/office/drawing/2014/main" id="{73904E75-32B5-4E5E-BF99-3FF21A061472}"/>
                  </a:ext>
                </a:extLst>
              </p:cNvPr>
              <p:cNvSpPr txBox="1">
                <a:spLocks noRot="1" noChangeAspect="1" noMove="1" noResize="1" noEditPoints="1" noAdjustHandles="1" noChangeArrowheads="1" noChangeShapeType="1" noTextEdit="1"/>
              </p:cNvSpPr>
              <p:nvPr/>
            </p:nvSpPr>
            <p:spPr>
              <a:xfrm>
                <a:off x="5984240" y="3221453"/>
                <a:ext cx="6096000" cy="646331"/>
              </a:xfrm>
              <a:prstGeom prst="rect">
                <a:avLst/>
              </a:prstGeom>
              <a:blipFill>
                <a:blip r:embed="rId7"/>
                <a:stretch>
                  <a:fillRect l="-900" t="-471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781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751657" y="490843"/>
                <a:ext cx="10548314" cy="4846391"/>
              </a:xfrm>
              <a:prstGeom prst="rect">
                <a:avLst/>
              </a:prstGeom>
            </p:spPr>
            <p:txBody>
              <a:bodyPr wrap="square">
                <a:spAutoFit/>
              </a:bodyPr>
              <a:lstStyle/>
              <a:p>
                <a:pPr>
                  <a:lnSpc>
                    <a:spcPct val="130000"/>
                  </a:lnSpc>
                </a:pPr>
                <a:r>
                  <a:rPr lang="en-US" altLang="zh-CN" sz="3000" dirty="0">
                    <a:latin typeface="+mn-ea"/>
                    <a:cs typeface="Times New Roman" panose="02020603050405020304" pitchFamily="18" charset="0"/>
                  </a:rPr>
                  <a:t>5.  </a:t>
                </a:r>
                <a:r>
                  <a:rPr lang="zh-CN" altLang="en-US" sz="3000" dirty="0">
                    <a:latin typeface="+mn-ea"/>
                    <a:cs typeface="Times New Roman" panose="02020603050405020304" pitchFamily="18" charset="0"/>
                  </a:rPr>
                  <a:t>如图所示，一容积为</a:t>
                </a:r>
                <a14:m>
                  <m:oMath xmlns:m="http://schemas.openxmlformats.org/officeDocument/2006/math">
                    <m:r>
                      <a:rPr lang="en-US" altLang="zh-CN" sz="3000" i="1">
                        <a:latin typeface="Cambria Math" panose="02040503050406030204" pitchFamily="18" charset="0"/>
                        <a:cs typeface="Times New Roman" panose="02020603050405020304" pitchFamily="18" charset="0"/>
                      </a:rPr>
                      <m:t>40</m:t>
                    </m:r>
                    <m:r>
                      <a:rPr lang="en-US" altLang="zh-CN" sz="300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3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000" i="1">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3000" i="1">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lang="en-US" altLang="zh-CN" sz="30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3000" i="1">
                            <a:latin typeface="Cambria Math" panose="02040503050406030204" pitchFamily="18" charset="0"/>
                            <a:ea typeface="Cambria Math" panose="02040503050406030204" pitchFamily="18" charset="0"/>
                            <a:cs typeface="Times New Roman" panose="02020603050405020304" pitchFamily="18" charset="0"/>
                          </a:rPr>
                          <m:t>𝑚</m:t>
                        </m:r>
                      </m:e>
                      <m:sup>
                        <m:r>
                          <a:rPr lang="en-US" altLang="zh-CN" sz="3000" i="1">
                            <a:latin typeface="Cambria Math" panose="02040503050406030204" pitchFamily="18" charset="0"/>
                            <a:ea typeface="Cambria Math" panose="02040503050406030204" pitchFamily="18" charset="0"/>
                            <a:cs typeface="Times New Roman" panose="02020603050405020304" pitchFamily="18" charset="0"/>
                          </a:rPr>
                          <m:t>3</m:t>
                        </m:r>
                      </m:sup>
                    </m:sSup>
                  </m:oMath>
                </a14:m>
                <a:r>
                  <a:rPr lang="zh-CN" altLang="en-US" sz="3000" dirty="0">
                    <a:latin typeface="+mn-ea"/>
                    <a:cs typeface="Times New Roman" panose="02020603050405020304" pitchFamily="18" charset="0"/>
                  </a:rPr>
                  <a:t>的绝热容器，中间由一无摩擦的绝热可移动的活塞隔开，</a:t>
                </a:r>
                <a14:m>
                  <m:oMath xmlns:m="http://schemas.openxmlformats.org/officeDocument/2006/math">
                    <m:r>
                      <a:rPr lang="en-US" altLang="zh-CN" sz="3000" b="0" i="1" smtClean="0">
                        <a:latin typeface="Cambria Math" panose="02040503050406030204" pitchFamily="18" charset="0"/>
                        <a:cs typeface="Times New Roman" panose="02020603050405020304" pitchFamily="18" charset="0"/>
                      </a:rPr>
                      <m:t>𝐴</m:t>
                    </m:r>
                  </m:oMath>
                </a14:m>
                <a:r>
                  <a:rPr lang="zh-CN" altLang="en-US" sz="3000" dirty="0">
                    <a:latin typeface="+mn-ea"/>
                    <a:cs typeface="Times New Roman" panose="02020603050405020304" pitchFamily="18" charset="0"/>
                  </a:rPr>
                  <a:t>、</a:t>
                </a:r>
                <a14:m>
                  <m:oMath xmlns:m="http://schemas.openxmlformats.org/officeDocument/2006/math">
                    <m:r>
                      <a:rPr lang="en-US" altLang="zh-CN" sz="3000" b="0" i="1" dirty="0" smtClean="0">
                        <a:latin typeface="Cambria Math" panose="02040503050406030204" pitchFamily="18" charset="0"/>
                        <a:cs typeface="Times New Roman" panose="02020603050405020304" pitchFamily="18" charset="0"/>
                      </a:rPr>
                      <m:t>𝐵</m:t>
                    </m:r>
                  </m:oMath>
                </a14:m>
                <a:r>
                  <a:rPr lang="zh-CN" altLang="en-US" sz="3000" dirty="0">
                    <a:latin typeface="+mn-ea"/>
                    <a:cs typeface="Times New Roman" panose="02020603050405020304" pitchFamily="18" charset="0"/>
                  </a:rPr>
                  <a:t>两部分各储</a:t>
                </a:r>
                <a14:m>
                  <m:oMath xmlns:m="http://schemas.openxmlformats.org/officeDocument/2006/math">
                    <m:r>
                      <a:rPr lang="en-US" altLang="zh-CN" sz="3000" b="0" i="1" smtClean="0">
                        <a:latin typeface="Cambria Math" panose="02040503050406030204" pitchFamily="18" charset="0"/>
                        <a:cs typeface="Times New Roman" panose="02020603050405020304" pitchFamily="18" charset="0"/>
                      </a:rPr>
                      <m:t>1</m:t>
                    </m:r>
                    <m:r>
                      <a:rPr lang="en-US" altLang="zh-CN" sz="3000" b="0" i="1" smtClean="0">
                        <a:latin typeface="Cambria Math" panose="02040503050406030204" pitchFamily="18" charset="0"/>
                        <a:cs typeface="Times New Roman" panose="02020603050405020304" pitchFamily="18" charset="0"/>
                      </a:rPr>
                      <m:t>𝑚𝑜𝑙</m:t>
                    </m:r>
                  </m:oMath>
                </a14:m>
                <a:r>
                  <a:rPr lang="zh-CN" altLang="en-US" sz="3000" dirty="0">
                    <a:latin typeface="+mn-ea"/>
                    <a:cs typeface="Times New Roman" panose="02020603050405020304" pitchFamily="18" charset="0"/>
                  </a:rPr>
                  <a:t>的</a:t>
                </a:r>
                <a14:m>
                  <m:oMath xmlns:m="http://schemas.openxmlformats.org/officeDocument/2006/math">
                    <m:sSub>
                      <m:sSubPr>
                        <m:ctrlPr>
                          <a:rPr lang="en-US" altLang="zh-CN" sz="3000" i="1" dirty="0" smtClean="0">
                            <a:latin typeface="Cambria Math" panose="02040503050406030204" pitchFamily="18" charset="0"/>
                            <a:cs typeface="Times New Roman" panose="02020603050405020304" pitchFamily="18" charset="0"/>
                          </a:rPr>
                        </m:ctrlPr>
                      </m:sSubPr>
                      <m:e>
                        <m:r>
                          <a:rPr lang="en-US" altLang="zh-CN" sz="3000" b="0" i="1" dirty="0" smtClean="0">
                            <a:latin typeface="Cambria Math" panose="02040503050406030204" pitchFamily="18" charset="0"/>
                            <a:cs typeface="Times New Roman" panose="02020603050405020304" pitchFamily="18" charset="0"/>
                          </a:rPr>
                          <m:t>𝑁</m:t>
                        </m:r>
                      </m:e>
                      <m:sub>
                        <m:r>
                          <a:rPr lang="en-US" altLang="zh-CN" sz="3000" b="0" i="1" dirty="0" smtClean="0">
                            <a:latin typeface="Cambria Math" panose="02040503050406030204" pitchFamily="18" charset="0"/>
                            <a:cs typeface="Times New Roman" panose="02020603050405020304" pitchFamily="18" charset="0"/>
                          </a:rPr>
                          <m:t>2</m:t>
                        </m:r>
                      </m:sub>
                    </m:sSub>
                  </m:oMath>
                </a14:m>
                <a:r>
                  <a:rPr lang="zh-CN" altLang="en-US" sz="3000" dirty="0">
                    <a:latin typeface="+mn-ea"/>
                    <a:cs typeface="Times New Roman" panose="02020603050405020304" pitchFamily="18" charset="0"/>
                  </a:rPr>
                  <a:t>，最初的压强都是</a:t>
                </a:r>
                <a14:m>
                  <m:oMath xmlns:m="http://schemas.openxmlformats.org/officeDocument/2006/math">
                    <m:r>
                      <a:rPr lang="en-US" altLang="zh-CN" sz="3000" b="0" i="1" smtClean="0">
                        <a:latin typeface="Cambria Math" panose="02040503050406030204" pitchFamily="18" charset="0"/>
                        <a:cs typeface="Times New Roman" panose="02020603050405020304" pitchFamily="18" charset="0"/>
                      </a:rPr>
                      <m:t>1</m:t>
                    </m:r>
                    <m:r>
                      <a:rPr lang="en-US" altLang="zh-CN" sz="3000" b="0" i="1" smtClean="0">
                        <a:latin typeface="Cambria Math" panose="02040503050406030204" pitchFamily="18" charset="0"/>
                        <a:cs typeface="Times New Roman" panose="02020603050405020304" pitchFamily="18" charset="0"/>
                      </a:rPr>
                      <m:t>𝑎𝑡𝑚</m:t>
                    </m:r>
                  </m:oMath>
                </a14:m>
                <a:r>
                  <a:rPr lang="zh-CN" altLang="en-US" sz="3000" dirty="0">
                    <a:latin typeface="+mn-ea"/>
                    <a:cs typeface="Times New Roman" panose="02020603050405020304" pitchFamily="18" charset="0"/>
                  </a:rPr>
                  <a:t>，活塞停在中间，现通过电压</a:t>
                </a:r>
                <a14:m>
                  <m:oMath xmlns:m="http://schemas.openxmlformats.org/officeDocument/2006/math">
                    <m:sSub>
                      <m:sSubPr>
                        <m:ctrlPr>
                          <a:rPr lang="en-US" altLang="zh-CN" sz="3000" i="1" smtClean="0">
                            <a:latin typeface="Cambria Math" panose="02040503050406030204" pitchFamily="18" charset="0"/>
                            <a:cs typeface="Times New Roman" panose="02020603050405020304" pitchFamily="18" charset="0"/>
                          </a:rPr>
                        </m:ctrlPr>
                      </m:sSubPr>
                      <m:e>
                        <m:r>
                          <a:rPr lang="en-US" altLang="zh-CN" sz="3000" b="0" i="1" smtClean="0">
                            <a:latin typeface="Cambria Math" panose="02040503050406030204" pitchFamily="18" charset="0"/>
                            <a:cs typeface="Times New Roman" panose="02020603050405020304" pitchFamily="18" charset="0"/>
                          </a:rPr>
                          <m:t>𝑢</m:t>
                        </m:r>
                      </m:e>
                      <m:sub>
                        <m:r>
                          <a:rPr lang="en-US" altLang="zh-CN" sz="3000" b="0" i="1" smtClean="0">
                            <a:latin typeface="Cambria Math" panose="02040503050406030204" pitchFamily="18" charset="0"/>
                            <a:cs typeface="Times New Roman" panose="02020603050405020304" pitchFamily="18" charset="0"/>
                          </a:rPr>
                          <m:t>0</m:t>
                        </m:r>
                      </m:sub>
                    </m:sSub>
                  </m:oMath>
                </a14:m>
                <a:r>
                  <a:rPr lang="zh-CN" altLang="en-US" sz="3000" dirty="0">
                    <a:latin typeface="+mn-ea"/>
                    <a:cs typeface="Times New Roman" panose="02020603050405020304" pitchFamily="18" charset="0"/>
                  </a:rPr>
                  <a:t>,以小电流</a:t>
                </a:r>
                <a14:m>
                  <m:oMath xmlns:m="http://schemas.openxmlformats.org/officeDocument/2006/math">
                    <m:r>
                      <a:rPr lang="en-US" altLang="zh-CN" sz="3000" b="0" i="1" smtClean="0">
                        <a:latin typeface="Cambria Math" panose="02040503050406030204" pitchFamily="18" charset="0"/>
                        <a:cs typeface="Times New Roman" panose="02020603050405020304" pitchFamily="18" charset="0"/>
                      </a:rPr>
                      <m:t>𝑖</m:t>
                    </m:r>
                  </m:oMath>
                </a14:m>
                <a:r>
                  <a:rPr lang="zh-CN" altLang="en-US" sz="3000" dirty="0">
                    <a:latin typeface="+mn-ea"/>
                    <a:cs typeface="Times New Roman" panose="02020603050405020304" pitchFamily="18" charset="0"/>
                  </a:rPr>
                  <a:t>对</a:t>
                </a:r>
                <a:r>
                  <a:rPr lang="en-US" altLang="zh-CN" sz="3000" dirty="0">
                    <a:cs typeface="Times New Roman" panose="02020603050405020304" pitchFamily="18" charset="0"/>
                  </a:rPr>
                  <a:t> </a:t>
                </a:r>
                <a14:m>
                  <m:oMath xmlns:m="http://schemas.openxmlformats.org/officeDocument/2006/math">
                    <m:r>
                      <a:rPr lang="en-US" altLang="zh-CN" sz="3000" i="1">
                        <a:latin typeface="Cambria Math" panose="02040503050406030204" pitchFamily="18" charset="0"/>
                        <a:cs typeface="Times New Roman" panose="02020603050405020304" pitchFamily="18" charset="0"/>
                      </a:rPr>
                      <m:t>𝐴</m:t>
                    </m:r>
                  </m:oMath>
                </a14:m>
                <a:r>
                  <a:rPr lang="zh-CN" altLang="en-US" sz="3000" dirty="0">
                    <a:latin typeface="+mn-ea"/>
                    <a:cs typeface="Times New Roman" panose="02020603050405020304" pitchFamily="18" charset="0"/>
                  </a:rPr>
                  <a:t>中气体加热直到</a:t>
                </a:r>
                <a14:m>
                  <m:oMath xmlns:m="http://schemas.openxmlformats.org/officeDocument/2006/math">
                    <m:r>
                      <a:rPr lang="en-US" altLang="zh-CN" sz="3000" i="1" dirty="0">
                        <a:latin typeface="Cambria Math" panose="02040503050406030204" pitchFamily="18" charset="0"/>
                        <a:cs typeface="Times New Roman" panose="02020603050405020304" pitchFamily="18" charset="0"/>
                      </a:rPr>
                      <m:t>𝐵</m:t>
                    </m:r>
                  </m:oMath>
                </a14:m>
                <a:r>
                  <a:rPr lang="zh-CN" altLang="en-US" sz="3000" dirty="0">
                    <a:latin typeface="+mn-ea"/>
                    <a:cs typeface="Times New Roman" panose="02020603050405020304" pitchFamily="18" charset="0"/>
                  </a:rPr>
                  <a:t>中气体体积缩小一半为止，试求:</a:t>
                </a:r>
              </a:p>
              <a:p>
                <a:pPr>
                  <a:lnSpc>
                    <a:spcPct val="130000"/>
                  </a:lnSpc>
                </a:pPr>
                <a:r>
                  <a:rPr lang="zh-CN" altLang="en-US" sz="3000" dirty="0">
                    <a:latin typeface="+mn-ea"/>
                    <a:cs typeface="Times New Roman" panose="02020603050405020304" pitchFamily="18" charset="0"/>
                  </a:rPr>
                  <a:t> (1) 在</a:t>
                </a:r>
                <a14:m>
                  <m:oMath xmlns:m="http://schemas.openxmlformats.org/officeDocument/2006/math">
                    <m:r>
                      <a:rPr lang="en-US" altLang="zh-CN" sz="3000" b="0" i="1" smtClean="0">
                        <a:latin typeface="Cambria Math" panose="02040503050406030204" pitchFamily="18" charset="0"/>
                        <a:cs typeface="Times New Roman" panose="02020603050405020304" pitchFamily="18" charset="0"/>
                      </a:rPr>
                      <m:t>𝑑𝑡</m:t>
                    </m:r>
                  </m:oMath>
                </a14:m>
                <a:r>
                  <a:rPr lang="zh-CN" altLang="en-US" sz="3000" dirty="0">
                    <a:latin typeface="+mn-ea"/>
                    <a:cs typeface="Times New Roman" panose="02020603050405020304" pitchFamily="18" charset="0"/>
                  </a:rPr>
                  <a:t>时间内</a:t>
                </a:r>
                <a:r>
                  <a:rPr lang="en-US" altLang="zh-CN" sz="3000" dirty="0">
                    <a:latin typeface="+mn-ea"/>
                    <a:cs typeface="Times New Roman" panose="02020603050405020304" pitchFamily="18" charset="0"/>
                  </a:rPr>
                  <a:t>,</a:t>
                </a:r>
                <a:r>
                  <a:rPr lang="en-US" altLang="zh-CN" sz="3000" dirty="0">
                    <a:cs typeface="Times New Roman" panose="02020603050405020304" pitchFamily="18" charset="0"/>
                  </a:rPr>
                  <a:t> </a:t>
                </a:r>
                <a14:m>
                  <m:oMath xmlns:m="http://schemas.openxmlformats.org/officeDocument/2006/math">
                    <m:r>
                      <a:rPr lang="en-US" altLang="zh-CN" sz="3000" i="1">
                        <a:latin typeface="Cambria Math" panose="02040503050406030204" pitchFamily="18" charset="0"/>
                        <a:cs typeface="Times New Roman" panose="02020603050405020304" pitchFamily="18" charset="0"/>
                      </a:rPr>
                      <m:t>𝐴</m:t>
                    </m:r>
                  </m:oMath>
                </a14:m>
                <a:r>
                  <a:rPr lang="zh-CN" altLang="en-US" sz="3000" dirty="0">
                    <a:latin typeface="+mn-ea"/>
                    <a:cs typeface="Times New Roman" panose="02020603050405020304" pitchFamily="18" charset="0"/>
                  </a:rPr>
                  <a:t>气体发生微小变化过程的热力学第一定律的微分表达式。</a:t>
                </a:r>
              </a:p>
              <a:p>
                <a:pPr>
                  <a:lnSpc>
                    <a:spcPct val="130000"/>
                  </a:lnSpc>
                </a:pPr>
                <a:r>
                  <a:rPr lang="zh-CN" altLang="en-US" sz="3000" dirty="0">
                    <a:latin typeface="+mn-ea"/>
                    <a:cs typeface="Times New Roman" panose="02020603050405020304" pitchFamily="18" charset="0"/>
                  </a:rPr>
                  <a:t> (2) 两部分气体各自的最后温度是多少?</a:t>
                </a:r>
                <a:endParaRPr lang="en-US" altLang="zh-CN" sz="3000" dirty="0">
                  <a:latin typeface="+mn-ea"/>
                  <a:cs typeface="Times New Roman" panose="02020603050405020304" pitchFamily="18" charset="0"/>
                </a:endParaRPr>
              </a:p>
              <a:p>
                <a:pPr>
                  <a:lnSpc>
                    <a:spcPct val="130000"/>
                  </a:lnSpc>
                </a:pPr>
                <a:r>
                  <a:rPr lang="zh-CN" altLang="en-US" sz="3000" dirty="0">
                    <a:latin typeface="+mn-ea"/>
                    <a:cs typeface="Times New Roman" panose="02020603050405020304" pitchFamily="18" charset="0"/>
                  </a:rPr>
                  <a:t> (3) A中气体在整个过程中所作的功是多少?</a:t>
                </a:r>
              </a:p>
            </p:txBody>
          </p:sp>
        </mc:Choice>
        <mc:Fallback xmlns="">
          <p:sp>
            <p:nvSpPr>
              <p:cNvPr id="2" name="矩形 1"/>
              <p:cNvSpPr>
                <a:spLocks noRot="1" noChangeAspect="1" noMove="1" noResize="1" noEditPoints="1" noAdjustHandles="1" noChangeArrowheads="1" noChangeShapeType="1" noTextEdit="1"/>
              </p:cNvSpPr>
              <p:nvPr/>
            </p:nvSpPr>
            <p:spPr>
              <a:xfrm>
                <a:off x="751657" y="490843"/>
                <a:ext cx="10548314" cy="4846391"/>
              </a:xfrm>
              <a:prstGeom prst="rect">
                <a:avLst/>
              </a:prstGeom>
              <a:blipFill>
                <a:blip r:embed="rId2"/>
                <a:stretch>
                  <a:fillRect l="-1329" r="-693" b="-3019"/>
                </a:stretch>
              </a:blipFill>
            </p:spPr>
            <p:txBody>
              <a:bodyPr/>
              <a:lstStyle/>
              <a:p>
                <a:r>
                  <a:rPr lang="zh-CN" altLang="en-US">
                    <a:noFill/>
                  </a:rPr>
                  <a:t> </a:t>
                </a:r>
              </a:p>
            </p:txBody>
          </p:sp>
        </mc:Fallback>
      </mc:AlternateContent>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5022" t="7181" r="6812" b="3911"/>
          <a:stretch/>
        </p:blipFill>
        <p:spPr>
          <a:xfrm>
            <a:off x="7952763" y="3429000"/>
            <a:ext cx="3691156" cy="2726423"/>
          </a:xfrm>
          <a:prstGeom prst="rect">
            <a:avLst/>
          </a:prstGeom>
        </p:spPr>
      </p:pic>
      <p:sp>
        <p:nvSpPr>
          <p:cNvPr id="4" name="文本框 3">
            <a:extLst>
              <a:ext uri="{FF2B5EF4-FFF2-40B4-BE49-F238E27FC236}">
                <a16:creationId xmlns:a16="http://schemas.microsoft.com/office/drawing/2014/main" id="{27CFC062-75F1-40BF-B872-020DA18442A5}"/>
              </a:ext>
            </a:extLst>
          </p:cNvPr>
          <p:cNvSpPr txBox="1"/>
          <p:nvPr/>
        </p:nvSpPr>
        <p:spPr>
          <a:xfrm>
            <a:off x="1422932" y="5337234"/>
            <a:ext cx="6325299" cy="1200329"/>
          </a:xfrm>
          <a:prstGeom prst="rect">
            <a:avLst/>
          </a:prstGeom>
          <a:noFill/>
        </p:spPr>
        <p:txBody>
          <a:bodyPr wrap="square" rtlCol="0">
            <a:spAutoFit/>
          </a:bodyPr>
          <a:lstStyle/>
          <a:p>
            <a:pPr lvl="0">
              <a:defRPr/>
            </a:pPr>
            <a:r>
              <a:rPr lang="zh-CN" altLang="en-US" dirty="0">
                <a:solidFill>
                  <a:srgbClr val="FF0000"/>
                </a:solidFill>
                <a:latin typeface="楷体" panose="02010609060101010101" pitchFamily="49" charset="-122"/>
                <a:ea typeface="楷体" panose="02010609060101010101" pitchFamily="49" charset="-122"/>
              </a:rPr>
              <a:t>分析：</a:t>
            </a:r>
            <a:endParaRPr lang="en-US" altLang="zh-CN" dirty="0">
              <a:solidFill>
                <a:srgbClr val="FF0000"/>
              </a:solidFill>
              <a:latin typeface="楷体" panose="02010609060101010101" pitchFamily="49" charset="-122"/>
              <a:ea typeface="楷体" panose="02010609060101010101" pitchFamily="49" charset="-122"/>
            </a:endParaRPr>
          </a:p>
          <a:p>
            <a:pPr lvl="0">
              <a:defRPr/>
            </a:pPr>
            <a:r>
              <a:rPr lang="en-US" altLang="zh-CN" dirty="0">
                <a:solidFill>
                  <a:prstClr val="black"/>
                </a:solidFill>
                <a:latin typeface="楷体" panose="02010609060101010101" pitchFamily="49" charset="-122"/>
                <a:ea typeface="楷体" panose="02010609060101010101" pitchFamily="49" charset="-122"/>
              </a:rPr>
              <a:t>A</a:t>
            </a:r>
            <a:r>
              <a:rPr lang="zh-CN" altLang="en-US" dirty="0">
                <a:solidFill>
                  <a:prstClr val="black"/>
                </a:solidFill>
                <a:latin typeface="楷体" panose="02010609060101010101" pitchFamily="49" charset="-122"/>
                <a:ea typeface="楷体" panose="02010609060101010101" pitchFamily="49" charset="-122"/>
              </a:rPr>
              <a:t>：气体吸收热量，一部分转化为自身内能，另一部分对</a:t>
            </a:r>
            <a:r>
              <a:rPr lang="en-US" altLang="zh-CN" dirty="0">
                <a:solidFill>
                  <a:prstClr val="black"/>
                </a:solidFill>
                <a:latin typeface="楷体" panose="02010609060101010101" pitchFamily="49" charset="-122"/>
                <a:ea typeface="楷体" panose="02010609060101010101" pitchFamily="49" charset="-122"/>
              </a:rPr>
              <a:t>B</a:t>
            </a:r>
            <a:r>
              <a:rPr lang="zh-CN" altLang="en-US" dirty="0">
                <a:solidFill>
                  <a:prstClr val="black"/>
                </a:solidFill>
                <a:latin typeface="楷体" panose="02010609060101010101" pitchFamily="49" charset="-122"/>
                <a:ea typeface="楷体" panose="02010609060101010101" pitchFamily="49" charset="-122"/>
              </a:rPr>
              <a:t>中气体做功；</a:t>
            </a:r>
            <a:r>
              <a:rPr lang="zh-CN" altLang="en-US" dirty="0">
                <a:solidFill>
                  <a:srgbClr val="FF0000"/>
                </a:solidFill>
                <a:latin typeface="楷体" panose="02010609060101010101" pitchFamily="49" charset="-122"/>
                <a:ea typeface="楷体" panose="02010609060101010101" pitchFamily="49" charset="-122"/>
              </a:rPr>
              <a:t>不是四个典型的准静态过程中的任意一个</a:t>
            </a:r>
            <a:endParaRPr lang="en-US" altLang="zh-CN" dirty="0">
              <a:solidFill>
                <a:srgbClr val="FF0000"/>
              </a:solidFill>
              <a:latin typeface="楷体" panose="02010609060101010101" pitchFamily="49" charset="-122"/>
              <a:ea typeface="楷体" panose="02010609060101010101" pitchFamily="49" charset="-122"/>
            </a:endParaRPr>
          </a:p>
          <a:p>
            <a:pPr lvl="0">
              <a:defRPr/>
            </a:pPr>
            <a:r>
              <a:rPr lang="en-US" altLang="zh-CN" dirty="0">
                <a:solidFill>
                  <a:prstClr val="black"/>
                </a:solidFill>
                <a:latin typeface="楷体" panose="02010609060101010101" pitchFamily="49" charset="-122"/>
                <a:ea typeface="楷体" panose="02010609060101010101" pitchFamily="49" charset="-122"/>
              </a:rPr>
              <a:t>B</a:t>
            </a:r>
            <a:r>
              <a:rPr lang="zh-CN" altLang="en-US" dirty="0">
                <a:solidFill>
                  <a:prstClr val="black"/>
                </a:solidFill>
                <a:latin typeface="楷体" panose="02010609060101010101" pitchFamily="49" charset="-122"/>
                <a:ea typeface="楷体" panose="02010609060101010101" pitchFamily="49" charset="-122"/>
              </a:rPr>
              <a:t>：气体经历了一个</a:t>
            </a:r>
            <a:r>
              <a:rPr lang="zh-CN" altLang="en-US" dirty="0">
                <a:solidFill>
                  <a:srgbClr val="FF0000"/>
                </a:solidFill>
                <a:latin typeface="楷体" panose="02010609060101010101" pitchFamily="49" charset="-122"/>
                <a:ea typeface="楷体" panose="02010609060101010101" pitchFamily="49" charset="-122"/>
              </a:rPr>
              <a:t>绝热压缩过程</a:t>
            </a:r>
            <a:r>
              <a:rPr lang="zh-CN" altLang="en-US" dirty="0">
                <a:solidFill>
                  <a:prstClr val="black"/>
                </a:solidFill>
                <a:latin typeface="楷体" panose="02010609060101010101" pitchFamily="49" charset="-122"/>
                <a:ea typeface="楷体" panose="02010609060101010101" pitchFamily="49" charset="-122"/>
              </a:rPr>
              <a:t>。</a:t>
            </a:r>
            <a:endParaRPr lang="en-US" altLang="zh-CN" dirty="0">
              <a:solidFill>
                <a:prstClr val="black"/>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162839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777C081-A48C-453A-833E-040F1BD817EF}"/>
                  </a:ext>
                </a:extLst>
              </p:cNvPr>
              <p:cNvSpPr>
                <a:spLocks noGrp="1"/>
              </p:cNvSpPr>
              <p:nvPr>
                <p:ph idx="1"/>
              </p:nvPr>
            </p:nvSpPr>
            <p:spPr>
              <a:xfrm>
                <a:off x="763398" y="536895"/>
                <a:ext cx="10590402" cy="2030136"/>
              </a:xfrm>
            </p:spPr>
            <p:txBody>
              <a:bodyPr>
                <a:normAutofit fontScale="85000" lnSpcReduction="10000"/>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5.  </a:t>
                </a:r>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如图所示，一容积为</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40</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m:t>
                        </m:r>
                      </m:e>
                      <m:sup>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的绝热容器，中间由一无摩擦的绝热可移动的活塞隔开，</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𝐴</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𝐵</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两部分各储</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𝑚𝑜𝑙</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的</a:t>
                </a:r>
                <a14:m>
                  <m:oMath xmlns:m="http://schemas.openxmlformats.org/officeDocument/2006/math">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𝑁</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2</m:t>
                        </m:r>
                      </m:sub>
                    </m:sSub>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，最初的压强都是</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𝑎𝑡𝑚</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，活塞停在中间，现通过电压</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0</m:t>
                        </m:r>
                      </m:sub>
                    </m:sSub>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,以小电流</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𝑖</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对</a:t>
                </a:r>
                <a:r>
                  <a:rPr kumimoji="0" lang="en-US" altLang="zh-CN"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𝐴</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中气体加热直到</a:t>
                </a:r>
                <a14:m>
                  <m:oMath xmlns:m="http://schemas.openxmlformats.org/officeDocument/2006/math">
                    <m:r>
                      <a:rPr kumimoji="0" lang="en-US" altLang="zh-CN" sz="20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𝐵</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中气体体积缩小一半为止，试求:</a:t>
                </a:r>
              </a:p>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a:t>
                </a:r>
                <a:r>
                  <a:rPr kumimoji="0" lang="zh-CN" altLang="en-US" sz="20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(1) 在</a:t>
                </a:r>
                <a14:m>
                  <m:oMath xmlns:m="http://schemas.openxmlformats.org/officeDocument/2006/math">
                    <m:r>
                      <a:rPr kumimoji="0" lang="en-US" altLang="zh-CN" sz="2000" b="0" i="1" u="none" strike="noStrike" kern="1200" cap="none" spc="0" normalizeH="0" baseline="0" noProof="0" smtClean="0">
                        <a:ln>
                          <a:noFill/>
                        </a:ln>
                        <a:solidFill>
                          <a:srgbClr val="FF0000"/>
                        </a:solidFill>
                        <a:effectLst/>
                        <a:uLnTx/>
                        <a:uFillTx/>
                        <a:latin typeface="Cambria Math" panose="02040503050406030204" pitchFamily="18" charset="0"/>
                        <a:cs typeface="Times New Roman" panose="02020603050405020304" pitchFamily="18" charset="0"/>
                      </a:rPr>
                      <m:t>𝑑𝑡</m:t>
                    </m:r>
                  </m:oMath>
                </a14:m>
                <a:r>
                  <a:rPr kumimoji="0" lang="zh-CN" altLang="en-US" sz="20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时间内</a:t>
                </a:r>
                <a:r>
                  <a:rPr kumimoji="0" lang="en-US" altLang="zh-CN" sz="20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baseline="0" noProof="0">
                        <a:ln>
                          <a:noFill/>
                        </a:ln>
                        <a:solidFill>
                          <a:srgbClr val="FF0000"/>
                        </a:solidFill>
                        <a:effectLst/>
                        <a:uLnTx/>
                        <a:uFillTx/>
                        <a:latin typeface="Cambria Math" panose="02040503050406030204" pitchFamily="18" charset="0"/>
                        <a:cs typeface="Times New Roman" panose="02020603050405020304" pitchFamily="18" charset="0"/>
                      </a:rPr>
                      <m:t>𝐴</m:t>
                    </m:r>
                  </m:oMath>
                </a14:m>
                <a:r>
                  <a:rPr kumimoji="0" lang="zh-CN" altLang="en-US" sz="20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气体发生微小变化过程的热力学第一定律的微分表达式。</a:t>
                </a:r>
              </a:p>
              <a:p>
                <a:pPr marL="0" indent="0">
                  <a:buNone/>
                </a:pPr>
                <a:r>
                  <a:rPr lang="zh-CN" altLang="en-US" sz="2200" dirty="0">
                    <a:latin typeface="楷体" panose="02010609060101010101" pitchFamily="49" charset="-122"/>
                    <a:ea typeface="楷体" panose="02010609060101010101" pitchFamily="49" charset="-122"/>
                  </a:rPr>
                  <a:t>解：对于无限小状态的变化过程，热力学第一定律可表示为</a:t>
                </a:r>
                <a14:m>
                  <m:oMath xmlns:m="http://schemas.openxmlformats.org/officeDocument/2006/math">
                    <m:r>
                      <a:rPr lang="en-US" altLang="zh-CN" sz="2200" b="0" i="1" smtClean="0">
                        <a:latin typeface="Cambria Math" panose="02040503050406030204" pitchFamily="18" charset="0"/>
                      </a:rPr>
                      <m:t>𝑑𝑄</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𝑑𝐸</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𝑑𝐴</m:t>
                    </m:r>
                  </m:oMath>
                </a14:m>
                <a:r>
                  <a:rPr lang="en-US" altLang="zh-CN" sz="2200" dirty="0">
                    <a:latin typeface="楷体" panose="02010609060101010101" pitchFamily="49" charset="-122"/>
                    <a:ea typeface="楷体" panose="02010609060101010101" pitchFamily="49" charset="-122"/>
                  </a:rPr>
                  <a:t>,</a:t>
                </a:r>
                <a:endParaRPr lang="zh-CN" altLang="en-US" sz="2200" dirty="0">
                  <a:latin typeface="楷体" panose="02010609060101010101" pitchFamily="49" charset="-122"/>
                  <a:ea typeface="楷体" panose="02010609060101010101" pitchFamily="49" charset="-122"/>
                </a:endParaRPr>
              </a:p>
            </p:txBody>
          </p:sp>
        </mc:Choice>
        <mc:Fallback xmlns="">
          <p:sp>
            <p:nvSpPr>
              <p:cNvPr id="3" name="内容占位符 2">
                <a:extLst>
                  <a:ext uri="{FF2B5EF4-FFF2-40B4-BE49-F238E27FC236}">
                    <a16:creationId xmlns:a16="http://schemas.microsoft.com/office/drawing/2014/main" id="{D777C081-A48C-453A-833E-040F1BD817EF}"/>
                  </a:ext>
                </a:extLst>
              </p:cNvPr>
              <p:cNvSpPr>
                <a:spLocks noGrp="1" noRot="1" noChangeAspect="1" noMove="1" noResize="1" noEditPoints="1" noAdjustHandles="1" noChangeArrowheads="1" noChangeShapeType="1" noTextEdit="1"/>
              </p:cNvSpPr>
              <p:nvPr>
                <p:ph idx="1"/>
              </p:nvPr>
            </p:nvSpPr>
            <p:spPr>
              <a:xfrm>
                <a:off x="763398" y="536895"/>
                <a:ext cx="10590402" cy="2030136"/>
              </a:xfrm>
              <a:blipFill>
                <a:blip r:embed="rId2"/>
                <a:stretch>
                  <a:fillRect l="-518" t="-3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6B96C48-511C-4B0D-8DA0-4D74E05CCAAD}"/>
                  </a:ext>
                </a:extLst>
              </p:cNvPr>
              <p:cNvSpPr txBox="1"/>
              <p:nvPr/>
            </p:nvSpPr>
            <p:spPr>
              <a:xfrm>
                <a:off x="964735" y="2567031"/>
                <a:ext cx="5788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𝑑𝑄</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4" name="文本框 3">
                <a:extLst>
                  <a:ext uri="{FF2B5EF4-FFF2-40B4-BE49-F238E27FC236}">
                    <a16:creationId xmlns:a16="http://schemas.microsoft.com/office/drawing/2014/main" id="{E6B96C48-511C-4B0D-8DA0-4D74E05CCAAD}"/>
                  </a:ext>
                </a:extLst>
              </p:cNvPr>
              <p:cNvSpPr txBox="1">
                <a:spLocks noRot="1" noChangeAspect="1" noMove="1" noResize="1" noEditPoints="1" noAdjustHandles="1" noChangeArrowheads="1" noChangeShapeType="1" noTextEdit="1"/>
              </p:cNvSpPr>
              <p:nvPr/>
            </p:nvSpPr>
            <p:spPr>
              <a:xfrm>
                <a:off x="964735" y="2567031"/>
                <a:ext cx="578840" cy="369332"/>
              </a:xfrm>
              <a:prstGeom prst="rect">
                <a:avLst/>
              </a:prstGeom>
              <a:blipFill>
                <a:blip r:embed="rId3"/>
                <a:stretch>
                  <a:fillRect b="-98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058A776-D283-4B00-80E6-4EDD484901B7}"/>
                  </a:ext>
                </a:extLst>
              </p:cNvPr>
              <p:cNvSpPr txBox="1"/>
              <p:nvPr/>
            </p:nvSpPr>
            <p:spPr>
              <a:xfrm>
                <a:off x="1543575" y="2567031"/>
                <a:ext cx="83051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用电压</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0</m:t>
                        </m:r>
                      </m:sub>
                    </m:sSub>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以小电流</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𝑖</m:t>
                    </m:r>
                  </m:oMath>
                </a14:m>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对</a:t>
                </a:r>
                <a:r>
                  <a:rPr kumimoji="0" lang="en-US" altLang="zh-CN"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A</a:t>
                </a:r>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中气体加热，</a:t>
                </a:r>
                <a:r>
                  <a:rPr kumimoji="0" lang="en-US" altLang="zh-CN"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A</a:t>
                </a:r>
                <a:r>
                  <a:rPr kumimoji="0" lang="zh-CN" altLang="en-US" sz="20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中气体吸收的热量为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𝑑𝑄</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0</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𝑖</m:t>
                    </m:r>
                    <m:r>
                      <m:rPr>
                        <m:sty m:val="p"/>
                      </m:rPr>
                      <a:rPr kumimoji="0" lang="en-US" altLang="zh-CN" sz="2000" b="0" i="0" u="none" strike="noStrike" kern="1200" cap="none" spc="0" normalizeH="0" baseline="0" noProof="0" smtClean="0">
                        <a:ln>
                          <a:noFill/>
                        </a:ln>
                        <a:solidFill>
                          <a:prstClr val="black"/>
                        </a:solidFill>
                        <a:effectLst/>
                        <a:uLnTx/>
                        <a:uFillTx/>
                        <a:latin typeface="Cambria Math" panose="02040503050406030204" pitchFamily="18" charset="0"/>
                      </a:rPr>
                      <m:t>dt</m:t>
                    </m:r>
                  </m:oMath>
                </a14:m>
                <a:endPar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mc:Choice>
        <mc:Fallback xmlns="">
          <p:sp>
            <p:nvSpPr>
              <p:cNvPr id="5" name="文本框 4">
                <a:extLst>
                  <a:ext uri="{FF2B5EF4-FFF2-40B4-BE49-F238E27FC236}">
                    <a16:creationId xmlns:a16="http://schemas.microsoft.com/office/drawing/2014/main" id="{E058A776-D283-4B00-80E6-4EDD484901B7}"/>
                  </a:ext>
                </a:extLst>
              </p:cNvPr>
              <p:cNvSpPr txBox="1">
                <a:spLocks noRot="1" noChangeAspect="1" noMove="1" noResize="1" noEditPoints="1" noAdjustHandles="1" noChangeArrowheads="1" noChangeShapeType="1" noTextEdit="1"/>
              </p:cNvSpPr>
              <p:nvPr/>
            </p:nvSpPr>
            <p:spPr>
              <a:xfrm>
                <a:off x="1543575" y="2567031"/>
                <a:ext cx="8305100" cy="400110"/>
              </a:xfrm>
              <a:prstGeom prst="rect">
                <a:avLst/>
              </a:prstGeom>
              <a:blipFill>
                <a:blip r:embed="rId4"/>
                <a:stretch>
                  <a:fillRect l="-734" t="-10606" b="-2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CFBEF70-8FE6-434A-A07F-A205D382FBEF}"/>
                  </a:ext>
                </a:extLst>
              </p:cNvPr>
              <p:cNvSpPr txBox="1"/>
              <p:nvPr/>
            </p:nvSpPr>
            <p:spPr>
              <a:xfrm>
                <a:off x="964734" y="2956190"/>
                <a:ext cx="9085277" cy="4879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𝑑𝐸</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内能的增量，</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𝑑𝐸</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rPr>
                          <m:t>C</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𝑣</m:t>
                        </m:r>
                      </m:sub>
                    </m:sSub>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rPr>
                      <m:t>dT</m:t>
                    </m:r>
                    <m: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5</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𝑅𝑑𝑇</m:t>
                    </m:r>
                  </m:oMath>
                </a14:m>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（对于双原子分子，</a:t>
                </a: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rPr>
                        </m:ctrlPr>
                      </m:sSubPr>
                      <m:e>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rPr>
                          <m:t>C</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𝑣</m:t>
                        </m:r>
                      </m:sub>
                    </m:sSub>
                  </m:oMath>
                </a14:m>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14:m>
                  <m:oMath xmlns:m="http://schemas.openxmlformats.org/officeDocument/2006/math">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5</m:t>
                        </m:r>
                      </m:num>
                      <m:den>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2</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𝑅</m:t>
                    </m:r>
                  </m:oMath>
                </a14:m>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p>
            </p:txBody>
          </p:sp>
        </mc:Choice>
        <mc:Fallback xmlns="">
          <p:sp>
            <p:nvSpPr>
              <p:cNvPr id="6" name="文本框 5">
                <a:extLst>
                  <a:ext uri="{FF2B5EF4-FFF2-40B4-BE49-F238E27FC236}">
                    <a16:creationId xmlns:a16="http://schemas.microsoft.com/office/drawing/2014/main" id="{1CFBEF70-8FE6-434A-A07F-A205D382FBEF}"/>
                  </a:ext>
                </a:extLst>
              </p:cNvPr>
              <p:cNvSpPr txBox="1">
                <a:spLocks noRot="1" noChangeAspect="1" noMove="1" noResize="1" noEditPoints="1" noAdjustHandles="1" noChangeArrowheads="1" noChangeShapeType="1" noTextEdit="1"/>
              </p:cNvSpPr>
              <p:nvPr/>
            </p:nvSpPr>
            <p:spPr>
              <a:xfrm>
                <a:off x="964734" y="2956190"/>
                <a:ext cx="9085277" cy="487954"/>
              </a:xfrm>
              <a:prstGeom prst="rect">
                <a:avLst/>
              </a:prstGeom>
              <a:blipFill>
                <a:blip r:embed="rId5"/>
                <a:stretch>
                  <a:fillRect b="-2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5D92E09-BA79-4D3E-BC58-7BB69746BAE2}"/>
                  </a:ext>
                </a:extLst>
              </p:cNvPr>
              <p:cNvSpPr txBox="1"/>
              <p:nvPr/>
            </p:nvSpPr>
            <p:spPr>
              <a:xfrm>
                <a:off x="964734" y="3429000"/>
                <a:ext cx="196092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𝑑𝐴</m:t>
                    </m:r>
                  </m:oMath>
                </a14:m>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𝑑𝐴</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𝑃𝑑𝑉</m:t>
                    </m:r>
                  </m:oMath>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8" name="文本框 7">
                <a:extLst>
                  <a:ext uri="{FF2B5EF4-FFF2-40B4-BE49-F238E27FC236}">
                    <a16:creationId xmlns:a16="http://schemas.microsoft.com/office/drawing/2014/main" id="{55D92E09-BA79-4D3E-BC58-7BB69746BAE2}"/>
                  </a:ext>
                </a:extLst>
              </p:cNvPr>
              <p:cNvSpPr txBox="1">
                <a:spLocks noRot="1" noChangeAspect="1" noMove="1" noResize="1" noEditPoints="1" noAdjustHandles="1" noChangeArrowheads="1" noChangeShapeType="1" noTextEdit="1"/>
              </p:cNvSpPr>
              <p:nvPr/>
            </p:nvSpPr>
            <p:spPr>
              <a:xfrm>
                <a:off x="964734" y="3429000"/>
                <a:ext cx="1960928" cy="369332"/>
              </a:xfrm>
              <a:prstGeom prst="rect">
                <a:avLst/>
              </a:prstGeom>
              <a:blipFill>
                <a:blip r:embed="rId6"/>
                <a:stretch>
                  <a:fillRect t="-10000"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C1F0DD8-8B7F-453A-9B19-285AE36F4976}"/>
                  </a:ext>
                </a:extLst>
              </p:cNvPr>
              <p:cNvSpPr txBox="1"/>
              <p:nvPr/>
            </p:nvSpPr>
            <p:spPr>
              <a:xfrm>
                <a:off x="964733" y="3906003"/>
                <a:ext cx="3363985" cy="4879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所以，</a:t>
                </a: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sSub>
                      <m:sSub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𝑢</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0</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𝑖</m:t>
                    </m:r>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rPr>
                      <m:t>dt</m:t>
                    </m:r>
                  </m:oMath>
                </a14:m>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14:m>
                  <m:oMath xmlns:m="http://schemas.openxmlformats.org/officeDocument/2006/math">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5</m:t>
                        </m:r>
                      </m:num>
                      <m:den>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2</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𝑅𝑑𝑇</m:t>
                    </m:r>
                  </m:oMath>
                </a14:m>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 </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rPr>
                      <m:t>𝑃𝑑𝑉</m:t>
                    </m:r>
                  </m:oMath>
                </a14:m>
                <a:endPar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mc:Choice>
        <mc:Fallback xmlns="">
          <p:sp>
            <p:nvSpPr>
              <p:cNvPr id="9" name="文本框 8">
                <a:extLst>
                  <a:ext uri="{FF2B5EF4-FFF2-40B4-BE49-F238E27FC236}">
                    <a16:creationId xmlns:a16="http://schemas.microsoft.com/office/drawing/2014/main" id="{4C1F0DD8-8B7F-453A-9B19-285AE36F4976}"/>
                  </a:ext>
                </a:extLst>
              </p:cNvPr>
              <p:cNvSpPr txBox="1">
                <a:spLocks noRot="1" noChangeAspect="1" noMove="1" noResize="1" noEditPoints="1" noAdjustHandles="1" noChangeArrowheads="1" noChangeShapeType="1" noTextEdit="1"/>
              </p:cNvSpPr>
              <p:nvPr/>
            </p:nvSpPr>
            <p:spPr>
              <a:xfrm>
                <a:off x="964733" y="3906003"/>
                <a:ext cx="3363985" cy="487954"/>
              </a:xfrm>
              <a:prstGeom prst="rect">
                <a:avLst/>
              </a:prstGeom>
              <a:blipFill>
                <a:blip r:embed="rId7"/>
                <a:stretch>
                  <a:fillRect l="-1449" b="-250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9ADA0A8A-0FE8-467F-810B-1CA809E64CB1}"/>
              </a:ext>
            </a:extLst>
          </p:cNvPr>
          <p:cNvSpPr txBox="1"/>
          <p:nvPr/>
        </p:nvSpPr>
        <p:spPr>
          <a:xfrm>
            <a:off x="763398" y="4431726"/>
            <a:ext cx="6094602" cy="401328"/>
          </a:xfrm>
          <a:prstGeom prst="rect">
            <a:avLst/>
          </a:prstGeom>
          <a:noFill/>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(2) 两部分气体各自的最后温度是多少?</a:t>
            </a:r>
            <a:endParaRPr kumimoji="0" lang="en-US" altLang="zh-CN" sz="18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FC793C0-8051-4D6C-90E4-260EC02AF68C}"/>
                  </a:ext>
                </a:extLst>
              </p:cNvPr>
              <p:cNvSpPr txBox="1"/>
              <p:nvPr/>
            </p:nvSpPr>
            <p:spPr>
              <a:xfrm>
                <a:off x="763398" y="4855816"/>
                <a:ext cx="6673722" cy="152644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解：初态：      </a:t>
                </a: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𝐴</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=20</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oMath>
                </a14:m>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=1.013</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5</m:t>
                        </m:r>
                      </m:sup>
                    </m:s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𝑃</m:t>
                    </m:r>
                  </m:oMath>
                </a14:m>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由</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𝑃𝑉</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𝑣</m:t>
                    </m:r>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rPr>
                      <m:t>RT</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rPr>
                      <m:t>得</m:t>
                    </m:r>
                  </m:oMath>
                </a14:m>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，初态 </a:t>
                </a:r>
                <a14:m>
                  <m:oMath xmlns:m="http://schemas.openxmlformats.org/officeDocument/2006/math">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𝑇</m:t>
                        </m:r>
                      </m:e>
                      <m: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𝐴</m:t>
                        </m:r>
                      </m:sub>
                    </m:s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m:t>
                    </m:r>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𝑇</m:t>
                        </m:r>
                      </m:e>
                      <m: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𝐵</m:t>
                        </m:r>
                      </m:sub>
                    </m:s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m:t>
                    </m:r>
                    <m:f>
                      <m:f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fPr>
                      <m:num>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𝑃𝑉</m:t>
                        </m:r>
                      </m:num>
                      <m:den>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rPr>
                          <m:t>𝑅</m:t>
                        </m:r>
                      </m:den>
                    </m:f>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1.013</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5</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20</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num>
                      <m:den>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8.31</m:t>
                        </m:r>
                      </m:den>
                    </m:f>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=244</m:t>
                    </m:r>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𝐾</m:t>
                    </m:r>
                  </m:oMath>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12" name="文本框 11">
                <a:extLst>
                  <a:ext uri="{FF2B5EF4-FFF2-40B4-BE49-F238E27FC236}">
                    <a16:creationId xmlns:a16="http://schemas.microsoft.com/office/drawing/2014/main" id="{AFC793C0-8051-4D6C-90E4-260EC02AF68C}"/>
                  </a:ext>
                </a:extLst>
              </p:cNvPr>
              <p:cNvSpPr txBox="1">
                <a:spLocks noRot="1" noChangeAspect="1" noMove="1" noResize="1" noEditPoints="1" noAdjustHandles="1" noChangeArrowheads="1" noChangeShapeType="1" noTextEdit="1"/>
              </p:cNvSpPr>
              <p:nvPr/>
            </p:nvSpPr>
            <p:spPr>
              <a:xfrm>
                <a:off x="763398" y="4855816"/>
                <a:ext cx="6673722" cy="1526444"/>
              </a:xfrm>
              <a:prstGeom prst="rect">
                <a:avLst/>
              </a:prstGeom>
              <a:blipFill>
                <a:blip r:embed="rId8"/>
                <a:stretch>
                  <a:fillRect l="-731" b="-4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1A356EE-0218-409A-8B75-20D06E41AC44}"/>
                  </a:ext>
                </a:extLst>
              </p:cNvPr>
              <p:cNvSpPr txBox="1"/>
              <p:nvPr/>
            </p:nvSpPr>
            <p:spPr>
              <a:xfrm>
                <a:off x="7815942" y="4730333"/>
                <a:ext cx="3343013" cy="165192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末态：</a:t>
                </a:r>
                <a14:m>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oMath>
                </a14:m>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=30</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oMath>
                </a14:m>
                <a:endPar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oMath>
                </a14:m>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sSubSup>
                      <m:sSubSupPr>
                        <m:ctrlP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            </m:t>
                        </m:r>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up>
                    </m:sSubSup>
                    <m:r>
                      <a:rPr kumimoji="0" lang="zh-CN" altLang="en-US"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a:ln>
                              <a:noFill/>
                            </a:ln>
                            <a:solidFill>
                              <a:srgbClr val="FF0000"/>
                            </a:solidFill>
                            <a:effectLst/>
                            <a:uLnTx/>
                            <a:uFillTx/>
                            <a:latin typeface="Cambria Math" panose="02040503050406030204" pitchFamily="18" charset="0"/>
                            <a:cs typeface="+mn-cs"/>
                          </a:rPr>
                          <m:t>′</m:t>
                        </m:r>
                      </m:sup>
                    </m:sSubSup>
                  </m:oMath>
                </a14:m>
                <a:r>
                  <a:rPr kumimoji="0" lang="zh-CN" altLang="en-US"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rPr>
                  <a:t>？</a:t>
                </a:r>
                <a:endParaRPr kumimoji="0" lang="en-US" altLang="zh-CN" sz="1800" b="0" i="0" u="none" strike="noStrike" kern="1200" cap="none" spc="0" normalizeH="0" baseline="0" noProof="0" dirty="0">
                  <a:ln>
                    <a:noFill/>
                  </a:ln>
                  <a:solidFill>
                    <a:srgbClr val="FF0000"/>
                  </a:solidFill>
                  <a:effectLst/>
                  <a:uLnTx/>
                  <a:uFillTx/>
                  <a:latin typeface="等线"/>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14" name="文本框 13">
                <a:extLst>
                  <a:ext uri="{FF2B5EF4-FFF2-40B4-BE49-F238E27FC236}">
                    <a16:creationId xmlns:a16="http://schemas.microsoft.com/office/drawing/2014/main" id="{81A356EE-0218-409A-8B75-20D06E41AC44}"/>
                  </a:ext>
                </a:extLst>
              </p:cNvPr>
              <p:cNvSpPr txBox="1">
                <a:spLocks noRot="1" noChangeAspect="1" noMove="1" noResize="1" noEditPoints="1" noAdjustHandles="1" noChangeArrowheads="1" noChangeShapeType="1" noTextEdit="1"/>
              </p:cNvSpPr>
              <p:nvPr/>
            </p:nvSpPr>
            <p:spPr>
              <a:xfrm>
                <a:off x="7815942" y="4730333"/>
                <a:ext cx="3343013" cy="1651927"/>
              </a:xfrm>
              <a:prstGeom prst="rect">
                <a:avLst/>
              </a:prstGeom>
              <a:blipFill>
                <a:blip r:embed="rId9"/>
                <a:stretch>
                  <a:fillRect l="-1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4907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F8887010-536F-4581-8CAC-5D5066B8CB73}"/>
                  </a:ext>
                </a:extLst>
              </p:cNvPr>
              <p:cNvSpPr txBox="1"/>
              <p:nvPr/>
            </p:nvSpPr>
            <p:spPr>
              <a:xfrm>
                <a:off x="520117" y="536895"/>
                <a:ext cx="35422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B:   </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绝热压缩过程</a:t>
                </a:r>
                <a14:m>
                  <m:oMath xmlns:m="http://schemas.openxmlformats.org/officeDocument/2006/math">
                    <m:r>
                      <a:rPr kumimoji="0" lang="zh-CN" alt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𝑇</m:t>
                    </m:r>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𝑉</m:t>
                        </m:r>
                      </m:e>
                      <m:sup>
                        <m: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rPr>
                          <m:t>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−1</m:t>
                        </m:r>
                      </m:sup>
                    </m:s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rPr>
                      <m:t>𝐶</m:t>
                    </m:r>
                  </m:oMath>
                </a14:m>
                <a:endPar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mc:Choice>
        <mc:Fallback xmlns="">
          <p:sp>
            <p:nvSpPr>
              <p:cNvPr id="4" name="文本框 3">
                <a:extLst>
                  <a:ext uri="{FF2B5EF4-FFF2-40B4-BE49-F238E27FC236}">
                    <a16:creationId xmlns:a16="http://schemas.microsoft.com/office/drawing/2014/main" id="{F8887010-536F-4581-8CAC-5D5066B8CB73}"/>
                  </a:ext>
                </a:extLst>
              </p:cNvPr>
              <p:cNvSpPr txBox="1">
                <a:spLocks noRot="1" noChangeAspect="1" noMove="1" noResize="1" noEditPoints="1" noAdjustHandles="1" noChangeArrowheads="1" noChangeShapeType="1" noTextEdit="1"/>
              </p:cNvSpPr>
              <p:nvPr/>
            </p:nvSpPr>
            <p:spPr>
              <a:xfrm>
                <a:off x="520117" y="536895"/>
                <a:ext cx="3542230" cy="369332"/>
              </a:xfrm>
              <a:prstGeom prst="rect">
                <a:avLst/>
              </a:prstGeom>
              <a:blipFill>
                <a:blip r:embed="rId2"/>
                <a:stretch>
                  <a:fillRect l="-1377" t="-11475" b="-213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FB73387-917E-4093-9EE5-36DCBD0288C4}"/>
                  </a:ext>
                </a:extLst>
              </p:cNvPr>
              <p:cNvSpPr txBox="1"/>
              <p:nvPr/>
            </p:nvSpPr>
            <p:spPr>
              <a:xfrm>
                <a:off x="922788" y="1338044"/>
                <a:ext cx="7389715" cy="49545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Sub>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p>
                    </m:sSubSup>
                  </m:oMath>
                </a14:m>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                   </a:t>
                </a:r>
                <a14:m>
                  <m:oMath xmlns:m="http://schemas.openxmlformats.org/officeDocument/2006/math">
                    <m:sSubSup>
                      <m:sSubSup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𝐵</m:t>
                        </m:r>
                      </m:sub>
                    </m:sSub>
                    <m:sSup>
                      <m:sSup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sSub>
                              <m:sSub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𝐵</m:t>
                                </m:r>
                              </m:sub>
                            </m:sSub>
                          </m:num>
                          <m:den>
                            <m:sSubSup>
                              <m:sSubSup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up>
                            </m:sSubSup>
                          </m:den>
                        </m:f>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e>
                      <m: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mn-cs"/>
                          </a:rPr>
                          <m:t>𝛾</m:t>
                        </m:r>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p>
                    </m:s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m:t>
                    </m:r>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4</m:t>
                    </m:r>
                    <m: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4</m:t>
                    </m:r>
                    <m:r>
                      <a:rPr kumimoji="0" lang="zh-CN" altLang="en-US"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zh-CN" alt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p>
                      <m:sSup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pPr>
                      <m:e>
                        <m:f>
                          <m:f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20</m:t>
                            </m:r>
                            <m:r>
                              <a:rPr kumimoji="0" lang="zh-CN" altLang="en-US"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p>
                              <m:sSup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10</m:t>
                                </m:r>
                              </m:e>
                              <m: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−3</m:t>
                                </m:r>
                              </m:sup>
                            </m:sSup>
                          </m:num>
                          <m:den>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10</m:t>
                            </m:r>
                            <m:r>
                              <a:rPr kumimoji="0" lang="zh-CN" altLang="en-US"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sSup>
                              <m:sSupPr>
                                <m:ctrlP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10</m:t>
                                </m:r>
                              </m:e>
                              <m: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−3</m:t>
                                </m:r>
                              </m:sup>
                            </m:sSup>
                          </m:den>
                        </m:f>
                        <m:r>
                          <a:rPr kumimoji="0" lang="zh-CN" altLang="en-US"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e>
                      <m:sup>
                        <m:f>
                          <m:f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2</m:t>
                            </m:r>
                          </m:num>
                          <m:den>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5</m:t>
                            </m:r>
                          </m:den>
                        </m:f>
                      </m:sup>
                    </m:sSup>
                    <m:r>
                      <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cs typeface="+mn-cs"/>
                      </a:rPr>
                      <m:t>=</m:t>
                    </m:r>
                    <m: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322</m:t>
                    </m:r>
                    <m:r>
                      <m:rPr>
                        <m:sty m:val="p"/>
                      </m:rPr>
                      <a:rPr kumimoji="0" lang="en-US" altLang="zh-CN" sz="1800" b="0"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K</m:t>
                    </m:r>
                  </m:oMath>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5" name="文本框 4">
                <a:extLst>
                  <a:ext uri="{FF2B5EF4-FFF2-40B4-BE49-F238E27FC236}">
                    <a16:creationId xmlns:a16="http://schemas.microsoft.com/office/drawing/2014/main" id="{3FB73387-917E-4093-9EE5-36DCBD0288C4}"/>
                  </a:ext>
                </a:extLst>
              </p:cNvPr>
              <p:cNvSpPr txBox="1">
                <a:spLocks noRot="1" noChangeAspect="1" noMove="1" noResize="1" noEditPoints="1" noAdjustHandles="1" noChangeArrowheads="1" noChangeShapeType="1" noTextEdit="1"/>
              </p:cNvSpPr>
              <p:nvPr/>
            </p:nvSpPr>
            <p:spPr>
              <a:xfrm>
                <a:off x="922788" y="1338044"/>
                <a:ext cx="7389715" cy="49545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B713365-3EBA-4239-B17F-B7915D53FF87}"/>
                  </a:ext>
                </a:extLst>
              </p:cNvPr>
              <p:cNvSpPr txBox="1"/>
              <p:nvPr/>
            </p:nvSpPr>
            <p:spPr>
              <a:xfrm>
                <a:off x="4613945" y="258966"/>
                <a:ext cx="3223447" cy="92519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𝑝</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num>
                        <m:den>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num>
                        <m:den>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num>
                        <m:den>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7</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den>
                      </m:f>
                    </m:oMath>
                  </m:oMathPara>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6" name="文本框 5">
                <a:extLst>
                  <a:ext uri="{FF2B5EF4-FFF2-40B4-BE49-F238E27FC236}">
                    <a16:creationId xmlns:a16="http://schemas.microsoft.com/office/drawing/2014/main" id="{0B713365-3EBA-4239-B17F-B7915D53FF87}"/>
                  </a:ext>
                </a:extLst>
              </p:cNvPr>
              <p:cNvSpPr txBox="1">
                <a:spLocks noRot="1" noChangeAspect="1" noMove="1" noResize="1" noEditPoints="1" noAdjustHandles="1" noChangeArrowheads="1" noChangeShapeType="1" noTextEdit="1"/>
              </p:cNvSpPr>
              <p:nvPr/>
            </p:nvSpPr>
            <p:spPr>
              <a:xfrm>
                <a:off x="4613945" y="258966"/>
                <a:ext cx="3223447" cy="92519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6B8C255-85DD-48A5-A517-44AFF2368B47}"/>
                  </a:ext>
                </a:extLst>
              </p:cNvPr>
              <p:cNvSpPr txBox="1"/>
              <p:nvPr/>
            </p:nvSpPr>
            <p:spPr>
              <a:xfrm>
                <a:off x="8388990" y="536895"/>
                <a:ext cx="3095537" cy="4879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（双原子分子：</a:t>
                </a: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𝑣</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𝑚</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5</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7" name="文本框 6">
                <a:extLst>
                  <a:ext uri="{FF2B5EF4-FFF2-40B4-BE49-F238E27FC236}">
                    <a16:creationId xmlns:a16="http://schemas.microsoft.com/office/drawing/2014/main" id="{96B8C255-85DD-48A5-A517-44AFF2368B47}"/>
                  </a:ext>
                </a:extLst>
              </p:cNvPr>
              <p:cNvSpPr txBox="1">
                <a:spLocks noRot="1" noChangeAspect="1" noMove="1" noResize="1" noEditPoints="1" noAdjustHandles="1" noChangeArrowheads="1" noChangeShapeType="1" noTextEdit="1"/>
              </p:cNvSpPr>
              <p:nvPr/>
            </p:nvSpPr>
            <p:spPr>
              <a:xfrm>
                <a:off x="8388990" y="536895"/>
                <a:ext cx="3095537" cy="487954"/>
              </a:xfrm>
              <a:prstGeom prst="rect">
                <a:avLst/>
              </a:prstGeom>
              <a:blipFill>
                <a:blip r:embed="rId5"/>
                <a:stretch>
                  <a:fillRect l="-1575"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F2BCEB6-F316-436C-BDCE-31B9B3195325}"/>
                  </a:ext>
                </a:extLst>
              </p:cNvPr>
              <p:cNvSpPr txBox="1"/>
              <p:nvPr/>
            </p:nvSpPr>
            <p:spPr>
              <a:xfrm>
                <a:off x="922788" y="1987389"/>
                <a:ext cx="2562433" cy="5059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由</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𝑃𝑉</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𝑣𝑅𝑇</m:t>
                    </m:r>
                    <m:r>
                      <a:rPr kumimoji="0" lang="zh-CN" altLang="en-US" sz="1800" b="0" i="1" u="none" strike="noStrike" kern="1200" cap="none" spc="0" normalizeH="0" baseline="0" noProof="0">
                        <a:ln>
                          <a:noFill/>
                        </a:ln>
                        <a:solidFill>
                          <a:prstClr val="black"/>
                        </a:solidFill>
                        <a:effectLst/>
                        <a:uLnTx/>
                        <a:uFillTx/>
                        <a:latin typeface="Cambria Math" panose="02040503050406030204" pitchFamily="18" charset="0"/>
                        <a:cs typeface="+mn-cs"/>
                      </a:rPr>
                      <m:t>得</m:t>
                    </m:r>
                  </m:oMath>
                </a14:m>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t>
                </a:r>
                <a14:m>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num>
                      <m:den>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den>
                    </m:f>
                  </m:oMath>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8" name="文本框 7">
                <a:extLst>
                  <a:ext uri="{FF2B5EF4-FFF2-40B4-BE49-F238E27FC236}">
                    <a16:creationId xmlns:a16="http://schemas.microsoft.com/office/drawing/2014/main" id="{CF2BCEB6-F316-436C-BDCE-31B9B3195325}"/>
                  </a:ext>
                </a:extLst>
              </p:cNvPr>
              <p:cNvSpPr txBox="1">
                <a:spLocks noRot="1" noChangeAspect="1" noMove="1" noResize="1" noEditPoints="1" noAdjustHandles="1" noChangeArrowheads="1" noChangeShapeType="1" noTextEdit="1"/>
              </p:cNvSpPr>
              <p:nvPr/>
            </p:nvSpPr>
            <p:spPr>
              <a:xfrm>
                <a:off x="922788" y="1987389"/>
                <a:ext cx="2562433" cy="505908"/>
              </a:xfrm>
              <a:prstGeom prst="rect">
                <a:avLst/>
              </a:prstGeom>
              <a:blipFill>
                <a:blip r:embed="rId6"/>
                <a:stretch>
                  <a:fillRect b="-48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C164EB3-CB9F-4A9B-A423-6D92DFAAEA87}"/>
                  </a:ext>
                </a:extLst>
              </p:cNvPr>
              <p:cNvSpPr txBox="1"/>
              <p:nvPr/>
            </p:nvSpPr>
            <p:spPr>
              <a:xfrm>
                <a:off x="4048853" y="1895056"/>
                <a:ext cx="1719558" cy="6905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num>
                        <m:den>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den>
                      </m:f>
                    </m:oMath>
                  </m:oMathPara>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13" name="文本框 12">
                <a:extLst>
                  <a:ext uri="{FF2B5EF4-FFF2-40B4-BE49-F238E27FC236}">
                    <a16:creationId xmlns:a16="http://schemas.microsoft.com/office/drawing/2014/main" id="{3C164EB3-CB9F-4A9B-A423-6D92DFAAEA87}"/>
                  </a:ext>
                </a:extLst>
              </p:cNvPr>
              <p:cNvSpPr txBox="1">
                <a:spLocks noRot="1" noChangeAspect="1" noMove="1" noResize="1" noEditPoints="1" noAdjustHandles="1" noChangeArrowheads="1" noChangeShapeType="1" noTextEdit="1"/>
              </p:cNvSpPr>
              <p:nvPr/>
            </p:nvSpPr>
            <p:spPr>
              <a:xfrm>
                <a:off x="4048853" y="1895056"/>
                <a:ext cx="1719558" cy="69057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C95BD3D-FD92-4413-BA69-CDEDBF0B3F2D}"/>
                  </a:ext>
                </a:extLst>
              </p:cNvPr>
              <p:cNvSpPr txBox="1"/>
              <p:nvPr/>
            </p:nvSpPr>
            <p:spPr>
              <a:xfrm>
                <a:off x="2530633" y="2739518"/>
                <a:ext cx="5540299" cy="61318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𝑃</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𝑅</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𝑅</m:t>
                          </m:r>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num>
                        <m:den>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den>
                      </m:f>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num>
                        <m:den>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𝑅</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up>
                      </m:sSubSup>
                      <m:f>
                        <m:f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fPr>
                        <m:num>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𝐴</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num>
                        <m:den>
                          <m:sSubSup>
                            <m:sSub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𝑉</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𝐵</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up>
                          </m:sSubSup>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=322∗</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30∗</m:t>
                          </m:r>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10</m:t>
                              </m:r>
                            </m:e>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p>
                          </m:sSup>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0∗</m:t>
                          </m:r>
                          <m:sSup>
                            <m:sSupPr>
                              <m:ctrlP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10</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−3</m:t>
                              </m:r>
                            </m:sup>
                          </m:sSup>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=966</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𝐾</m:t>
                      </m:r>
                    </m:oMath>
                  </m:oMathPara>
                </a14:m>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mc:Choice>
        <mc:Fallback xmlns="">
          <p:sp>
            <p:nvSpPr>
              <p:cNvPr id="14" name="文本框 13">
                <a:extLst>
                  <a:ext uri="{FF2B5EF4-FFF2-40B4-BE49-F238E27FC236}">
                    <a16:creationId xmlns:a16="http://schemas.microsoft.com/office/drawing/2014/main" id="{DC95BD3D-FD92-4413-BA69-CDEDBF0B3F2D}"/>
                  </a:ext>
                </a:extLst>
              </p:cNvPr>
              <p:cNvSpPr txBox="1">
                <a:spLocks noRot="1" noChangeAspect="1" noMove="1" noResize="1" noEditPoints="1" noAdjustHandles="1" noChangeArrowheads="1" noChangeShapeType="1" noTextEdit="1"/>
              </p:cNvSpPr>
              <p:nvPr/>
            </p:nvSpPr>
            <p:spPr>
              <a:xfrm>
                <a:off x="2530633" y="2739518"/>
                <a:ext cx="5540299" cy="613181"/>
              </a:xfrm>
              <a:prstGeom prst="rect">
                <a:avLst/>
              </a:prstGeom>
              <a:blipFill>
                <a:blip r:embed="rId8"/>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C409245E-6CBF-4459-91C6-672F65398D89}"/>
              </a:ext>
            </a:extLst>
          </p:cNvPr>
          <p:cNvSpPr txBox="1"/>
          <p:nvPr/>
        </p:nvSpPr>
        <p:spPr>
          <a:xfrm>
            <a:off x="724255" y="3598920"/>
            <a:ext cx="609742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Times New Roman" panose="02020603050405020304" pitchFamily="18" charset="0"/>
              </a:rPr>
              <a:t>(3) A中气体在整个过程中所作的功是多少?</a:t>
            </a:r>
            <a:endParaRPr kumimoji="0" lang="zh-CN" altLang="en-US" sz="1800" b="0"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3D6FBEE-171E-4344-A634-8BCB3921D7C6}"/>
                  </a:ext>
                </a:extLst>
              </p:cNvPr>
              <p:cNvSpPr txBox="1"/>
              <p:nvPr/>
            </p:nvSpPr>
            <p:spPr>
              <a:xfrm>
                <a:off x="1000139" y="4029807"/>
                <a:ext cx="10895449" cy="1051826"/>
              </a:xfrm>
              <a:prstGeom prst="rect">
                <a:avLst/>
              </a:prstGeom>
              <a:noFill/>
            </p:spPr>
            <p:txBody>
              <a:bodyPr wrap="square">
                <a:spAutoFit/>
              </a:bodyPr>
              <a:lstStyle/>
              <a:p>
                <a:pPr lvl="0">
                  <a:lnSpc>
                    <a:spcPct val="150000"/>
                  </a:lnSpc>
                  <a:defRPr/>
                </a:pP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A中气体在整个过程</a:t>
                </a:r>
                <a:r>
                  <a:rPr lang="zh-CN" altLang="en-US" dirty="0">
                    <a:solidFill>
                      <a:prstClr val="black"/>
                    </a:solidFill>
                    <a:latin typeface="楷体" panose="02010609060101010101" pitchFamily="49" charset="-122"/>
                    <a:ea typeface="楷体" panose="02010609060101010101" pitchFamily="49" charset="-122"/>
                    <a:cs typeface="Times New Roman" panose="02020603050405020304" pitchFamily="18" charset="0"/>
                  </a:rPr>
                  <a:t>中对</a:t>
                </a:r>
                <a:r>
                  <a:rPr lang="en-US" altLang="zh-CN" dirty="0">
                    <a:solidFill>
                      <a:prstClr val="black"/>
                    </a:solidFill>
                    <a:latin typeface="楷体" panose="02010609060101010101" pitchFamily="49" charset="-122"/>
                    <a:ea typeface="楷体" panose="02010609060101010101" pitchFamily="49" charset="-122"/>
                    <a:cs typeface="Times New Roman" panose="02020603050405020304" pitchFamily="18" charset="0"/>
                  </a:rPr>
                  <a:t>B</a:t>
                </a:r>
                <a:r>
                  <a:rPr lang="zh-CN" altLang="en-US" dirty="0">
                    <a:solidFill>
                      <a:prstClr val="black"/>
                    </a:solidFill>
                    <a:latin typeface="楷体" panose="02010609060101010101" pitchFamily="49" charset="-122"/>
                    <a:ea typeface="楷体" panose="02010609060101010101" pitchFamily="49" charset="-122"/>
                    <a:cs typeface="Times New Roman" panose="02020603050405020304" pitchFamily="18" charset="0"/>
                  </a:rPr>
                  <a:t>做的功</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，与</a:t>
                </a: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B</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对外界做的负功大小相等。</a:t>
                </a:r>
                <a:endPar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B</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过程为绝热压缩过程，</a:t>
                </a:r>
                <a:r>
                  <a:rPr kumimoji="0" lang="en-US" altLang="zh-CN"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Q=0</a:t>
                </a:r>
                <a:r>
                  <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14:m>
                  <m:oMath xmlns:m="http://schemas.openxmlformats.org/officeDocument/2006/math">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𝑊</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𝐴</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𝑊</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𝐵</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𝐸</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𝑣</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𝐶</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𝑣</m:t>
                        </m:r>
                      </m:sub>
                    </m:sSub>
                    <m:d>
                      <m:d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𝐵</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up>
                        </m:sSub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𝑇</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𝐵</m:t>
                            </m:r>
                          </m:sub>
                        </m:sSub>
                      </m:e>
                    </m:d>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5</m:t>
                        </m:r>
                      </m:num>
                      <m:den>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den>
                    </m:f>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∗8.31∗</m:t>
                    </m:r>
                    <m:d>
                      <m:d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322−244</m:t>
                        </m:r>
                      </m:e>
                    </m:d>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=1.62∗</m:t>
                    </m:r>
                    <m:sSup>
                      <m:sSup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10</m:t>
                        </m:r>
                      </m:e>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sup>
                    </m:s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𝐽</m:t>
                    </m:r>
                  </m:oMath>
                </a14:m>
                <a:endParaRPr kumimoji="0" lang="zh-CN" altLang="en-US" sz="18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mc:Choice>
        <mc:Fallback xmlns="">
          <p:sp>
            <p:nvSpPr>
              <p:cNvPr id="18" name="文本框 17">
                <a:extLst>
                  <a:ext uri="{FF2B5EF4-FFF2-40B4-BE49-F238E27FC236}">
                    <a16:creationId xmlns:a16="http://schemas.microsoft.com/office/drawing/2014/main" id="{A3D6FBEE-171E-4344-A634-8BCB3921D7C6}"/>
                  </a:ext>
                </a:extLst>
              </p:cNvPr>
              <p:cNvSpPr txBox="1">
                <a:spLocks noRot="1" noChangeAspect="1" noMove="1" noResize="1" noEditPoints="1" noAdjustHandles="1" noChangeArrowheads="1" noChangeShapeType="1" noTextEdit="1"/>
              </p:cNvSpPr>
              <p:nvPr/>
            </p:nvSpPr>
            <p:spPr>
              <a:xfrm>
                <a:off x="1000139" y="4029807"/>
                <a:ext cx="10895449" cy="1051826"/>
              </a:xfrm>
              <a:prstGeom prst="rect">
                <a:avLst/>
              </a:prstGeom>
              <a:blipFill>
                <a:blip r:embed="rId9"/>
                <a:stretch>
                  <a:fillRect l="-448" b="-5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5487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240" y="2966225"/>
            <a:ext cx="4192472" cy="3053885"/>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952569" y="837890"/>
                <a:ext cx="9835673" cy="4037452"/>
              </a:xfrm>
              <a:prstGeom prst="rect">
                <a:avLst/>
              </a:prstGeom>
            </p:spPr>
            <p:txBody>
              <a:bodyPr wrap="square">
                <a:spAutoFit/>
              </a:bodyPr>
              <a:lstStyle/>
              <a:p>
                <a:pPr>
                  <a:lnSpc>
                    <a:spcPct val="130000"/>
                  </a:lnSpc>
                </a:pPr>
                <a:r>
                  <a:rPr lang="en-US" altLang="zh-CN" sz="3200" dirty="0">
                    <a:latin typeface="+mn-ea"/>
                    <a:cs typeface="Times New Roman" panose="02020603050405020304" pitchFamily="18" charset="0"/>
                  </a:rPr>
                  <a:t>6.  </a:t>
                </a:r>
                <a:r>
                  <a:rPr lang="zh-CN" altLang="en-US" sz="3200" dirty="0">
                    <a:latin typeface="+mn-ea"/>
                    <a:cs typeface="Times New Roman" panose="02020603050405020304" pitchFamily="18" charset="0"/>
                  </a:rPr>
                  <a:t>工作物质为</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1</m:t>
                    </m:r>
                  </m:oMath>
                </a14:m>
                <a:r>
                  <a:rPr lang="zh-CN" altLang="en-US" sz="3200" dirty="0">
                    <a:latin typeface="+mn-ea"/>
                    <a:cs typeface="Times New Roman" panose="02020603050405020304" pitchFamily="18" charset="0"/>
                  </a:rPr>
                  <a:t>摩尔双原子分子的理想气体，作如图所示的循环过程，</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1</m:t>
                    </m:r>
                    <m:r>
                      <a:rPr lang="en-US" altLang="zh-CN" sz="3200" b="0" i="1" smtClean="0">
                        <a:latin typeface="Cambria Math" panose="02040503050406030204" pitchFamily="18" charset="0"/>
                        <a:ea typeface="Cambria Math" panose="02040503050406030204" pitchFamily="18" charset="0"/>
                        <a:cs typeface="Times New Roman" panose="02020603050405020304" pitchFamily="18" charset="0"/>
                      </a:rPr>
                      <m:t>→2</m:t>
                    </m:r>
                  </m:oMath>
                </a14:m>
                <a:r>
                  <a:rPr lang="zh-CN" altLang="en-US" sz="3200" dirty="0">
                    <a:latin typeface="+mn-ea"/>
                    <a:cs typeface="Times New Roman" panose="02020603050405020304" pitchFamily="18" charset="0"/>
                  </a:rPr>
                  <a:t>为直线过程，</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2</m:t>
                    </m:r>
                    <m:r>
                      <a:rPr lang="en-US" altLang="zh-CN" sz="3200" b="0" i="1" smtClean="0">
                        <a:latin typeface="Cambria Math" panose="02040503050406030204" pitchFamily="18" charset="0"/>
                        <a:ea typeface="Cambria Math" panose="02040503050406030204" pitchFamily="18" charset="0"/>
                        <a:cs typeface="Times New Roman" panose="02020603050405020304" pitchFamily="18" charset="0"/>
                      </a:rPr>
                      <m:t>→3</m:t>
                    </m:r>
                  </m:oMath>
                </a14:m>
                <a:r>
                  <a:rPr lang="zh-CN" altLang="en-US" sz="3200" dirty="0">
                    <a:latin typeface="+mn-ea"/>
                    <a:cs typeface="Times New Roman" panose="02020603050405020304" pitchFamily="18" charset="0"/>
                  </a:rPr>
                  <a:t>为绝热过程，</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3</m:t>
                    </m:r>
                    <m:r>
                      <a:rPr lang="en-US" altLang="zh-CN" sz="3200"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en-US" sz="3200" dirty="0">
                    <a:latin typeface="+mn-ea"/>
                    <a:cs typeface="Times New Roman" panose="02020603050405020304" pitchFamily="18" charset="0"/>
                  </a:rPr>
                  <a:t>为等温过程。状态</a:t>
                </a:r>
                <a:r>
                  <a:rPr lang="en-US" altLang="zh-CN" sz="3200" dirty="0">
                    <a:cs typeface="Times New Roman" panose="02020603050405020304" pitchFamily="18" charset="0"/>
                  </a:rPr>
                  <a:t> </a:t>
                </a:r>
                <a14:m>
                  <m:oMath xmlns:m="http://schemas.openxmlformats.org/officeDocument/2006/math">
                    <m:r>
                      <a:rPr lang="en-US" altLang="zh-CN" sz="3200" i="1">
                        <a:latin typeface="Cambria Math" panose="02040503050406030204" pitchFamily="18" charset="0"/>
                        <a:cs typeface="Times New Roman" panose="02020603050405020304" pitchFamily="18" charset="0"/>
                      </a:rPr>
                      <m:t>1</m:t>
                    </m:r>
                  </m:oMath>
                </a14:m>
                <a:r>
                  <a:rPr lang="zh-CN" altLang="en-US" sz="3200" dirty="0">
                    <a:latin typeface="+mn-ea"/>
                    <a:cs typeface="Times New Roman" panose="02020603050405020304" pitchFamily="18" charset="0"/>
                  </a:rPr>
                  <a:t>的参量为</a:t>
                </a:r>
                <a14:m>
                  <m:oMath xmlns:m="http://schemas.openxmlformats.org/officeDocument/2006/math">
                    <m:sSub>
                      <m:sSubPr>
                        <m:ctrlPr>
                          <a:rPr lang="en-US" altLang="zh-CN" sz="3200" i="1" smtClean="0">
                            <a:latin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cs typeface="Times New Roman" panose="02020603050405020304" pitchFamily="18" charset="0"/>
                          </a:rPr>
                          <m:t>𝑇</m:t>
                        </m:r>
                      </m:e>
                      <m:sub>
                        <m:r>
                          <a:rPr lang="en-US" altLang="zh-CN" sz="3200" b="0" i="1" smtClean="0">
                            <a:latin typeface="Cambria Math" panose="02040503050406030204" pitchFamily="18" charset="0"/>
                            <a:cs typeface="Times New Roman" panose="02020603050405020304" pitchFamily="18" charset="0"/>
                          </a:rPr>
                          <m:t>1</m:t>
                        </m:r>
                      </m:sub>
                    </m:sSub>
                  </m:oMath>
                </a14:m>
                <a:r>
                  <a:rPr lang="zh-CN" altLang="en-US" sz="3200" dirty="0">
                    <a:latin typeface="+mn-ea"/>
                    <a:cs typeface="Times New Roman" panose="02020603050405020304" pitchFamily="18" charset="0"/>
                  </a:rPr>
                  <a:t>和</a:t>
                </a:r>
                <a14:m>
                  <m:oMath xmlns:m="http://schemas.openxmlformats.org/officeDocument/2006/math">
                    <m:sSub>
                      <m:sSubPr>
                        <m:ctrlPr>
                          <a:rPr lang="en-US" altLang="zh-CN" sz="3200" i="1" dirty="0" smtClean="0">
                            <a:latin typeface="Cambria Math" panose="02040503050406030204" pitchFamily="18" charset="0"/>
                            <a:cs typeface="Times New Roman" panose="02020603050405020304" pitchFamily="18" charset="0"/>
                          </a:rPr>
                        </m:ctrlPr>
                      </m:sSubPr>
                      <m:e>
                        <m:r>
                          <a:rPr lang="en-US" altLang="zh-CN" sz="3200" b="0" i="1" dirty="0" smtClean="0">
                            <a:latin typeface="Cambria Math" panose="02040503050406030204" pitchFamily="18" charset="0"/>
                            <a:cs typeface="Times New Roman" panose="02020603050405020304" pitchFamily="18" charset="0"/>
                          </a:rPr>
                          <m:t>𝑉</m:t>
                        </m:r>
                      </m:e>
                      <m:sub>
                        <m:r>
                          <a:rPr lang="en-US" altLang="zh-CN" sz="3200" b="0" i="1" dirty="0" smtClean="0">
                            <a:latin typeface="Cambria Math" panose="02040503050406030204" pitchFamily="18" charset="0"/>
                            <a:cs typeface="Times New Roman" panose="02020603050405020304" pitchFamily="18" charset="0"/>
                          </a:rPr>
                          <m:t>1</m:t>
                        </m:r>
                      </m:sub>
                    </m:sSub>
                  </m:oMath>
                </a14:m>
                <a:r>
                  <a:rPr lang="zh-CN" altLang="en-US" sz="3200" dirty="0">
                    <a:latin typeface="+mn-ea"/>
                    <a:cs typeface="Times New Roman" panose="02020603050405020304" pitchFamily="18" charset="0"/>
                  </a:rPr>
                  <a:t>，状态</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2</m:t>
                    </m:r>
                  </m:oMath>
                </a14:m>
                <a:r>
                  <a:rPr lang="zh-CN" altLang="en-US" sz="3200" dirty="0">
                    <a:latin typeface="+mn-ea"/>
                    <a:cs typeface="Times New Roman" panose="02020603050405020304" pitchFamily="18" charset="0"/>
                  </a:rPr>
                  <a:t>的温度为</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2</m:t>
                    </m:r>
                    <m:sSub>
                      <m:sSubPr>
                        <m:ctrlPr>
                          <a:rPr lang="en-US" altLang="zh-CN" sz="3200" b="0" i="1" smtClean="0">
                            <a:latin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cs typeface="Times New Roman" panose="02020603050405020304" pitchFamily="18" charset="0"/>
                          </a:rPr>
                          <m:t>𝑇</m:t>
                        </m:r>
                      </m:e>
                      <m:sub>
                        <m:r>
                          <a:rPr lang="en-US" altLang="zh-CN" sz="3200" b="0" i="1" smtClean="0">
                            <a:latin typeface="Cambria Math" panose="02040503050406030204" pitchFamily="18" charset="0"/>
                            <a:cs typeface="Times New Roman" panose="02020603050405020304" pitchFamily="18" charset="0"/>
                          </a:rPr>
                          <m:t>1</m:t>
                        </m:r>
                      </m:sub>
                    </m:sSub>
                  </m:oMath>
                </a14:m>
                <a:r>
                  <a:rPr lang="zh-CN" altLang="en-US" sz="3200" dirty="0">
                    <a:latin typeface="+mn-ea"/>
                    <a:cs typeface="Times New Roman" panose="02020603050405020304" pitchFamily="18" charset="0"/>
                  </a:rPr>
                  <a:t>，计算:</a:t>
                </a:r>
                <a:endParaRPr lang="en-US" altLang="zh-CN" sz="3200" dirty="0">
                  <a:latin typeface="+mn-ea"/>
                  <a:cs typeface="Times New Roman" panose="02020603050405020304" pitchFamily="18" charset="0"/>
                </a:endParaRPr>
              </a:p>
              <a:p>
                <a:pPr>
                  <a:lnSpc>
                    <a:spcPct val="130000"/>
                  </a:lnSpc>
                </a:pPr>
                <a:r>
                  <a:rPr lang="zh-CN" altLang="en-US" sz="3200" dirty="0">
                    <a:latin typeface="+mn-ea"/>
                    <a:cs typeface="Times New Roman" panose="02020603050405020304" pitchFamily="18" charset="0"/>
                  </a:rPr>
                  <a:t>(1) 三个过程中的功，热量和内能的增量。</a:t>
                </a:r>
                <a:endParaRPr lang="en-US" altLang="zh-CN" sz="3200" dirty="0">
                  <a:latin typeface="+mn-ea"/>
                  <a:cs typeface="Times New Roman" panose="02020603050405020304" pitchFamily="18" charset="0"/>
                </a:endParaRPr>
              </a:p>
              <a:p>
                <a:pPr>
                  <a:lnSpc>
                    <a:spcPct val="130000"/>
                  </a:lnSpc>
                </a:pPr>
                <a:r>
                  <a:rPr lang="zh-CN" altLang="en-US" sz="3200" dirty="0">
                    <a:latin typeface="+mn-ea"/>
                    <a:cs typeface="Times New Roman" panose="02020603050405020304" pitchFamily="18" charset="0"/>
                  </a:rPr>
                  <a:t>(2) 此循环的效率。</a:t>
                </a:r>
              </a:p>
            </p:txBody>
          </p:sp>
        </mc:Choice>
        <mc:Fallback xmlns="">
          <p:sp>
            <p:nvSpPr>
              <p:cNvPr id="2" name="矩形 1"/>
              <p:cNvSpPr>
                <a:spLocks noRot="1" noChangeAspect="1" noMove="1" noResize="1" noEditPoints="1" noAdjustHandles="1" noChangeArrowheads="1" noChangeShapeType="1" noTextEdit="1"/>
              </p:cNvSpPr>
              <p:nvPr/>
            </p:nvSpPr>
            <p:spPr>
              <a:xfrm>
                <a:off x="952569" y="837890"/>
                <a:ext cx="9835673" cy="4037452"/>
              </a:xfrm>
              <a:prstGeom prst="rect">
                <a:avLst/>
              </a:prstGeom>
              <a:blipFill>
                <a:blip r:embed="rId3"/>
                <a:stretch>
                  <a:fillRect l="-1549" b="-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31221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EDB1F-8D54-4B83-EBC0-240759AD4D8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6406AA3-F3FF-0C25-174D-CAF041C079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7922" y="375115"/>
            <a:ext cx="4192472" cy="305388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E1FF4D3-8096-1226-E3CC-6E7AF9277C3F}"/>
                  </a:ext>
                </a:extLst>
              </p:cNvPr>
              <p:cNvSpPr txBox="1"/>
              <p:nvPr/>
            </p:nvSpPr>
            <p:spPr>
              <a:xfrm>
                <a:off x="3225255" y="1126010"/>
                <a:ext cx="1308970" cy="527580"/>
              </a:xfrm>
              <a:prstGeom prst="rect">
                <a:avLst/>
              </a:prstGeom>
              <a:noFill/>
            </p:spPr>
            <p:txBody>
              <a:bodyPr wrap="square" lIns="0" tIns="0" rIns="0" bIns="0" rtlCol="0">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𝑣</m:t>
                        </m:r>
                      </m:sub>
                    </m:sSub>
                  </m:oMath>
                </a14:m>
                <a:r>
                  <a:rPr lang="en-US" altLang="zh-CN" sz="2400" dirty="0"/>
                  <a:t>=</a:t>
                </a:r>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5</m:t>
                        </m:r>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𝑅</m:t>
                    </m:r>
                  </m:oMath>
                </a14:m>
                <a:endParaRPr lang="zh-CN" altLang="en-US" sz="2400" dirty="0"/>
              </a:p>
            </p:txBody>
          </p:sp>
        </mc:Choice>
        <mc:Fallback xmlns="">
          <p:sp>
            <p:nvSpPr>
              <p:cNvPr id="5" name="文本框 4">
                <a:extLst>
                  <a:ext uri="{FF2B5EF4-FFF2-40B4-BE49-F238E27FC236}">
                    <a16:creationId xmlns:a16="http://schemas.microsoft.com/office/drawing/2014/main" id="{1E1FF4D3-8096-1226-E3CC-6E7AF9277C3F}"/>
                  </a:ext>
                </a:extLst>
              </p:cNvPr>
              <p:cNvSpPr txBox="1">
                <a:spLocks noRot="1" noChangeAspect="1" noMove="1" noResize="1" noEditPoints="1" noAdjustHandles="1" noChangeArrowheads="1" noChangeShapeType="1" noTextEdit="1"/>
              </p:cNvSpPr>
              <p:nvPr/>
            </p:nvSpPr>
            <p:spPr>
              <a:xfrm>
                <a:off x="3225255" y="1126010"/>
                <a:ext cx="1308970" cy="527580"/>
              </a:xfrm>
              <a:prstGeom prst="rect">
                <a:avLst/>
              </a:prstGeom>
              <a:blipFill>
                <a:blip r:embed="rId3"/>
                <a:stretch>
                  <a:fillRect t="-1163" b="-220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DBA4A2B-9970-053B-F0DA-3707625E3B3C}"/>
                  </a:ext>
                </a:extLst>
              </p:cNvPr>
              <p:cNvSpPr txBox="1"/>
              <p:nvPr/>
            </p:nvSpPr>
            <p:spPr>
              <a:xfrm>
                <a:off x="4534225" y="1118298"/>
                <a:ext cx="1308969" cy="520207"/>
              </a:xfrm>
              <a:prstGeom prst="rect">
                <a:avLst/>
              </a:prstGeom>
              <a:noFill/>
            </p:spPr>
            <p:txBody>
              <a:bodyPr wrap="square" lIns="0" tIns="0" rIns="0" bIns="0" rtlCol="0">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𝑝</m:t>
                        </m:r>
                      </m:sub>
                    </m:sSub>
                  </m:oMath>
                </a14:m>
                <a:r>
                  <a:rPr lang="en-US" altLang="zh-CN" sz="2400" dirty="0"/>
                  <a:t>=</a:t>
                </a:r>
                <a14:m>
                  <m:oMath xmlns:m="http://schemas.openxmlformats.org/officeDocument/2006/math">
                    <m:f>
                      <m:fPr>
                        <m:ctrlPr>
                          <a:rPr lang="en-US" altLang="zh-CN" sz="2400" i="1" smtClean="0">
                            <a:latin typeface="Cambria Math" panose="02040503050406030204" pitchFamily="18" charset="0"/>
                          </a:rPr>
                        </m:ctrlPr>
                      </m:fPr>
                      <m:num>
                        <m:r>
                          <a:rPr lang="en-US" altLang="zh-CN" sz="2400" b="0" i="1" smtClean="0">
                            <a:latin typeface="Cambria Math" panose="02040503050406030204" pitchFamily="18" charset="0"/>
                          </a:rPr>
                          <m:t>7</m:t>
                        </m:r>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𝑅</m:t>
                    </m:r>
                  </m:oMath>
                </a14:m>
                <a:endParaRPr lang="zh-CN" altLang="en-US" sz="2400" dirty="0"/>
              </a:p>
            </p:txBody>
          </p:sp>
        </mc:Choice>
        <mc:Fallback xmlns="">
          <p:sp>
            <p:nvSpPr>
              <p:cNvPr id="6" name="文本框 5">
                <a:extLst>
                  <a:ext uri="{FF2B5EF4-FFF2-40B4-BE49-F238E27FC236}">
                    <a16:creationId xmlns:a16="http://schemas.microsoft.com/office/drawing/2014/main" id="{5DBA4A2B-9970-053B-F0DA-3707625E3B3C}"/>
                  </a:ext>
                </a:extLst>
              </p:cNvPr>
              <p:cNvSpPr txBox="1">
                <a:spLocks noRot="1" noChangeAspect="1" noMove="1" noResize="1" noEditPoints="1" noAdjustHandles="1" noChangeArrowheads="1" noChangeShapeType="1" noTextEdit="1"/>
              </p:cNvSpPr>
              <p:nvPr/>
            </p:nvSpPr>
            <p:spPr>
              <a:xfrm>
                <a:off x="4534225" y="1118298"/>
                <a:ext cx="1308969" cy="520207"/>
              </a:xfrm>
              <a:prstGeom prst="rect">
                <a:avLst/>
              </a:prstGeom>
              <a:blipFill>
                <a:blip r:embed="rId4"/>
                <a:stretch>
                  <a:fillRect t="-2326" b="-209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5397A41-1537-04CC-5173-523B1F821C84}"/>
                  </a:ext>
                </a:extLst>
              </p:cNvPr>
              <p:cNvSpPr txBox="1"/>
              <p:nvPr/>
            </p:nvSpPr>
            <p:spPr>
              <a:xfrm>
                <a:off x="5843194" y="1005128"/>
                <a:ext cx="825226" cy="6914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7</m:t>
                          </m:r>
                        </m:num>
                        <m:den>
                          <m:r>
                            <a:rPr lang="en-US" altLang="zh-CN" sz="2400" b="0" i="1" smtClean="0">
                              <a:latin typeface="Cambria Math" panose="02040503050406030204" pitchFamily="18" charset="0"/>
                            </a:rPr>
                            <m:t>5</m:t>
                          </m:r>
                        </m:den>
                      </m:f>
                    </m:oMath>
                  </m:oMathPara>
                </a14:m>
                <a:endParaRPr lang="zh-CN" altLang="en-US" sz="2400" dirty="0"/>
              </a:p>
            </p:txBody>
          </p:sp>
        </mc:Choice>
        <mc:Fallback xmlns="">
          <p:sp>
            <p:nvSpPr>
              <p:cNvPr id="7" name="文本框 6">
                <a:extLst>
                  <a:ext uri="{FF2B5EF4-FFF2-40B4-BE49-F238E27FC236}">
                    <a16:creationId xmlns:a16="http://schemas.microsoft.com/office/drawing/2014/main" id="{D5397A41-1537-04CC-5173-523B1F821C84}"/>
                  </a:ext>
                </a:extLst>
              </p:cNvPr>
              <p:cNvSpPr txBox="1">
                <a:spLocks noRot="1" noChangeAspect="1" noMove="1" noResize="1" noEditPoints="1" noAdjustHandles="1" noChangeArrowheads="1" noChangeShapeType="1" noTextEdit="1"/>
              </p:cNvSpPr>
              <p:nvPr/>
            </p:nvSpPr>
            <p:spPr>
              <a:xfrm>
                <a:off x="5843194" y="1005128"/>
                <a:ext cx="825226" cy="691408"/>
              </a:xfrm>
              <a:prstGeom prst="rect">
                <a:avLst/>
              </a:prstGeom>
              <a:blipFill>
                <a:blip r:embed="rId5"/>
                <a:stretch>
                  <a:fillRect/>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BECFD4B9-F459-EB59-5F82-C6AEB843BF9D}"/>
              </a:ext>
            </a:extLst>
          </p:cNvPr>
          <p:cNvSpPr txBox="1"/>
          <p:nvPr/>
        </p:nvSpPr>
        <p:spPr>
          <a:xfrm>
            <a:off x="610681" y="1147570"/>
            <a:ext cx="2805832" cy="461665"/>
          </a:xfrm>
          <a:prstGeom prst="rect">
            <a:avLst/>
          </a:prstGeom>
          <a:noFill/>
        </p:spPr>
        <p:txBody>
          <a:bodyPr wrap="square" rtlCol="0">
            <a:spAutoFit/>
          </a:bodyPr>
          <a:lstStyle/>
          <a:p>
            <a:r>
              <a:rPr lang="zh-CN" altLang="en-US" sz="2400" dirty="0"/>
              <a:t>对于双原子分子</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973EEAB-64E6-F408-5A7E-5747639FBFED}"/>
                  </a:ext>
                </a:extLst>
              </p:cNvPr>
              <p:cNvSpPr txBox="1"/>
              <p:nvPr/>
            </p:nvSpPr>
            <p:spPr>
              <a:xfrm>
                <a:off x="621605" y="1847682"/>
                <a:ext cx="4094443" cy="461665"/>
              </a:xfrm>
              <a:prstGeom prst="rect">
                <a:avLst/>
              </a:prstGeom>
              <a:noFill/>
            </p:spPr>
            <p:txBody>
              <a:bodyPr wrap="square">
                <a:spAutoFit/>
              </a:bodyPr>
              <a:lstStyle/>
              <a:p>
                <a14:m>
                  <m:oMath xmlns:m="http://schemas.openxmlformats.org/officeDocument/2006/math">
                    <m:r>
                      <a:rPr lang="zh-CN" altLang="en-US" sz="2400" i="1">
                        <a:latin typeface="Cambria Math" panose="02040503050406030204" pitchFamily="18" charset="0"/>
                        <a:cs typeface="Times New Roman" panose="02020603050405020304" pitchFamily="18" charset="0"/>
                      </a:rPr>
                      <m:t>对于</m:t>
                    </m:r>
                    <m:r>
                      <a:rPr lang="en-US" altLang="zh-CN" sz="2400" b="0" i="1" smtClean="0">
                        <a:latin typeface="Cambria Math" panose="02040503050406030204" pitchFamily="18" charset="0"/>
                        <a:cs typeface="Times New Roman" panose="02020603050405020304" pitchFamily="18" charset="0"/>
                      </a:rPr>
                      <m:t>1</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→2</m:t>
                    </m:r>
                    <m:r>
                      <a:rPr lang="zh-CN" altLang="en-US" sz="2400" i="1">
                        <a:latin typeface="Cambria Math" panose="02040503050406030204" pitchFamily="18" charset="0"/>
                        <a:ea typeface="Cambria Math" panose="02040503050406030204" pitchFamily="18" charset="0"/>
                        <a:cs typeface="Times New Roman" panose="02020603050405020304" pitchFamily="18" charset="0"/>
                      </a:rPr>
                      <m:t>的</m:t>
                    </m:r>
                  </m:oMath>
                </a14:m>
                <a:r>
                  <a:rPr lang="zh-CN" altLang="en-US" sz="2400" dirty="0">
                    <a:latin typeface="+mn-ea"/>
                    <a:cs typeface="Times New Roman" panose="02020603050405020304" pitchFamily="18" charset="0"/>
                  </a:rPr>
                  <a:t>直线过程，有</a:t>
                </a:r>
                <a:endParaRPr lang="zh-CN" altLang="en-US" sz="2400" dirty="0"/>
              </a:p>
            </p:txBody>
          </p:sp>
        </mc:Choice>
        <mc:Fallback xmlns="">
          <p:sp>
            <p:nvSpPr>
              <p:cNvPr id="10" name="文本框 9">
                <a:extLst>
                  <a:ext uri="{FF2B5EF4-FFF2-40B4-BE49-F238E27FC236}">
                    <a16:creationId xmlns:a16="http://schemas.microsoft.com/office/drawing/2014/main" id="{6973EEAB-64E6-F408-5A7E-5747639FBFED}"/>
                  </a:ext>
                </a:extLst>
              </p:cNvPr>
              <p:cNvSpPr txBox="1">
                <a:spLocks noRot="1" noChangeAspect="1" noMove="1" noResize="1" noEditPoints="1" noAdjustHandles="1" noChangeArrowheads="1" noChangeShapeType="1" noTextEdit="1"/>
              </p:cNvSpPr>
              <p:nvPr/>
            </p:nvSpPr>
            <p:spPr>
              <a:xfrm>
                <a:off x="621605" y="1847682"/>
                <a:ext cx="4094443" cy="461665"/>
              </a:xfrm>
              <a:prstGeom prst="rect">
                <a:avLst/>
              </a:prstGeom>
              <a:blipFill>
                <a:blip r:embed="rId6"/>
                <a:stretch>
                  <a:fillRect l="-1190" t="-9211" b="-30263"/>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88DA5979-0A12-166D-9C9F-F5AF8397C475}"/>
              </a:ext>
            </a:extLst>
          </p:cNvPr>
          <p:cNvSpPr txBox="1"/>
          <p:nvPr/>
        </p:nvSpPr>
        <p:spPr>
          <a:xfrm>
            <a:off x="513514" y="455168"/>
            <a:ext cx="6097044" cy="461665"/>
          </a:xfrm>
          <a:prstGeom prst="rect">
            <a:avLst/>
          </a:prstGeom>
          <a:noFill/>
        </p:spPr>
        <p:txBody>
          <a:bodyPr wrap="square">
            <a:spAutoFit/>
          </a:bodyPr>
          <a:lstStyle/>
          <a:p>
            <a:r>
              <a:rPr lang="zh-CN" altLang="en-US" sz="2400" dirty="0">
                <a:latin typeface="+mn-ea"/>
                <a:cs typeface="Times New Roman" panose="02020603050405020304" pitchFamily="18" charset="0"/>
              </a:rPr>
              <a:t>(1)求三个过程中的功，热量和内能的增量。</a:t>
            </a:r>
            <a:endParaRPr lang="zh-CN" altLang="en-US" sz="24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B032901-A1AA-66B0-DE85-7F4E4489C717}"/>
                  </a:ext>
                </a:extLst>
              </p:cNvPr>
              <p:cNvSpPr txBox="1"/>
              <p:nvPr/>
            </p:nvSpPr>
            <p:spPr>
              <a:xfrm>
                <a:off x="717115" y="2547794"/>
                <a:ext cx="1078565" cy="751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400" i="1" smtClean="0">
                              <a:latin typeface="Cambria Math" panose="02040503050406030204" pitchFamily="18" charset="0"/>
                            </a:rPr>
                          </m:ctrlPr>
                        </m:fPr>
                        <m:num>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sub>
                          </m:sSub>
                        </m:num>
                        <m:den>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2</m:t>
                              </m:r>
                            </m:sub>
                          </m:sSub>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2</m:t>
                              </m:r>
                            </m:sub>
                          </m:sSub>
                        </m:den>
                      </m:f>
                    </m:oMath>
                  </m:oMathPara>
                </a14:m>
                <a:endParaRPr lang="zh-CN" altLang="en-US" sz="2400" dirty="0"/>
              </a:p>
            </p:txBody>
          </p:sp>
        </mc:Choice>
        <mc:Fallback xmlns="">
          <p:sp>
            <p:nvSpPr>
              <p:cNvPr id="16" name="文本框 15">
                <a:extLst>
                  <a:ext uri="{FF2B5EF4-FFF2-40B4-BE49-F238E27FC236}">
                    <a16:creationId xmlns:a16="http://schemas.microsoft.com/office/drawing/2014/main" id="{EB032901-A1AA-66B0-DE85-7F4E4489C717}"/>
                  </a:ext>
                </a:extLst>
              </p:cNvPr>
              <p:cNvSpPr txBox="1">
                <a:spLocks noRot="1" noChangeAspect="1" noMove="1" noResize="1" noEditPoints="1" noAdjustHandles="1" noChangeArrowheads="1" noChangeShapeType="1" noTextEdit="1"/>
              </p:cNvSpPr>
              <p:nvPr/>
            </p:nvSpPr>
            <p:spPr>
              <a:xfrm>
                <a:off x="717115" y="2547794"/>
                <a:ext cx="1078565" cy="75187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028BEA4-DC25-C985-5E33-B5FAF39EC2A3}"/>
                  </a:ext>
                </a:extLst>
              </p:cNvPr>
              <p:cNvSpPr txBox="1"/>
              <p:nvPr/>
            </p:nvSpPr>
            <p:spPr>
              <a:xfrm>
                <a:off x="2256145" y="2547794"/>
                <a:ext cx="1762855" cy="757836"/>
              </a:xfrm>
              <a:prstGeom prst="rect">
                <a:avLst/>
              </a:prstGeom>
              <a:noFill/>
            </p:spPr>
            <p:txBody>
              <a:bodyPr wrap="none" lIns="0" tIns="0" rIns="0" bIns="0" rtlCol="0">
                <a:spAutoFit/>
              </a:bodyPr>
              <a:lstStyle/>
              <a:p>
                <a:pPr algn="ctr"/>
                <a14:m>
                  <m:oMath xmlns:m="http://schemas.openxmlformats.org/officeDocument/2006/math">
                    <m:f>
                      <m:fPr>
                        <m:ctrlPr>
                          <a:rPr lang="en-US" altLang="zh-CN" sz="3200" i="1" smtClean="0">
                            <a:latin typeface="Cambria Math" panose="02040503050406030204" pitchFamily="18" charset="0"/>
                            <a:ea typeface="Cambria Math" panose="02040503050406030204" pitchFamily="18" charset="0"/>
                          </a:rPr>
                        </m:ctrlPr>
                      </m:fPr>
                      <m:num>
                        <m:sSub>
                          <m:sSubPr>
                            <m:ctrlPr>
                              <a:rPr lang="en-US" altLang="zh-CN" sz="320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𝑃</m:t>
                            </m:r>
                          </m:e>
                          <m:sub>
                            <m:r>
                              <a:rPr lang="en-US" altLang="zh-CN" sz="3200" b="0" i="1" smtClean="0">
                                <a:latin typeface="Cambria Math" panose="02040503050406030204" pitchFamily="18" charset="0"/>
                                <a:ea typeface="Cambria Math" panose="02040503050406030204" pitchFamily="18" charset="0"/>
                              </a:rPr>
                              <m:t>1</m:t>
                            </m:r>
                          </m:sub>
                        </m:sSub>
                        <m:sSub>
                          <m:sSubPr>
                            <m:ctrlPr>
                              <a:rPr lang="en-US" altLang="zh-CN" sz="320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𝑉</m:t>
                            </m:r>
                          </m:e>
                          <m:sub>
                            <m:r>
                              <a:rPr lang="en-US" altLang="zh-CN" sz="3200" b="0" i="1" smtClean="0">
                                <a:latin typeface="Cambria Math" panose="02040503050406030204" pitchFamily="18" charset="0"/>
                                <a:ea typeface="Cambria Math" panose="02040503050406030204" pitchFamily="18" charset="0"/>
                              </a:rPr>
                              <m:t>1</m:t>
                            </m:r>
                          </m:sub>
                        </m:sSub>
                      </m:num>
                      <m:den>
                        <m:sSub>
                          <m:sSubPr>
                            <m:ctrlPr>
                              <a:rPr lang="en-US" altLang="zh-CN" sz="3200" i="1" smtClean="0">
                                <a:latin typeface="Cambria Math" panose="02040503050406030204" pitchFamily="18" charset="0"/>
                                <a:ea typeface="Cambria Math" panose="02040503050406030204" pitchFamily="18" charset="0"/>
                              </a:rPr>
                            </m:ctrlPr>
                          </m:sSubPr>
                          <m:e>
                            <m:r>
                              <a:rPr lang="en-US" altLang="zh-CN" sz="3200" b="0" i="1" smtClean="0">
                                <a:latin typeface="Cambria Math" panose="02040503050406030204" pitchFamily="18" charset="0"/>
                                <a:ea typeface="Cambria Math" panose="02040503050406030204" pitchFamily="18" charset="0"/>
                              </a:rPr>
                              <m:t>𝑇</m:t>
                            </m:r>
                          </m:e>
                          <m:sub>
                            <m:r>
                              <a:rPr lang="en-US" altLang="zh-CN" sz="3200" b="0" i="1" smtClean="0">
                                <a:latin typeface="Cambria Math" panose="02040503050406030204" pitchFamily="18" charset="0"/>
                                <a:ea typeface="Cambria Math" panose="02040503050406030204" pitchFamily="18" charset="0"/>
                              </a:rPr>
                              <m:t>1</m:t>
                            </m:r>
                          </m:sub>
                        </m:sSub>
                      </m:den>
                    </m:f>
                    <m:r>
                      <a:rPr lang="en-US" altLang="zh-CN" sz="3200" b="0" i="1" smtClean="0">
                        <a:latin typeface="Cambria Math" panose="02040503050406030204" pitchFamily="18" charset="0"/>
                        <a:ea typeface="Cambria Math" panose="02040503050406030204" pitchFamily="18" charset="0"/>
                      </a:rPr>
                      <m:t>=</m:t>
                    </m:r>
                  </m:oMath>
                </a14:m>
                <a:r>
                  <a:rPr lang="en-US" altLang="zh-CN" sz="3200" i="1" dirty="0">
                    <a:latin typeface="Cambria Math" panose="02040503050406030204" pitchFamily="18" charset="0"/>
                    <a:ea typeface="Cambria Math" panose="02040503050406030204" pitchFamily="18" charset="0"/>
                  </a:rPr>
                  <a:t> </a:t>
                </a:r>
                <a14:m>
                  <m:oMath xmlns:m="http://schemas.openxmlformats.org/officeDocument/2006/math">
                    <m:f>
                      <m:fPr>
                        <m:ctrlPr>
                          <a:rPr lang="en-US" altLang="zh-CN" sz="3200" i="1">
                            <a:latin typeface="Cambria Math" panose="02040503050406030204" pitchFamily="18" charset="0"/>
                            <a:ea typeface="Cambria Math" panose="02040503050406030204" pitchFamily="18" charset="0"/>
                          </a:rPr>
                        </m:ctrlPr>
                      </m:fPr>
                      <m:num>
                        <m:sSub>
                          <m:sSubPr>
                            <m:ctrlPr>
                              <a:rPr lang="en-US" altLang="zh-CN" sz="3200" i="1">
                                <a:latin typeface="Cambria Math" panose="02040503050406030204" pitchFamily="18" charset="0"/>
                                <a:ea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𝑃</m:t>
                            </m:r>
                          </m:e>
                          <m:sub>
                            <m:r>
                              <a:rPr lang="en-US" altLang="zh-CN" sz="3200" b="0" i="1" smtClean="0">
                                <a:latin typeface="Cambria Math" panose="02040503050406030204" pitchFamily="18" charset="0"/>
                                <a:ea typeface="Cambria Math" panose="02040503050406030204" pitchFamily="18" charset="0"/>
                              </a:rPr>
                              <m:t>2</m:t>
                            </m:r>
                          </m:sub>
                        </m:sSub>
                        <m:sSub>
                          <m:sSubPr>
                            <m:ctrlPr>
                              <a:rPr lang="en-US" altLang="zh-CN" sz="3200" i="1">
                                <a:latin typeface="Cambria Math" panose="02040503050406030204" pitchFamily="18" charset="0"/>
                                <a:ea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𝑉</m:t>
                            </m:r>
                          </m:e>
                          <m:sub>
                            <m:r>
                              <a:rPr lang="en-US" altLang="zh-CN" sz="3200" b="0" i="1" smtClean="0">
                                <a:latin typeface="Cambria Math" panose="02040503050406030204" pitchFamily="18" charset="0"/>
                                <a:ea typeface="Cambria Math" panose="02040503050406030204" pitchFamily="18" charset="0"/>
                              </a:rPr>
                              <m:t>2</m:t>
                            </m:r>
                          </m:sub>
                        </m:sSub>
                      </m:num>
                      <m:den>
                        <m:sSub>
                          <m:sSubPr>
                            <m:ctrlPr>
                              <a:rPr lang="en-US" altLang="zh-CN" sz="3200" i="1">
                                <a:latin typeface="Cambria Math" panose="02040503050406030204" pitchFamily="18" charset="0"/>
                                <a:ea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𝑇</m:t>
                            </m:r>
                          </m:e>
                          <m:sub>
                            <m:r>
                              <a:rPr lang="en-US" altLang="zh-CN" sz="3200" b="0" i="1" smtClean="0">
                                <a:latin typeface="Cambria Math" panose="02040503050406030204" pitchFamily="18" charset="0"/>
                                <a:ea typeface="Cambria Math" panose="02040503050406030204" pitchFamily="18" charset="0"/>
                              </a:rPr>
                              <m:t>2</m:t>
                            </m:r>
                          </m:sub>
                        </m:sSub>
                      </m:den>
                    </m:f>
                  </m:oMath>
                </a14:m>
                <a:endParaRPr lang="zh-CN" altLang="en-US" sz="3200" i="1" dirty="0">
                  <a:latin typeface="Cambria Math" panose="02040503050406030204" pitchFamily="18" charset="0"/>
                </a:endParaRPr>
              </a:p>
            </p:txBody>
          </p:sp>
        </mc:Choice>
        <mc:Fallback xmlns="">
          <p:sp>
            <p:nvSpPr>
              <p:cNvPr id="17" name="文本框 16">
                <a:extLst>
                  <a:ext uri="{FF2B5EF4-FFF2-40B4-BE49-F238E27FC236}">
                    <a16:creationId xmlns:a16="http://schemas.microsoft.com/office/drawing/2014/main" id="{2028BEA4-DC25-C985-5E33-B5FAF39EC2A3}"/>
                  </a:ext>
                </a:extLst>
              </p:cNvPr>
              <p:cNvSpPr txBox="1">
                <a:spLocks noRot="1" noChangeAspect="1" noMove="1" noResize="1" noEditPoints="1" noAdjustHandles="1" noChangeArrowheads="1" noChangeShapeType="1" noTextEdit="1"/>
              </p:cNvSpPr>
              <p:nvPr/>
            </p:nvSpPr>
            <p:spPr>
              <a:xfrm>
                <a:off x="2256145" y="2547794"/>
                <a:ext cx="1762855" cy="757836"/>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A0838F3-7F09-545E-87F2-C6795612EE2B}"/>
                  </a:ext>
                </a:extLst>
              </p:cNvPr>
              <p:cNvSpPr txBox="1"/>
              <p:nvPr/>
            </p:nvSpPr>
            <p:spPr>
              <a:xfrm>
                <a:off x="4479465" y="2739064"/>
                <a:ext cx="12324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8" name="文本框 17">
                <a:extLst>
                  <a:ext uri="{FF2B5EF4-FFF2-40B4-BE49-F238E27FC236}">
                    <a16:creationId xmlns:a16="http://schemas.microsoft.com/office/drawing/2014/main" id="{DA0838F3-7F09-545E-87F2-C6795612EE2B}"/>
                  </a:ext>
                </a:extLst>
              </p:cNvPr>
              <p:cNvSpPr txBox="1">
                <a:spLocks noRot="1" noChangeAspect="1" noMove="1" noResize="1" noEditPoints="1" noAdjustHandles="1" noChangeArrowheads="1" noChangeShapeType="1" noTextEdit="1"/>
              </p:cNvSpPr>
              <p:nvPr/>
            </p:nvSpPr>
            <p:spPr>
              <a:xfrm>
                <a:off x="4479465" y="2739064"/>
                <a:ext cx="1232453" cy="369332"/>
              </a:xfrm>
              <a:prstGeom prst="rect">
                <a:avLst/>
              </a:prstGeom>
              <a:blipFill>
                <a:blip r:embed="rId9"/>
                <a:stretch>
                  <a:fillRect l="-4950" r="-1485" b="-13115"/>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5147E982-CFBC-9BEB-FA0F-7489EBE18379}"/>
              </a:ext>
            </a:extLst>
          </p:cNvPr>
          <p:cNvSpPr txBox="1"/>
          <p:nvPr/>
        </p:nvSpPr>
        <p:spPr>
          <a:xfrm>
            <a:off x="621605" y="3538113"/>
            <a:ext cx="900307" cy="461665"/>
          </a:xfrm>
          <a:prstGeom prst="rect">
            <a:avLst/>
          </a:prstGeom>
          <a:noFill/>
        </p:spPr>
        <p:txBody>
          <a:bodyPr wrap="square" rtlCol="0">
            <a:spAutoFit/>
          </a:bodyPr>
          <a:lstStyle/>
          <a:p>
            <a:r>
              <a:rPr lang="zh-CN" altLang="en-US" sz="2400" dirty="0"/>
              <a:t>因此</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77F3358-F0B7-FB6B-77F5-570C43860B74}"/>
                  </a:ext>
                </a:extLst>
              </p:cNvPr>
              <p:cNvSpPr txBox="1"/>
              <p:nvPr/>
            </p:nvSpPr>
            <p:spPr>
              <a:xfrm>
                <a:off x="1594008" y="3538113"/>
                <a:ext cx="1438279" cy="412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20" name="文本框 19">
                <a:extLst>
                  <a:ext uri="{FF2B5EF4-FFF2-40B4-BE49-F238E27FC236}">
                    <a16:creationId xmlns:a16="http://schemas.microsoft.com/office/drawing/2014/main" id="{477F3358-F0B7-FB6B-77F5-570C43860B74}"/>
                  </a:ext>
                </a:extLst>
              </p:cNvPr>
              <p:cNvSpPr txBox="1">
                <a:spLocks noRot="1" noChangeAspect="1" noMove="1" noResize="1" noEditPoints="1" noAdjustHandles="1" noChangeArrowheads="1" noChangeShapeType="1" noTextEdit="1"/>
              </p:cNvSpPr>
              <p:nvPr/>
            </p:nvSpPr>
            <p:spPr>
              <a:xfrm>
                <a:off x="1594008" y="3538113"/>
                <a:ext cx="1438279" cy="41287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8D8A07D-BE55-49DD-260F-E7B0354B18D6}"/>
                  </a:ext>
                </a:extLst>
              </p:cNvPr>
              <p:cNvSpPr txBox="1"/>
              <p:nvPr/>
            </p:nvSpPr>
            <p:spPr>
              <a:xfrm>
                <a:off x="3416513" y="3562510"/>
                <a:ext cx="1450589" cy="412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21" name="文本框 20">
                <a:extLst>
                  <a:ext uri="{FF2B5EF4-FFF2-40B4-BE49-F238E27FC236}">
                    <a16:creationId xmlns:a16="http://schemas.microsoft.com/office/drawing/2014/main" id="{28D8A07D-BE55-49DD-260F-E7B0354B18D6}"/>
                  </a:ext>
                </a:extLst>
              </p:cNvPr>
              <p:cNvSpPr txBox="1">
                <a:spLocks noRot="1" noChangeAspect="1" noMove="1" noResize="1" noEditPoints="1" noAdjustHandles="1" noChangeArrowheads="1" noChangeShapeType="1" noTextEdit="1"/>
              </p:cNvSpPr>
              <p:nvPr/>
            </p:nvSpPr>
            <p:spPr>
              <a:xfrm>
                <a:off x="3416513" y="3562510"/>
                <a:ext cx="1450589" cy="41287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C2892296-6618-7F53-3DE1-0FD296B8C320}"/>
                  </a:ext>
                </a:extLst>
              </p:cNvPr>
              <p:cNvSpPr txBox="1"/>
              <p:nvPr/>
            </p:nvSpPr>
            <p:spPr>
              <a:xfrm>
                <a:off x="610681" y="5416619"/>
                <a:ext cx="3757759" cy="6989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1</m:t>
                          </m:r>
                        </m:sub>
                      </m:sSub>
                      <m:r>
                        <a:rPr lang="en-US" altLang="zh-CN" sz="2400" b="0" i="0"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𝜈</m:t>
                          </m:r>
                          <m:r>
                            <a:rPr lang="en-US" altLang="zh-CN" sz="2400" b="0" i="1" smtClean="0">
                              <a:latin typeface="Cambria Math" panose="02040503050406030204" pitchFamily="18" charset="0"/>
                            </a:rPr>
                            <m:t>𝐶</m:t>
                          </m:r>
                        </m:e>
                        <m:sub>
                          <m:r>
                            <a:rPr lang="en-US" altLang="zh-CN" sz="2400" b="0" i="1" smtClean="0">
                              <a:latin typeface="Cambria Math" panose="02040503050406030204" pitchFamily="18" charset="0"/>
                            </a:rPr>
                            <m:t>𝑣</m:t>
                          </m:r>
                        </m:sub>
                      </m:sSub>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5</m:t>
                          </m:r>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𝑅</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27" name="文本框 26">
                <a:extLst>
                  <a:ext uri="{FF2B5EF4-FFF2-40B4-BE49-F238E27FC236}">
                    <a16:creationId xmlns:a16="http://schemas.microsoft.com/office/drawing/2014/main" id="{C2892296-6618-7F53-3DE1-0FD296B8C320}"/>
                  </a:ext>
                </a:extLst>
              </p:cNvPr>
              <p:cNvSpPr txBox="1">
                <a:spLocks noRot="1" noChangeAspect="1" noMove="1" noResize="1" noEditPoints="1" noAdjustHandles="1" noChangeArrowheads="1" noChangeShapeType="1" noTextEdit="1"/>
              </p:cNvSpPr>
              <p:nvPr/>
            </p:nvSpPr>
            <p:spPr>
              <a:xfrm>
                <a:off x="610681" y="5416619"/>
                <a:ext cx="3757759" cy="698974"/>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A80A045-5F2B-54BD-05E7-0A5B7B59C7C1}"/>
                  </a:ext>
                </a:extLst>
              </p:cNvPr>
              <p:cNvSpPr txBox="1"/>
              <p:nvPr/>
            </p:nvSpPr>
            <p:spPr>
              <a:xfrm>
                <a:off x="610681" y="4256192"/>
                <a:ext cx="7500771" cy="9088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nary>
                        <m:naryPr>
                          <m:ctrlPr>
                            <a:rPr lang="en-US" altLang="zh-CN" sz="2400" b="0" i="1" smtClean="0">
                              <a:latin typeface="Cambria Math" panose="02040503050406030204" pitchFamily="18" charset="0"/>
                            </a:rPr>
                          </m:ctrlPr>
                        </m:naryPr>
                        <m: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sub>
                        <m:sup>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2</m:t>
                              </m:r>
                            </m:sub>
                          </m:sSub>
                        </m:sup>
                        <m:e>
                          <m:r>
                            <a:rPr lang="en-US" altLang="zh-CN" sz="2400" b="0" i="1" smtClean="0">
                              <a:latin typeface="Cambria Math" panose="02040503050406030204" pitchFamily="18" charset="0"/>
                            </a:rPr>
                            <m:t>𝑃</m:t>
                          </m:r>
                        </m:e>
                      </m:nary>
                      <m:r>
                        <a:rPr lang="en-US" altLang="zh-CN" sz="2400" b="0" i="1" smtClean="0">
                          <a:latin typeface="Cambria Math" panose="02040503050406030204" pitchFamily="18" charset="0"/>
                        </a:rPr>
                        <m:t>𝑑𝑉</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d>
                            <m:dPr>
                              <m:ctrlPr>
                                <a:rPr lang="en-US" altLang="zh-CN" sz="2400" b="0" i="1" smtClean="0">
                                  <a:latin typeface="Cambria Math" panose="02040503050406030204" pitchFamily="18" charset="0"/>
                                </a:rPr>
                              </m:ctrlPr>
                            </m:dPr>
                            <m:e>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r>
                                <a:rPr lang="en-US" altLang="zh-CN" sz="2400" b="0" i="1" smtClean="0">
                                  <a:latin typeface="Cambria Math" panose="02040503050406030204" pitchFamily="18" charset="0"/>
                                </a:rPr>
                                <m:t>−1</m:t>
                              </m:r>
                            </m:e>
                          </m: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r>
                            <a:rPr lang="en-US" altLang="zh-CN" sz="2400" i="1">
                              <a:latin typeface="Cambria Math" panose="02040503050406030204" pitchFamily="18" charset="0"/>
                              <a:ea typeface="Cambria Math" panose="02040503050406030204" pitchFamily="18" charset="0"/>
                            </a:rPr>
                            <m:t>×</m:t>
                          </m:r>
                          <m:d>
                            <m:dPr>
                              <m:ctrlPr>
                                <a:rPr lang="en-US" altLang="zh-CN" sz="2400" b="0" i="1" smtClean="0">
                                  <a:latin typeface="Cambria Math" panose="02040503050406030204" pitchFamily="18" charset="0"/>
                                </a:rPr>
                              </m:ctrlPr>
                            </m:dPr>
                            <m:e>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r>
                                <a:rPr lang="en-US" altLang="zh-CN" sz="2400" b="0" i="1" smtClean="0">
                                  <a:latin typeface="Cambria Math" panose="02040503050406030204" pitchFamily="18" charset="0"/>
                                </a:rPr>
                                <m:t>+1</m:t>
                              </m:r>
                            </m:e>
                          </m: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sub>
                          </m:sSub>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𝑃</m:t>
                              </m:r>
                            </m:e>
                            <m:sub>
                              <m:r>
                                <a:rPr lang="en-US" altLang="zh-CN" sz="2400" b="0" i="1" smtClean="0">
                                  <a:latin typeface="Cambria Math" panose="02040503050406030204" pitchFamily="18" charset="0"/>
                                </a:rPr>
                                <m:t>1</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num>
                        <m:den>
                          <m:r>
                            <a:rPr lang="en-US" altLang="zh-CN" sz="2400" b="0" i="1" smtClean="0">
                              <a:latin typeface="Cambria Math" panose="02040503050406030204" pitchFamily="18" charset="0"/>
                            </a:rPr>
                            <m:t>2</m:t>
                          </m:r>
                        </m:den>
                      </m:f>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𝑅</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num>
                        <m:den>
                          <m:r>
                            <a:rPr lang="en-US" altLang="zh-CN" sz="2400" b="0" i="1" smtClean="0">
                              <a:latin typeface="Cambria Math" panose="02040503050406030204" pitchFamily="18" charset="0"/>
                            </a:rPr>
                            <m:t>2</m:t>
                          </m:r>
                        </m:den>
                      </m:f>
                    </m:oMath>
                  </m:oMathPara>
                </a14:m>
                <a:endParaRPr lang="zh-CN" altLang="en-US" sz="2400" dirty="0"/>
              </a:p>
            </p:txBody>
          </p:sp>
        </mc:Choice>
        <mc:Fallback xmlns="">
          <p:sp>
            <p:nvSpPr>
              <p:cNvPr id="28" name="文本框 27">
                <a:extLst>
                  <a:ext uri="{FF2B5EF4-FFF2-40B4-BE49-F238E27FC236}">
                    <a16:creationId xmlns:a16="http://schemas.microsoft.com/office/drawing/2014/main" id="{DA80A045-5F2B-54BD-05E7-0A5B7B59C7C1}"/>
                  </a:ext>
                </a:extLst>
              </p:cNvPr>
              <p:cNvSpPr txBox="1">
                <a:spLocks noRot="1" noChangeAspect="1" noMove="1" noResize="1" noEditPoints="1" noAdjustHandles="1" noChangeArrowheads="1" noChangeShapeType="1" noTextEdit="1"/>
              </p:cNvSpPr>
              <p:nvPr/>
            </p:nvSpPr>
            <p:spPr>
              <a:xfrm>
                <a:off x="610681" y="4256192"/>
                <a:ext cx="7500771" cy="908839"/>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823D9E4F-3508-8C9F-AE48-5B0ECC4EBFEC}"/>
                  </a:ext>
                </a:extLst>
              </p:cNvPr>
              <p:cNvSpPr txBox="1"/>
              <p:nvPr/>
            </p:nvSpPr>
            <p:spPr>
              <a:xfrm>
                <a:off x="4867102" y="5581440"/>
                <a:ext cx="307026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𝐸</m:t>
                          </m:r>
                        </m:e>
                        <m:sub>
                          <m:r>
                            <a:rPr lang="en-US" altLang="zh-CN" sz="2400" b="0" i="1" smtClean="0">
                              <a:latin typeface="Cambria Math" panose="02040503050406030204" pitchFamily="18" charset="0"/>
                              <a:ea typeface="Cambria Math" panose="02040503050406030204" pitchFamily="18" charset="0"/>
                            </a:rPr>
                            <m:t>1</m:t>
                          </m:r>
                        </m:sub>
                      </m:sSub>
                      <m:r>
                        <a:rPr lang="en-US" altLang="zh-CN" sz="2400" b="0" i="1" smtClean="0">
                          <a:latin typeface="Cambria Math" panose="02040503050406030204" pitchFamily="18" charset="0"/>
                          <a:ea typeface="Cambria Math" panose="02040503050406030204" pitchFamily="18" charset="0"/>
                        </a:rPr>
                        <m:t>=3</m:t>
                      </m:r>
                      <m:r>
                        <a:rPr lang="en-US" altLang="zh-CN" sz="2400" b="0" i="1" smtClean="0">
                          <a:latin typeface="Cambria Math" panose="02040503050406030204" pitchFamily="18" charset="0"/>
                          <a:ea typeface="Cambria Math" panose="02040503050406030204" pitchFamily="18" charset="0"/>
                        </a:rPr>
                        <m:t>𝑅</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𝑇</m:t>
                          </m:r>
                        </m:e>
                        <m:sub>
                          <m:r>
                            <a:rPr lang="en-US" altLang="zh-CN" sz="2400" b="0" i="1" smtClean="0">
                              <a:latin typeface="Cambria Math" panose="02040503050406030204" pitchFamily="18" charset="0"/>
                              <a:ea typeface="Cambria Math" panose="02040503050406030204" pitchFamily="18" charset="0"/>
                            </a:rPr>
                            <m:t>1</m:t>
                          </m:r>
                        </m:sub>
                      </m:sSub>
                    </m:oMath>
                  </m:oMathPara>
                </a14:m>
                <a:endParaRPr lang="zh-CN" altLang="en-US" sz="2400" dirty="0"/>
              </a:p>
            </p:txBody>
          </p:sp>
        </mc:Choice>
        <mc:Fallback xmlns="">
          <p:sp>
            <p:nvSpPr>
              <p:cNvPr id="29" name="文本框 28">
                <a:extLst>
                  <a:ext uri="{FF2B5EF4-FFF2-40B4-BE49-F238E27FC236}">
                    <a16:creationId xmlns:a16="http://schemas.microsoft.com/office/drawing/2014/main" id="{823D9E4F-3508-8C9F-AE48-5B0ECC4EBFEC}"/>
                  </a:ext>
                </a:extLst>
              </p:cNvPr>
              <p:cNvSpPr txBox="1">
                <a:spLocks noRot="1" noChangeAspect="1" noMove="1" noResize="1" noEditPoints="1" noAdjustHandles="1" noChangeArrowheads="1" noChangeShapeType="1" noTextEdit="1"/>
              </p:cNvSpPr>
              <p:nvPr/>
            </p:nvSpPr>
            <p:spPr>
              <a:xfrm>
                <a:off x="4867102" y="5581440"/>
                <a:ext cx="3070264" cy="369332"/>
              </a:xfrm>
              <a:prstGeom prst="rect">
                <a:avLst/>
              </a:prstGeom>
              <a:blipFill>
                <a:blip r:embed="rId14"/>
                <a:stretch>
                  <a:fillRect l="-2579" r="-198" b="-30000"/>
                </a:stretch>
              </a:blipFill>
            </p:spPr>
            <p:txBody>
              <a:bodyPr/>
              <a:lstStyle/>
              <a:p>
                <a:r>
                  <a:rPr lang="zh-CN" altLang="en-US">
                    <a:noFill/>
                  </a:rPr>
                  <a:t> </a:t>
                </a:r>
              </a:p>
            </p:txBody>
          </p:sp>
        </mc:Fallback>
      </mc:AlternateContent>
      <p:cxnSp>
        <p:nvCxnSpPr>
          <p:cNvPr id="31" name="直接连接符 30">
            <a:extLst>
              <a:ext uri="{FF2B5EF4-FFF2-40B4-BE49-F238E27FC236}">
                <a16:creationId xmlns:a16="http://schemas.microsoft.com/office/drawing/2014/main" id="{D845B34C-4244-957C-A1DE-1CB5052A04AE}"/>
              </a:ext>
            </a:extLst>
          </p:cNvPr>
          <p:cNvCxnSpPr/>
          <p:nvPr/>
        </p:nvCxnSpPr>
        <p:spPr>
          <a:xfrm>
            <a:off x="9300575" y="2198318"/>
            <a:ext cx="0" cy="820455"/>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831F0EF0-09E4-308E-E40A-5CFC40602DB2}"/>
              </a:ext>
            </a:extLst>
          </p:cNvPr>
          <p:cNvCxnSpPr/>
          <p:nvPr/>
        </p:nvCxnSpPr>
        <p:spPr>
          <a:xfrm>
            <a:off x="10002033" y="1459282"/>
            <a:ext cx="0" cy="1590806"/>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01B1CA3A-0DE8-E4BB-0F18-32A03C632075}"/>
                  </a:ext>
                </a:extLst>
              </p:cNvPr>
              <p:cNvSpPr txBox="1"/>
              <p:nvPr/>
            </p:nvSpPr>
            <p:spPr>
              <a:xfrm>
                <a:off x="9443593" y="2304656"/>
                <a:ext cx="41601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36" name="文本框 35">
                <a:extLst>
                  <a:ext uri="{FF2B5EF4-FFF2-40B4-BE49-F238E27FC236}">
                    <a16:creationId xmlns:a16="http://schemas.microsoft.com/office/drawing/2014/main" id="{01B1CA3A-0DE8-E4BB-0F18-32A03C632075}"/>
                  </a:ext>
                </a:extLst>
              </p:cNvPr>
              <p:cNvSpPr txBox="1">
                <a:spLocks noRot="1" noChangeAspect="1" noMove="1" noResize="1" noEditPoints="1" noAdjustHandles="1" noChangeArrowheads="1" noChangeShapeType="1" noTextEdit="1"/>
              </p:cNvSpPr>
              <p:nvPr/>
            </p:nvSpPr>
            <p:spPr>
              <a:xfrm>
                <a:off x="9443593" y="2304656"/>
                <a:ext cx="416011" cy="369332"/>
              </a:xfrm>
              <a:prstGeom prst="rect">
                <a:avLst/>
              </a:prstGeom>
              <a:blipFill>
                <a:blip r:embed="rId15"/>
                <a:stretch>
                  <a:fillRect l="-14706" r="-4412" b="-131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390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6" grpId="0"/>
      <p:bldP spid="17" grpId="0"/>
      <p:bldP spid="18" grpId="0"/>
      <p:bldP spid="19" grpId="0"/>
      <p:bldP spid="20" grpId="0"/>
      <p:bldP spid="21" grpId="0"/>
      <p:bldP spid="27" grpId="0"/>
      <p:bldP spid="28"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948F-9064-1CAB-5E99-D79AD3E20CB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3553F02-32B0-E222-8054-EF8ABE385F5E}"/>
              </a:ext>
            </a:extLst>
          </p:cNvPr>
          <p:cNvSpPr txBox="1"/>
          <p:nvPr/>
        </p:nvSpPr>
        <p:spPr>
          <a:xfrm>
            <a:off x="513514" y="455168"/>
            <a:ext cx="6097044" cy="461665"/>
          </a:xfrm>
          <a:prstGeom prst="rect">
            <a:avLst/>
          </a:prstGeom>
          <a:noFill/>
        </p:spPr>
        <p:txBody>
          <a:bodyPr wrap="square">
            <a:spAutoFit/>
          </a:bodyPr>
          <a:lstStyle/>
          <a:p>
            <a:r>
              <a:rPr lang="zh-CN" altLang="en-US" sz="2400" dirty="0">
                <a:latin typeface="+mn-ea"/>
                <a:cs typeface="Times New Roman" panose="02020603050405020304" pitchFamily="18" charset="0"/>
              </a:rPr>
              <a:t>(1)求三个过程中的功，热量和内能的增量。</a:t>
            </a:r>
            <a:endParaRPr lang="zh-CN" altLang="en-US" sz="2400" dirty="0"/>
          </a:p>
        </p:txBody>
      </p:sp>
      <p:pic>
        <p:nvPicPr>
          <p:cNvPr id="5" name="图片 4">
            <a:extLst>
              <a:ext uri="{FF2B5EF4-FFF2-40B4-BE49-F238E27FC236}">
                <a16:creationId xmlns:a16="http://schemas.microsoft.com/office/drawing/2014/main" id="{A2A03659-3D1F-6351-3903-8012B59430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8444" y="375115"/>
            <a:ext cx="4192472" cy="305388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EBD021E-C00F-4969-2389-255CB013FDC7}"/>
                  </a:ext>
                </a:extLst>
              </p:cNvPr>
              <p:cNvSpPr txBox="1"/>
              <p:nvPr/>
            </p:nvSpPr>
            <p:spPr>
              <a:xfrm>
                <a:off x="513514" y="1279597"/>
                <a:ext cx="4094443"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cs typeface="Times New Roman" panose="02020603050405020304" pitchFamily="18" charset="0"/>
                      </a:rPr>
                      <m:t>对于</m:t>
                    </m:r>
                    <m:r>
                      <a:rPr lang="en-US" altLang="zh-CN" sz="2400" b="0" i="1" smtClean="0">
                        <a:latin typeface="Cambria Math" panose="02040503050406030204" pitchFamily="18" charset="0"/>
                        <a:cs typeface="Times New Roman" panose="02020603050405020304" pitchFamily="18" charset="0"/>
                      </a:rPr>
                      <m:t>2</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→3</m:t>
                    </m:r>
                    <m:r>
                      <a:rPr lang="zh-CN" altLang="en-US" sz="2400" i="1">
                        <a:latin typeface="Cambria Math" panose="02040503050406030204" pitchFamily="18" charset="0"/>
                        <a:ea typeface="Cambria Math" panose="02040503050406030204" pitchFamily="18" charset="0"/>
                        <a:cs typeface="Times New Roman" panose="02020603050405020304" pitchFamily="18" charset="0"/>
                      </a:rPr>
                      <m:t>的</m:t>
                    </m:r>
                    <m:r>
                      <a:rPr lang="zh-CN" altLang="en-US" sz="2400" i="1" smtClean="0">
                        <a:latin typeface="Cambria Math" panose="02040503050406030204" pitchFamily="18" charset="0"/>
                        <a:ea typeface="Cambria Math" panose="02040503050406030204" pitchFamily="18" charset="0"/>
                        <a:cs typeface="Times New Roman" panose="02020603050405020304" pitchFamily="18" charset="0"/>
                      </a:rPr>
                      <m:t>绝热</m:t>
                    </m:r>
                  </m:oMath>
                </a14:m>
                <a:r>
                  <a:rPr lang="zh-CN" altLang="en-US" sz="2400" dirty="0">
                    <a:cs typeface="Times New Roman" panose="02020603050405020304" pitchFamily="18" charset="0"/>
                  </a:rPr>
                  <a:t>过程</a:t>
                </a:r>
                <a:r>
                  <a:rPr lang="zh-CN" altLang="en-US" sz="2400" dirty="0">
                    <a:latin typeface="+mn-ea"/>
                    <a:cs typeface="Times New Roman" panose="02020603050405020304" pitchFamily="18" charset="0"/>
                  </a:rPr>
                  <a:t>，有</a:t>
                </a:r>
                <a:endParaRPr lang="zh-CN" altLang="en-US" sz="2400" dirty="0"/>
              </a:p>
            </p:txBody>
          </p:sp>
        </mc:Choice>
        <mc:Fallback xmlns="">
          <p:sp>
            <p:nvSpPr>
              <p:cNvPr id="6" name="文本框 5">
                <a:extLst>
                  <a:ext uri="{FF2B5EF4-FFF2-40B4-BE49-F238E27FC236}">
                    <a16:creationId xmlns:a16="http://schemas.microsoft.com/office/drawing/2014/main" id="{EEBD021E-C00F-4969-2389-255CB013FDC7}"/>
                  </a:ext>
                </a:extLst>
              </p:cNvPr>
              <p:cNvSpPr txBox="1">
                <a:spLocks noRot="1" noChangeAspect="1" noMove="1" noResize="1" noEditPoints="1" noAdjustHandles="1" noChangeArrowheads="1" noChangeShapeType="1" noTextEdit="1"/>
              </p:cNvSpPr>
              <p:nvPr/>
            </p:nvSpPr>
            <p:spPr>
              <a:xfrm>
                <a:off x="513514" y="1279597"/>
                <a:ext cx="4094443" cy="461665"/>
              </a:xfrm>
              <a:prstGeom prst="rect">
                <a:avLst/>
              </a:prstGeom>
              <a:blipFill>
                <a:blip r:embed="rId3"/>
                <a:stretch>
                  <a:fillRect l="-1190"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559C990-ED9A-6154-D9B9-1C003D432B50}"/>
                  </a:ext>
                </a:extLst>
              </p:cNvPr>
              <p:cNvSpPr txBox="1"/>
              <p:nvPr/>
            </p:nvSpPr>
            <p:spPr>
              <a:xfrm>
                <a:off x="4655231" y="1325763"/>
                <a:ext cx="99629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=0</m:t>
                      </m:r>
                    </m:oMath>
                  </m:oMathPara>
                </a14:m>
                <a:endParaRPr lang="zh-CN" altLang="en-US" sz="2400" dirty="0"/>
              </a:p>
            </p:txBody>
          </p:sp>
        </mc:Choice>
        <mc:Fallback xmlns="">
          <p:sp>
            <p:nvSpPr>
              <p:cNvPr id="7" name="文本框 6">
                <a:extLst>
                  <a:ext uri="{FF2B5EF4-FFF2-40B4-BE49-F238E27FC236}">
                    <a16:creationId xmlns:a16="http://schemas.microsoft.com/office/drawing/2014/main" id="{0559C990-ED9A-6154-D9B9-1C003D432B50}"/>
                  </a:ext>
                </a:extLst>
              </p:cNvPr>
              <p:cNvSpPr txBox="1">
                <a:spLocks noRot="1" noChangeAspect="1" noMove="1" noResize="1" noEditPoints="1" noAdjustHandles="1" noChangeArrowheads="1" noChangeShapeType="1" noTextEdit="1"/>
              </p:cNvSpPr>
              <p:nvPr/>
            </p:nvSpPr>
            <p:spPr>
              <a:xfrm>
                <a:off x="4655231" y="1325763"/>
                <a:ext cx="996298" cy="369332"/>
              </a:xfrm>
              <a:prstGeom prst="rect">
                <a:avLst/>
              </a:prstGeom>
              <a:blipFill>
                <a:blip r:embed="rId4"/>
                <a:stretch>
                  <a:fillRect l="-8589" r="-6135" b="-278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13C178A-3935-B992-FB9E-F788C1889748}"/>
                  </a:ext>
                </a:extLst>
              </p:cNvPr>
              <p:cNvSpPr txBox="1"/>
              <p:nvPr/>
            </p:nvSpPr>
            <p:spPr>
              <a:xfrm>
                <a:off x="592222" y="2229249"/>
                <a:ext cx="3231077" cy="369332"/>
              </a:xfrm>
              <a:prstGeom prst="rect">
                <a:avLst/>
              </a:prstGeom>
              <a:noFill/>
            </p:spPr>
            <p:txBody>
              <a:bodyPr wrap="none" lIns="0" tIns="0" rIns="0" bIns="0" rtlCol="0">
                <a:spAutoFit/>
              </a:bodyPr>
              <a:lstStyle/>
              <a:p>
                <a14:m>
                  <m:oMath xmlns:m="http://schemas.openxmlformats.org/officeDocument/2006/math">
                    <m:r>
                      <a:rPr lang="en-US" altLang="zh-CN" sz="2400" i="1" smtClean="0">
                        <a:latin typeface="Cambria Math" panose="02040503050406030204" pitchFamily="18" charset="0"/>
                        <a:cs typeface="Times New Roman" panose="02020603050405020304" pitchFamily="18" charset="0"/>
                      </a:rPr>
                      <m:t>3</m:t>
                    </m:r>
                    <m:r>
                      <a:rPr lang="en-US" altLang="zh-CN" sz="24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en-US" sz="2400" dirty="0"/>
                  <a:t>是等温过程，所以</a:t>
                </a:r>
              </a:p>
            </p:txBody>
          </p:sp>
        </mc:Choice>
        <mc:Fallback xmlns="">
          <p:sp>
            <p:nvSpPr>
              <p:cNvPr id="8" name="文本框 7">
                <a:extLst>
                  <a:ext uri="{FF2B5EF4-FFF2-40B4-BE49-F238E27FC236}">
                    <a16:creationId xmlns:a16="http://schemas.microsoft.com/office/drawing/2014/main" id="{913C178A-3935-B992-FB9E-F788C1889748}"/>
                  </a:ext>
                </a:extLst>
              </p:cNvPr>
              <p:cNvSpPr txBox="1">
                <a:spLocks noRot="1" noChangeAspect="1" noMove="1" noResize="1" noEditPoints="1" noAdjustHandles="1" noChangeArrowheads="1" noChangeShapeType="1" noTextEdit="1"/>
              </p:cNvSpPr>
              <p:nvPr/>
            </p:nvSpPr>
            <p:spPr>
              <a:xfrm>
                <a:off x="592222" y="2229249"/>
                <a:ext cx="3231077" cy="369332"/>
              </a:xfrm>
              <a:prstGeom prst="rect">
                <a:avLst/>
              </a:prstGeom>
              <a:blipFill>
                <a:blip r:embed="rId5"/>
                <a:stretch>
                  <a:fillRect l="-3208" t="-25000" r="-4906" b="-5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DE32794-5C9D-25D7-15FF-2226A345C075}"/>
                  </a:ext>
                </a:extLst>
              </p:cNvPr>
              <p:cNvSpPr txBox="1"/>
              <p:nvPr/>
            </p:nvSpPr>
            <p:spPr>
              <a:xfrm>
                <a:off x="4292289" y="2197364"/>
                <a:ext cx="106253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3</m:t>
                          </m:r>
                        </m:sub>
                      </m:sSub>
                    </m:oMath>
                  </m:oMathPara>
                </a14:m>
                <a:endParaRPr lang="zh-CN" altLang="en-US" sz="2400" dirty="0"/>
              </a:p>
            </p:txBody>
          </p:sp>
        </mc:Choice>
        <mc:Fallback xmlns="">
          <p:sp>
            <p:nvSpPr>
              <p:cNvPr id="9" name="文本框 8">
                <a:extLst>
                  <a:ext uri="{FF2B5EF4-FFF2-40B4-BE49-F238E27FC236}">
                    <a16:creationId xmlns:a16="http://schemas.microsoft.com/office/drawing/2014/main" id="{2DE32794-5C9D-25D7-15FF-2226A345C075}"/>
                  </a:ext>
                </a:extLst>
              </p:cNvPr>
              <p:cNvSpPr txBox="1">
                <a:spLocks noRot="1" noChangeAspect="1" noMove="1" noResize="1" noEditPoints="1" noAdjustHandles="1" noChangeArrowheads="1" noChangeShapeType="1" noTextEdit="1"/>
              </p:cNvSpPr>
              <p:nvPr/>
            </p:nvSpPr>
            <p:spPr>
              <a:xfrm>
                <a:off x="4292289" y="2197364"/>
                <a:ext cx="1062535" cy="369332"/>
              </a:xfrm>
              <a:prstGeom prst="rect">
                <a:avLst/>
              </a:prstGeom>
              <a:blipFill>
                <a:blip r:embed="rId6"/>
                <a:stretch>
                  <a:fillRect l="-5172" r="-1724"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2E56AA8-BD07-753C-65CF-EE9B60A0FF81}"/>
                  </a:ext>
                </a:extLst>
              </p:cNvPr>
              <p:cNvSpPr txBox="1"/>
              <p:nvPr/>
            </p:nvSpPr>
            <p:spPr>
              <a:xfrm>
                <a:off x="573672" y="4120816"/>
                <a:ext cx="2748894" cy="6989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𝐸</m:t>
                          </m:r>
                        </m:e>
                        <m:sub>
                          <m:r>
                            <a:rPr lang="en-US" altLang="zh-CN" sz="2400" b="0" i="1" smtClean="0">
                              <a:latin typeface="Cambria Math" panose="02040503050406030204" pitchFamily="18" charset="0"/>
                              <a:ea typeface="Cambria Math" panose="02040503050406030204" pitchFamily="18" charset="0"/>
                            </a:rPr>
                            <m:t>2</m:t>
                          </m:r>
                        </m:sub>
                      </m:sSub>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5</m:t>
                          </m:r>
                        </m:num>
                        <m:den>
                          <m:r>
                            <a:rPr lang="en-US" altLang="zh-CN" sz="2400" b="0" i="1" smtClean="0">
                              <a:latin typeface="Cambria Math" panose="02040503050406030204" pitchFamily="18" charset="0"/>
                              <a:ea typeface="Cambria Math" panose="02040503050406030204" pitchFamily="18" charset="0"/>
                            </a:rPr>
                            <m:t>2</m:t>
                          </m:r>
                        </m:den>
                      </m:f>
                      <m:r>
                        <a:rPr lang="en-US" altLang="zh-CN" sz="2400" b="0" i="1" smtClean="0">
                          <a:latin typeface="Cambria Math" panose="02040503050406030204" pitchFamily="18" charset="0"/>
                          <a:ea typeface="Cambria Math" panose="02040503050406030204" pitchFamily="18" charset="0"/>
                        </a:rPr>
                        <m:t>𝑅</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𝑇</m:t>
                          </m:r>
                        </m:e>
                        <m:sub>
                          <m:r>
                            <a:rPr lang="en-US" altLang="zh-CN" sz="2400" b="0" i="1" smtClean="0">
                              <a:latin typeface="Cambria Math" panose="02040503050406030204" pitchFamily="18" charset="0"/>
                              <a:ea typeface="Cambria Math" panose="02040503050406030204" pitchFamily="18" charset="0"/>
                            </a:rPr>
                            <m:t>1</m:t>
                          </m:r>
                        </m:sub>
                      </m:sSub>
                    </m:oMath>
                  </m:oMathPara>
                </a14:m>
                <a:endParaRPr lang="zh-CN" altLang="en-US" sz="2400" dirty="0"/>
              </a:p>
            </p:txBody>
          </p:sp>
        </mc:Choice>
        <mc:Fallback xmlns="">
          <p:sp>
            <p:nvSpPr>
              <p:cNvPr id="11" name="文本框 10">
                <a:extLst>
                  <a:ext uri="{FF2B5EF4-FFF2-40B4-BE49-F238E27FC236}">
                    <a16:creationId xmlns:a16="http://schemas.microsoft.com/office/drawing/2014/main" id="{A2E56AA8-BD07-753C-65CF-EE9B60A0FF81}"/>
                  </a:ext>
                </a:extLst>
              </p:cNvPr>
              <p:cNvSpPr txBox="1">
                <a:spLocks noRot="1" noChangeAspect="1" noMove="1" noResize="1" noEditPoints="1" noAdjustHandles="1" noChangeArrowheads="1" noChangeShapeType="1" noTextEdit="1"/>
              </p:cNvSpPr>
              <p:nvPr/>
            </p:nvSpPr>
            <p:spPr>
              <a:xfrm>
                <a:off x="573672" y="4120816"/>
                <a:ext cx="2748894" cy="69897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44C605C-0475-A22B-1691-258A26C98A2D}"/>
                  </a:ext>
                </a:extLst>
              </p:cNvPr>
              <p:cNvSpPr txBox="1"/>
              <p:nvPr/>
            </p:nvSpPr>
            <p:spPr>
              <a:xfrm>
                <a:off x="573672" y="3132735"/>
                <a:ext cx="4052520" cy="9759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𝐸</m:t>
                          </m:r>
                        </m:e>
                        <m:sub>
                          <m:r>
                            <a:rPr lang="en-US" altLang="zh-CN" sz="2400" i="1">
                              <a:latin typeface="Cambria Math" panose="02040503050406030204" pitchFamily="18" charset="0"/>
                            </a:rPr>
                            <m:t>2</m:t>
                          </m:r>
                        </m:sub>
                      </m:sSub>
                      <m:r>
                        <a:rPr lang="en-US" altLang="zh-CN" sz="240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𝜈</m:t>
                          </m:r>
                          <m:r>
                            <a:rPr lang="en-US" altLang="zh-CN" sz="2400" i="1">
                              <a:latin typeface="Cambria Math" panose="02040503050406030204" pitchFamily="18" charset="0"/>
                            </a:rPr>
                            <m:t>𝐶</m:t>
                          </m:r>
                        </m:e>
                        <m:sub>
                          <m:r>
                            <a:rPr lang="en-US" altLang="zh-CN" sz="2400" i="1">
                              <a:latin typeface="Cambria Math" panose="02040503050406030204" pitchFamily="18" charset="0"/>
                            </a:rPr>
                            <m:t>𝑣</m:t>
                          </m:r>
                        </m:sub>
                      </m:sSub>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3</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2</m:t>
                              </m:r>
                            </m:sub>
                          </m:sSub>
                        </m:e>
                      </m:d>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5</m:t>
                          </m:r>
                        </m:num>
                        <m:den>
                          <m:r>
                            <a:rPr lang="en-US" altLang="zh-CN" sz="2400" i="1">
                              <a:latin typeface="Cambria Math" panose="02040503050406030204" pitchFamily="18" charset="0"/>
                            </a:rPr>
                            <m:t>2</m:t>
                          </m:r>
                        </m:den>
                      </m:f>
                      <m:r>
                        <a:rPr lang="en-US" altLang="zh-CN" sz="2400" i="1">
                          <a:latin typeface="Cambria Math" panose="02040503050406030204" pitchFamily="18" charset="0"/>
                        </a:rPr>
                        <m:t>𝑅</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i="1">
                              <a:latin typeface="Cambria Math" panose="02040503050406030204" pitchFamily="18" charset="0"/>
                            </a:rPr>
                            <m:t>1</m:t>
                          </m:r>
                        </m:sub>
                      </m:sSub>
                    </m:oMath>
                  </m:oMathPara>
                </a14:m>
                <a:endParaRPr lang="zh-CN" altLang="en-US" sz="2400" dirty="0"/>
              </a:p>
              <a:p>
                <a:endParaRPr lang="zh-CN" altLang="en-US" dirty="0"/>
              </a:p>
            </p:txBody>
          </p:sp>
        </mc:Choice>
        <mc:Fallback xmlns="">
          <p:sp>
            <p:nvSpPr>
              <p:cNvPr id="2" name="文本框 1">
                <a:extLst>
                  <a:ext uri="{FF2B5EF4-FFF2-40B4-BE49-F238E27FC236}">
                    <a16:creationId xmlns:a16="http://schemas.microsoft.com/office/drawing/2014/main" id="{444C605C-0475-A22B-1691-258A26C98A2D}"/>
                  </a:ext>
                </a:extLst>
              </p:cNvPr>
              <p:cNvSpPr txBox="1">
                <a:spLocks noRot="1" noChangeAspect="1" noMove="1" noResize="1" noEditPoints="1" noAdjustHandles="1" noChangeArrowheads="1" noChangeShapeType="1" noTextEdit="1"/>
              </p:cNvSpPr>
              <p:nvPr/>
            </p:nvSpPr>
            <p:spPr>
              <a:xfrm>
                <a:off x="573672" y="3132735"/>
                <a:ext cx="4052520" cy="975973"/>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9627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7600120-A0C5-4FDF-1A27-D40C1621C2F9}"/>
              </a:ext>
            </a:extLst>
          </p:cNvPr>
          <p:cNvSpPr txBox="1"/>
          <p:nvPr/>
        </p:nvSpPr>
        <p:spPr>
          <a:xfrm>
            <a:off x="513514" y="455168"/>
            <a:ext cx="6097044" cy="461665"/>
          </a:xfrm>
          <a:prstGeom prst="rect">
            <a:avLst/>
          </a:prstGeom>
          <a:noFill/>
        </p:spPr>
        <p:txBody>
          <a:bodyPr wrap="square">
            <a:spAutoFit/>
          </a:bodyPr>
          <a:lstStyle/>
          <a:p>
            <a:r>
              <a:rPr lang="zh-CN" altLang="en-US" sz="2400" dirty="0">
                <a:latin typeface="+mn-ea"/>
                <a:cs typeface="Times New Roman" panose="02020603050405020304" pitchFamily="18" charset="0"/>
              </a:rPr>
              <a:t>(1)求三个过程中的功，热量和内能的增量。</a:t>
            </a:r>
            <a:endParaRPr lang="zh-CN" altLang="en-US" sz="2400" dirty="0"/>
          </a:p>
        </p:txBody>
      </p:sp>
      <p:pic>
        <p:nvPicPr>
          <p:cNvPr id="5" name="图片 4">
            <a:extLst>
              <a:ext uri="{FF2B5EF4-FFF2-40B4-BE49-F238E27FC236}">
                <a16:creationId xmlns:a16="http://schemas.microsoft.com/office/drawing/2014/main" id="{06276484-896A-7548-BC8B-60FDD8A07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8444" y="375115"/>
            <a:ext cx="4192472" cy="305388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5A31AFA-DFA8-10DF-E2EE-F9301CE1EF7C}"/>
                  </a:ext>
                </a:extLst>
              </p:cNvPr>
              <p:cNvSpPr txBox="1"/>
              <p:nvPr/>
            </p:nvSpPr>
            <p:spPr>
              <a:xfrm>
                <a:off x="513514" y="1263434"/>
                <a:ext cx="4094443" cy="461665"/>
              </a:xfrm>
              <a:prstGeom prst="rect">
                <a:avLst/>
              </a:prstGeom>
              <a:noFill/>
            </p:spPr>
            <p:txBody>
              <a:bodyPr wrap="square">
                <a:spAutoFit/>
              </a:bodyPr>
              <a:lstStyle/>
              <a:p>
                <a14:m>
                  <m:oMath xmlns:m="http://schemas.openxmlformats.org/officeDocument/2006/math">
                    <m:r>
                      <a:rPr lang="zh-CN" altLang="en-US" sz="2400" i="1" smtClean="0">
                        <a:latin typeface="Cambria Math" panose="02040503050406030204" pitchFamily="18" charset="0"/>
                        <a:cs typeface="Times New Roman" panose="02020603050405020304" pitchFamily="18" charset="0"/>
                      </a:rPr>
                      <m:t>对于</m:t>
                    </m:r>
                    <m:r>
                      <a:rPr lang="en-US" altLang="zh-CN" sz="2400" b="0" i="1" smtClean="0">
                        <a:latin typeface="Cambria Math" panose="02040503050406030204" pitchFamily="18" charset="0"/>
                        <a:cs typeface="Times New Roman" panose="02020603050405020304" pitchFamily="18" charset="0"/>
                      </a:rPr>
                      <m:t>3</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zh-CN" altLang="en-US" sz="2400" i="1">
                        <a:latin typeface="Cambria Math" panose="02040503050406030204" pitchFamily="18" charset="0"/>
                        <a:ea typeface="Cambria Math" panose="02040503050406030204" pitchFamily="18" charset="0"/>
                        <a:cs typeface="Times New Roman" panose="02020603050405020304" pitchFamily="18" charset="0"/>
                      </a:rPr>
                      <m:t>的</m:t>
                    </m:r>
                    <m:r>
                      <a:rPr lang="zh-CN" altLang="en-US" sz="2400" i="1" smtClean="0">
                        <a:latin typeface="Cambria Math" panose="02040503050406030204" pitchFamily="18" charset="0"/>
                        <a:ea typeface="Cambria Math" panose="02040503050406030204" pitchFamily="18" charset="0"/>
                        <a:cs typeface="Times New Roman" panose="02020603050405020304" pitchFamily="18" charset="0"/>
                      </a:rPr>
                      <m:t>等温</m:t>
                    </m:r>
                  </m:oMath>
                </a14:m>
                <a:r>
                  <a:rPr lang="zh-CN" altLang="en-US" sz="2400" dirty="0">
                    <a:latin typeface="+mn-ea"/>
                    <a:cs typeface="Times New Roman" panose="02020603050405020304" pitchFamily="18" charset="0"/>
                  </a:rPr>
                  <a:t>过程，有</a:t>
                </a:r>
                <a:endParaRPr lang="zh-CN" altLang="en-US" sz="2400" dirty="0"/>
              </a:p>
            </p:txBody>
          </p:sp>
        </mc:Choice>
        <mc:Fallback xmlns="">
          <p:sp>
            <p:nvSpPr>
              <p:cNvPr id="6" name="文本框 5">
                <a:extLst>
                  <a:ext uri="{FF2B5EF4-FFF2-40B4-BE49-F238E27FC236}">
                    <a16:creationId xmlns:a16="http://schemas.microsoft.com/office/drawing/2014/main" id="{D5A31AFA-DFA8-10DF-E2EE-F9301CE1EF7C}"/>
                  </a:ext>
                </a:extLst>
              </p:cNvPr>
              <p:cNvSpPr txBox="1">
                <a:spLocks noRot="1" noChangeAspect="1" noMove="1" noResize="1" noEditPoints="1" noAdjustHandles="1" noChangeArrowheads="1" noChangeShapeType="1" noTextEdit="1"/>
              </p:cNvSpPr>
              <p:nvPr/>
            </p:nvSpPr>
            <p:spPr>
              <a:xfrm>
                <a:off x="513514" y="1263434"/>
                <a:ext cx="4094443" cy="461665"/>
              </a:xfrm>
              <a:prstGeom prst="rect">
                <a:avLst/>
              </a:prstGeom>
              <a:blipFill>
                <a:blip r:embed="rId3"/>
                <a:stretch>
                  <a:fillRect l="-1190"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56E484A-DDE0-EE5A-F788-EF5045A9C615}"/>
                  </a:ext>
                </a:extLst>
              </p:cNvPr>
              <p:cNvSpPr txBox="1"/>
              <p:nvPr/>
            </p:nvSpPr>
            <p:spPr>
              <a:xfrm>
                <a:off x="4538912" y="1309600"/>
                <a:ext cx="115621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𝐸</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=0</m:t>
                      </m:r>
                    </m:oMath>
                  </m:oMathPara>
                </a14:m>
                <a:endParaRPr lang="zh-CN" altLang="en-US" sz="2400" dirty="0"/>
              </a:p>
            </p:txBody>
          </p:sp>
        </mc:Choice>
        <mc:Fallback xmlns="">
          <p:sp>
            <p:nvSpPr>
              <p:cNvPr id="12" name="文本框 11">
                <a:extLst>
                  <a:ext uri="{FF2B5EF4-FFF2-40B4-BE49-F238E27FC236}">
                    <a16:creationId xmlns:a16="http://schemas.microsoft.com/office/drawing/2014/main" id="{E56E484A-DDE0-EE5A-F788-EF5045A9C615}"/>
                  </a:ext>
                </a:extLst>
              </p:cNvPr>
              <p:cNvSpPr txBox="1">
                <a:spLocks noRot="1" noChangeAspect="1" noMove="1" noResize="1" noEditPoints="1" noAdjustHandles="1" noChangeArrowheads="1" noChangeShapeType="1" noTextEdit="1"/>
              </p:cNvSpPr>
              <p:nvPr/>
            </p:nvSpPr>
            <p:spPr>
              <a:xfrm>
                <a:off x="4538912" y="1309600"/>
                <a:ext cx="1156214" cy="369332"/>
              </a:xfrm>
              <a:prstGeom prst="rect">
                <a:avLst/>
              </a:prstGeom>
              <a:blipFill>
                <a:blip r:embed="rId4"/>
                <a:stretch>
                  <a:fillRect l="-5291" r="-5291"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D5A0CCA-8D49-D470-2719-BFDD786934DE}"/>
                  </a:ext>
                </a:extLst>
              </p:cNvPr>
              <p:cNvSpPr txBox="1"/>
              <p:nvPr/>
            </p:nvSpPr>
            <p:spPr>
              <a:xfrm>
                <a:off x="513556" y="2117866"/>
                <a:ext cx="3519825" cy="461665"/>
              </a:xfrm>
              <a:prstGeom prst="rect">
                <a:avLst/>
              </a:prstGeom>
              <a:noFill/>
            </p:spPr>
            <p:txBody>
              <a:bodyPr wrap="square">
                <a:spAutoFit/>
              </a:bodyPr>
              <a:lstStyle/>
              <a:p>
                <a14:m>
                  <m:oMath xmlns:m="http://schemas.openxmlformats.org/officeDocument/2006/math">
                    <m:r>
                      <a:rPr lang="en-US" altLang="zh-CN" sz="2400" i="1">
                        <a:latin typeface="Cambria Math" panose="02040503050406030204" pitchFamily="18" charset="0"/>
                        <a:cs typeface="Times New Roman" panose="02020603050405020304" pitchFamily="18" charset="0"/>
                      </a:rPr>
                      <m:t>2</m:t>
                    </m:r>
                    <m:r>
                      <a:rPr lang="en-US" altLang="zh-CN" sz="2400" i="1">
                        <a:latin typeface="Cambria Math" panose="02040503050406030204" pitchFamily="18" charset="0"/>
                        <a:ea typeface="Cambria Math" panose="02040503050406030204" pitchFamily="18" charset="0"/>
                        <a:cs typeface="Times New Roman" panose="02020603050405020304" pitchFamily="18" charset="0"/>
                      </a:rPr>
                      <m:t>→3</m:t>
                    </m:r>
                  </m:oMath>
                </a14:m>
                <a:r>
                  <a:rPr lang="zh-CN" altLang="en-US" sz="2400" dirty="0"/>
                  <a:t>是绝热过程，所以</a:t>
                </a:r>
              </a:p>
            </p:txBody>
          </p:sp>
        </mc:Choice>
        <mc:Fallback xmlns="">
          <p:sp>
            <p:nvSpPr>
              <p:cNvPr id="14" name="文本框 13">
                <a:extLst>
                  <a:ext uri="{FF2B5EF4-FFF2-40B4-BE49-F238E27FC236}">
                    <a16:creationId xmlns:a16="http://schemas.microsoft.com/office/drawing/2014/main" id="{0D5A0CCA-8D49-D470-2719-BFDD786934DE}"/>
                  </a:ext>
                </a:extLst>
              </p:cNvPr>
              <p:cNvSpPr txBox="1">
                <a:spLocks noRot="1" noChangeAspect="1" noMove="1" noResize="1" noEditPoints="1" noAdjustHandles="1" noChangeArrowheads="1" noChangeShapeType="1" noTextEdit="1"/>
              </p:cNvSpPr>
              <p:nvPr/>
            </p:nvSpPr>
            <p:spPr>
              <a:xfrm>
                <a:off x="513556" y="2117866"/>
                <a:ext cx="3519825" cy="461665"/>
              </a:xfrm>
              <a:prstGeom prst="rect">
                <a:avLst/>
              </a:prstGeom>
              <a:blipFill>
                <a:blip r:embed="rId5"/>
                <a:stretch>
                  <a:fillRect l="-346"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DC578CE-89B0-6A9F-D903-93152CEC7771}"/>
                  </a:ext>
                </a:extLst>
              </p:cNvPr>
              <p:cNvSpPr txBox="1"/>
              <p:nvPr/>
            </p:nvSpPr>
            <p:spPr>
              <a:xfrm>
                <a:off x="4290472" y="2130113"/>
                <a:ext cx="2378728" cy="4371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2</m:t>
                          </m:r>
                        </m:sub>
                        <m:sup>
                          <m:r>
                            <a:rPr lang="zh-CN" altLang="en-US" sz="2400" i="1" smtClean="0">
                              <a:latin typeface="Cambria Math" panose="02040503050406030204" pitchFamily="18" charset="0"/>
                            </a:rPr>
                            <m:t>𝛾</m:t>
                          </m:r>
                          <m:r>
                            <a:rPr lang="en-US" altLang="zh-CN" sz="2400" b="0" i="1" smtClean="0">
                              <a:latin typeface="Cambria Math" panose="02040503050406030204" pitchFamily="18" charset="0"/>
                            </a:rPr>
                            <m:t>−1</m:t>
                          </m:r>
                        </m:sup>
                      </m:sSubSup>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m:t>
                          </m:r>
                        </m:e>
                        <m:sub>
                          <m:r>
                            <a:rPr lang="en-US" altLang="zh-CN" sz="2400" b="0" i="1" smtClean="0">
                              <a:latin typeface="Cambria Math" panose="02040503050406030204" pitchFamily="18" charset="0"/>
                            </a:rPr>
                            <m:t>3</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𝑉</m:t>
                          </m:r>
                        </m:e>
                        <m:sub>
                          <m:r>
                            <a:rPr lang="en-US" altLang="zh-CN" sz="2400" b="0" i="1" smtClean="0">
                              <a:latin typeface="Cambria Math" panose="02040503050406030204" pitchFamily="18" charset="0"/>
                            </a:rPr>
                            <m:t>3</m:t>
                          </m:r>
                        </m:sub>
                        <m:sup>
                          <m:r>
                            <a:rPr lang="zh-CN" altLang="en-US" sz="2400" i="1">
                              <a:latin typeface="Cambria Math" panose="02040503050406030204" pitchFamily="18" charset="0"/>
                            </a:rPr>
                            <m:t>𝛾</m:t>
                          </m:r>
                          <m:r>
                            <a:rPr lang="en-US" altLang="zh-CN" sz="2400" i="1">
                              <a:latin typeface="Cambria Math" panose="02040503050406030204" pitchFamily="18" charset="0"/>
                            </a:rPr>
                            <m:t>−1</m:t>
                          </m:r>
                        </m:sup>
                      </m:sSubSup>
                    </m:oMath>
                  </m:oMathPara>
                </a14:m>
                <a:endParaRPr lang="zh-CN" altLang="en-US" sz="2400" dirty="0"/>
              </a:p>
            </p:txBody>
          </p:sp>
        </mc:Choice>
        <mc:Fallback xmlns="">
          <p:sp>
            <p:nvSpPr>
              <p:cNvPr id="15" name="文本框 14">
                <a:extLst>
                  <a:ext uri="{FF2B5EF4-FFF2-40B4-BE49-F238E27FC236}">
                    <a16:creationId xmlns:a16="http://schemas.microsoft.com/office/drawing/2014/main" id="{9DC578CE-89B0-6A9F-D903-93152CEC7771}"/>
                  </a:ext>
                </a:extLst>
              </p:cNvPr>
              <p:cNvSpPr txBox="1">
                <a:spLocks noRot="1" noChangeAspect="1" noMove="1" noResize="1" noEditPoints="1" noAdjustHandles="1" noChangeArrowheads="1" noChangeShapeType="1" noTextEdit="1"/>
              </p:cNvSpPr>
              <p:nvPr/>
            </p:nvSpPr>
            <p:spPr>
              <a:xfrm>
                <a:off x="4290472" y="2130113"/>
                <a:ext cx="2378728" cy="43717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1026ED1-5832-9312-71F3-A9555884F123}"/>
                  </a:ext>
                </a:extLst>
              </p:cNvPr>
              <p:cNvSpPr txBox="1"/>
              <p:nvPr/>
            </p:nvSpPr>
            <p:spPr>
              <a:xfrm>
                <a:off x="631084" y="2972298"/>
                <a:ext cx="4798301" cy="522515"/>
              </a:xfrm>
              <a:prstGeom prst="rect">
                <a:avLst/>
              </a:prstGeom>
              <a:noFill/>
            </p:spPr>
            <p:txBody>
              <a:bodyPr wrap="none" lIns="0" tIns="0" rIns="0" bIns="0" rtlCol="0">
                <a:spAutoFit/>
              </a:bodyPr>
              <a:lstStyle/>
              <a:p>
                <a:r>
                  <a:rPr lang="zh-CN" altLang="en-US" sz="2400" dirty="0"/>
                  <a:t>代入</a:t>
                </a:r>
                <a14:m>
                  <m:oMath xmlns:m="http://schemas.openxmlformats.org/officeDocument/2006/math">
                    <m:r>
                      <a:rPr lang="zh-CN" altLang="en-US" sz="2400" i="1" smtClean="0">
                        <a:latin typeface="Cambria Math" panose="02040503050406030204" pitchFamily="18" charset="0"/>
                      </a:rPr>
                      <m:t>𝛾</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7</m:t>
                        </m:r>
                      </m:num>
                      <m:den>
                        <m:r>
                          <a:rPr lang="en-US" altLang="zh-CN" sz="2400" b="0" i="1" smtClean="0">
                            <a:latin typeface="Cambria Math" panose="02040503050406030204" pitchFamily="18" charset="0"/>
                          </a:rPr>
                          <m:t>5</m:t>
                        </m:r>
                      </m:den>
                    </m:f>
                    <m:r>
                      <a:rPr lang="zh-CN" altLang="en-US" sz="2400" i="1">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2</m:t>
                        </m:r>
                      </m:e>
                    </m:ra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r>
                      <a:rPr lang="zh-CN" altLang="en-US" sz="2400" i="1">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=2</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3</m:t>
                        </m:r>
                      </m:sub>
                    </m:sSub>
                    <m:r>
                      <a:rPr lang="zh-CN" altLang="en-US" sz="2400" i="1">
                        <a:latin typeface="Cambria Math" panose="02040503050406030204" pitchFamily="18" charset="0"/>
                      </a:rPr>
                      <m:t>得</m:t>
                    </m:r>
                  </m:oMath>
                </a14:m>
                <a:endParaRPr lang="zh-CN" altLang="en-US" sz="2400" dirty="0"/>
              </a:p>
            </p:txBody>
          </p:sp>
        </mc:Choice>
        <mc:Fallback xmlns="">
          <p:sp>
            <p:nvSpPr>
              <p:cNvPr id="16" name="文本框 15">
                <a:extLst>
                  <a:ext uri="{FF2B5EF4-FFF2-40B4-BE49-F238E27FC236}">
                    <a16:creationId xmlns:a16="http://schemas.microsoft.com/office/drawing/2014/main" id="{21026ED1-5832-9312-71F3-A9555884F123}"/>
                  </a:ext>
                </a:extLst>
              </p:cNvPr>
              <p:cNvSpPr txBox="1">
                <a:spLocks noRot="1" noChangeAspect="1" noMove="1" noResize="1" noEditPoints="1" noAdjustHandles="1" noChangeArrowheads="1" noChangeShapeType="1" noTextEdit="1"/>
              </p:cNvSpPr>
              <p:nvPr/>
            </p:nvSpPr>
            <p:spPr>
              <a:xfrm>
                <a:off x="631084" y="2972298"/>
                <a:ext cx="4798301" cy="522515"/>
              </a:xfrm>
              <a:prstGeom prst="rect">
                <a:avLst/>
              </a:prstGeom>
              <a:blipFill>
                <a:blip r:embed="rId7"/>
                <a:stretch>
                  <a:fillRect l="-3939" t="-3529" b="-211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12CCF94-528E-23B0-53E8-01CCEED65FB9}"/>
                  </a:ext>
                </a:extLst>
              </p:cNvPr>
              <p:cNvSpPr txBox="1"/>
              <p:nvPr/>
            </p:nvSpPr>
            <p:spPr>
              <a:xfrm>
                <a:off x="5866531" y="3048889"/>
                <a:ext cx="123617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=8</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oMath>
                  </m:oMathPara>
                </a14:m>
                <a:endParaRPr lang="zh-CN" altLang="en-US" sz="2400" dirty="0"/>
              </a:p>
            </p:txBody>
          </p:sp>
        </mc:Choice>
        <mc:Fallback xmlns="">
          <p:sp>
            <p:nvSpPr>
              <p:cNvPr id="17" name="文本框 16">
                <a:extLst>
                  <a:ext uri="{FF2B5EF4-FFF2-40B4-BE49-F238E27FC236}">
                    <a16:creationId xmlns:a16="http://schemas.microsoft.com/office/drawing/2014/main" id="{412CCF94-528E-23B0-53E8-01CCEED65FB9}"/>
                  </a:ext>
                </a:extLst>
              </p:cNvPr>
              <p:cNvSpPr txBox="1">
                <a:spLocks noRot="1" noChangeAspect="1" noMove="1" noResize="1" noEditPoints="1" noAdjustHandles="1" noChangeArrowheads="1" noChangeShapeType="1" noTextEdit="1"/>
              </p:cNvSpPr>
              <p:nvPr/>
            </p:nvSpPr>
            <p:spPr>
              <a:xfrm>
                <a:off x="5866531" y="3048889"/>
                <a:ext cx="1236172" cy="369332"/>
              </a:xfrm>
              <a:prstGeom prst="rect">
                <a:avLst/>
              </a:prstGeom>
              <a:blipFill>
                <a:blip r:embed="rId8"/>
                <a:stretch>
                  <a:fillRect l="-4433" r="-985"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E842219-0E2E-2AD0-BDF7-B83C61684388}"/>
                  </a:ext>
                </a:extLst>
              </p:cNvPr>
              <p:cNvSpPr txBox="1"/>
              <p:nvPr/>
            </p:nvSpPr>
            <p:spPr>
              <a:xfrm>
                <a:off x="631084" y="3887580"/>
                <a:ext cx="5241756" cy="7537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所以</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𝑄</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𝜈</m:t>
                      </m:r>
                      <m:r>
                        <a:rPr lang="en-US" altLang="zh-CN" sz="2400" b="0" i="1" smtClean="0">
                          <a:latin typeface="Cambria Math" panose="02040503050406030204" pitchFamily="18" charset="0"/>
                        </a:rPr>
                        <m:t>𝑅𝑇</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ln</m:t>
                          </m:r>
                        </m:fName>
                        <m:e>
                          <m:f>
                            <m:fPr>
                              <m:ctrlPr>
                                <a:rPr lang="en-US" altLang="zh-CN" sz="2400" b="0" i="1" smtClean="0">
                                  <a:latin typeface="Cambria Math" panose="02040503050406030204" pitchFamily="18" charset="0"/>
                                </a:rPr>
                              </m:ctrlPr>
                            </m:fPr>
                            <m:num>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1</m:t>
                                  </m:r>
                                </m:sub>
                              </m:sSub>
                            </m:num>
                            <m:den>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3</m:t>
                                  </m:r>
                                </m:sub>
                              </m:sSub>
                            </m:den>
                          </m:f>
                          <m:r>
                            <a:rPr lang="en-US" altLang="zh-CN" sz="2400" b="0" i="1" smtClean="0">
                              <a:latin typeface="Cambria Math" panose="02040503050406030204" pitchFamily="18" charset="0"/>
                            </a:rPr>
                            <m:t>=−3</m:t>
                          </m:r>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ln</m:t>
                              </m:r>
                            </m:fName>
                            <m:e>
                              <m:r>
                                <a:rPr lang="en-US" altLang="zh-CN" sz="2400" b="0" i="1" smtClean="0">
                                  <a:latin typeface="Cambria Math" panose="02040503050406030204" pitchFamily="18" charset="0"/>
                                </a:rPr>
                                <m:t>2</m:t>
                              </m:r>
                            </m:e>
                          </m:func>
                          <m:r>
                            <a:rPr lang="en-US" altLang="zh-CN" sz="2400" b="0" i="1" smtClean="0">
                              <a:latin typeface="Cambria Math" panose="02040503050406030204" pitchFamily="18" charset="0"/>
                            </a:rPr>
                            <m:t>𝑅</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1</m:t>
                              </m:r>
                            </m:sub>
                          </m:sSub>
                        </m:e>
                      </m:func>
                    </m:oMath>
                  </m:oMathPara>
                </a14:m>
                <a:endParaRPr lang="zh-CN" altLang="en-US" sz="2400" dirty="0"/>
              </a:p>
            </p:txBody>
          </p:sp>
        </mc:Choice>
        <mc:Fallback xmlns="">
          <p:sp>
            <p:nvSpPr>
              <p:cNvPr id="18" name="文本框 17">
                <a:extLst>
                  <a:ext uri="{FF2B5EF4-FFF2-40B4-BE49-F238E27FC236}">
                    <a16:creationId xmlns:a16="http://schemas.microsoft.com/office/drawing/2014/main" id="{9E842219-0E2E-2AD0-BDF7-B83C61684388}"/>
                  </a:ext>
                </a:extLst>
              </p:cNvPr>
              <p:cNvSpPr txBox="1">
                <a:spLocks noRot="1" noChangeAspect="1" noMove="1" noResize="1" noEditPoints="1" noAdjustHandles="1" noChangeArrowheads="1" noChangeShapeType="1" noTextEdit="1"/>
              </p:cNvSpPr>
              <p:nvPr/>
            </p:nvSpPr>
            <p:spPr>
              <a:xfrm>
                <a:off x="631084" y="3887580"/>
                <a:ext cx="5241756" cy="753732"/>
              </a:xfrm>
              <a:prstGeom prst="rect">
                <a:avLst/>
              </a:prstGeom>
              <a:blipFill>
                <a:blip r:embed="rId9"/>
                <a:stretch>
                  <a:fillRect/>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B10620D0-72B7-2F01-6EAB-416F93763BA9}"/>
              </a:ext>
            </a:extLst>
          </p:cNvPr>
          <p:cNvSpPr txBox="1"/>
          <p:nvPr/>
        </p:nvSpPr>
        <p:spPr>
          <a:xfrm>
            <a:off x="578050" y="4788179"/>
            <a:ext cx="2510089" cy="534634"/>
          </a:xfrm>
          <a:prstGeom prst="rect">
            <a:avLst/>
          </a:prstGeom>
          <a:noFill/>
        </p:spPr>
        <p:txBody>
          <a:bodyPr wrap="square">
            <a:spAutoFit/>
          </a:bodyPr>
          <a:lstStyle/>
          <a:p>
            <a:pPr>
              <a:lnSpc>
                <a:spcPct val="130000"/>
              </a:lnSpc>
            </a:pPr>
            <a:r>
              <a:rPr lang="zh-CN" altLang="en-US" sz="2400" dirty="0">
                <a:latin typeface="+mn-ea"/>
                <a:cs typeface="Times New Roman" panose="02020603050405020304" pitchFamily="18" charset="0"/>
              </a:rPr>
              <a:t>(2) 此循环的效率。</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CA0E426-44B2-180D-BD10-CCC502E02858}"/>
                  </a:ext>
                </a:extLst>
              </p:cNvPr>
              <p:cNvSpPr txBox="1"/>
              <p:nvPr/>
            </p:nvSpPr>
            <p:spPr>
              <a:xfrm>
                <a:off x="597410" y="5528188"/>
                <a:ext cx="7363082" cy="8668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zh-CN"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𝜂</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f>
                        <m:f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begChr m:val="|"/>
                              <m:end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𝑄</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m:t>
                                  </m:r>
                                </m:sub>
                              </m:sSub>
                            </m:e>
                          </m:d>
                        </m:num>
                        <m:den>
                          <m:sSub>
                            <m:sSub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𝑄</m:t>
                              </m:r>
                            </m:e>
                            <m:sub>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f>
                        <m:fPr>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d>
                            <m:dPr>
                              <m:begChr m:val="|"/>
                              <m:endChr m:val="|"/>
                              <m:ctrlP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−3</m:t>
                              </m:r>
                              <m:func>
                                <m:func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funcPr>
                                <m:fName>
                                  <m:r>
                                    <m:rPr>
                                      <m:sty m:val="p"/>
                                    </m:rPr>
                                    <a:rPr kumimoji="0" lang="en-US" altLang="zh-CN" sz="2400" b="0" i="0" u="none" strike="noStrike" kern="1200" cap="none" spc="0" normalizeH="0" baseline="0" noProof="0">
                                      <a:ln>
                                        <a:noFill/>
                                      </a:ln>
                                      <a:solidFill>
                                        <a:prstClr val="black"/>
                                      </a:solidFill>
                                      <a:effectLst/>
                                      <a:uLnTx/>
                                      <a:uFillTx/>
                                      <a:latin typeface="Cambria Math" panose="02040503050406030204" pitchFamily="18" charset="0"/>
                                      <a:cs typeface="+mn-cs"/>
                                    </a:rPr>
                                    <m:t>ln</m:t>
                                  </m:r>
                                </m:fName>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2</m:t>
                                  </m:r>
                                </m:e>
                              </m:func>
                            </m:e>
                          </m:d>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𝑅</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𝑇</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num>
                        <m:den>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3</m:t>
                          </m:r>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𝑅</m:t>
                          </m:r>
                          <m:sSub>
                            <m:sSubPr>
                              <m:ctrlP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𝑇</m:t>
                              </m:r>
                            </m:e>
                            <m:sub>
                              <m:r>
                                <a:rPr kumimoji="0" lang="en-US" altLang="zh-CN"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den>
                      </m:f>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×100%</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=30.69</m:t>
                      </m:r>
                      <m:r>
                        <a:rPr kumimoji="0" lang="en-US" altLang="zh-CN"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m:oMathPara>
                </a14:m>
                <a:endParaRPr kumimoji="0" lang="zh-CN" altLang="en-US" sz="24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mc:Choice>
        <mc:Fallback xmlns="">
          <p:sp>
            <p:nvSpPr>
              <p:cNvPr id="3" name="文本框 2">
                <a:extLst>
                  <a:ext uri="{FF2B5EF4-FFF2-40B4-BE49-F238E27FC236}">
                    <a16:creationId xmlns:a16="http://schemas.microsoft.com/office/drawing/2014/main" id="{6CA0E426-44B2-180D-BD10-CCC502E02858}"/>
                  </a:ext>
                </a:extLst>
              </p:cNvPr>
              <p:cNvSpPr txBox="1">
                <a:spLocks noRot="1" noChangeAspect="1" noMove="1" noResize="1" noEditPoints="1" noAdjustHandles="1" noChangeArrowheads="1" noChangeShapeType="1" noTextEdit="1"/>
              </p:cNvSpPr>
              <p:nvPr/>
            </p:nvSpPr>
            <p:spPr>
              <a:xfrm>
                <a:off x="597410" y="5528188"/>
                <a:ext cx="7363082" cy="866840"/>
              </a:xfrm>
              <a:prstGeom prst="rect">
                <a:avLst/>
              </a:prstGeom>
              <a:blipFill>
                <a:blip r:embed="rId10"/>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DBA664FB-E066-C67F-7242-50B6B6AFBB5D}"/>
              </a:ext>
            </a:extLst>
          </p:cNvPr>
          <p:cNvSpPr txBox="1"/>
          <p:nvPr/>
        </p:nvSpPr>
        <p:spPr>
          <a:xfrm>
            <a:off x="3461827" y="4861148"/>
            <a:ext cx="6170688" cy="461665"/>
          </a:xfrm>
          <a:prstGeom prst="rect">
            <a:avLst/>
          </a:prstGeom>
          <a:noFill/>
        </p:spPr>
        <p:txBody>
          <a:bodyPr wrap="square" rtlCol="0">
            <a:spAutoFit/>
          </a:bodyPr>
          <a:lstStyle/>
          <a:p>
            <a:r>
              <a:rPr lang="zh-CN" altLang="en-US" sz="2400" dirty="0"/>
              <a:t>由图像的顺时针方向可知该循环是热机循环，</a:t>
            </a:r>
          </a:p>
        </p:txBody>
      </p:sp>
    </p:spTree>
    <p:extLst>
      <p:ext uri="{BB962C8B-B14F-4D97-AF65-F5344CB8AC3E}">
        <p14:creationId xmlns:p14="http://schemas.microsoft.com/office/powerpoint/2010/main" val="42539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P spid="14" grpId="0"/>
      <p:bldP spid="15" grpId="0"/>
      <p:bldP spid="16" grpId="0"/>
      <p:bldP spid="17" grpId="0"/>
      <p:bldP spid="18" grpId="0"/>
      <p:bldP spid="19" grpId="0"/>
      <p:bldP spid="3"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CC79E73-11B6-4B33-8A79-0EA56E195F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79473" y="701643"/>
            <a:ext cx="2952328" cy="2645073"/>
          </a:xfrm>
          <a:prstGeom prst="rect">
            <a:avLst/>
          </a:prstGeom>
        </p:spPr>
      </p:pic>
      <p:sp>
        <p:nvSpPr>
          <p:cNvPr id="4" name="Text Box 2">
            <a:extLst>
              <a:ext uri="{FF2B5EF4-FFF2-40B4-BE49-F238E27FC236}">
                <a16:creationId xmlns:a16="http://schemas.microsoft.com/office/drawing/2014/main" id="{0FE3B0BF-2395-4D53-90B0-38F1E0201A17}"/>
              </a:ext>
            </a:extLst>
          </p:cNvPr>
          <p:cNvSpPr txBox="1">
            <a:spLocks noChangeArrowheads="1"/>
          </p:cNvSpPr>
          <p:nvPr/>
        </p:nvSpPr>
        <p:spPr bwMode="auto">
          <a:xfrm>
            <a:off x="761681" y="701643"/>
            <a:ext cx="6736399" cy="235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pPr>
            <a:r>
              <a:rPr lang="en-US" altLang="zh-CN" dirty="0"/>
              <a:t>7</a:t>
            </a:r>
            <a:r>
              <a:rPr lang="zh-CN" altLang="en-US" dirty="0"/>
              <a:t>：如图为一理想气体的循环过程，由</a:t>
            </a:r>
            <a:r>
              <a:rPr lang="en-US" altLang="zh-CN" dirty="0"/>
              <a:t>3</a:t>
            </a:r>
            <a:r>
              <a:rPr lang="zh-CN" altLang="en-US" dirty="0"/>
              <a:t>条等温线和</a:t>
            </a:r>
            <a:r>
              <a:rPr lang="en-US" altLang="zh-CN" dirty="0"/>
              <a:t>3</a:t>
            </a:r>
            <a:r>
              <a:rPr lang="zh-CN" altLang="en-US" dirty="0"/>
              <a:t>条绝热线组成的。</a:t>
            </a:r>
            <a:r>
              <a:rPr lang="en-US" altLang="zh-CN" dirty="0"/>
              <a:t>3</a:t>
            </a:r>
            <a:r>
              <a:rPr lang="zh-CN" altLang="en-US" dirty="0"/>
              <a:t>个等温过程的温度分别为</a:t>
            </a:r>
            <a:r>
              <a:rPr lang="en-US" altLang="zh-CN" i="1" dirty="0"/>
              <a:t>T</a:t>
            </a:r>
            <a:r>
              <a:rPr lang="en-US" altLang="zh-CN" baseline="-25000" dirty="0"/>
              <a:t>1</a:t>
            </a:r>
            <a:r>
              <a:rPr lang="zh-CN" altLang="en-US" dirty="0"/>
              <a:t>、</a:t>
            </a:r>
            <a:r>
              <a:rPr lang="en-US" altLang="zh-CN" i="1" dirty="0"/>
              <a:t>T</a:t>
            </a:r>
            <a:r>
              <a:rPr lang="en-US" altLang="zh-CN" baseline="-25000" dirty="0"/>
              <a:t>2 </a:t>
            </a:r>
            <a:r>
              <a:rPr lang="zh-CN" altLang="en-US" dirty="0"/>
              <a:t>和</a:t>
            </a:r>
            <a:r>
              <a:rPr lang="en-US" altLang="zh-CN" i="1" dirty="0"/>
              <a:t>T</a:t>
            </a:r>
            <a:r>
              <a:rPr lang="en-US" altLang="zh-CN" baseline="-25000" dirty="0"/>
              <a:t>3</a:t>
            </a:r>
            <a:r>
              <a:rPr lang="zh-CN" altLang="en-US" dirty="0"/>
              <a:t>，等温膨胀过程 </a:t>
            </a:r>
            <a:r>
              <a:rPr lang="en-US" altLang="zh-CN" i="1" dirty="0"/>
              <a:t>ab </a:t>
            </a:r>
            <a:r>
              <a:rPr lang="zh-CN" altLang="en-US" dirty="0"/>
              <a:t>与 </a:t>
            </a:r>
            <a:r>
              <a:rPr lang="en-US" altLang="zh-CN" i="1" dirty="0"/>
              <a:t>cd </a:t>
            </a:r>
            <a:r>
              <a:rPr lang="zh-CN" altLang="en-US" dirty="0"/>
              <a:t>中体积增长倍数相同。</a:t>
            </a:r>
            <a:endParaRPr lang="en-US" altLang="zh-CN" dirty="0"/>
          </a:p>
          <a:p>
            <a:pPr eaLnBrk="1" hangingPunct="1">
              <a:lnSpc>
                <a:spcPct val="125000"/>
              </a:lnSpc>
            </a:pPr>
            <a:r>
              <a:rPr lang="zh-CN" altLang="en-US" dirty="0"/>
              <a:t>求此循环的效率？</a:t>
            </a:r>
            <a:endParaRPr lang="en-US" altLang="zh-CN" dirty="0"/>
          </a:p>
        </p:txBody>
      </p:sp>
    </p:spTree>
    <p:extLst>
      <p:ext uri="{BB962C8B-B14F-4D97-AF65-F5344CB8AC3E}">
        <p14:creationId xmlns:p14="http://schemas.microsoft.com/office/powerpoint/2010/main" val="2331087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E6BCF24-7138-4A29-9BAC-6D1EC036AA5C}"/>
              </a:ext>
            </a:extLst>
          </p:cNvPr>
          <p:cNvPicPr>
            <a:picLocks noChangeAspect="1"/>
          </p:cNvPicPr>
          <p:nvPr/>
        </p:nvPicPr>
        <p:blipFill>
          <a:blip r:embed="rId2"/>
          <a:stretch>
            <a:fillRect/>
          </a:stretch>
        </p:blipFill>
        <p:spPr>
          <a:xfrm>
            <a:off x="1539895" y="0"/>
            <a:ext cx="9112210" cy="6858000"/>
          </a:xfrm>
          <a:prstGeom prst="rect">
            <a:avLst/>
          </a:prstGeom>
        </p:spPr>
      </p:pic>
    </p:spTree>
    <p:extLst>
      <p:ext uri="{BB962C8B-B14F-4D97-AF65-F5344CB8AC3E}">
        <p14:creationId xmlns:p14="http://schemas.microsoft.com/office/powerpoint/2010/main" val="1649279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A719EF4-8A62-4C12-BE24-209F8EF6795F}"/>
              </a:ext>
            </a:extLst>
          </p:cNvPr>
          <p:cNvPicPr>
            <a:picLocks noChangeAspect="1"/>
          </p:cNvPicPr>
          <p:nvPr/>
        </p:nvPicPr>
        <p:blipFill>
          <a:blip r:embed="rId2"/>
          <a:stretch>
            <a:fillRect/>
          </a:stretch>
        </p:blipFill>
        <p:spPr>
          <a:xfrm>
            <a:off x="1532692" y="0"/>
            <a:ext cx="9126616" cy="6858000"/>
          </a:xfrm>
          <a:prstGeom prst="rect">
            <a:avLst/>
          </a:prstGeom>
        </p:spPr>
      </p:pic>
    </p:spTree>
    <p:extLst>
      <p:ext uri="{BB962C8B-B14F-4D97-AF65-F5344CB8AC3E}">
        <p14:creationId xmlns:p14="http://schemas.microsoft.com/office/powerpoint/2010/main" val="2067187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24280F4-EBEC-4169-B89A-95C13A511F79}"/>
              </a:ext>
            </a:extLst>
          </p:cNvPr>
          <p:cNvPicPr>
            <a:picLocks noChangeAspect="1"/>
          </p:cNvPicPr>
          <p:nvPr/>
        </p:nvPicPr>
        <p:blipFill>
          <a:blip r:embed="rId2"/>
          <a:stretch>
            <a:fillRect/>
          </a:stretch>
        </p:blipFill>
        <p:spPr>
          <a:xfrm>
            <a:off x="1532692" y="0"/>
            <a:ext cx="9126616" cy="6858000"/>
          </a:xfrm>
          <a:prstGeom prst="rect">
            <a:avLst/>
          </a:prstGeom>
        </p:spPr>
      </p:pic>
    </p:spTree>
    <p:extLst>
      <p:ext uri="{BB962C8B-B14F-4D97-AF65-F5344CB8AC3E}">
        <p14:creationId xmlns:p14="http://schemas.microsoft.com/office/powerpoint/2010/main" val="2403127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798209" y="980985"/>
                <a:ext cx="10595582" cy="4037452"/>
              </a:xfrm>
              <a:prstGeom prst="rect">
                <a:avLst/>
              </a:prstGeom>
              <a:noFill/>
            </p:spPr>
            <p:txBody>
              <a:bodyPr wrap="square" rtlCol="0">
                <a:spAutoFit/>
              </a:bodyPr>
              <a:lstStyle/>
              <a:p>
                <a:pPr>
                  <a:lnSpc>
                    <a:spcPct val="130000"/>
                  </a:lnSpc>
                </a:pPr>
                <a:r>
                  <a:rPr lang="en-US" altLang="zh-CN" sz="3200" dirty="0">
                    <a:latin typeface="+mn-ea"/>
                    <a:cs typeface="Times New Roman" panose="02020603050405020304" pitchFamily="18" charset="0"/>
                  </a:rPr>
                  <a:t>8.  </a:t>
                </a:r>
                <a:r>
                  <a:rPr lang="zh-CN" altLang="en-US" sz="3200" dirty="0">
                    <a:latin typeface="+mn-ea"/>
                    <a:cs typeface="Times New Roman" panose="02020603050405020304" pitchFamily="18" charset="0"/>
                  </a:rPr>
                  <a:t>一容器内储有氧气，其压强</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𝑃</m:t>
                    </m:r>
                    <m:r>
                      <a:rPr lang="en-US" altLang="zh-CN" sz="3200" b="0" i="1" smtClean="0">
                        <a:latin typeface="Cambria Math" panose="02040503050406030204" pitchFamily="18" charset="0"/>
                        <a:cs typeface="Times New Roman" panose="02020603050405020304" pitchFamily="18" charset="0"/>
                      </a:rPr>
                      <m:t>=1.0</m:t>
                    </m:r>
                    <m:r>
                      <a:rPr lang="en-US" altLang="zh-CN" sz="3200" b="0" i="1" smtClean="0">
                        <a:latin typeface="Cambria Math" panose="02040503050406030204" pitchFamily="18" charset="0"/>
                        <a:cs typeface="Times New Roman" panose="02020603050405020304" pitchFamily="18" charset="0"/>
                      </a:rPr>
                      <m:t>𝑎𝑡𝑚</m:t>
                    </m:r>
                  </m:oMath>
                </a14:m>
                <a:r>
                  <a:rPr lang="zh-CN" altLang="en-US" sz="3200" dirty="0">
                    <a:latin typeface="+mn-ea"/>
                    <a:cs typeface="Times New Roman" panose="02020603050405020304" pitchFamily="18" charset="0"/>
                  </a:rPr>
                  <a:t>，温度</a:t>
                </a:r>
                <a14:m>
                  <m:oMath xmlns:m="http://schemas.openxmlformats.org/officeDocument/2006/math">
                    <m:r>
                      <a:rPr lang="en-US" altLang="zh-CN" sz="3200" i="1">
                        <a:latin typeface="Cambria Math" panose="02040503050406030204" pitchFamily="18" charset="0"/>
                        <a:cs typeface="Times New Roman" panose="02020603050405020304" pitchFamily="18" charset="0"/>
                      </a:rPr>
                      <m:t>𝑡</m:t>
                    </m:r>
                    <m:r>
                      <a:rPr lang="en-US" altLang="zh-CN" sz="3200" i="1">
                        <a:latin typeface="Cambria Math" panose="02040503050406030204" pitchFamily="18" charset="0"/>
                        <a:cs typeface="Times New Roman" panose="02020603050405020304" pitchFamily="18" charset="0"/>
                      </a:rPr>
                      <m:t>=27℃</m:t>
                    </m:r>
                  </m:oMath>
                </a14:m>
                <a:r>
                  <a:rPr lang="en-US" altLang="zh-CN" sz="3200" b="0" i="1" dirty="0">
                    <a:latin typeface="Cambria Math" panose="02040503050406030204" pitchFamily="18" charset="0"/>
                    <a:cs typeface="Times New Roman" panose="02020603050405020304" pitchFamily="18" charset="0"/>
                  </a:rPr>
                  <a:t>,</a:t>
                </a:r>
              </a:p>
              <a:p>
                <a:pPr>
                  <a:lnSpc>
                    <a:spcPct val="130000"/>
                  </a:lnSpc>
                </a:pPr>
                <a:r>
                  <a:rPr lang="zh-CN" altLang="en-US" sz="3200" dirty="0">
                    <a:latin typeface="+mn-ea"/>
                    <a:cs typeface="Times New Roman" panose="02020603050405020304" pitchFamily="18" charset="0"/>
                  </a:rPr>
                  <a:t>求：</a:t>
                </a:r>
                <a:endParaRPr lang="en-US" altLang="zh-CN" sz="3200" dirty="0">
                  <a:latin typeface="+mn-ea"/>
                  <a:cs typeface="Times New Roman" panose="02020603050405020304" pitchFamily="18" charset="0"/>
                </a:endParaRPr>
              </a:p>
              <a:p>
                <a:pPr indent="-342900">
                  <a:lnSpc>
                    <a:spcPct val="130000"/>
                  </a:lnSpc>
                  <a:buAutoNum type="arabicParenBoth"/>
                </a:pPr>
                <a:r>
                  <a:rPr lang="zh-CN" altLang="en-US" sz="3200" dirty="0">
                    <a:latin typeface="+mn-ea"/>
                    <a:cs typeface="Times New Roman" panose="02020603050405020304" pitchFamily="18" charset="0"/>
                  </a:rPr>
                  <a:t>  单位体积内的分子数</a:t>
                </a:r>
                <a:endParaRPr lang="en-US" altLang="zh-CN" sz="3200" dirty="0">
                  <a:latin typeface="+mn-ea"/>
                  <a:cs typeface="Times New Roman" panose="02020603050405020304" pitchFamily="18" charset="0"/>
                </a:endParaRPr>
              </a:p>
              <a:p>
                <a:pPr indent="-342900">
                  <a:lnSpc>
                    <a:spcPct val="130000"/>
                  </a:lnSpc>
                  <a:buAutoNum type="arabicParenBoth"/>
                </a:pPr>
                <a:r>
                  <a:rPr lang="zh-CN" altLang="en-US" sz="3200" dirty="0">
                    <a:latin typeface="+mn-ea"/>
                    <a:cs typeface="Times New Roman" panose="02020603050405020304" pitchFamily="18" charset="0"/>
                  </a:rPr>
                  <a:t>  氧气的密度</a:t>
                </a:r>
                <a:endParaRPr lang="en-US" altLang="zh-CN" sz="3200" dirty="0">
                  <a:latin typeface="+mn-ea"/>
                  <a:cs typeface="Times New Roman" panose="02020603050405020304" pitchFamily="18" charset="0"/>
                </a:endParaRPr>
              </a:p>
              <a:p>
                <a:pPr indent="-342900">
                  <a:lnSpc>
                    <a:spcPct val="130000"/>
                  </a:lnSpc>
                  <a:buAutoNum type="arabicParenBoth"/>
                </a:pPr>
                <a:r>
                  <a:rPr lang="zh-CN" altLang="en-US" sz="3200" dirty="0">
                    <a:latin typeface="+mn-ea"/>
                    <a:cs typeface="Times New Roman" panose="02020603050405020304" pitchFamily="18" charset="0"/>
                  </a:rPr>
                  <a:t>  氧分子的质量</a:t>
                </a:r>
                <a:endParaRPr lang="en-US" altLang="zh-CN" sz="3200" dirty="0">
                  <a:latin typeface="+mn-ea"/>
                  <a:cs typeface="Times New Roman" panose="02020603050405020304" pitchFamily="18" charset="0"/>
                </a:endParaRPr>
              </a:p>
              <a:p>
                <a:pPr indent="-342900">
                  <a:lnSpc>
                    <a:spcPct val="130000"/>
                  </a:lnSpc>
                  <a:buAutoNum type="arabicParenBoth"/>
                </a:pPr>
                <a:r>
                  <a:rPr lang="zh-CN" altLang="en-US" sz="3200" dirty="0">
                    <a:latin typeface="+mn-ea"/>
                    <a:cs typeface="Times New Roman" panose="02020603050405020304" pitchFamily="18" charset="0"/>
                  </a:rPr>
                  <a:t>  分子的平均动能</a:t>
                </a:r>
              </a:p>
            </p:txBody>
          </p:sp>
        </mc:Choice>
        <mc:Fallback xmlns="">
          <p:sp>
            <p:nvSpPr>
              <p:cNvPr id="2" name="文本框 1"/>
              <p:cNvSpPr txBox="1">
                <a:spLocks noRot="1" noChangeAspect="1" noMove="1" noResize="1" noEditPoints="1" noAdjustHandles="1" noChangeArrowheads="1" noChangeShapeType="1" noTextEdit="1"/>
              </p:cNvSpPr>
              <p:nvPr/>
            </p:nvSpPr>
            <p:spPr>
              <a:xfrm>
                <a:off x="798209" y="980985"/>
                <a:ext cx="10595582" cy="4037452"/>
              </a:xfrm>
              <a:prstGeom prst="rect">
                <a:avLst/>
              </a:prstGeom>
              <a:blipFill>
                <a:blip r:embed="rId2"/>
                <a:stretch>
                  <a:fillRect l="-1496" r="-403" b="-3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93302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A78E8E2-5CC0-4B1F-0177-8B88A7562D2A}"/>
              </a:ext>
            </a:extLst>
          </p:cNvPr>
          <p:cNvSpPr/>
          <p:nvPr/>
        </p:nvSpPr>
        <p:spPr>
          <a:xfrm>
            <a:off x="674918" y="2235459"/>
            <a:ext cx="6848061" cy="400110"/>
          </a:xfrm>
          <a:prstGeom prst="rect">
            <a:avLst/>
          </a:prstGeom>
        </p:spPr>
        <p:txBody>
          <a:bodyPr wrap="square">
            <a:spAutoFit/>
          </a:bodyPr>
          <a:lstStyle/>
          <a:p>
            <a:r>
              <a:rPr lang="zh-CN" altLang="en-US" sz="2000" dirty="0">
                <a:solidFill>
                  <a:prstClr val="black"/>
                </a:solidFill>
                <a:latin typeface="等线" panose="02010600030101010101" pitchFamily="2" charset="-122"/>
                <a:cs typeface="Times New Roman" panose="02020603050405020304" pitchFamily="18" charset="0"/>
              </a:rPr>
              <a:t> （</a:t>
            </a:r>
            <a:r>
              <a:rPr lang="en-US" altLang="zh-CN" sz="2000" dirty="0">
                <a:solidFill>
                  <a:prstClr val="black"/>
                </a:solidFill>
                <a:latin typeface="等线" panose="02010600030101010101" pitchFamily="2" charset="-122"/>
                <a:cs typeface="Times New Roman" panose="02020603050405020304" pitchFamily="18" charset="0"/>
              </a:rPr>
              <a:t>1</a:t>
            </a:r>
            <a:r>
              <a:rPr lang="zh-CN" altLang="en-US" sz="2000" dirty="0">
                <a:solidFill>
                  <a:prstClr val="black"/>
                </a:solidFill>
                <a:latin typeface="等线" panose="02010600030101010101" pitchFamily="2" charset="-122"/>
                <a:cs typeface="Times New Roman" panose="02020603050405020304" pitchFamily="18" charset="0"/>
              </a:rPr>
              <a:t>）</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单位体积内的分子数</a:t>
            </a:r>
            <a:endParaRPr lang="zh-CN" altLang="en-US" sz="2000" dirty="0">
              <a:latin typeface="楷体" panose="02010609060101010101" pitchFamily="49" charset="-122"/>
              <a:ea typeface="楷体" panose="02010609060101010101" pitchFamily="49" charset="-122"/>
            </a:endParaRPr>
          </a:p>
        </p:txBody>
      </p:sp>
      <p:sp>
        <p:nvSpPr>
          <p:cNvPr id="9" name="文本框 8">
            <a:extLst>
              <a:ext uri="{FF2B5EF4-FFF2-40B4-BE49-F238E27FC236}">
                <a16:creationId xmlns:a16="http://schemas.microsoft.com/office/drawing/2014/main" id="{0DAF4440-BB0E-D87E-A0EA-33F1EFC9FC85}"/>
              </a:ext>
            </a:extLst>
          </p:cNvPr>
          <p:cNvSpPr txBox="1"/>
          <p:nvPr/>
        </p:nvSpPr>
        <p:spPr>
          <a:xfrm>
            <a:off x="1452487" y="2803658"/>
            <a:ext cx="9745317"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由          得  </a:t>
            </a:r>
          </a:p>
        </p:txBody>
      </p:sp>
      <p:pic>
        <p:nvPicPr>
          <p:cNvPr id="10" name="图片 9">
            <a:extLst>
              <a:ext uri="{FF2B5EF4-FFF2-40B4-BE49-F238E27FC236}">
                <a16:creationId xmlns:a16="http://schemas.microsoft.com/office/drawing/2014/main" id="{65B86B54-571E-94E7-8FAF-E341D8C92DD1}"/>
              </a:ext>
            </a:extLst>
          </p:cNvPr>
          <p:cNvPicPr>
            <a:picLocks noChangeAspect="1"/>
          </p:cNvPicPr>
          <p:nvPr/>
        </p:nvPicPr>
        <p:blipFill>
          <a:blip r:embed="rId2"/>
          <a:stretch>
            <a:fillRect/>
          </a:stretch>
        </p:blipFill>
        <p:spPr>
          <a:xfrm>
            <a:off x="1934187" y="2850529"/>
            <a:ext cx="1048678" cy="353239"/>
          </a:xfrm>
          <a:prstGeom prst="rect">
            <a:avLst/>
          </a:prstGeom>
        </p:spPr>
      </p:pic>
      <p:sp>
        <p:nvSpPr>
          <p:cNvPr id="12" name="矩形 11">
            <a:extLst>
              <a:ext uri="{FF2B5EF4-FFF2-40B4-BE49-F238E27FC236}">
                <a16:creationId xmlns:a16="http://schemas.microsoft.com/office/drawing/2014/main" id="{3724DA39-73E9-F56A-F680-03C36A76080A}"/>
              </a:ext>
            </a:extLst>
          </p:cNvPr>
          <p:cNvSpPr/>
          <p:nvPr/>
        </p:nvSpPr>
        <p:spPr>
          <a:xfrm>
            <a:off x="545710" y="3662116"/>
            <a:ext cx="2313454" cy="400110"/>
          </a:xfrm>
          <a:prstGeom prst="rect">
            <a:avLst/>
          </a:prstGeom>
        </p:spPr>
        <p:txBody>
          <a:bodyPr wrap="none">
            <a:spAutoFit/>
          </a:bodyPr>
          <a:lstStyle/>
          <a:p>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2000" dirty="0">
                <a:solidFill>
                  <a:prstClr val="black"/>
                </a:solidFill>
                <a:latin typeface="等线" panose="02010600030101010101" pitchFamily="2" charset="-122"/>
                <a:cs typeface="Times New Roman" panose="02020603050405020304" pitchFamily="18" charset="0"/>
              </a:rPr>
              <a:t> （</a:t>
            </a:r>
            <a:r>
              <a:rPr lang="en-US" altLang="zh-CN" sz="2000" dirty="0">
                <a:solidFill>
                  <a:prstClr val="black"/>
                </a:solidFill>
                <a:latin typeface="等线" panose="02010600030101010101" pitchFamily="2" charset="-122"/>
                <a:cs typeface="Times New Roman" panose="02020603050405020304" pitchFamily="18" charset="0"/>
              </a:rPr>
              <a:t>2</a:t>
            </a:r>
            <a:r>
              <a:rPr lang="zh-CN" altLang="en-US" sz="2000" dirty="0">
                <a:solidFill>
                  <a:prstClr val="black"/>
                </a:solidFill>
                <a:latin typeface="等线" panose="02010600030101010101" pitchFamily="2" charset="-122"/>
                <a:cs typeface="Times New Roman" panose="02020603050405020304" pitchFamily="18" charset="0"/>
              </a:rPr>
              <a:t>）</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氧气的密度</a:t>
            </a:r>
            <a:endParaRPr lang="zh-CN" altLang="en-US" sz="2000" dirty="0">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0CC01CB9-221F-DD7D-1C9D-EEC909A84275}"/>
              </a:ext>
            </a:extLst>
          </p:cNvPr>
          <p:cNvSpPr txBox="1"/>
          <p:nvPr/>
        </p:nvSpPr>
        <p:spPr>
          <a:xfrm>
            <a:off x="1514047" y="4336790"/>
            <a:ext cx="5849592"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由            得  </a:t>
            </a:r>
          </a:p>
        </p:txBody>
      </p:sp>
      <p:pic>
        <p:nvPicPr>
          <p:cNvPr id="14" name="图片 13">
            <a:extLst>
              <a:ext uri="{FF2B5EF4-FFF2-40B4-BE49-F238E27FC236}">
                <a16:creationId xmlns:a16="http://schemas.microsoft.com/office/drawing/2014/main" id="{490DD1A0-2CF3-7B43-7AEC-13B6DA439A95}"/>
              </a:ext>
            </a:extLst>
          </p:cNvPr>
          <p:cNvPicPr>
            <a:picLocks noChangeAspect="1"/>
          </p:cNvPicPr>
          <p:nvPr/>
        </p:nvPicPr>
        <p:blipFill>
          <a:blip r:embed="rId3"/>
          <a:stretch>
            <a:fillRect/>
          </a:stretch>
        </p:blipFill>
        <p:spPr>
          <a:xfrm>
            <a:off x="2008994" y="4230315"/>
            <a:ext cx="1288196" cy="630394"/>
          </a:xfrm>
          <a:prstGeom prst="rect">
            <a:avLst/>
          </a:prstGeom>
        </p:spPr>
      </p:pic>
      <p:pic>
        <p:nvPicPr>
          <p:cNvPr id="19" name="图片 18">
            <a:extLst>
              <a:ext uri="{FF2B5EF4-FFF2-40B4-BE49-F238E27FC236}">
                <a16:creationId xmlns:a16="http://schemas.microsoft.com/office/drawing/2014/main" id="{BF0DEF94-D61E-E68A-4D91-7DE1AB2D4FFA}"/>
              </a:ext>
            </a:extLst>
          </p:cNvPr>
          <p:cNvPicPr>
            <a:picLocks noChangeAspect="1"/>
          </p:cNvPicPr>
          <p:nvPr/>
        </p:nvPicPr>
        <p:blipFill>
          <a:blip r:embed="rId4"/>
          <a:stretch>
            <a:fillRect/>
          </a:stretch>
        </p:blipFill>
        <p:spPr>
          <a:xfrm>
            <a:off x="4190241" y="4230315"/>
            <a:ext cx="1269925" cy="630394"/>
          </a:xfrm>
          <a:prstGeom prst="rect">
            <a:avLst/>
          </a:prstGeom>
        </p:spPr>
      </p:pic>
      <p:sp>
        <p:nvSpPr>
          <p:cNvPr id="20" name="文本框 19">
            <a:extLst>
              <a:ext uri="{FF2B5EF4-FFF2-40B4-BE49-F238E27FC236}">
                <a16:creationId xmlns:a16="http://schemas.microsoft.com/office/drawing/2014/main" id="{32E69CBD-D574-415A-713A-0296CAA62C29}"/>
              </a:ext>
            </a:extLst>
          </p:cNvPr>
          <p:cNvSpPr txBox="1"/>
          <p:nvPr/>
        </p:nvSpPr>
        <p:spPr>
          <a:xfrm>
            <a:off x="6183112" y="4668467"/>
            <a:ext cx="65" cy="307777"/>
          </a:xfrm>
          <a:prstGeom prst="rect">
            <a:avLst/>
          </a:prstGeom>
          <a:noFill/>
        </p:spPr>
        <p:txBody>
          <a:bodyPr wrap="none" lIns="0" tIns="0" rIns="0" bIns="0" rtlCol="0">
            <a:spAutoFit/>
          </a:bodyPr>
          <a:lstStyle/>
          <a:p>
            <a:endParaRPr lang="zh-CN" altLang="en-US" sz="2000"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5A086CD-5915-9182-8030-4E86B6452D2A}"/>
                  </a:ext>
                </a:extLst>
              </p:cNvPr>
              <p:cNvSpPr txBox="1"/>
              <p:nvPr/>
            </p:nvSpPr>
            <p:spPr>
              <a:xfrm>
                <a:off x="832594" y="4927855"/>
                <a:ext cx="8302527" cy="10221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𝜌</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𝑚</m:t>
                          </m:r>
                        </m:num>
                        <m:den>
                          <m:r>
                            <a:rPr lang="en-US" altLang="zh-CN" sz="2000" b="0" i="1" smtClean="0">
                              <a:latin typeface="Cambria Math" panose="02040503050406030204" pitchFamily="18" charset="0"/>
                            </a:rPr>
                            <m:t>𝑉</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𝑃𝑀</m:t>
                          </m:r>
                        </m:num>
                        <m:den>
                          <m:r>
                            <a:rPr lang="en-US" altLang="zh-CN" sz="2000" b="0" i="1" smtClean="0">
                              <a:latin typeface="Cambria Math" panose="02040503050406030204" pitchFamily="18" charset="0"/>
                            </a:rPr>
                            <m:t>𝑅𝑇</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1.013</m:t>
                          </m:r>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10</m:t>
                              </m:r>
                            </m:e>
                            <m:sup>
                              <m:r>
                                <a:rPr lang="en-US" altLang="zh-CN" sz="2000" b="0" i="1" smtClean="0">
                                  <a:latin typeface="Cambria Math" panose="02040503050406030204" pitchFamily="18" charset="0"/>
                                  <a:ea typeface="Cambria Math" panose="02040503050406030204" pitchFamily="18" charset="0"/>
                                </a:rPr>
                                <m:t>5</m:t>
                              </m:r>
                            </m:sup>
                          </m:sSup>
                          <m:r>
                            <a:rPr lang="en-US" altLang="zh-CN" sz="2000" b="0" i="1" smtClean="0">
                              <a:latin typeface="Cambria Math" panose="02040503050406030204" pitchFamily="18" charset="0"/>
                              <a:ea typeface="Cambria Math" panose="02040503050406030204" pitchFamily="18" charset="0"/>
                            </a:rPr>
                            <m:t>×32×</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10</m:t>
                              </m:r>
                            </m:e>
                            <m:sup>
                              <m:r>
                                <a:rPr lang="en-US" altLang="zh-CN" sz="2000" b="0" i="1" smtClean="0">
                                  <a:latin typeface="Cambria Math" panose="02040503050406030204" pitchFamily="18" charset="0"/>
                                  <a:ea typeface="Cambria Math" panose="02040503050406030204" pitchFamily="18" charset="0"/>
                                </a:rPr>
                                <m:t>−3</m:t>
                              </m:r>
                            </m:sup>
                          </m:sSup>
                        </m:num>
                        <m:den>
                          <m:r>
                            <a:rPr lang="en-US" altLang="zh-CN" sz="2000" b="0" i="1" smtClean="0">
                              <a:latin typeface="Cambria Math" panose="02040503050406030204" pitchFamily="18" charset="0"/>
                            </a:rPr>
                            <m:t>8.31</m:t>
                          </m:r>
                          <m:r>
                            <a:rPr lang="en-US" altLang="zh-CN" sz="2000" b="0" i="1" smtClean="0">
                              <a:latin typeface="Cambria Math" panose="02040503050406030204" pitchFamily="18" charset="0"/>
                              <a:ea typeface="Cambria Math" panose="02040503050406030204" pitchFamily="18" charset="0"/>
                            </a:rPr>
                            <m:t>×300</m:t>
                          </m:r>
                        </m:den>
                      </m:f>
                      <m:r>
                        <a:rPr lang="en-US" altLang="zh-CN" sz="2000" b="0" i="1" smtClean="0">
                          <a:latin typeface="Cambria Math" panose="02040503050406030204" pitchFamily="18" charset="0"/>
                        </a:rPr>
                        <m:t>𝑘𝑔</m:t>
                      </m:r>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𝑚</m:t>
                          </m:r>
                        </m:e>
                        <m:sup>
                          <m:r>
                            <a:rPr lang="en-US" altLang="zh-CN" sz="2000" b="0" i="1" smtClean="0">
                              <a:latin typeface="Cambria Math" panose="02040503050406030204" pitchFamily="18" charset="0"/>
                            </a:rPr>
                            <m:t>3</m:t>
                          </m:r>
                        </m:sup>
                      </m:sSup>
                      <m:r>
                        <a:rPr lang="en-US" altLang="zh-CN" sz="2000" i="1">
                          <a:latin typeface="Cambria Math" panose="02040503050406030204" pitchFamily="18" charset="0"/>
                        </a:rPr>
                        <m:t>=1.30</m:t>
                      </m:r>
                      <m:r>
                        <a:rPr lang="en-US" altLang="zh-CN" sz="2000" i="1">
                          <a:latin typeface="Cambria Math" panose="02040503050406030204" pitchFamily="18" charset="0"/>
                        </a:rPr>
                        <m:t>𝑘𝑔</m:t>
                      </m:r>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𝑚</m:t>
                          </m:r>
                        </m:e>
                        <m:sup>
                          <m:r>
                            <a:rPr lang="en-US" altLang="zh-CN" sz="2000" i="1">
                              <a:latin typeface="Cambria Math" panose="02040503050406030204" pitchFamily="18" charset="0"/>
                            </a:rPr>
                            <m:t>3</m:t>
                          </m:r>
                        </m:sup>
                      </m:sSup>
                    </m:oMath>
                  </m:oMathPara>
                </a14:m>
                <a:endParaRPr lang="zh-CN" altLang="en-US" sz="2000" dirty="0"/>
              </a:p>
              <a:p>
                <a:endParaRPr lang="zh-CN" altLang="en-US" sz="2000" dirty="0"/>
              </a:p>
            </p:txBody>
          </p:sp>
        </mc:Choice>
        <mc:Fallback xmlns="">
          <p:sp>
            <p:nvSpPr>
              <p:cNvPr id="21" name="文本框 20">
                <a:extLst>
                  <a:ext uri="{FF2B5EF4-FFF2-40B4-BE49-F238E27FC236}">
                    <a16:creationId xmlns:a16="http://schemas.microsoft.com/office/drawing/2014/main" id="{25A086CD-5915-9182-8030-4E86B6452D2A}"/>
                  </a:ext>
                </a:extLst>
              </p:cNvPr>
              <p:cNvSpPr txBox="1">
                <a:spLocks noRot="1" noChangeAspect="1" noMove="1" noResize="1" noEditPoints="1" noAdjustHandles="1" noChangeArrowheads="1" noChangeShapeType="1" noTextEdit="1"/>
              </p:cNvSpPr>
              <p:nvPr/>
            </p:nvSpPr>
            <p:spPr>
              <a:xfrm>
                <a:off x="832594" y="4927855"/>
                <a:ext cx="8302527" cy="1022139"/>
              </a:xfrm>
              <a:prstGeom prst="rect">
                <a:avLst/>
              </a:prstGeom>
              <a:blipFill>
                <a:blip r:embed="rId5"/>
                <a:stretch>
                  <a:fillRect/>
                </a:stretch>
              </a:blipFill>
            </p:spPr>
            <p:txBody>
              <a:bodyPr/>
              <a:lstStyle/>
              <a:p>
                <a:r>
                  <a:rPr lang="zh-CN" altLang="en-US">
                    <a:noFill/>
                  </a:rPr>
                  <a:t> </a:t>
                </a:r>
              </a:p>
            </p:txBody>
          </p:sp>
        </mc:Fallback>
      </mc:AlternateContent>
      <p:pic>
        <p:nvPicPr>
          <p:cNvPr id="23" name="图片 22">
            <a:extLst>
              <a:ext uri="{FF2B5EF4-FFF2-40B4-BE49-F238E27FC236}">
                <a16:creationId xmlns:a16="http://schemas.microsoft.com/office/drawing/2014/main" id="{BB5DB5D1-633E-A5EC-ACFD-32099AA5F7C0}"/>
              </a:ext>
            </a:extLst>
          </p:cNvPr>
          <p:cNvPicPr>
            <a:picLocks noChangeAspect="1"/>
          </p:cNvPicPr>
          <p:nvPr/>
        </p:nvPicPr>
        <p:blipFill>
          <a:blip r:embed="rId6"/>
          <a:stretch>
            <a:fillRect/>
          </a:stretch>
        </p:blipFill>
        <p:spPr>
          <a:xfrm>
            <a:off x="3464565" y="2635630"/>
            <a:ext cx="5164251" cy="736166"/>
          </a:xfrm>
          <a:prstGeom prst="rect">
            <a:avLst/>
          </a:prstGeom>
        </p:spPr>
      </p:pic>
      <mc:AlternateContent xmlns:mc="http://schemas.openxmlformats.org/markup-compatibility/2006">
        <mc:Choice xmlns:a14="http://schemas.microsoft.com/office/drawing/2010/main" Requires="a14">
          <p:sp>
            <p:nvSpPr>
              <p:cNvPr id="24" name="文本框 23">
                <a:extLst>
                  <a:ext uri="{FF2B5EF4-FFF2-40B4-BE49-F238E27FC236}">
                    <a16:creationId xmlns:a16="http://schemas.microsoft.com/office/drawing/2014/main" id="{F87214C5-4452-7FE4-A8E6-3BA58B41D35B}"/>
                  </a:ext>
                </a:extLst>
              </p:cNvPr>
              <p:cNvSpPr txBox="1"/>
              <p:nvPr/>
            </p:nvSpPr>
            <p:spPr>
              <a:xfrm>
                <a:off x="600059" y="415247"/>
                <a:ext cx="11166106" cy="1464632"/>
              </a:xfrm>
              <a:prstGeom prst="rect">
                <a:avLst/>
              </a:prstGeom>
              <a:noFill/>
            </p:spPr>
            <p:txBody>
              <a:bodyPr wrap="square" rtlCol="0">
                <a:spAutoFit/>
              </a:bodyPr>
              <a:lstStyle/>
              <a:p>
                <a:pPr>
                  <a:lnSpc>
                    <a:spcPct val="130000"/>
                  </a:lnSpc>
                </a:pPr>
                <a:r>
                  <a:rPr lang="en-US" altLang="zh-CN" sz="2400" dirty="0">
                    <a:latin typeface="楷体" panose="02010609060101010101" pitchFamily="49" charset="-122"/>
                    <a:ea typeface="楷体" panose="02010609060101010101" pitchFamily="49" charset="-122"/>
                    <a:cs typeface="Times New Roman" panose="02020603050405020304" pitchFamily="18" charset="0"/>
                  </a:rPr>
                  <a:t>8.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一容器内储有氧气，其压强</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𝑃</m:t>
                    </m:r>
                    <m:r>
                      <a:rPr lang="en-US" altLang="zh-CN" sz="2400" b="0" i="1" smtClean="0">
                        <a:latin typeface="Cambria Math" panose="02040503050406030204" pitchFamily="18" charset="0"/>
                        <a:cs typeface="Times New Roman" panose="02020603050405020304" pitchFamily="18" charset="0"/>
                      </a:rPr>
                      <m:t>=1.0</m:t>
                    </m:r>
                    <m:r>
                      <a:rPr lang="en-US" altLang="zh-CN" sz="2400" b="0" i="1" smtClean="0">
                        <a:latin typeface="Cambria Math" panose="02040503050406030204" pitchFamily="18" charset="0"/>
                        <a:cs typeface="Times New Roman" panose="02020603050405020304" pitchFamily="18" charset="0"/>
                      </a:rPr>
                      <m:t>𝑎𝑡𝑚</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，温度</a:t>
                </a:r>
                <a14:m>
                  <m:oMath xmlns:m="http://schemas.openxmlformats.org/officeDocument/2006/math">
                    <m:r>
                      <a:rPr lang="en-US" altLang="zh-CN" sz="2400" i="1">
                        <a:latin typeface="Cambria Math" panose="02040503050406030204" pitchFamily="18" charset="0"/>
                        <a:cs typeface="Times New Roman" panose="02020603050405020304" pitchFamily="18" charset="0"/>
                      </a:rPr>
                      <m:t>𝑡</m:t>
                    </m:r>
                    <m:r>
                      <a:rPr lang="en-US" altLang="zh-CN" sz="2400" i="1">
                        <a:latin typeface="Cambria Math" panose="02040503050406030204" pitchFamily="18" charset="0"/>
                        <a:cs typeface="Times New Roman" panose="02020603050405020304" pitchFamily="18" charset="0"/>
                      </a:rPr>
                      <m:t>=27℃</m:t>
                    </m:r>
                  </m:oMath>
                </a14:m>
                <a:r>
                  <a:rPr lang="en-US" altLang="zh-CN" sz="2400" b="0" i="1"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求：</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indent="-342900">
                  <a:lnSpc>
                    <a:spcPct val="130000"/>
                  </a:lnSpc>
                  <a:buAutoNum type="arabicParenBoth"/>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单位体积内的分子数</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indent="-342900">
                  <a:lnSpc>
                    <a:spcPct val="130000"/>
                  </a:lnSpc>
                  <a:buAutoNum type="arabicParenBoth"/>
                </a:pPr>
                <a:r>
                  <a:rPr lang="zh-CN" altLang="en-US" sz="2400" dirty="0">
                    <a:latin typeface="楷体" panose="02010609060101010101" pitchFamily="49" charset="-122"/>
                    <a:ea typeface="楷体" panose="02010609060101010101" pitchFamily="49" charset="-122"/>
                    <a:cs typeface="Times New Roman" panose="02020603050405020304" pitchFamily="18" charset="0"/>
                  </a:rPr>
                  <a:t>  氧气的密度</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p:txBody>
          </p:sp>
        </mc:Choice>
        <mc:Fallback>
          <p:sp>
            <p:nvSpPr>
              <p:cNvPr id="24" name="文本框 23">
                <a:extLst>
                  <a:ext uri="{FF2B5EF4-FFF2-40B4-BE49-F238E27FC236}">
                    <a16:creationId xmlns:a16="http://schemas.microsoft.com/office/drawing/2014/main" id="{F87214C5-4452-7FE4-A8E6-3BA58B41D35B}"/>
                  </a:ext>
                </a:extLst>
              </p:cNvPr>
              <p:cNvSpPr txBox="1">
                <a:spLocks noRot="1" noChangeAspect="1" noMove="1" noResize="1" noEditPoints="1" noAdjustHandles="1" noChangeArrowheads="1" noChangeShapeType="1" noTextEdit="1"/>
              </p:cNvSpPr>
              <p:nvPr/>
            </p:nvSpPr>
            <p:spPr>
              <a:xfrm>
                <a:off x="600059" y="415247"/>
                <a:ext cx="11166106" cy="1464632"/>
              </a:xfrm>
              <a:prstGeom prst="rect">
                <a:avLst/>
              </a:prstGeom>
              <a:blipFill>
                <a:blip r:embed="rId7"/>
                <a:stretch>
                  <a:fillRect l="-819" t="-417" b="-8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1097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6828" y="2165317"/>
            <a:ext cx="2435282" cy="400110"/>
          </a:xfrm>
          <a:prstGeom prst="rect">
            <a:avLst/>
          </a:prstGeom>
        </p:spPr>
        <p:txBody>
          <a:bodyPr wrap="none">
            <a:spAutoFit/>
          </a:bodyPr>
          <a:lstStyle/>
          <a:p>
            <a:r>
              <a:rPr lang="zh-CN" altLang="en-US" sz="2000" dirty="0">
                <a:solidFill>
                  <a:prstClr val="black"/>
                </a:solidFill>
                <a:latin typeface="等线" panose="02010600030101010101" pitchFamily="2" charset="-122"/>
                <a:cs typeface="Times New Roman" panose="02020603050405020304" pitchFamily="18" charset="0"/>
              </a:rPr>
              <a:t> </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3</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）氧分子的质量</a:t>
            </a:r>
          </a:p>
        </p:txBody>
      </p:sp>
      <p:pic>
        <p:nvPicPr>
          <p:cNvPr id="6" name="图片 5"/>
          <p:cNvPicPr>
            <a:picLocks noChangeAspect="1"/>
          </p:cNvPicPr>
          <p:nvPr/>
        </p:nvPicPr>
        <p:blipFill>
          <a:blip r:embed="rId2"/>
          <a:stretch>
            <a:fillRect/>
          </a:stretch>
        </p:blipFill>
        <p:spPr>
          <a:xfrm>
            <a:off x="2929333" y="2595825"/>
            <a:ext cx="4851030" cy="884015"/>
          </a:xfrm>
          <a:prstGeom prst="rect">
            <a:avLst/>
          </a:prstGeom>
        </p:spPr>
      </p:pic>
      <p:sp>
        <p:nvSpPr>
          <p:cNvPr id="7" name="文本框 6"/>
          <p:cNvSpPr txBox="1"/>
          <p:nvPr/>
        </p:nvSpPr>
        <p:spPr>
          <a:xfrm>
            <a:off x="636915" y="2813298"/>
            <a:ext cx="3567844" cy="400110"/>
          </a:xfrm>
          <a:prstGeom prst="rect">
            <a:avLst/>
          </a:prstGeom>
          <a:noFill/>
        </p:spPr>
        <p:txBody>
          <a:bodyPr wrap="square" rtlCol="0">
            <a:spAutoFit/>
          </a:bodyPr>
          <a:lstStyle/>
          <a:p>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由           得  </a:t>
            </a:r>
          </a:p>
        </p:txBody>
      </p:sp>
      <p:pic>
        <p:nvPicPr>
          <p:cNvPr id="8" name="图片 7"/>
          <p:cNvPicPr>
            <a:picLocks noChangeAspect="1"/>
          </p:cNvPicPr>
          <p:nvPr/>
        </p:nvPicPr>
        <p:blipFill>
          <a:blip r:embed="rId3"/>
          <a:stretch>
            <a:fillRect/>
          </a:stretch>
        </p:blipFill>
        <p:spPr>
          <a:xfrm>
            <a:off x="1187448" y="2844502"/>
            <a:ext cx="1072986" cy="386662"/>
          </a:xfrm>
          <a:prstGeom prst="rect">
            <a:avLst/>
          </a:prstGeom>
        </p:spPr>
      </p:pic>
      <p:sp>
        <p:nvSpPr>
          <p:cNvPr id="10" name="矩形 9"/>
          <p:cNvSpPr/>
          <p:nvPr/>
        </p:nvSpPr>
        <p:spPr>
          <a:xfrm>
            <a:off x="378059" y="3434500"/>
            <a:ext cx="2691763" cy="400110"/>
          </a:xfrm>
          <a:prstGeom prst="rect">
            <a:avLst/>
          </a:prstGeom>
        </p:spPr>
        <p:txBody>
          <a:bodyPr wrap="none">
            <a:spAutoFit/>
          </a:bodyPr>
          <a:lstStyle/>
          <a:p>
            <a:r>
              <a:rPr lang="zh-CN" altLang="en-US" sz="2000" dirty="0">
                <a:solidFill>
                  <a:prstClr val="black"/>
                </a:solidFill>
                <a:latin typeface="等线" panose="02010600030101010101" pitchFamily="2" charset="-122"/>
                <a:cs typeface="Times New Roman" panose="02020603050405020304" pitchFamily="18" charset="0"/>
              </a:rPr>
              <a:t> </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4</a:t>
            </a:r>
            <a:r>
              <a:rPr lang="zh-CN" altLang="en-US" sz="20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）分子的平均动能</a:t>
            </a:r>
            <a:endParaRPr lang="zh-CN" altLang="en-US" sz="2000" dirty="0">
              <a:latin typeface="楷体" panose="02010609060101010101" pitchFamily="49" charset="-122"/>
              <a:ea typeface="楷体" panose="02010609060101010101" pitchFamily="49" charset="-122"/>
            </a:endParaRPr>
          </a:p>
        </p:txBody>
      </p:sp>
      <p:pic>
        <p:nvPicPr>
          <p:cNvPr id="11" name="图片 10"/>
          <p:cNvPicPr>
            <a:picLocks noChangeAspect="1"/>
          </p:cNvPicPr>
          <p:nvPr/>
        </p:nvPicPr>
        <p:blipFill>
          <a:blip r:embed="rId4"/>
          <a:stretch>
            <a:fillRect/>
          </a:stretch>
        </p:blipFill>
        <p:spPr>
          <a:xfrm>
            <a:off x="1245495" y="5597273"/>
            <a:ext cx="5434850" cy="702256"/>
          </a:xfrm>
          <a:prstGeom prst="rect">
            <a:avLst/>
          </a:prstGeom>
        </p:spPr>
      </p:pic>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88CB2EA4-355F-0750-DE65-50A8E68C12FB}"/>
                  </a:ext>
                </a:extLst>
              </p:cNvPr>
              <p:cNvSpPr txBox="1"/>
              <p:nvPr/>
            </p:nvSpPr>
            <p:spPr>
              <a:xfrm>
                <a:off x="574720" y="487128"/>
                <a:ext cx="10595582" cy="1464632"/>
              </a:xfrm>
              <a:prstGeom prst="rect">
                <a:avLst/>
              </a:prstGeom>
              <a:noFill/>
            </p:spPr>
            <p:txBody>
              <a:bodyPr wrap="square" rtlCol="0">
                <a:spAutoFit/>
              </a:bodyPr>
              <a:lstStyle/>
              <a:p>
                <a:pPr>
                  <a:lnSpc>
                    <a:spcPct val="130000"/>
                  </a:lnSpc>
                </a:pPr>
                <a:r>
                  <a:rPr lang="en-US" altLang="zh-CN" sz="2400" dirty="0">
                    <a:latin typeface="楷体" panose="02010609060101010101" pitchFamily="49" charset="-122"/>
                    <a:ea typeface="楷体" panose="02010609060101010101" pitchFamily="49" charset="-122"/>
                    <a:cs typeface="Times New Roman" panose="02020603050405020304" pitchFamily="18" charset="0"/>
                  </a:rPr>
                  <a:t>8.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一容器内储有氧气，其压强</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𝑃</m:t>
                    </m:r>
                    <m:r>
                      <a:rPr lang="en-US" altLang="zh-CN" sz="2400" b="0" i="1" smtClean="0">
                        <a:latin typeface="Cambria Math" panose="02040503050406030204" pitchFamily="18" charset="0"/>
                        <a:cs typeface="Times New Roman" panose="02020603050405020304" pitchFamily="18" charset="0"/>
                      </a:rPr>
                      <m:t>=1.0</m:t>
                    </m:r>
                    <m:r>
                      <a:rPr lang="en-US" altLang="zh-CN" sz="2400" b="0" i="1" smtClean="0">
                        <a:latin typeface="Cambria Math" panose="02040503050406030204" pitchFamily="18" charset="0"/>
                        <a:cs typeface="Times New Roman" panose="02020603050405020304" pitchFamily="18" charset="0"/>
                      </a:rPr>
                      <m:t>𝑎𝑡𝑚</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，温度</a:t>
                </a:r>
                <a14:m>
                  <m:oMath xmlns:m="http://schemas.openxmlformats.org/officeDocument/2006/math">
                    <m:r>
                      <a:rPr lang="en-US" altLang="zh-CN" sz="2400" i="1">
                        <a:latin typeface="Cambria Math" panose="02040503050406030204" pitchFamily="18" charset="0"/>
                        <a:cs typeface="Times New Roman" panose="02020603050405020304" pitchFamily="18" charset="0"/>
                      </a:rPr>
                      <m:t>𝑡</m:t>
                    </m:r>
                    <m:r>
                      <a:rPr lang="en-US" altLang="zh-CN" sz="2400" i="1">
                        <a:latin typeface="Cambria Math" panose="02040503050406030204" pitchFamily="18" charset="0"/>
                        <a:cs typeface="Times New Roman" panose="02020603050405020304" pitchFamily="18" charset="0"/>
                      </a:rPr>
                      <m:t>=27℃</m:t>
                    </m:r>
                  </m:oMath>
                </a14:m>
                <a:r>
                  <a:rPr lang="en-US" altLang="zh-CN" sz="2400" b="0" i="1"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求：</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lnSpc>
                    <a:spcPct val="130000"/>
                  </a:lnSpc>
                </a:pP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latin typeface="楷体" panose="02010609060101010101" pitchFamily="49" charset="-122"/>
                    <a:ea typeface="楷体" panose="02010609060101010101" pitchFamily="49" charset="-122"/>
                    <a:cs typeface="Times New Roman" panose="02020603050405020304" pitchFamily="18" charset="0"/>
                  </a:rPr>
                  <a:t>3</a:t>
                </a:r>
                <a:r>
                  <a:rPr lang="zh-CN" altLang="en-US" sz="2400" dirty="0">
                    <a:latin typeface="楷体" panose="02010609060101010101" pitchFamily="49" charset="-122"/>
                    <a:ea typeface="楷体" panose="02010609060101010101" pitchFamily="49" charset="-122"/>
                    <a:cs typeface="Times New Roman" panose="02020603050405020304" pitchFamily="18" charset="0"/>
                  </a:rPr>
                  <a:t>）氧分子的质量</a:t>
                </a:r>
                <a:endParaRPr lang="en-US" altLang="zh-CN" sz="2400" dirty="0">
                  <a:latin typeface="楷体" panose="02010609060101010101" pitchFamily="49" charset="-122"/>
                  <a:ea typeface="楷体" panose="02010609060101010101" pitchFamily="49" charset="-122"/>
                  <a:cs typeface="Times New Roman" panose="02020603050405020304" pitchFamily="18" charset="0"/>
                </a:endParaRPr>
              </a:p>
              <a:p>
                <a:pPr>
                  <a:lnSpc>
                    <a:spcPct val="130000"/>
                  </a:lnSpc>
                </a:pPr>
                <a:r>
                  <a:rPr lang="zh-CN" altLang="en-US" sz="2400" dirty="0">
                    <a:latin typeface="楷体" panose="02010609060101010101" pitchFamily="49" charset="-122"/>
                    <a:ea typeface="楷体" panose="02010609060101010101" pitchFamily="49" charset="-122"/>
                    <a:cs typeface="Times New Roman" panose="02020603050405020304" pitchFamily="18" charset="0"/>
                  </a:rPr>
                  <a:t>（</a:t>
                </a:r>
                <a:r>
                  <a:rPr lang="en-US" altLang="zh-CN" sz="2400" dirty="0">
                    <a:latin typeface="楷体" panose="02010609060101010101" pitchFamily="49" charset="-122"/>
                    <a:ea typeface="楷体" panose="02010609060101010101" pitchFamily="49" charset="-122"/>
                    <a:cs typeface="Times New Roman" panose="02020603050405020304" pitchFamily="18" charset="0"/>
                  </a:rPr>
                  <a:t>4</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）分子的平均动能</a:t>
                </a:r>
              </a:p>
            </p:txBody>
          </p:sp>
        </mc:Choice>
        <mc:Fallback>
          <p:sp>
            <p:nvSpPr>
              <p:cNvPr id="2" name="文本框 1">
                <a:extLst>
                  <a:ext uri="{FF2B5EF4-FFF2-40B4-BE49-F238E27FC236}">
                    <a16:creationId xmlns:a16="http://schemas.microsoft.com/office/drawing/2014/main" id="{88CB2EA4-355F-0750-DE65-50A8E68C12FB}"/>
                  </a:ext>
                </a:extLst>
              </p:cNvPr>
              <p:cNvSpPr txBox="1">
                <a:spLocks noRot="1" noChangeAspect="1" noMove="1" noResize="1" noEditPoints="1" noAdjustHandles="1" noChangeArrowheads="1" noChangeShapeType="1" noTextEdit="1"/>
              </p:cNvSpPr>
              <p:nvPr/>
            </p:nvSpPr>
            <p:spPr>
              <a:xfrm>
                <a:off x="574720" y="487128"/>
                <a:ext cx="10595582" cy="1464632"/>
              </a:xfrm>
              <a:prstGeom prst="rect">
                <a:avLst/>
              </a:prstGeom>
              <a:blipFill>
                <a:blip r:embed="rId5"/>
                <a:stretch>
                  <a:fillRect l="-863" t="-417" b="-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6676330B-80FC-8DD1-8481-5C2D3A4EB7F5}"/>
                  </a:ext>
                </a:extLst>
              </p:cNvPr>
              <p:cNvSpPr/>
              <p:nvPr/>
            </p:nvSpPr>
            <p:spPr>
              <a:xfrm>
                <a:off x="833312" y="3915491"/>
                <a:ext cx="11222564" cy="834716"/>
              </a:xfrm>
              <a:prstGeom prst="rect">
                <a:avLst/>
              </a:prstGeom>
            </p:spPr>
            <p:txBody>
              <a:bodyPr wrap="square">
                <a:spAutoFit/>
              </a:bodyPr>
              <a:lstStyle/>
              <a:p>
                <a:r>
                  <a:rPr lang="zh-CN" altLang="en-US" sz="2000" dirty="0">
                    <a:latin typeface="楷体" panose="02010609060101010101" pitchFamily="49" charset="-122"/>
                    <a:ea typeface="楷体" panose="02010609060101010101" pitchFamily="49" charset="-122"/>
                  </a:rPr>
                  <a:t>根据能量均分定理：在温度为</a:t>
                </a:r>
                <a:r>
                  <a:rPr lang="en-US" altLang="zh-CN" sz="2000" dirty="0">
                    <a:latin typeface="楷体" panose="02010609060101010101" pitchFamily="49" charset="-122"/>
                    <a:ea typeface="楷体" panose="02010609060101010101" pitchFamily="49" charset="-122"/>
                  </a:rPr>
                  <a:t>T</a:t>
                </a:r>
                <a:r>
                  <a:rPr lang="zh-CN" altLang="en-US" sz="2000" dirty="0">
                    <a:latin typeface="楷体" panose="02010609060101010101" pitchFamily="49" charset="-122"/>
                    <a:ea typeface="楷体" panose="02010609060101010101" pitchFamily="49" charset="-122"/>
                  </a:rPr>
                  <a:t>的平衡态下，物质分子的每一个自由度平均动能都相同，等于</a:t>
                </a:r>
                <a14:m>
                  <m:oMath xmlns:m="http://schemas.openxmlformats.org/officeDocument/2006/math">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i="1">
                            <a:latin typeface="Cambria Math" panose="02040503050406030204" pitchFamily="18" charset="0"/>
                          </a:rPr>
                          <m:t>2</m:t>
                        </m:r>
                      </m:den>
                    </m:f>
                    <m:r>
                      <a:rPr lang="en-US" altLang="zh-CN" sz="2000" i="1">
                        <a:latin typeface="Cambria Math" panose="02040503050406030204" pitchFamily="18" charset="0"/>
                      </a:rPr>
                      <m:t>𝑘𝑇</m:t>
                    </m:r>
                  </m:oMath>
                </a14:m>
                <a:endParaRPr lang="zh-CN" altLang="en-US" sz="2000" dirty="0">
                  <a:latin typeface="楷体" panose="02010609060101010101" pitchFamily="49" charset="-122"/>
                  <a:ea typeface="楷体" panose="02010609060101010101" pitchFamily="49" charset="-122"/>
                </a:endParaRPr>
              </a:p>
              <a:p>
                <a:endParaRPr lang="zh-CN" altLang="en-US" sz="2000" dirty="0">
                  <a:latin typeface="楷体" panose="02010609060101010101" pitchFamily="49" charset="-122"/>
                  <a:ea typeface="楷体" panose="02010609060101010101" pitchFamily="49" charset="-122"/>
                </a:endParaRPr>
              </a:p>
            </p:txBody>
          </p:sp>
        </mc:Choice>
        <mc:Fallback xmlns="">
          <p:sp>
            <p:nvSpPr>
              <p:cNvPr id="3" name="矩形 2">
                <a:extLst>
                  <a:ext uri="{FF2B5EF4-FFF2-40B4-BE49-F238E27FC236}">
                    <a16:creationId xmlns:a16="http://schemas.microsoft.com/office/drawing/2014/main" id="{6676330B-80FC-8DD1-8481-5C2D3A4EB7F5}"/>
                  </a:ext>
                </a:extLst>
              </p:cNvPr>
              <p:cNvSpPr>
                <a:spLocks noRot="1" noChangeAspect="1" noMove="1" noResize="1" noEditPoints="1" noAdjustHandles="1" noChangeArrowheads="1" noChangeShapeType="1" noTextEdit="1"/>
              </p:cNvSpPr>
              <p:nvPr/>
            </p:nvSpPr>
            <p:spPr>
              <a:xfrm>
                <a:off x="833312" y="3915491"/>
                <a:ext cx="11222564" cy="834716"/>
              </a:xfrm>
              <a:prstGeom prst="rect">
                <a:avLst/>
              </a:prstGeom>
              <a:blipFill>
                <a:blip r:embed="rId6"/>
                <a:stretch>
                  <a:fillRect l="-5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D6730EA-9385-D44D-8E94-502ED905594B}"/>
                  </a:ext>
                </a:extLst>
              </p:cNvPr>
              <p:cNvSpPr txBox="1"/>
              <p:nvPr/>
            </p:nvSpPr>
            <p:spPr>
              <a:xfrm>
                <a:off x="6788788" y="4459365"/>
                <a:ext cx="1072665" cy="5720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zh-CN" altLang="en-US" sz="2000" i="1" smtClean="0">
                              <a:latin typeface="Cambria Math" panose="02040503050406030204" pitchFamily="18" charset="0"/>
                            </a:rPr>
                            <m:t>𝜀</m:t>
                          </m:r>
                        </m:e>
                      </m:acc>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𝑖</m:t>
                          </m:r>
                        </m:num>
                        <m:den>
                          <m:r>
                            <a:rPr lang="en-US" altLang="zh-CN" sz="2000" i="1">
                              <a:latin typeface="Cambria Math" panose="02040503050406030204" pitchFamily="18" charset="0"/>
                            </a:rPr>
                            <m:t>2</m:t>
                          </m:r>
                        </m:den>
                      </m:f>
                      <m:r>
                        <a:rPr lang="en-US" altLang="zh-CN" sz="2000" i="1">
                          <a:latin typeface="Cambria Math" panose="02040503050406030204" pitchFamily="18" charset="0"/>
                        </a:rPr>
                        <m:t>𝑘𝑇</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9" name="文本框 8">
                <a:extLst>
                  <a:ext uri="{FF2B5EF4-FFF2-40B4-BE49-F238E27FC236}">
                    <a16:creationId xmlns:a16="http://schemas.microsoft.com/office/drawing/2014/main" id="{FD6730EA-9385-D44D-8E94-502ED905594B}"/>
                  </a:ext>
                </a:extLst>
              </p:cNvPr>
              <p:cNvSpPr txBox="1">
                <a:spLocks noRot="1" noChangeAspect="1" noMove="1" noResize="1" noEditPoints="1" noAdjustHandles="1" noChangeArrowheads="1" noChangeShapeType="1" noTextEdit="1"/>
              </p:cNvSpPr>
              <p:nvPr/>
            </p:nvSpPr>
            <p:spPr>
              <a:xfrm>
                <a:off x="6788788" y="4459365"/>
                <a:ext cx="1072665" cy="572080"/>
              </a:xfrm>
              <a:prstGeom prst="rect">
                <a:avLst/>
              </a:prstGeom>
              <a:blipFill>
                <a:blip r:embed="rId7"/>
                <a:stretch>
                  <a:fillRect/>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EC7462F8-2746-1279-1D0A-91CC38EC9869}"/>
              </a:ext>
            </a:extLst>
          </p:cNvPr>
          <p:cNvSpPr/>
          <p:nvPr/>
        </p:nvSpPr>
        <p:spPr>
          <a:xfrm>
            <a:off x="833312" y="4545350"/>
            <a:ext cx="5955476"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rPr>
              <a:t>如果气体分子有</a:t>
            </a:r>
            <a:r>
              <a:rPr lang="en-US" altLang="zh-CN" sz="2000" dirty="0">
                <a:latin typeface="楷体" panose="02010609060101010101" pitchFamily="49" charset="-122"/>
                <a:ea typeface="楷体" panose="02010609060101010101" pitchFamily="49" charset="-122"/>
              </a:rPr>
              <a:t>i</a:t>
            </a:r>
            <a:r>
              <a:rPr lang="zh-CN" altLang="en-US" sz="2000" dirty="0">
                <a:latin typeface="楷体" panose="02010609060101010101" pitchFamily="49" charset="-122"/>
                <a:ea typeface="楷体" panose="02010609060101010101" pitchFamily="49" charset="-122"/>
              </a:rPr>
              <a:t>个自由度，则分子的平均总动能为</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B19AF59-C460-6347-34FA-7FBC62D0F7A9}"/>
                  </a:ext>
                </a:extLst>
              </p:cNvPr>
              <p:cNvSpPr txBox="1"/>
              <p:nvPr/>
            </p:nvSpPr>
            <p:spPr>
              <a:xfrm>
                <a:off x="2457195" y="5171778"/>
                <a:ext cx="6956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=3</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6B19AF59-C460-6347-34FA-7FBC62D0F7A9}"/>
                  </a:ext>
                </a:extLst>
              </p:cNvPr>
              <p:cNvSpPr txBox="1">
                <a:spLocks noRot="1" noChangeAspect="1" noMove="1" noResize="1" noEditPoints="1" noAdjustHandles="1" noChangeArrowheads="1" noChangeShapeType="1" noTextEdit="1"/>
              </p:cNvSpPr>
              <p:nvPr/>
            </p:nvSpPr>
            <p:spPr>
              <a:xfrm>
                <a:off x="2457195" y="5171778"/>
                <a:ext cx="695640" cy="307777"/>
              </a:xfrm>
              <a:prstGeom prst="rect">
                <a:avLst/>
              </a:prstGeom>
              <a:blipFill>
                <a:blip r:embed="rId8"/>
                <a:stretch>
                  <a:fillRect l="-2632" r="-3509" b="-9804"/>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543A8AA0-0A47-62D0-0897-EBC50D3CF1EA}"/>
              </a:ext>
            </a:extLst>
          </p:cNvPr>
          <p:cNvSpPr/>
          <p:nvPr/>
        </p:nvSpPr>
        <p:spPr>
          <a:xfrm>
            <a:off x="833312" y="5089883"/>
            <a:ext cx="1467068"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rPr>
              <a:t>单原子分子</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1D578DE-F20F-D608-54BA-AD2150115857}"/>
                  </a:ext>
                </a:extLst>
              </p:cNvPr>
              <p:cNvSpPr txBox="1"/>
              <p:nvPr/>
            </p:nvSpPr>
            <p:spPr>
              <a:xfrm>
                <a:off x="5660467" y="5168604"/>
                <a:ext cx="6956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=5</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5" name="文本框 14">
                <a:extLst>
                  <a:ext uri="{FF2B5EF4-FFF2-40B4-BE49-F238E27FC236}">
                    <a16:creationId xmlns:a16="http://schemas.microsoft.com/office/drawing/2014/main" id="{21D578DE-F20F-D608-54BA-AD2150115857}"/>
                  </a:ext>
                </a:extLst>
              </p:cNvPr>
              <p:cNvSpPr txBox="1">
                <a:spLocks noRot="1" noChangeAspect="1" noMove="1" noResize="1" noEditPoints="1" noAdjustHandles="1" noChangeArrowheads="1" noChangeShapeType="1" noTextEdit="1"/>
              </p:cNvSpPr>
              <p:nvPr/>
            </p:nvSpPr>
            <p:spPr>
              <a:xfrm>
                <a:off x="5660467" y="5168604"/>
                <a:ext cx="695640" cy="307777"/>
              </a:xfrm>
              <a:prstGeom prst="rect">
                <a:avLst/>
              </a:prstGeom>
              <a:blipFill>
                <a:blip r:embed="rId9"/>
                <a:stretch>
                  <a:fillRect l="-3509" r="-3509" b="-12000"/>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A6D090D1-9774-1924-6A88-4CC4D2735B68}"/>
              </a:ext>
            </a:extLst>
          </p:cNvPr>
          <p:cNvSpPr/>
          <p:nvPr/>
        </p:nvSpPr>
        <p:spPr>
          <a:xfrm>
            <a:off x="3518479" y="5122438"/>
            <a:ext cx="1980029"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rPr>
              <a:t>刚性双原子分子</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874377D-7230-5958-4E0E-CE89FB175766}"/>
                  </a:ext>
                </a:extLst>
              </p:cNvPr>
              <p:cNvSpPr txBox="1"/>
              <p:nvPr/>
            </p:nvSpPr>
            <p:spPr>
              <a:xfrm>
                <a:off x="8863304" y="5168603"/>
                <a:ext cx="695640"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=6</m:t>
                      </m:r>
                    </m:oMath>
                  </m:oMathPara>
                </a14:m>
                <a:endParaRPr lang="zh-CN" altLang="en-US" sz="2000" dirty="0">
                  <a:latin typeface="楷体" panose="02010609060101010101" pitchFamily="49" charset="-122"/>
                  <a:ea typeface="楷体" panose="02010609060101010101" pitchFamily="49" charset="-122"/>
                </a:endParaRPr>
              </a:p>
            </p:txBody>
          </p:sp>
        </mc:Choice>
        <mc:Fallback xmlns="">
          <p:sp>
            <p:nvSpPr>
              <p:cNvPr id="17" name="文本框 16">
                <a:extLst>
                  <a:ext uri="{FF2B5EF4-FFF2-40B4-BE49-F238E27FC236}">
                    <a16:creationId xmlns:a16="http://schemas.microsoft.com/office/drawing/2014/main" id="{F874377D-7230-5958-4E0E-CE89FB175766}"/>
                  </a:ext>
                </a:extLst>
              </p:cNvPr>
              <p:cNvSpPr txBox="1">
                <a:spLocks noRot="1" noChangeAspect="1" noMove="1" noResize="1" noEditPoints="1" noAdjustHandles="1" noChangeArrowheads="1" noChangeShapeType="1" noTextEdit="1"/>
              </p:cNvSpPr>
              <p:nvPr/>
            </p:nvSpPr>
            <p:spPr>
              <a:xfrm>
                <a:off x="8863304" y="5168603"/>
                <a:ext cx="695640" cy="307777"/>
              </a:xfrm>
              <a:prstGeom prst="rect">
                <a:avLst/>
              </a:prstGeom>
              <a:blipFill>
                <a:blip r:embed="rId10"/>
                <a:stretch>
                  <a:fillRect l="-3509" r="-2632" b="-10000"/>
                </a:stretch>
              </a:blipFill>
            </p:spPr>
            <p:txBody>
              <a:bodyPr/>
              <a:lstStyle/>
              <a:p>
                <a:r>
                  <a:rPr lang="zh-CN" altLang="en-US">
                    <a:noFill/>
                  </a:rPr>
                  <a:t> </a:t>
                </a:r>
              </a:p>
            </p:txBody>
          </p:sp>
        </mc:Fallback>
      </mc:AlternateContent>
      <p:sp>
        <p:nvSpPr>
          <p:cNvPr id="18" name="矩形 17">
            <a:extLst>
              <a:ext uri="{FF2B5EF4-FFF2-40B4-BE49-F238E27FC236}">
                <a16:creationId xmlns:a16="http://schemas.microsoft.com/office/drawing/2014/main" id="{A3DFA72B-8514-BFCE-6EB5-680619CA6622}"/>
              </a:ext>
            </a:extLst>
          </p:cNvPr>
          <p:cNvSpPr/>
          <p:nvPr/>
        </p:nvSpPr>
        <p:spPr>
          <a:xfrm>
            <a:off x="6716607" y="5141430"/>
            <a:ext cx="1980029" cy="400110"/>
          </a:xfrm>
          <a:prstGeom prst="rect">
            <a:avLst/>
          </a:prstGeom>
        </p:spPr>
        <p:txBody>
          <a:bodyPr wrap="none">
            <a:spAutoFit/>
          </a:bodyPr>
          <a:lstStyle/>
          <a:p>
            <a:r>
              <a:rPr lang="zh-CN" altLang="en-US" sz="2000" dirty="0">
                <a:latin typeface="楷体" panose="02010609060101010101" pitchFamily="49" charset="-122"/>
                <a:ea typeface="楷体" panose="02010609060101010101" pitchFamily="49" charset="-122"/>
              </a:rPr>
              <a:t>刚性多原子分子</a:t>
            </a:r>
          </a:p>
        </p:txBody>
      </p:sp>
    </p:spTree>
    <p:extLst>
      <p:ext uri="{BB962C8B-B14F-4D97-AF65-F5344CB8AC3E}">
        <p14:creationId xmlns:p14="http://schemas.microsoft.com/office/powerpoint/2010/main" val="3825239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173522" y="787034"/>
                <a:ext cx="9844956" cy="1309974"/>
              </a:xfrm>
              <a:prstGeom prst="rect">
                <a:avLst/>
              </a:prstGeom>
            </p:spPr>
            <p:txBody>
              <a:bodyPr wrap="square">
                <a:spAutoFit/>
              </a:bodyPr>
              <a:lstStyle/>
              <a:p>
                <a:pPr>
                  <a:lnSpc>
                    <a:spcPct val="130000"/>
                  </a:lnSpc>
                </a:pPr>
                <a:r>
                  <a:rPr lang="en-US" altLang="zh-CN" sz="3200" dirty="0">
                    <a:latin typeface="+mn-ea"/>
                    <a:cs typeface="Times New Roman" panose="02020603050405020304" pitchFamily="18" charset="0"/>
                  </a:rPr>
                  <a:t>9.  </a:t>
                </a:r>
                <a:r>
                  <a:rPr lang="zh-CN" altLang="en-US" sz="3200" dirty="0">
                    <a:latin typeface="+mn-ea"/>
                    <a:cs typeface="Times New Roman" panose="02020603050405020304" pitchFamily="18" charset="0"/>
                  </a:rPr>
                  <a:t>一容器内盛有</a:t>
                </a:r>
                <a14:m>
                  <m:oMath xmlns:m="http://schemas.openxmlformats.org/officeDocument/2006/math">
                    <m:sSub>
                      <m:sSubPr>
                        <m:ctrlPr>
                          <a:rPr lang="en-US" altLang="zh-CN" sz="3200" b="0" i="1" smtClean="0">
                            <a:latin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cs typeface="Times New Roman" panose="02020603050405020304" pitchFamily="18" charset="0"/>
                          </a:rPr>
                          <m:t>𝑣</m:t>
                        </m:r>
                      </m:e>
                      <m:sub>
                        <m:r>
                          <a:rPr lang="en-US" altLang="zh-CN" sz="3200" b="0" i="1" smtClean="0">
                            <a:latin typeface="Cambria Math" panose="02040503050406030204" pitchFamily="18" charset="0"/>
                            <a:cs typeface="Times New Roman" panose="02020603050405020304" pitchFamily="18" charset="0"/>
                          </a:rPr>
                          <m:t>1</m:t>
                        </m:r>
                      </m:sub>
                    </m:sSub>
                    <m:r>
                      <a:rPr lang="en-US" altLang="zh-CN" sz="3200" b="0" i="1" smtClean="0">
                        <a:latin typeface="Cambria Math" panose="02040503050406030204" pitchFamily="18" charset="0"/>
                        <a:cs typeface="Times New Roman" panose="02020603050405020304" pitchFamily="18" charset="0"/>
                      </a:rPr>
                      <m:t>𝑚𝑜𝑙</m:t>
                    </m:r>
                  </m:oMath>
                </a14:m>
                <a:r>
                  <a:rPr lang="zh-CN" altLang="en-US" sz="3200" dirty="0">
                    <a:latin typeface="+mn-ea"/>
                    <a:cs typeface="Times New Roman" panose="02020603050405020304" pitchFamily="18" charset="0"/>
                  </a:rPr>
                  <a:t>氢气和</a:t>
                </a:r>
                <a14:m>
                  <m:oMath xmlns:m="http://schemas.openxmlformats.org/officeDocument/2006/math">
                    <m:sSub>
                      <m:sSubPr>
                        <m:ctrlPr>
                          <a:rPr lang="en-US" altLang="zh-CN" sz="3200" i="1">
                            <a:latin typeface="Cambria Math" panose="02040503050406030204" pitchFamily="18" charset="0"/>
                            <a:cs typeface="Times New Roman" panose="02020603050405020304" pitchFamily="18" charset="0"/>
                          </a:rPr>
                        </m:ctrlPr>
                      </m:sSubPr>
                      <m:e>
                        <m:r>
                          <a:rPr lang="en-US" altLang="zh-CN" sz="3200" i="1">
                            <a:latin typeface="Cambria Math" panose="02040503050406030204" pitchFamily="18" charset="0"/>
                            <a:cs typeface="Times New Roman" panose="02020603050405020304" pitchFamily="18" charset="0"/>
                          </a:rPr>
                          <m:t>𝑣</m:t>
                        </m:r>
                      </m:e>
                      <m:sub>
                        <m:r>
                          <a:rPr lang="en-US" altLang="zh-CN" sz="3200" b="0" i="1" smtClean="0">
                            <a:latin typeface="Cambria Math" panose="02040503050406030204" pitchFamily="18" charset="0"/>
                            <a:cs typeface="Times New Roman" panose="02020603050405020304" pitchFamily="18" charset="0"/>
                          </a:rPr>
                          <m:t>2</m:t>
                        </m:r>
                      </m:sub>
                    </m:sSub>
                    <m:r>
                      <a:rPr lang="en-US" altLang="zh-CN" sz="3200" i="1">
                        <a:latin typeface="Cambria Math" panose="02040503050406030204" pitchFamily="18" charset="0"/>
                        <a:cs typeface="Times New Roman" panose="02020603050405020304" pitchFamily="18" charset="0"/>
                      </a:rPr>
                      <m:t>𝑚𝑜𝑙</m:t>
                    </m:r>
                    <m:r>
                      <a:rPr lang="en-US" altLang="zh-CN" sz="3200" i="1">
                        <a:latin typeface="Cambria Math" panose="02040503050406030204" pitchFamily="18" charset="0"/>
                        <a:cs typeface="Times New Roman" panose="02020603050405020304" pitchFamily="18" charset="0"/>
                      </a:rPr>
                      <m:t> </m:t>
                    </m:r>
                  </m:oMath>
                </a14:m>
                <a:r>
                  <a:rPr lang="zh-CN" altLang="en-US" sz="3200" dirty="0">
                    <a:latin typeface="+mn-ea"/>
                    <a:cs typeface="Times New Roman" panose="02020603050405020304" pitchFamily="18" charset="0"/>
                  </a:rPr>
                  <a:t>氦气,经混合后，温度为T。证明混合气体分子平均速率为</a:t>
                </a:r>
              </a:p>
            </p:txBody>
          </p:sp>
        </mc:Choice>
        <mc:Fallback xmlns="">
          <p:sp>
            <p:nvSpPr>
              <p:cNvPr id="2" name="矩形 1"/>
              <p:cNvSpPr>
                <a:spLocks noRot="1" noChangeAspect="1" noMove="1" noResize="1" noEditPoints="1" noAdjustHandles="1" noChangeArrowheads="1" noChangeShapeType="1" noTextEdit="1"/>
              </p:cNvSpPr>
              <p:nvPr/>
            </p:nvSpPr>
            <p:spPr>
              <a:xfrm>
                <a:off x="1173522" y="787034"/>
                <a:ext cx="9844956" cy="1309974"/>
              </a:xfrm>
              <a:prstGeom prst="rect">
                <a:avLst/>
              </a:prstGeom>
              <a:blipFill>
                <a:blip r:embed="rId2"/>
                <a:stretch>
                  <a:fillRect l="-1611" b="-15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4014AED-98EB-4FB3-A64A-C104742FEA64}"/>
                  </a:ext>
                </a:extLst>
              </p:cNvPr>
              <p:cNvSpPr txBox="1"/>
              <p:nvPr/>
            </p:nvSpPr>
            <p:spPr>
              <a:xfrm>
                <a:off x="1705561" y="2634144"/>
                <a:ext cx="7362937" cy="154734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3200" i="1" smtClean="0">
                              <a:latin typeface="Cambria Math" panose="02040503050406030204" pitchFamily="18" charset="0"/>
                            </a:rPr>
                          </m:ctrlPr>
                        </m:accPr>
                        <m:e>
                          <m:r>
                            <a:rPr lang="en-US" altLang="zh-CN" sz="3200" b="0" i="1" smtClean="0">
                              <a:latin typeface="Cambria Math" panose="02040503050406030204" pitchFamily="18" charset="0"/>
                            </a:rPr>
                            <m:t>𝑣</m:t>
                          </m:r>
                        </m:e>
                      </m:acc>
                      <m:r>
                        <a:rPr lang="en-US" altLang="zh-CN" sz="3200" i="1">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rPr>
                        <m:t>31.6</m:t>
                      </m:r>
                      <m:f>
                        <m:fPr>
                          <m:ctrlPr>
                            <a:rPr lang="en-US" altLang="zh-CN" sz="3200" b="0" i="1" smtClean="0">
                              <a:latin typeface="Cambria Math" panose="02040503050406030204" pitchFamily="18" charset="0"/>
                            </a:rPr>
                          </m:ctrlPr>
                        </m:fPr>
                        <m:num>
                          <m:rad>
                            <m:radPr>
                              <m:degHide m:val="on"/>
                              <m:ctrlPr>
                                <a:rPr lang="en-US" altLang="zh-CN" sz="3200" b="0" i="1" smtClean="0">
                                  <a:latin typeface="Cambria Math" panose="02040503050406030204" pitchFamily="18" charset="0"/>
                                </a:rPr>
                              </m:ctrlPr>
                            </m:radPr>
                            <m:deg/>
                            <m:e>
                              <m:r>
                                <a:rPr lang="en-US" altLang="zh-CN" sz="3200" b="0" i="1" smtClean="0">
                                  <a:latin typeface="Cambria Math" panose="02040503050406030204" pitchFamily="18" charset="0"/>
                                </a:rPr>
                                <m:t>2</m:t>
                              </m:r>
                            </m:e>
                          </m:rad>
                          <m:sSub>
                            <m:sSubPr>
                              <m:ctrlPr>
                                <a:rPr lang="en-US" altLang="zh-CN" sz="3200" b="0" i="1" smtClean="0">
                                  <a:latin typeface="Cambria Math" panose="02040503050406030204" pitchFamily="18" charset="0"/>
                                </a:rPr>
                              </m:ctrlPr>
                            </m:sSubPr>
                            <m:e>
                              <m:r>
                                <a:rPr lang="en-US" altLang="zh-CN" sz="3200" b="0" i="1" smtClean="0">
                                  <a:latin typeface="Cambria Math" panose="02040503050406030204" pitchFamily="18" charset="0"/>
                                </a:rPr>
                                <m:t>𝑣</m:t>
                              </m:r>
                            </m:e>
                            <m:sub>
                              <m:r>
                                <a:rPr lang="en-US" altLang="zh-CN" sz="3200" b="0" i="1" smtClean="0">
                                  <a:latin typeface="Cambria Math" panose="02040503050406030204" pitchFamily="18" charset="0"/>
                                </a:rPr>
                                <m:t>1</m:t>
                              </m:r>
                            </m:sub>
                          </m:sSub>
                          <m:r>
                            <a:rPr lang="en-US" altLang="zh-CN" sz="3200" b="0" i="1" smtClean="0">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𝑣</m:t>
                              </m:r>
                            </m:e>
                            <m:sub>
                              <m:r>
                                <a:rPr lang="en-US" altLang="zh-CN" sz="3200" b="0" i="1" smtClean="0">
                                  <a:latin typeface="Cambria Math" panose="02040503050406030204" pitchFamily="18" charset="0"/>
                                </a:rPr>
                                <m:t>2</m:t>
                              </m:r>
                            </m:sub>
                          </m:sSub>
                        </m:num>
                        <m:den>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𝑣</m:t>
                              </m:r>
                            </m:e>
                            <m:sub>
                              <m:r>
                                <a:rPr lang="en-US" altLang="zh-CN" sz="3200" i="1">
                                  <a:latin typeface="Cambria Math" panose="02040503050406030204" pitchFamily="18" charset="0"/>
                                </a:rPr>
                                <m:t>1</m:t>
                              </m:r>
                            </m:sub>
                          </m:sSub>
                          <m:r>
                            <a:rPr lang="en-US" altLang="zh-CN" sz="3200" i="1">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𝑣</m:t>
                              </m:r>
                            </m:e>
                            <m:sub>
                              <m:r>
                                <a:rPr lang="en-US" altLang="zh-CN" sz="3200" i="1">
                                  <a:latin typeface="Cambria Math" panose="02040503050406030204" pitchFamily="18" charset="0"/>
                                </a:rPr>
                                <m:t>2</m:t>
                              </m:r>
                            </m:sub>
                          </m:sSub>
                        </m:den>
                      </m:f>
                      <m:rad>
                        <m:radPr>
                          <m:degHide m:val="on"/>
                          <m:ctrlPr>
                            <a:rPr lang="en-US" altLang="zh-CN" sz="3200" b="0" i="1" smtClean="0">
                              <a:latin typeface="Cambria Math" panose="02040503050406030204" pitchFamily="18" charset="0"/>
                            </a:rPr>
                          </m:ctrlPr>
                        </m:radPr>
                        <m:deg/>
                        <m:e>
                          <m:f>
                            <m:fPr>
                              <m:ctrlPr>
                                <a:rPr lang="en-US" altLang="zh-CN" sz="3200" b="0" i="1" smtClean="0">
                                  <a:latin typeface="Cambria Math" panose="02040503050406030204" pitchFamily="18" charset="0"/>
                                </a:rPr>
                              </m:ctrlPr>
                            </m:fPr>
                            <m:num>
                              <m:r>
                                <a:rPr lang="en-US" altLang="zh-CN" sz="3200" b="0" i="1" smtClean="0">
                                  <a:latin typeface="Cambria Math" panose="02040503050406030204" pitchFamily="18" charset="0"/>
                                </a:rPr>
                                <m:t>2</m:t>
                              </m:r>
                              <m:r>
                                <a:rPr lang="en-US" altLang="zh-CN" sz="3200" b="0" i="1" smtClean="0">
                                  <a:latin typeface="Cambria Math" panose="02040503050406030204" pitchFamily="18" charset="0"/>
                                </a:rPr>
                                <m:t>𝑅𝑇</m:t>
                              </m:r>
                            </m:num>
                            <m:den>
                              <m:r>
                                <a:rPr lang="zh-CN" altLang="en-US" sz="3200" b="0" i="1" smtClean="0">
                                  <a:latin typeface="Cambria Math" panose="02040503050406030204" pitchFamily="18" charset="0"/>
                                </a:rPr>
                                <m:t>𝜋</m:t>
                              </m:r>
                            </m:den>
                          </m:f>
                        </m:e>
                      </m:rad>
                    </m:oMath>
                  </m:oMathPara>
                </a14:m>
                <a:endParaRPr lang="zh-CN" altLang="en-US" sz="3200" dirty="0"/>
              </a:p>
            </p:txBody>
          </p:sp>
        </mc:Choice>
        <mc:Fallback xmlns="">
          <p:sp>
            <p:nvSpPr>
              <p:cNvPr id="3" name="文本框 2">
                <a:extLst>
                  <a:ext uri="{FF2B5EF4-FFF2-40B4-BE49-F238E27FC236}">
                    <a16:creationId xmlns:a16="http://schemas.microsoft.com/office/drawing/2014/main" id="{F4014AED-98EB-4FB3-A64A-C104742FEA64}"/>
                  </a:ext>
                </a:extLst>
              </p:cNvPr>
              <p:cNvSpPr txBox="1">
                <a:spLocks noRot="1" noChangeAspect="1" noMove="1" noResize="1" noEditPoints="1" noAdjustHandles="1" noChangeArrowheads="1" noChangeShapeType="1" noTextEdit="1"/>
              </p:cNvSpPr>
              <p:nvPr/>
            </p:nvSpPr>
            <p:spPr>
              <a:xfrm>
                <a:off x="1705561" y="2634144"/>
                <a:ext cx="7362937" cy="154734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0073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1173522" y="485193"/>
                <a:ext cx="9844956" cy="1014765"/>
              </a:xfrm>
              <a:prstGeom prst="rect">
                <a:avLst/>
              </a:prstGeom>
            </p:spPr>
            <p:txBody>
              <a:bodyPr wrap="square">
                <a:spAutoFit/>
              </a:bodyPr>
              <a:lstStyle/>
              <a:p>
                <a:pPr>
                  <a:lnSpc>
                    <a:spcPct val="130000"/>
                  </a:lnSpc>
                </a:pPr>
                <a:r>
                  <a:rPr lang="en-US" altLang="zh-CN" sz="2400" dirty="0">
                    <a:latin typeface="楷体" panose="02010609060101010101" pitchFamily="49" charset="-122"/>
                    <a:ea typeface="楷体" panose="02010609060101010101" pitchFamily="49" charset="-122"/>
                    <a:cs typeface="Times New Roman" panose="02020603050405020304" pitchFamily="18" charset="0"/>
                  </a:rPr>
                  <a:t>9.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一容器内盛有</a:t>
                </a:r>
                <a14:m>
                  <m:oMath xmlns:m="http://schemas.openxmlformats.org/officeDocument/2006/math">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𝑣</m:t>
                        </m:r>
                      </m:e>
                      <m:sub>
                        <m:r>
                          <a:rPr lang="en-US" altLang="zh-CN" sz="2400" b="0" i="1" smtClean="0">
                            <a:latin typeface="Cambria Math" panose="02040503050406030204" pitchFamily="18" charset="0"/>
                            <a:cs typeface="Times New Roman" panose="02020603050405020304" pitchFamily="18" charset="0"/>
                          </a:rPr>
                          <m:t>1</m:t>
                        </m:r>
                      </m:sub>
                    </m:sSub>
                    <m:r>
                      <a:rPr lang="en-US" altLang="zh-CN" sz="2400" b="0" i="1" smtClean="0">
                        <a:latin typeface="Cambria Math" panose="02040503050406030204" pitchFamily="18" charset="0"/>
                        <a:cs typeface="Times New Roman" panose="02020603050405020304" pitchFamily="18" charset="0"/>
                      </a:rPr>
                      <m:t>𝑚𝑜𝑙</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氢气和</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𝑣</m:t>
                        </m:r>
                      </m:e>
                      <m:sub>
                        <m:r>
                          <a:rPr lang="en-US" altLang="zh-CN" sz="2400" b="0" i="1" smtClean="0">
                            <a:latin typeface="Cambria Math" panose="02040503050406030204" pitchFamily="18" charset="0"/>
                            <a:cs typeface="Times New Roman" panose="02020603050405020304" pitchFamily="18" charset="0"/>
                          </a:rPr>
                          <m:t>2</m:t>
                        </m:r>
                      </m:sub>
                    </m:sSub>
                    <m:r>
                      <a:rPr lang="en-US" altLang="zh-CN" sz="2400" i="1">
                        <a:latin typeface="Cambria Math" panose="02040503050406030204" pitchFamily="18" charset="0"/>
                        <a:cs typeface="Times New Roman" panose="02020603050405020304" pitchFamily="18" charset="0"/>
                      </a:rPr>
                      <m:t>𝑚𝑜𝑙</m:t>
                    </m:r>
                    <m:r>
                      <a:rPr lang="en-US" altLang="zh-CN" sz="2400" i="1">
                        <a:latin typeface="Cambria Math" panose="02040503050406030204" pitchFamily="18" charset="0"/>
                        <a:cs typeface="Times New Roman" panose="02020603050405020304" pitchFamily="18" charset="0"/>
                      </a:rPr>
                      <m:t> </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氦气,经混合后，温度为T。证明混合气体分子平均速率为</a:t>
                </a:r>
              </a:p>
            </p:txBody>
          </p:sp>
        </mc:Choice>
        <mc:Fallback>
          <p:sp>
            <p:nvSpPr>
              <p:cNvPr id="2" name="矩形 1"/>
              <p:cNvSpPr>
                <a:spLocks noRot="1" noChangeAspect="1" noMove="1" noResize="1" noEditPoints="1" noAdjustHandles="1" noChangeArrowheads="1" noChangeShapeType="1" noTextEdit="1"/>
              </p:cNvSpPr>
              <p:nvPr/>
            </p:nvSpPr>
            <p:spPr>
              <a:xfrm>
                <a:off x="1173522" y="485193"/>
                <a:ext cx="9844956" cy="1014765"/>
              </a:xfrm>
              <a:prstGeom prst="rect">
                <a:avLst/>
              </a:prstGeom>
              <a:blipFill>
                <a:blip r:embed="rId2"/>
                <a:stretch>
                  <a:fillRect l="-991" t="-602" r="-805" b="-102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4014AED-98EB-4FB3-A64A-C104742FEA64}"/>
                  </a:ext>
                </a:extLst>
              </p:cNvPr>
              <p:cNvSpPr txBox="1"/>
              <p:nvPr/>
            </p:nvSpPr>
            <p:spPr>
              <a:xfrm>
                <a:off x="2955342" y="1330561"/>
                <a:ext cx="4921743" cy="10016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smtClean="0">
                              <a:latin typeface="Cambria Math" panose="02040503050406030204" pitchFamily="18" charset="0"/>
                            </a:rPr>
                          </m:ctrlPr>
                        </m:accPr>
                        <m:e>
                          <m:r>
                            <a:rPr lang="en-US" altLang="zh-CN" sz="2000" b="0" i="1" smtClean="0">
                              <a:latin typeface="Cambria Math" panose="02040503050406030204" pitchFamily="18" charset="0"/>
                            </a:rPr>
                            <m:t>𝑣</m:t>
                          </m:r>
                        </m:e>
                      </m:acc>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rPr>
                        <m:t>31.6</m:t>
                      </m:r>
                      <m:f>
                        <m:fPr>
                          <m:ctrlPr>
                            <a:rPr lang="en-US" altLang="zh-CN" sz="2000" b="0" i="1" smtClean="0">
                              <a:latin typeface="Cambria Math" panose="02040503050406030204" pitchFamily="18" charset="0"/>
                            </a:rPr>
                          </m:ctrlPr>
                        </m:fPr>
                        <m:num>
                          <m:rad>
                            <m:radPr>
                              <m:degHide m:val="on"/>
                              <m:ctrlPr>
                                <a:rPr lang="en-US" altLang="zh-CN" sz="2000" b="0" i="1" smtClean="0">
                                  <a:latin typeface="Cambria Math" panose="02040503050406030204" pitchFamily="18" charset="0"/>
                                </a:rPr>
                              </m:ctrlPr>
                            </m:radPr>
                            <m:deg/>
                            <m:e>
                              <m:r>
                                <a:rPr lang="en-US" altLang="zh-CN" sz="2000" b="0" i="1" smtClean="0">
                                  <a:latin typeface="Cambria Math" panose="02040503050406030204" pitchFamily="18" charset="0"/>
                                </a:rPr>
                                <m:t>2</m:t>
                              </m:r>
                            </m:e>
                          </m:ra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b="0" i="1" smtClean="0">
                                  <a:latin typeface="Cambria Math" panose="02040503050406030204" pitchFamily="18" charset="0"/>
                                </a:rPr>
                                <m:t>2</m:t>
                              </m:r>
                            </m:sub>
                          </m:sSub>
                        </m:num>
                        <m:den>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𝑣</m:t>
                              </m:r>
                            </m:e>
                            <m:sub>
                              <m:r>
                                <a:rPr lang="en-US" altLang="zh-CN" sz="2000" i="1">
                                  <a:latin typeface="Cambria Math" panose="02040503050406030204" pitchFamily="18" charset="0"/>
                                </a:rPr>
                                <m:t>2</m:t>
                              </m:r>
                            </m:sub>
                          </m:sSub>
                        </m:den>
                      </m:f>
                      <m:rad>
                        <m:radPr>
                          <m:degHide m:val="on"/>
                          <m:ctrlPr>
                            <a:rPr lang="en-US" altLang="zh-CN" sz="2000" b="0" i="1" smtClean="0">
                              <a:latin typeface="Cambria Math" panose="02040503050406030204" pitchFamily="18" charset="0"/>
                            </a:rPr>
                          </m:ctrlPr>
                        </m:radPr>
                        <m:deg/>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𝑅𝑇</m:t>
                              </m:r>
                            </m:num>
                            <m:den>
                              <m:r>
                                <a:rPr lang="zh-CN" altLang="en-US" sz="2000" b="0" i="1" smtClean="0">
                                  <a:latin typeface="Cambria Math" panose="02040503050406030204" pitchFamily="18" charset="0"/>
                                </a:rPr>
                                <m:t>𝜋</m:t>
                              </m:r>
                            </m:den>
                          </m:f>
                        </m:e>
                      </m:rad>
                    </m:oMath>
                  </m:oMathPara>
                </a14:m>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F4014AED-98EB-4FB3-A64A-C104742FEA64}"/>
                  </a:ext>
                </a:extLst>
              </p:cNvPr>
              <p:cNvSpPr txBox="1">
                <a:spLocks noRot="1" noChangeAspect="1" noMove="1" noResize="1" noEditPoints="1" noAdjustHandles="1" noChangeArrowheads="1" noChangeShapeType="1" noTextEdit="1"/>
              </p:cNvSpPr>
              <p:nvPr/>
            </p:nvSpPr>
            <p:spPr>
              <a:xfrm>
                <a:off x="2955342" y="1330561"/>
                <a:ext cx="4921743" cy="100168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DD26814-6F1E-4632-F9F1-4075FC40BA34}"/>
                  </a:ext>
                </a:extLst>
              </p:cNvPr>
              <p:cNvSpPr txBox="1"/>
              <p:nvPr/>
            </p:nvSpPr>
            <p:spPr>
              <a:xfrm>
                <a:off x="1173522" y="2730897"/>
                <a:ext cx="9353006" cy="388785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证明：平均速率：</a:t>
                </a:r>
                <a14:m>
                  <m:oMath xmlns:m="http://schemas.openxmlformats.org/officeDocument/2006/math">
                    <m:acc>
                      <m:accPr>
                        <m:chr m:val="̅"/>
                        <m:ctrlPr>
                          <a:rPr lang="zh-CN" altLang="en-US" sz="2400" i="1" dirty="0" smtClean="0">
                            <a:latin typeface="Cambria Math" panose="02040503050406030204" pitchFamily="18" charset="0"/>
                          </a:rPr>
                        </m:ctrlPr>
                      </m:accPr>
                      <m:e>
                        <m:r>
                          <a:rPr lang="zh-CN" altLang="en-US" sz="2400" i="1" dirty="0">
                            <a:latin typeface="Cambria Math" panose="02040503050406030204" pitchFamily="18" charset="0"/>
                          </a:rPr>
                          <m:t>𝑣</m:t>
                        </m:r>
                      </m:e>
                    </m:acc>
                    <m:r>
                      <a:rPr lang="en-US" altLang="zh-CN" sz="2400" b="0" i="1" dirty="0" smtClean="0">
                        <a:latin typeface="Cambria Math" panose="02040503050406030204" pitchFamily="18" charset="0"/>
                      </a:rPr>
                      <m:t>=</m:t>
                    </m:r>
                    <m:rad>
                      <m:radPr>
                        <m:degHide m:val="on"/>
                        <m:ctrlPr>
                          <a:rPr lang="en-US" altLang="zh-CN" sz="2400" b="0" i="1" dirty="0" smtClean="0">
                            <a:latin typeface="Cambria Math" panose="02040503050406030204" pitchFamily="18" charset="0"/>
                          </a:rPr>
                        </m:ctrlPr>
                      </m:radPr>
                      <m:deg/>
                      <m:e>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8</m:t>
                            </m:r>
                            <m:r>
                              <m:rPr>
                                <m:sty m:val="p"/>
                              </m:rPr>
                              <a:rPr lang="en-US" altLang="zh-CN" sz="2400" i="1" dirty="0">
                                <a:latin typeface="Cambria Math" panose="02040503050406030204" pitchFamily="18" charset="0"/>
                              </a:rPr>
                              <m:t>k</m:t>
                            </m:r>
                            <m:r>
                              <a:rPr lang="en-US" altLang="zh-CN" sz="2400" b="0" i="1" dirty="0" smtClean="0">
                                <a:latin typeface="Cambria Math" panose="02040503050406030204" pitchFamily="18" charset="0"/>
                              </a:rPr>
                              <m:t>𝑇</m:t>
                            </m:r>
                          </m:num>
                          <m:den>
                            <m:r>
                              <a:rPr lang="zh-CN" altLang="en-US" sz="2400" b="0" i="1" dirty="0" smtClean="0">
                                <a:latin typeface="Cambria Math" panose="02040503050406030204" pitchFamily="18" charset="0"/>
                              </a:rPr>
                              <m:t>𝜋</m:t>
                            </m:r>
                            <m:r>
                              <m:rPr>
                                <m:sty m:val="p"/>
                              </m:rPr>
                              <a:rPr lang="en-US" altLang="zh-CN" sz="2400" i="1" dirty="0">
                                <a:latin typeface="Cambria Math" panose="02040503050406030204" pitchFamily="18" charset="0"/>
                              </a:rPr>
                              <m:t>m</m:t>
                            </m:r>
                          </m:den>
                        </m:f>
                      </m:e>
                    </m:rad>
                    <m:r>
                      <a:rPr lang="en-US" altLang="zh-CN" sz="2400" b="0" i="1" dirty="0" smtClean="0">
                        <a:latin typeface="Cambria Math" panose="02040503050406030204" pitchFamily="18" charset="0"/>
                      </a:rPr>
                      <m:t>=</m:t>
                    </m:r>
                    <m:rad>
                      <m:radPr>
                        <m:degHide m:val="on"/>
                        <m:ctrlPr>
                          <a:rPr lang="en-US" altLang="zh-CN" sz="2400" b="0" i="1" dirty="0" smtClean="0">
                            <a:latin typeface="Cambria Math" panose="02040503050406030204" pitchFamily="18" charset="0"/>
                          </a:rPr>
                        </m:ctrlPr>
                      </m:radPr>
                      <m:deg/>
                      <m:e>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8</m:t>
                            </m:r>
                            <m:r>
                              <a:rPr lang="en-US" altLang="zh-CN" sz="2400" b="0" i="1" dirty="0" smtClean="0">
                                <a:latin typeface="Cambria Math" panose="02040503050406030204" pitchFamily="18" charset="0"/>
                              </a:rPr>
                              <m:t>𝑅𝑇</m:t>
                            </m:r>
                          </m:num>
                          <m:den>
                            <m:r>
                              <a:rPr lang="zh-CN" altLang="en-US" sz="2400" b="0" i="1" dirty="0" smtClean="0">
                                <a:latin typeface="Cambria Math" panose="02040503050406030204" pitchFamily="18" charset="0"/>
                              </a:rPr>
                              <m:t>𝜋</m:t>
                            </m:r>
                            <m:r>
                              <a:rPr lang="en-US" altLang="zh-CN" sz="2400" b="0" i="1" dirty="0" smtClean="0">
                                <a:latin typeface="Cambria Math" panose="02040503050406030204" pitchFamily="18" charset="0"/>
                              </a:rPr>
                              <m:t>𝑀</m:t>
                            </m:r>
                          </m:den>
                        </m:f>
                      </m:e>
                    </m:rad>
                  </m:oMath>
                </a14:m>
                <a:endParaRPr lang="en-US" altLang="zh-CN" sz="2400" b="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混合气体平均速率： </a:t>
                </a:r>
                <a14:m>
                  <m:oMath xmlns:m="http://schemas.openxmlformats.org/officeDocument/2006/math">
                    <m:acc>
                      <m:accPr>
                        <m:chr m:val="̅"/>
                        <m:ctrlPr>
                          <a:rPr lang="zh-CN" altLang="en-US" sz="2400" i="1" dirty="0">
                            <a:latin typeface="Cambria Math" panose="02040503050406030204" pitchFamily="18" charset="0"/>
                          </a:rPr>
                        </m:ctrlPr>
                      </m:accPr>
                      <m:e>
                        <m:r>
                          <a:rPr lang="zh-CN" altLang="en-US" sz="2400" i="1" dirty="0">
                            <a:latin typeface="Cambria Math" panose="02040503050406030204" pitchFamily="18" charset="0"/>
                          </a:rPr>
                          <m:t>𝑣</m:t>
                        </m:r>
                      </m:e>
                    </m:acc>
                    <m:r>
                      <a:rPr lang="en-US" altLang="zh-CN" sz="2400" b="0" i="1" dirty="0" smtClean="0">
                        <a:latin typeface="Cambria Math" panose="02040503050406030204" pitchFamily="18" charset="0"/>
                      </a:rPr>
                      <m:t>=</m:t>
                    </m:r>
                    <m:f>
                      <m:fPr>
                        <m:ctrlPr>
                          <a:rPr lang="en-US" altLang="zh-CN" sz="2400" i="1" dirty="0" smtClean="0">
                            <a:latin typeface="Cambria Math" panose="02040503050406030204" pitchFamily="18" charset="0"/>
                          </a:rPr>
                        </m:ctrlPr>
                      </m:fPr>
                      <m:num>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𝑁</m:t>
                            </m:r>
                          </m:e>
                          <m:sub>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𝐻</m:t>
                                </m:r>
                              </m:e>
                              <m:sub>
                                <m:r>
                                  <a:rPr lang="en-US" altLang="zh-CN" sz="2400" b="0" i="1" dirty="0" smtClean="0">
                                    <a:latin typeface="Cambria Math" panose="02040503050406030204" pitchFamily="18" charset="0"/>
                                  </a:rPr>
                                  <m:t>2</m:t>
                                </m:r>
                              </m:sub>
                            </m:sSub>
                          </m:sub>
                        </m:sSub>
                        <m:acc>
                          <m:accPr>
                            <m:chr m:val="̅"/>
                            <m:ctrlPr>
                              <a:rPr lang="en-US" altLang="zh-CN" sz="2400" i="1" dirty="0" smtClean="0">
                                <a:latin typeface="Cambria Math" panose="02040503050406030204" pitchFamily="18" charset="0"/>
                              </a:rPr>
                            </m:ctrlPr>
                          </m:acc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𝐻</m:t>
                                    </m:r>
                                  </m:e>
                                  <m:sub>
                                    <m:r>
                                      <a:rPr lang="en-US" altLang="zh-CN" sz="2400" i="1" dirty="0">
                                        <a:latin typeface="Cambria Math" panose="02040503050406030204" pitchFamily="18" charset="0"/>
                                      </a:rPr>
                                      <m:t>2</m:t>
                                    </m:r>
                                  </m:sub>
                                </m:sSub>
                              </m:sub>
                            </m:sSub>
                          </m:e>
                        </m:acc>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𝑁</m:t>
                            </m:r>
                          </m:e>
                          <m:sub>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𝐻</m:t>
                                </m:r>
                              </m:e>
                              <m:sub>
                                <m:r>
                                  <a:rPr lang="en-US" altLang="zh-CN" sz="2400" b="0" i="1" dirty="0" smtClean="0">
                                    <a:latin typeface="Cambria Math" panose="02040503050406030204" pitchFamily="18" charset="0"/>
                                  </a:rPr>
                                  <m:t>𝑒</m:t>
                                </m:r>
                              </m:sub>
                            </m:sSub>
                          </m:sub>
                        </m:sSub>
                        <m:acc>
                          <m:accPr>
                            <m:chr m:val="̅"/>
                            <m:ctrlPr>
                              <a:rPr lang="en-US" altLang="zh-CN" sz="2400" i="1" dirty="0">
                                <a:latin typeface="Cambria Math" panose="02040503050406030204" pitchFamily="18" charset="0"/>
                              </a:rPr>
                            </m:ctrlPr>
                          </m:acc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𝑣</m:t>
                                </m:r>
                              </m:e>
                              <m: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𝐻</m:t>
                                    </m:r>
                                  </m:e>
                                  <m:sub>
                                    <m:r>
                                      <a:rPr lang="en-US" altLang="zh-CN" sz="2400" b="0" i="1" dirty="0" smtClean="0">
                                        <a:latin typeface="Cambria Math" panose="02040503050406030204" pitchFamily="18" charset="0"/>
                                      </a:rPr>
                                      <m:t>𝑒</m:t>
                                    </m:r>
                                  </m:sub>
                                </m:sSub>
                              </m:sub>
                            </m:sSub>
                          </m:e>
                        </m:acc>
                      </m:num>
                      <m:den>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𝑁</m:t>
                            </m:r>
                          </m:e>
                          <m: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𝐻</m:t>
                                </m:r>
                              </m:e>
                              <m:sub>
                                <m:r>
                                  <a:rPr lang="en-US" altLang="zh-CN" sz="2400" i="1" dirty="0">
                                    <a:latin typeface="Cambria Math" panose="02040503050406030204" pitchFamily="18" charset="0"/>
                                  </a:rPr>
                                  <m:t>2</m:t>
                                </m:r>
                              </m:sub>
                            </m:sSub>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𝑁</m:t>
                            </m:r>
                          </m:e>
                          <m: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𝐻</m:t>
                                </m:r>
                              </m:e>
                              <m:sub>
                                <m:r>
                                  <a:rPr lang="en-US" altLang="zh-CN" sz="2400" i="1" dirty="0">
                                    <a:latin typeface="Cambria Math" panose="02040503050406030204" pitchFamily="18" charset="0"/>
                                  </a:rPr>
                                  <m:t>𝑒</m:t>
                                </m:r>
                              </m:sub>
                            </m:sSub>
                          </m:sub>
                        </m:sSub>
                      </m:den>
                    </m:f>
                  </m:oMath>
                </a14:m>
                <a:endParaRPr lang="en-US" altLang="zh-CN" sz="2400" dirty="0"/>
              </a:p>
              <a:p>
                <a:r>
                  <a:rPr lang="en-US" altLang="zh-CN" sz="2400" dirty="0"/>
                  <a:t>                                    </a:t>
                </a:r>
                <a14:m>
                  <m:oMath xmlns:m="http://schemas.openxmlformats.org/officeDocument/2006/math">
                    <m:r>
                      <a:rPr lang="en-US" altLang="zh-CN" sz="2400" i="1" dirty="0">
                        <a:latin typeface="Cambria Math" panose="02040503050406030204" pitchFamily="18" charset="0"/>
                      </a:rPr>
                      <m:t>=</m:t>
                    </m:r>
                    <m:f>
                      <m:fPr>
                        <m:ctrlPr>
                          <a:rPr lang="en-US" altLang="zh-CN" sz="2400" i="1" dirty="0">
                            <a:latin typeface="Cambria Math" panose="02040503050406030204" pitchFamily="18" charset="0"/>
                          </a:rPr>
                        </m:ctrlPr>
                      </m:fPr>
                      <m:num>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𝑉</m:t>
                            </m:r>
                          </m:e>
                          <m:sub>
                            <m:r>
                              <a:rPr lang="en-US" altLang="zh-CN" sz="2400" b="0" i="1" dirty="0" smtClean="0">
                                <a:latin typeface="Cambria Math" panose="02040503050406030204" pitchFamily="18" charset="0"/>
                              </a:rPr>
                              <m:t>1</m:t>
                            </m:r>
                          </m:sub>
                        </m:sSub>
                        <m:sSub>
                          <m:sSubPr>
                            <m:ctrlPr>
                              <a:rPr lang="en-US" altLang="zh-CN" sz="2400" i="1" dirty="0" smtClean="0">
                                <a:latin typeface="Cambria Math" panose="02040503050406030204" pitchFamily="18" charset="0"/>
                              </a:rPr>
                            </m:ctrlPr>
                          </m:sSubPr>
                          <m:e>
                            <m:r>
                              <a:rPr lang="en-US" altLang="zh-CN" sz="2400" b="0" i="1" dirty="0" smtClean="0">
                                <a:latin typeface="Cambria Math" panose="02040503050406030204" pitchFamily="18" charset="0"/>
                              </a:rPr>
                              <m:t>𝑁</m:t>
                            </m:r>
                          </m:e>
                          <m:sub>
                            <m:r>
                              <a:rPr lang="en-US" altLang="zh-CN" sz="2400" b="0" i="1" dirty="0" smtClean="0">
                                <a:latin typeface="Cambria Math" panose="02040503050406030204" pitchFamily="18" charset="0"/>
                              </a:rPr>
                              <m:t>𝐴</m:t>
                            </m:r>
                          </m:sub>
                        </m:sSub>
                        <m:rad>
                          <m:radPr>
                            <m:degHide m:val="on"/>
                            <m:ctrlPr>
                              <a:rPr lang="en-US" altLang="zh-CN" sz="2400" i="1" dirty="0">
                                <a:latin typeface="Cambria Math" panose="02040503050406030204" pitchFamily="18" charset="0"/>
                              </a:rPr>
                            </m:ctrlPr>
                          </m:radPr>
                          <m:deg/>
                          <m:e>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8</m:t>
                                </m:r>
                                <m:r>
                                  <a:rPr lang="en-US" altLang="zh-CN" sz="2400" i="1" dirty="0">
                                    <a:latin typeface="Cambria Math" panose="02040503050406030204" pitchFamily="18" charset="0"/>
                                  </a:rPr>
                                  <m:t>𝑅𝑇</m:t>
                                </m:r>
                              </m:num>
                              <m:den>
                                <m:r>
                                  <a:rPr lang="zh-CN" altLang="en-US" sz="2400" i="1" dirty="0">
                                    <a:latin typeface="Cambria Math" panose="02040503050406030204" pitchFamily="18" charset="0"/>
                                  </a:rPr>
                                  <m:t>𝜋</m:t>
                                </m:r>
                                <m:r>
                                  <a:rPr lang="en-US" altLang="zh-CN" sz="2400" b="0" i="1" dirty="0" smtClean="0">
                                    <a:latin typeface="Cambria Math" panose="02040503050406030204" pitchFamily="18" charset="0"/>
                                  </a:rPr>
                                  <m:t>∗2∗</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10</m:t>
                                    </m:r>
                                  </m:e>
                                  <m:sup>
                                    <m:r>
                                      <a:rPr lang="en-US" altLang="zh-CN" sz="2400" b="0" i="1" dirty="0" smtClean="0">
                                        <a:latin typeface="Cambria Math" panose="02040503050406030204" pitchFamily="18" charset="0"/>
                                      </a:rPr>
                                      <m:t>−3</m:t>
                                    </m:r>
                                  </m:sup>
                                </m:sSup>
                              </m:den>
                            </m:f>
                          </m:e>
                        </m:rad>
                        <m:r>
                          <a:rPr lang="en-US" altLang="zh-CN" sz="240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𝑉</m:t>
                            </m:r>
                          </m:e>
                          <m:sub>
                            <m:r>
                              <a:rPr lang="en-US" altLang="zh-CN" sz="2400" b="0" i="1" dirty="0" smtClean="0">
                                <a:latin typeface="Cambria Math" panose="02040503050406030204" pitchFamily="18" charset="0"/>
                              </a:rPr>
                              <m:t>2</m:t>
                            </m:r>
                          </m:sub>
                        </m:sSub>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𝑁</m:t>
                            </m:r>
                          </m:e>
                          <m:sub>
                            <m:r>
                              <a:rPr lang="en-US" altLang="zh-CN" sz="2400" i="1" dirty="0">
                                <a:latin typeface="Cambria Math" panose="02040503050406030204" pitchFamily="18" charset="0"/>
                              </a:rPr>
                              <m:t>𝐴</m:t>
                            </m:r>
                          </m:sub>
                        </m:sSub>
                        <m:rad>
                          <m:radPr>
                            <m:degHide m:val="on"/>
                            <m:ctrlPr>
                              <a:rPr lang="en-US" altLang="zh-CN" sz="2400" i="1" dirty="0">
                                <a:latin typeface="Cambria Math" panose="02040503050406030204" pitchFamily="18" charset="0"/>
                              </a:rPr>
                            </m:ctrlPr>
                          </m:radPr>
                          <m:deg/>
                          <m:e>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8</m:t>
                                </m:r>
                                <m:r>
                                  <a:rPr lang="en-US" altLang="zh-CN" sz="2400" i="1" dirty="0">
                                    <a:latin typeface="Cambria Math" panose="02040503050406030204" pitchFamily="18" charset="0"/>
                                  </a:rPr>
                                  <m:t>𝑅𝑇</m:t>
                                </m:r>
                              </m:num>
                              <m:den>
                                <m:r>
                                  <a:rPr lang="zh-CN" altLang="en-US" sz="2400" i="1" dirty="0">
                                    <a:latin typeface="Cambria Math" panose="02040503050406030204" pitchFamily="18" charset="0"/>
                                  </a:rPr>
                                  <m:t>𝜋</m:t>
                                </m:r>
                                <m:r>
                                  <a:rPr lang="en-US" altLang="zh-CN" sz="2400" i="1" dirty="0">
                                    <a:latin typeface="Cambria Math" panose="02040503050406030204" pitchFamily="18" charset="0"/>
                                  </a:rPr>
                                  <m:t>∗</m:t>
                                </m:r>
                                <m:r>
                                  <a:rPr lang="en-US" altLang="zh-CN" sz="2400" b="0" i="1" dirty="0" smtClean="0">
                                    <a:latin typeface="Cambria Math" panose="02040503050406030204" pitchFamily="18" charset="0"/>
                                  </a:rPr>
                                  <m:t>4</m:t>
                                </m:r>
                                <m:r>
                                  <a:rPr lang="en-US" altLang="zh-CN" sz="2400" i="1" dirty="0">
                                    <a:latin typeface="Cambria Math" panose="02040503050406030204" pitchFamily="18" charset="0"/>
                                  </a:rPr>
                                  <m:t>∗</m:t>
                                </m:r>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i="1" dirty="0">
                                        <a:latin typeface="Cambria Math" panose="02040503050406030204" pitchFamily="18" charset="0"/>
                                      </a:rPr>
                                      <m:t>−3</m:t>
                                    </m:r>
                                  </m:sup>
                                </m:sSup>
                              </m:den>
                            </m:f>
                          </m:e>
                        </m:rad>
                      </m:num>
                      <m:den>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𝑉</m:t>
                            </m:r>
                          </m:e>
                          <m:sub>
                            <m:r>
                              <a:rPr lang="en-US" altLang="zh-CN" sz="2400" i="1" dirty="0">
                                <a:latin typeface="Cambria Math" panose="02040503050406030204" pitchFamily="18" charset="0"/>
                              </a:rPr>
                              <m:t>1</m:t>
                            </m:r>
                          </m:sub>
                        </m:sSub>
                        <m:r>
                          <a:rPr lang="en-US" altLang="zh-CN" sz="240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𝑉</m:t>
                            </m:r>
                          </m:e>
                          <m:sub>
                            <m:r>
                              <a:rPr lang="en-US" altLang="zh-CN" sz="2400" b="0" i="1" dirty="0" smtClean="0">
                                <a:latin typeface="Cambria Math" panose="02040503050406030204" pitchFamily="18" charset="0"/>
                              </a:rPr>
                              <m:t>2</m:t>
                            </m:r>
                          </m:sub>
                        </m:sSub>
                        <m:sSub>
                          <m:sSubPr>
                            <m:ctrlPr>
                              <a:rPr lang="en-US" altLang="zh-CN" sz="2400" i="1" dirty="0">
                                <a:latin typeface="Cambria Math" panose="02040503050406030204" pitchFamily="18" charset="0"/>
                              </a:rPr>
                            </m:ctrlPr>
                          </m:sSubPr>
                          <m:e>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𝑁</m:t>
                            </m:r>
                          </m:e>
                          <m:sub>
                            <m:r>
                              <a:rPr lang="en-US" altLang="zh-CN" sz="2400" i="1" dirty="0">
                                <a:latin typeface="Cambria Math" panose="02040503050406030204" pitchFamily="18" charset="0"/>
                              </a:rPr>
                              <m:t>𝐴</m:t>
                            </m:r>
                          </m:sub>
                        </m:sSub>
                      </m:den>
                    </m:f>
                  </m:oMath>
                </a14:m>
                <a:endParaRPr lang="en-US" altLang="zh-CN" sz="2400" dirty="0"/>
              </a:p>
              <a:p>
                <a:r>
                  <a:rPr lang="en-US" altLang="zh-CN" sz="2400" dirty="0"/>
                  <a:t> </a:t>
                </a:r>
                <a14:m>
                  <m:oMath xmlns:m="http://schemas.openxmlformats.org/officeDocument/2006/math">
                    <m:r>
                      <a:rPr lang="en-US" altLang="zh-CN" sz="2400" b="0" i="0" dirty="0" smtClean="0">
                        <a:latin typeface="Cambria Math" panose="02040503050406030204" pitchFamily="18" charset="0"/>
                      </a:rPr>
                      <m:t>                                            </m:t>
                    </m:r>
                    <m:r>
                      <a:rPr lang="en-US" altLang="zh-CN" sz="2400" i="1" dirty="0">
                        <a:latin typeface="Cambria Math" panose="02040503050406030204" pitchFamily="18" charset="0"/>
                      </a:rPr>
                      <m:t>= </m:t>
                    </m:r>
                    <m:rad>
                      <m:radPr>
                        <m:degHide m:val="on"/>
                        <m:ctrlPr>
                          <a:rPr lang="en-US" altLang="zh-CN" sz="2400" i="1" dirty="0">
                            <a:latin typeface="Cambria Math" panose="02040503050406030204" pitchFamily="18" charset="0"/>
                          </a:rPr>
                        </m:ctrlPr>
                      </m:radPr>
                      <m:deg/>
                      <m:e>
                        <m:f>
                          <m:fPr>
                            <m:ctrlPr>
                              <a:rPr lang="en-US" altLang="zh-CN" sz="2400" i="1" dirty="0">
                                <a:latin typeface="Cambria Math" panose="02040503050406030204" pitchFamily="18" charset="0"/>
                              </a:rPr>
                            </m:ctrlPr>
                          </m:fPr>
                          <m:num>
                            <m:r>
                              <a:rPr lang="en-US" altLang="zh-CN" sz="2400" i="1" dirty="0">
                                <a:latin typeface="Cambria Math" panose="02040503050406030204" pitchFamily="18" charset="0"/>
                              </a:rPr>
                              <m:t>2</m:t>
                            </m:r>
                            <m:r>
                              <a:rPr lang="en-US" altLang="zh-CN" sz="2400" i="1" dirty="0">
                                <a:latin typeface="Cambria Math" panose="02040503050406030204" pitchFamily="18" charset="0"/>
                              </a:rPr>
                              <m:t>𝑅𝑇</m:t>
                            </m:r>
                          </m:num>
                          <m:den>
                            <m:r>
                              <a:rPr lang="zh-CN" altLang="en-US" sz="2400" i="1" dirty="0">
                                <a:latin typeface="Cambria Math" panose="02040503050406030204" pitchFamily="18" charset="0"/>
                              </a:rPr>
                              <m:t>𝜋</m:t>
                            </m:r>
                          </m:den>
                        </m:f>
                      </m:e>
                    </m:rad>
                  </m:oMath>
                </a14:m>
                <a:r>
                  <a:rPr lang="en-US" altLang="zh-CN" sz="2400" dirty="0"/>
                  <a:t>(</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𝑉</m:t>
                        </m:r>
                      </m:e>
                      <m:sub>
                        <m:r>
                          <a:rPr lang="en-US" altLang="zh-CN" sz="2400" i="1" dirty="0">
                            <a:latin typeface="Cambria Math" panose="02040503050406030204" pitchFamily="18" charset="0"/>
                          </a:rPr>
                          <m:t>1</m:t>
                        </m:r>
                      </m:sub>
                    </m:sSub>
                    <m:rad>
                      <m:radPr>
                        <m:degHide m:val="on"/>
                        <m:ctrlPr>
                          <a:rPr lang="en-US" altLang="zh-CN" sz="2400" i="1" dirty="0" smtClean="0">
                            <a:latin typeface="Cambria Math" panose="02040503050406030204" pitchFamily="18" charset="0"/>
                          </a:rPr>
                        </m:ctrlPr>
                      </m:radPr>
                      <m:deg/>
                      <m:e>
                        <m:r>
                          <a:rPr lang="en-US" altLang="zh-CN" sz="2400" b="0" i="1" dirty="0" smtClean="0">
                            <a:latin typeface="Cambria Math" panose="02040503050406030204" pitchFamily="18" charset="0"/>
                          </a:rPr>
                          <m:t>2∗</m:t>
                        </m:r>
                        <m:sSup>
                          <m:sSupPr>
                            <m:ctrlPr>
                              <a:rPr lang="en-US" altLang="zh-CN" sz="2400" b="0" i="1" dirty="0" smtClean="0">
                                <a:latin typeface="Cambria Math" panose="02040503050406030204" pitchFamily="18" charset="0"/>
                              </a:rPr>
                            </m:ctrlPr>
                          </m:sSupPr>
                          <m:e>
                            <m:r>
                              <a:rPr lang="en-US" altLang="zh-CN" sz="2400" b="0" i="1" dirty="0" smtClean="0">
                                <a:latin typeface="Cambria Math" panose="02040503050406030204" pitchFamily="18" charset="0"/>
                              </a:rPr>
                              <m:t>10</m:t>
                            </m:r>
                          </m:e>
                          <m:sup>
                            <m:r>
                              <a:rPr lang="en-US" altLang="zh-CN" sz="2400" b="0" i="1" dirty="0" smtClean="0">
                                <a:latin typeface="Cambria Math" panose="02040503050406030204" pitchFamily="18" charset="0"/>
                              </a:rPr>
                              <m:t>3</m:t>
                            </m:r>
                          </m:sup>
                        </m:sSup>
                      </m:e>
                    </m:rad>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𝑉</m:t>
                        </m:r>
                      </m:e>
                      <m:sub>
                        <m:r>
                          <a:rPr lang="en-US" altLang="zh-CN" sz="2400" i="1" dirty="0">
                            <a:latin typeface="Cambria Math" panose="02040503050406030204" pitchFamily="18" charset="0"/>
                          </a:rPr>
                          <m:t>2</m:t>
                        </m:r>
                      </m:sub>
                    </m:sSub>
                    <m:rad>
                      <m:radPr>
                        <m:degHide m:val="on"/>
                        <m:ctrlPr>
                          <a:rPr lang="en-US" altLang="zh-CN" sz="2400" i="1" dirty="0">
                            <a:latin typeface="Cambria Math" panose="02040503050406030204" pitchFamily="18" charset="0"/>
                          </a:rPr>
                        </m:ctrlPr>
                      </m:radPr>
                      <m:deg/>
                      <m:e>
                        <m:sSup>
                          <m:sSupPr>
                            <m:ctrlPr>
                              <a:rPr lang="en-US" altLang="zh-CN" sz="2400" i="1" dirty="0">
                                <a:latin typeface="Cambria Math" panose="02040503050406030204" pitchFamily="18" charset="0"/>
                              </a:rPr>
                            </m:ctrlPr>
                          </m:sSupPr>
                          <m:e>
                            <m:r>
                              <a:rPr lang="en-US" altLang="zh-CN" sz="2400" i="1" dirty="0">
                                <a:latin typeface="Cambria Math" panose="02040503050406030204" pitchFamily="18" charset="0"/>
                              </a:rPr>
                              <m:t>10</m:t>
                            </m:r>
                          </m:e>
                          <m:sup>
                            <m:r>
                              <a:rPr lang="en-US" altLang="zh-CN" sz="2400" i="1" dirty="0">
                                <a:latin typeface="Cambria Math" panose="02040503050406030204" pitchFamily="18" charset="0"/>
                              </a:rPr>
                              <m:t>3</m:t>
                            </m:r>
                          </m:sup>
                        </m:sSup>
                      </m:e>
                    </m:rad>
                  </m:oMath>
                </a14:m>
                <a:r>
                  <a:rPr lang="en-US" altLang="zh-CN" sz="2400" dirty="0"/>
                  <a:t>)</a:t>
                </a:r>
                <a14:m>
                  <m:oMath xmlns:m="http://schemas.openxmlformats.org/officeDocument/2006/math">
                    <m:f>
                      <m:fPr>
                        <m:ctrlPr>
                          <a:rPr lang="en-US" altLang="zh-CN" sz="2400" i="1" dirty="0" smtClean="0">
                            <a:latin typeface="Cambria Math" panose="02040503050406030204" pitchFamily="18" charset="0"/>
                          </a:rPr>
                        </m:ctrlPr>
                      </m:fPr>
                      <m:num>
                        <m:r>
                          <a:rPr lang="en-US" altLang="zh-CN" sz="2400" b="0" i="1" dirty="0" smtClean="0">
                            <a:latin typeface="Cambria Math" panose="02040503050406030204" pitchFamily="18" charset="0"/>
                          </a:rPr>
                          <m:t>1</m:t>
                        </m:r>
                      </m:num>
                      <m:den>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m:t>
                            </m:r>
                            <m:r>
                              <a:rPr lang="en-US" altLang="zh-CN" sz="2400" i="1" dirty="0">
                                <a:latin typeface="Cambria Math" panose="02040503050406030204" pitchFamily="18" charset="0"/>
                              </a:rPr>
                              <m:t>𝑉</m:t>
                            </m:r>
                          </m:e>
                          <m:sub>
                            <m:r>
                              <a:rPr lang="en-US" altLang="zh-CN" sz="2400" i="1" dirty="0">
                                <a:latin typeface="Cambria Math" panose="02040503050406030204" pitchFamily="18" charset="0"/>
                              </a:rPr>
                              <m:t>1</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𝑉</m:t>
                            </m:r>
                          </m:e>
                          <m:sub>
                            <m:r>
                              <a:rPr lang="en-US" altLang="zh-CN" sz="2400" i="1" dirty="0">
                                <a:latin typeface="Cambria Math" panose="02040503050406030204" pitchFamily="18" charset="0"/>
                              </a:rPr>
                              <m:t>2</m:t>
                            </m:r>
                          </m:sub>
                        </m:sSub>
                        <m:r>
                          <a:rPr lang="en-US" altLang="zh-CN" sz="2400" b="0" i="1" dirty="0" smtClean="0">
                            <a:latin typeface="Cambria Math" panose="02040503050406030204" pitchFamily="18" charset="0"/>
                          </a:rPr>
                          <m:t>)</m:t>
                        </m:r>
                      </m:den>
                    </m:f>
                  </m:oMath>
                </a14:m>
                <a:endParaRPr lang="en-US" altLang="zh-CN" sz="2400" dirty="0"/>
              </a:p>
              <a:p>
                <a:r>
                  <a:rPr lang="en-US" altLang="zh-CN" sz="2400" dirty="0"/>
                  <a:t>                                    = </a:t>
                </a:r>
                <a14:m>
                  <m:oMath xmlns:m="http://schemas.openxmlformats.org/officeDocument/2006/math">
                    <m:r>
                      <a:rPr lang="en-US" altLang="zh-CN" sz="2400" i="1">
                        <a:latin typeface="Cambria Math" panose="02040503050406030204" pitchFamily="18" charset="0"/>
                      </a:rPr>
                      <m:t>31.6</m:t>
                    </m:r>
                    <m:f>
                      <m:fPr>
                        <m:ctrlPr>
                          <a:rPr lang="en-US" altLang="zh-CN" sz="2400" i="1">
                            <a:latin typeface="Cambria Math" panose="02040503050406030204" pitchFamily="18" charset="0"/>
                          </a:rPr>
                        </m:ctrlPr>
                      </m:fPr>
                      <m:num>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2</m:t>
                            </m:r>
                          </m:e>
                        </m:rad>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1</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2</m:t>
                            </m:r>
                          </m:sub>
                        </m:sSub>
                      </m:num>
                      <m:den>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1</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2</m:t>
                            </m:r>
                          </m:sub>
                        </m:sSub>
                      </m:den>
                    </m:f>
                    <m:rad>
                      <m:radPr>
                        <m:degHide m:val="on"/>
                        <m:ctrlPr>
                          <a:rPr lang="en-US" altLang="zh-CN" sz="2400" i="1">
                            <a:latin typeface="Cambria Math" panose="02040503050406030204" pitchFamily="18" charset="0"/>
                          </a:rPr>
                        </m:ctrlPr>
                      </m:radPr>
                      <m:deg/>
                      <m:e>
                        <m:f>
                          <m:fPr>
                            <m:ctrlPr>
                              <a:rPr lang="en-US" altLang="zh-CN" sz="2400" i="1">
                                <a:latin typeface="Cambria Math" panose="02040503050406030204" pitchFamily="18" charset="0"/>
                              </a:rPr>
                            </m:ctrlPr>
                          </m:fPr>
                          <m:num>
                            <m:r>
                              <a:rPr lang="en-US" altLang="zh-CN" sz="2400" i="1">
                                <a:latin typeface="Cambria Math" panose="02040503050406030204" pitchFamily="18" charset="0"/>
                              </a:rPr>
                              <m:t>2</m:t>
                            </m:r>
                            <m:r>
                              <a:rPr lang="en-US" altLang="zh-CN" sz="2400" i="1">
                                <a:latin typeface="Cambria Math" panose="02040503050406030204" pitchFamily="18" charset="0"/>
                              </a:rPr>
                              <m:t>𝑅𝑇</m:t>
                            </m:r>
                          </m:num>
                          <m:den>
                            <m:r>
                              <a:rPr lang="zh-CN" altLang="en-US" sz="2400" i="1">
                                <a:latin typeface="Cambria Math" panose="02040503050406030204" pitchFamily="18" charset="0"/>
                              </a:rPr>
                              <m:t>𝜋</m:t>
                            </m:r>
                          </m:den>
                        </m:f>
                      </m:e>
                    </m:rad>
                  </m:oMath>
                </a14:m>
                <a:endParaRPr lang="en-US" altLang="zh-CN" sz="2400" dirty="0"/>
              </a:p>
            </p:txBody>
          </p:sp>
        </mc:Choice>
        <mc:Fallback xmlns="">
          <p:sp>
            <p:nvSpPr>
              <p:cNvPr id="4" name="文本框 3">
                <a:extLst>
                  <a:ext uri="{FF2B5EF4-FFF2-40B4-BE49-F238E27FC236}">
                    <a16:creationId xmlns:a16="http://schemas.microsoft.com/office/drawing/2014/main" id="{5DD26814-6F1E-4632-F9F1-4075FC40BA34}"/>
                  </a:ext>
                </a:extLst>
              </p:cNvPr>
              <p:cNvSpPr txBox="1">
                <a:spLocks noRot="1" noChangeAspect="1" noMove="1" noResize="1" noEditPoints="1" noAdjustHandles="1" noChangeArrowheads="1" noChangeShapeType="1" noTextEdit="1"/>
              </p:cNvSpPr>
              <p:nvPr/>
            </p:nvSpPr>
            <p:spPr>
              <a:xfrm>
                <a:off x="1173522" y="2730897"/>
                <a:ext cx="9353006" cy="3887859"/>
              </a:xfrm>
              <a:prstGeom prst="rect">
                <a:avLst/>
              </a:prstGeom>
              <a:blipFill>
                <a:blip r:embed="rId4"/>
                <a:stretch>
                  <a:fillRect l="-1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C88F4AF-B0BC-67A1-D605-5DC13CC8AB01}"/>
                  </a:ext>
                </a:extLst>
              </p:cNvPr>
              <p:cNvSpPr txBox="1"/>
              <p:nvPr/>
            </p:nvSpPr>
            <p:spPr>
              <a:xfrm>
                <a:off x="7179800" y="2973562"/>
                <a:ext cx="203852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𝐴</m:t>
                          </m:r>
                        </m:sub>
                      </m:sSub>
                    </m:oMath>
                  </m:oMathPara>
                </a14:m>
                <a:endParaRPr lang="zh-CN" altLang="en-US" dirty="0"/>
              </a:p>
            </p:txBody>
          </p:sp>
        </mc:Choice>
        <mc:Fallback xmlns="">
          <p:sp>
            <p:nvSpPr>
              <p:cNvPr id="5" name="文本框 4">
                <a:extLst>
                  <a:ext uri="{FF2B5EF4-FFF2-40B4-BE49-F238E27FC236}">
                    <a16:creationId xmlns:a16="http://schemas.microsoft.com/office/drawing/2014/main" id="{5C88F4AF-B0BC-67A1-D605-5DC13CC8AB01}"/>
                  </a:ext>
                </a:extLst>
              </p:cNvPr>
              <p:cNvSpPr txBox="1">
                <a:spLocks noRot="1" noChangeAspect="1" noMove="1" noResize="1" noEditPoints="1" noAdjustHandles="1" noChangeArrowheads="1" noChangeShapeType="1" noTextEdit="1"/>
              </p:cNvSpPr>
              <p:nvPr/>
            </p:nvSpPr>
            <p:spPr>
              <a:xfrm>
                <a:off x="7179800" y="2973562"/>
                <a:ext cx="2038525" cy="369332"/>
              </a:xfrm>
              <a:prstGeom prst="rect">
                <a:avLst/>
              </a:prstGeom>
              <a:blipFill>
                <a:blip r:embed="rId5"/>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FD076630-D554-C872-CAAC-C6E3C1BD24EC}"/>
              </a:ext>
            </a:extLst>
          </p:cNvPr>
          <p:cNvPicPr>
            <a:picLocks noChangeAspect="1"/>
          </p:cNvPicPr>
          <p:nvPr/>
        </p:nvPicPr>
        <p:blipFill>
          <a:blip r:embed="rId6"/>
          <a:stretch>
            <a:fillRect/>
          </a:stretch>
        </p:blipFill>
        <p:spPr>
          <a:xfrm>
            <a:off x="8937725" y="2840311"/>
            <a:ext cx="1737511" cy="591363"/>
          </a:xfrm>
          <a:prstGeom prst="rect">
            <a:avLst/>
          </a:prstGeom>
        </p:spPr>
      </p:pic>
    </p:spTree>
    <p:extLst>
      <p:ext uri="{BB962C8B-B14F-4D97-AF65-F5344CB8AC3E}">
        <p14:creationId xmlns:p14="http://schemas.microsoft.com/office/powerpoint/2010/main" val="3921727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072895" y="911275"/>
                <a:ext cx="9572733" cy="2001253"/>
              </a:xfrm>
              <a:prstGeom prst="rect">
                <a:avLst/>
              </a:prstGeom>
            </p:spPr>
            <p:txBody>
              <a:bodyPr wrap="square">
                <a:spAutoFit/>
              </a:bodyPr>
              <a:lstStyle/>
              <a:p>
                <a:pPr>
                  <a:lnSpc>
                    <a:spcPct val="130000"/>
                  </a:lnSpc>
                </a:pPr>
                <a:r>
                  <a:rPr lang="en-US" altLang="zh-CN" sz="3200" dirty="0">
                    <a:latin typeface="+mn-ea"/>
                    <a:cs typeface="Times New Roman" panose="02020603050405020304" pitchFamily="18" charset="0"/>
                  </a:rPr>
                  <a:t>10.  </a:t>
                </a:r>
                <a:r>
                  <a:rPr lang="zh-CN" altLang="en-US" sz="3200" dirty="0">
                    <a:latin typeface="+mn-ea"/>
                    <a:cs typeface="Times New Roman" panose="02020603050405020304" pitchFamily="18" charset="0"/>
                  </a:rPr>
                  <a:t>如果已经知道气体速率的分布函数</a:t>
                </a:r>
                <a14:m>
                  <m:oMath xmlns:m="http://schemas.openxmlformats.org/officeDocument/2006/math">
                    <m:r>
                      <a:rPr lang="en-US" altLang="zh-CN" sz="3200" b="0" i="1" smtClean="0">
                        <a:latin typeface="Cambria Math" panose="02040503050406030204" pitchFamily="18" charset="0"/>
                        <a:cs typeface="Times New Roman" panose="02020603050405020304" pitchFamily="18" charset="0"/>
                      </a:rPr>
                      <m:t>𝑓</m:t>
                    </m:r>
                    <m:r>
                      <a:rPr lang="en-US" altLang="zh-CN" sz="3200" b="0" i="1" smtClean="0">
                        <a:latin typeface="Cambria Math" panose="02040503050406030204" pitchFamily="18" charset="0"/>
                        <a:cs typeface="Times New Roman" panose="02020603050405020304" pitchFamily="18" charset="0"/>
                      </a:rPr>
                      <m:t>=</m:t>
                    </m:r>
                    <m:d>
                      <m:dPr>
                        <m:ctrlPr>
                          <a:rPr lang="en-US" altLang="zh-CN" sz="3200" b="0" i="1" smtClean="0">
                            <a:latin typeface="Cambria Math" panose="02040503050406030204" pitchFamily="18" charset="0"/>
                            <a:cs typeface="Times New Roman" panose="02020603050405020304" pitchFamily="18" charset="0"/>
                          </a:rPr>
                        </m:ctrlPr>
                      </m:dPr>
                      <m:e>
                        <m:r>
                          <a:rPr lang="en-US" altLang="zh-CN" sz="3200" b="0" i="1" smtClean="0">
                            <a:latin typeface="Cambria Math" panose="02040503050406030204" pitchFamily="18" charset="0"/>
                            <a:cs typeface="Times New Roman" panose="02020603050405020304" pitchFamily="18" charset="0"/>
                          </a:rPr>
                          <m:t>𝑣</m:t>
                        </m:r>
                      </m:e>
                    </m:d>
                  </m:oMath>
                </a14:m>
                <a:r>
                  <a:rPr lang="en-US" altLang="zh-CN" sz="3200" dirty="0">
                    <a:latin typeface="+mn-ea"/>
                    <a:cs typeface="Times New Roman" panose="02020603050405020304" pitchFamily="18" charset="0"/>
                  </a:rPr>
                  <a:t>,</a:t>
                </a:r>
                <a:r>
                  <a:rPr lang="zh-CN" altLang="en-US" sz="3200" dirty="0">
                    <a:latin typeface="+mn-ea"/>
                    <a:cs typeface="Times New Roman" panose="02020603050405020304" pitchFamily="18" charset="0"/>
                  </a:rPr>
                  <a:t>则速率区间在</a:t>
                </a:r>
                <a14:m>
                  <m:oMath xmlns:m="http://schemas.openxmlformats.org/officeDocument/2006/math">
                    <m:sSub>
                      <m:sSubPr>
                        <m:ctrlPr>
                          <a:rPr lang="en-US" altLang="zh-CN" sz="3200" i="1" smtClean="0">
                            <a:latin typeface="Cambria Math" panose="02040503050406030204" pitchFamily="18" charset="0"/>
                            <a:cs typeface="Times New Roman" panose="02020603050405020304" pitchFamily="18" charset="0"/>
                          </a:rPr>
                        </m:ctrlPr>
                      </m:sSubPr>
                      <m:e>
                        <m:r>
                          <a:rPr lang="en-US" altLang="zh-CN" sz="3200" b="0" i="1" smtClean="0">
                            <a:latin typeface="Cambria Math" panose="02040503050406030204" pitchFamily="18" charset="0"/>
                            <a:cs typeface="Times New Roman" panose="02020603050405020304" pitchFamily="18" charset="0"/>
                          </a:rPr>
                          <m:t>𝑣</m:t>
                        </m:r>
                      </m:e>
                      <m:sub>
                        <m:r>
                          <a:rPr lang="en-US" altLang="zh-CN" sz="3200" b="0" i="1" smtClean="0">
                            <a:latin typeface="Cambria Math" panose="02040503050406030204" pitchFamily="18" charset="0"/>
                            <a:cs typeface="Times New Roman" panose="02020603050405020304" pitchFamily="18" charset="0"/>
                          </a:rPr>
                          <m:t>1</m:t>
                        </m:r>
                      </m:sub>
                    </m:sSub>
                    <m:r>
                      <a:rPr lang="en-US" altLang="zh-CN" sz="3200" b="0" i="1" smtClean="0">
                        <a:latin typeface="Cambria Math" panose="02040503050406030204" pitchFamily="18" charset="0"/>
                        <a:cs typeface="Times New Roman" panose="02020603050405020304" pitchFamily="18" charset="0"/>
                      </a:rPr>
                      <m:t>−</m:t>
                    </m:r>
                  </m:oMath>
                </a14:m>
                <a:r>
                  <a:rPr lang="en-US" altLang="zh-CN" sz="3200" dirty="0">
                    <a:latin typeface="+mn-ea"/>
                    <a:cs typeface="Times New Roman" panose="02020603050405020304" pitchFamily="18" charset="0"/>
                  </a:rPr>
                  <a:t> </a:t>
                </a:r>
                <a14:m>
                  <m:oMath xmlns:m="http://schemas.openxmlformats.org/officeDocument/2006/math">
                    <m:sSub>
                      <m:sSubPr>
                        <m:ctrlPr>
                          <a:rPr lang="en-US" altLang="zh-CN" sz="3200" i="1">
                            <a:latin typeface="Cambria Math" panose="02040503050406030204" pitchFamily="18" charset="0"/>
                            <a:cs typeface="Times New Roman" panose="02020603050405020304" pitchFamily="18" charset="0"/>
                          </a:rPr>
                        </m:ctrlPr>
                      </m:sSubPr>
                      <m:e>
                        <m:r>
                          <a:rPr lang="en-US" altLang="zh-CN" sz="3200" i="1">
                            <a:latin typeface="Cambria Math" panose="02040503050406030204" pitchFamily="18" charset="0"/>
                            <a:cs typeface="Times New Roman" panose="02020603050405020304" pitchFamily="18" charset="0"/>
                          </a:rPr>
                          <m:t>𝑣</m:t>
                        </m:r>
                      </m:e>
                      <m:sub>
                        <m:r>
                          <a:rPr lang="en-US" altLang="zh-CN" sz="3200" b="0" i="1" smtClean="0">
                            <a:latin typeface="Cambria Math" panose="02040503050406030204" pitchFamily="18" charset="0"/>
                            <a:cs typeface="Times New Roman" panose="02020603050405020304" pitchFamily="18" charset="0"/>
                          </a:rPr>
                          <m:t>2</m:t>
                        </m:r>
                      </m:sub>
                    </m:sSub>
                    <m:r>
                      <a:rPr lang="en-US" altLang="zh-CN" sz="3200" i="1">
                        <a:latin typeface="Cambria Math" panose="02040503050406030204" pitchFamily="18" charset="0"/>
                        <a:cs typeface="Times New Roman" panose="02020603050405020304" pitchFamily="18" charset="0"/>
                      </a:rPr>
                      <m:t> </m:t>
                    </m:r>
                  </m:oMath>
                </a14:m>
                <a:r>
                  <a:rPr lang="zh-CN" altLang="en-US" sz="3200" dirty="0">
                    <a:latin typeface="+mn-ea"/>
                    <a:cs typeface="Times New Roman" panose="02020603050405020304" pitchFamily="18" charset="0"/>
                  </a:rPr>
                  <a:t>之内的分子的算术平均速率的计算式</a:t>
                </a:r>
                <a14:m>
                  <m:oMath xmlns:m="http://schemas.openxmlformats.org/officeDocument/2006/math">
                    <m:acc>
                      <m:accPr>
                        <m:chr m:val="̅"/>
                        <m:ctrlPr>
                          <a:rPr lang="zh-CN" altLang="en-US" sz="3200" i="1" smtClean="0">
                            <a:latin typeface="Cambria Math" panose="02040503050406030204" pitchFamily="18" charset="0"/>
                            <a:cs typeface="Times New Roman" panose="02020603050405020304" pitchFamily="18" charset="0"/>
                          </a:rPr>
                        </m:ctrlPr>
                      </m:accPr>
                      <m:e>
                        <m:r>
                          <a:rPr lang="en-US" altLang="zh-CN" sz="3200" b="0" i="1" smtClean="0">
                            <a:latin typeface="Cambria Math" panose="02040503050406030204" pitchFamily="18" charset="0"/>
                            <a:cs typeface="Times New Roman" panose="02020603050405020304" pitchFamily="18" charset="0"/>
                          </a:rPr>
                          <m:t>𝑣</m:t>
                        </m:r>
                      </m:e>
                    </m:acc>
                  </m:oMath>
                </a14:m>
                <a:r>
                  <a:rPr lang="zh-CN" altLang="en-US" sz="3200" dirty="0">
                    <a:latin typeface="+mn-ea"/>
                    <a:cs typeface="Times New Roman" panose="02020603050405020304" pitchFamily="18" charset="0"/>
                  </a:rPr>
                  <a:t>是多少？</a:t>
                </a:r>
              </a:p>
            </p:txBody>
          </p:sp>
        </mc:Choice>
        <mc:Fallback xmlns="">
          <p:sp>
            <p:nvSpPr>
              <p:cNvPr id="2" name="矩形 1"/>
              <p:cNvSpPr>
                <a:spLocks noRot="1" noChangeAspect="1" noMove="1" noResize="1" noEditPoints="1" noAdjustHandles="1" noChangeArrowheads="1" noChangeShapeType="1" noTextEdit="1"/>
              </p:cNvSpPr>
              <p:nvPr/>
            </p:nvSpPr>
            <p:spPr>
              <a:xfrm>
                <a:off x="1072895" y="911275"/>
                <a:ext cx="9572733" cy="2001253"/>
              </a:xfrm>
              <a:prstGeom prst="rect">
                <a:avLst/>
              </a:prstGeom>
              <a:blipFill>
                <a:blip r:embed="rId2"/>
                <a:stretch>
                  <a:fillRect l="-1592" b="-69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65077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684444" y="410241"/>
                <a:ext cx="10008962" cy="1013611"/>
              </a:xfrm>
              <a:prstGeom prst="rect">
                <a:avLst/>
              </a:prstGeom>
            </p:spPr>
            <p:txBody>
              <a:bodyPr wrap="square">
                <a:spAutoFit/>
              </a:bodyPr>
              <a:lstStyle/>
              <a:p>
                <a:pPr>
                  <a:lnSpc>
                    <a:spcPct val="130000"/>
                  </a:lnSpc>
                </a:pPr>
                <a:r>
                  <a:rPr lang="en-US" altLang="zh-CN" sz="2400" dirty="0">
                    <a:latin typeface="楷体" panose="02010609060101010101" pitchFamily="49" charset="-122"/>
                    <a:ea typeface="楷体" panose="02010609060101010101" pitchFamily="49" charset="-122"/>
                    <a:cs typeface="Times New Roman" panose="02020603050405020304" pitchFamily="18" charset="0"/>
                  </a:rPr>
                  <a:t>10.  </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如果已经知道气体速率的分布函数</a:t>
                </a:r>
                <a14:m>
                  <m:oMath xmlns:m="http://schemas.openxmlformats.org/officeDocument/2006/math">
                    <m:r>
                      <a:rPr lang="en-US" altLang="zh-CN" sz="2400" b="0" i="1" smtClean="0">
                        <a:latin typeface="Cambria Math" panose="02040503050406030204" pitchFamily="18" charset="0"/>
                        <a:cs typeface="Times New Roman" panose="02020603050405020304" pitchFamily="18" charset="0"/>
                      </a:rPr>
                      <m:t>𝑓</m:t>
                    </m:r>
                    <m:d>
                      <m:dPr>
                        <m:ctrlPr>
                          <a:rPr lang="en-US" altLang="zh-CN" sz="2400" b="0" i="1" smtClean="0">
                            <a:latin typeface="Cambria Math" panose="02040503050406030204" pitchFamily="18" charset="0"/>
                            <a:cs typeface="Times New Roman" panose="02020603050405020304" pitchFamily="18" charset="0"/>
                          </a:rPr>
                        </m:ctrlPr>
                      </m:dPr>
                      <m:e>
                        <m:r>
                          <a:rPr lang="en-US" altLang="zh-CN" sz="2400" b="0" i="1" smtClean="0">
                            <a:latin typeface="Cambria Math" panose="02040503050406030204" pitchFamily="18" charset="0"/>
                            <a:cs typeface="Times New Roman" panose="02020603050405020304" pitchFamily="18" charset="0"/>
                          </a:rPr>
                          <m:t>𝑣</m:t>
                        </m:r>
                      </m:e>
                    </m:d>
                  </m:oMath>
                </a14:m>
                <a:r>
                  <a:rPr lang="en-US" altLang="zh-CN" sz="2400" dirty="0">
                    <a:latin typeface="楷体" panose="02010609060101010101" pitchFamily="49" charset="-122"/>
                    <a:ea typeface="楷体" panose="02010609060101010101" pitchFamily="49" charset="-122"/>
                    <a:cs typeface="Times New Roman" panose="02020603050405020304" pitchFamily="18" charset="0"/>
                  </a:rPr>
                  <a:t>,</a:t>
                </a:r>
                <a:r>
                  <a:rPr lang="zh-CN" altLang="en-US" sz="2400" dirty="0">
                    <a:latin typeface="楷体" panose="02010609060101010101" pitchFamily="49" charset="-122"/>
                    <a:ea typeface="楷体" panose="02010609060101010101" pitchFamily="49" charset="-122"/>
                    <a:cs typeface="Times New Roman" panose="02020603050405020304" pitchFamily="18" charset="0"/>
                  </a:rPr>
                  <a:t>则速率区间在</a:t>
                </a:r>
                <a14:m>
                  <m:oMath xmlns:m="http://schemas.openxmlformats.org/officeDocument/2006/math">
                    <m:sSub>
                      <m:sSubPr>
                        <m:ctrlPr>
                          <a:rPr lang="en-US" altLang="zh-CN" sz="240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𝑣</m:t>
                        </m:r>
                      </m:e>
                      <m:sub>
                        <m:r>
                          <a:rPr lang="en-US" altLang="zh-CN" sz="2400" b="0" i="1" smtClean="0">
                            <a:latin typeface="Cambria Math" panose="02040503050406030204" pitchFamily="18" charset="0"/>
                            <a:cs typeface="Times New Roman" panose="02020603050405020304" pitchFamily="18" charset="0"/>
                          </a:rPr>
                          <m:t>1</m:t>
                        </m:r>
                      </m:sub>
                    </m:sSub>
                    <m:r>
                      <a:rPr lang="en-US" altLang="zh-CN" sz="2400" b="0" i="1" smtClean="0">
                        <a:latin typeface="Cambria Math" panose="02040503050406030204" pitchFamily="18" charset="0"/>
                        <a:cs typeface="Times New Roman" panose="02020603050405020304" pitchFamily="18" charset="0"/>
                      </a:rPr>
                      <m:t>−</m:t>
                    </m:r>
                  </m:oMath>
                </a14:m>
                <a:r>
                  <a:rPr lang="en-US" altLang="zh-CN" sz="2400" dirty="0">
                    <a:latin typeface="楷体" panose="02010609060101010101" pitchFamily="49" charset="-122"/>
                    <a:ea typeface="楷体" panose="02010609060101010101" pitchFamily="49" charset="-122"/>
                    <a:cs typeface="Times New Roman" panose="02020603050405020304" pitchFamily="18" charset="0"/>
                  </a:rPr>
                  <a:t> </a:t>
                </a:r>
                <a14:m>
                  <m:oMath xmlns:m="http://schemas.openxmlformats.org/officeDocument/2006/math">
                    <m:sSub>
                      <m:sSubPr>
                        <m:ctrlPr>
                          <a:rPr lang="en-US" altLang="zh-CN" sz="2400" i="1">
                            <a:latin typeface="Cambria Math" panose="02040503050406030204" pitchFamily="18" charset="0"/>
                            <a:cs typeface="Times New Roman" panose="02020603050405020304" pitchFamily="18" charset="0"/>
                          </a:rPr>
                        </m:ctrlPr>
                      </m:sSubPr>
                      <m:e>
                        <m:r>
                          <a:rPr lang="en-US" altLang="zh-CN" sz="2400" i="1">
                            <a:latin typeface="Cambria Math" panose="02040503050406030204" pitchFamily="18" charset="0"/>
                            <a:cs typeface="Times New Roman" panose="02020603050405020304" pitchFamily="18" charset="0"/>
                          </a:rPr>
                          <m:t>𝑣</m:t>
                        </m:r>
                      </m:e>
                      <m:sub>
                        <m:r>
                          <a:rPr lang="en-US" altLang="zh-CN" sz="2400" b="0" i="1" smtClean="0">
                            <a:latin typeface="Cambria Math" panose="02040503050406030204" pitchFamily="18" charset="0"/>
                            <a:cs typeface="Times New Roman" panose="02020603050405020304" pitchFamily="18" charset="0"/>
                          </a:rPr>
                          <m:t>2</m:t>
                        </m:r>
                      </m:sub>
                    </m:sSub>
                    <m:r>
                      <a:rPr lang="en-US" altLang="zh-CN" sz="2400" i="1">
                        <a:latin typeface="Cambria Math" panose="02040503050406030204" pitchFamily="18" charset="0"/>
                        <a:cs typeface="Times New Roman" panose="02020603050405020304" pitchFamily="18" charset="0"/>
                      </a:rPr>
                      <m:t> </m:t>
                    </m:r>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之内的分子的算术平均速率的计算式</a:t>
                </a:r>
                <a14:m>
                  <m:oMath xmlns:m="http://schemas.openxmlformats.org/officeDocument/2006/math">
                    <m:acc>
                      <m:accPr>
                        <m:chr m:val="̅"/>
                        <m:ctrlPr>
                          <a:rPr lang="zh-CN" altLang="en-US" sz="2400" i="1" smtClean="0">
                            <a:latin typeface="Cambria Math" panose="02040503050406030204" pitchFamily="18" charset="0"/>
                            <a:cs typeface="Times New Roman" panose="02020603050405020304" pitchFamily="18" charset="0"/>
                          </a:rPr>
                        </m:ctrlPr>
                      </m:accPr>
                      <m:e>
                        <m:r>
                          <a:rPr lang="en-US" altLang="zh-CN" sz="2400" b="0" i="1" smtClean="0">
                            <a:latin typeface="Cambria Math" panose="02040503050406030204" pitchFamily="18" charset="0"/>
                            <a:cs typeface="Times New Roman" panose="02020603050405020304" pitchFamily="18" charset="0"/>
                          </a:rPr>
                          <m:t>𝑣</m:t>
                        </m:r>
                      </m:e>
                    </m:acc>
                  </m:oMath>
                </a14:m>
                <a:r>
                  <a:rPr lang="zh-CN" altLang="en-US" sz="2400" dirty="0">
                    <a:latin typeface="楷体" panose="02010609060101010101" pitchFamily="49" charset="-122"/>
                    <a:ea typeface="楷体" panose="02010609060101010101" pitchFamily="49" charset="-122"/>
                    <a:cs typeface="Times New Roman" panose="02020603050405020304" pitchFamily="18" charset="0"/>
                  </a:rPr>
                  <a:t>是多少？</a:t>
                </a:r>
              </a:p>
            </p:txBody>
          </p:sp>
        </mc:Choice>
        <mc:Fallback xmlns="">
          <p:sp>
            <p:nvSpPr>
              <p:cNvPr id="2" name="矩形 1"/>
              <p:cNvSpPr>
                <a:spLocks noRot="1" noChangeAspect="1" noMove="1" noResize="1" noEditPoints="1" noAdjustHandles="1" noChangeArrowheads="1" noChangeShapeType="1" noTextEdit="1"/>
              </p:cNvSpPr>
              <p:nvPr/>
            </p:nvSpPr>
            <p:spPr>
              <a:xfrm>
                <a:off x="684444" y="410241"/>
                <a:ext cx="10008962" cy="1013611"/>
              </a:xfrm>
              <a:prstGeom prst="rect">
                <a:avLst/>
              </a:prstGeom>
              <a:blipFill>
                <a:blip r:embed="rId2"/>
                <a:stretch>
                  <a:fillRect l="-914" t="-599" b="-95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2E8CDE4-EAAC-5D80-1F04-2348E4B4BBAE}"/>
                  </a:ext>
                </a:extLst>
              </p:cNvPr>
              <p:cNvSpPr txBox="1"/>
              <p:nvPr/>
            </p:nvSpPr>
            <p:spPr>
              <a:xfrm>
                <a:off x="684444" y="1748169"/>
                <a:ext cx="11134465" cy="4033540"/>
              </a:xfrm>
              <a:prstGeom prst="rect">
                <a:avLst/>
              </a:prstGeom>
              <a:noFill/>
            </p:spPr>
            <p:txBody>
              <a:bodyPr wrap="square" lIns="0" tIns="0" rIns="0" bIns="0" rtlCol="0">
                <a:spAutoFit/>
              </a:bodyPr>
              <a:lstStyle/>
              <a:p>
                <a:pPr>
                  <a:lnSpc>
                    <a:spcPct val="150000"/>
                  </a:lnSpc>
                </a:pPr>
                <a14:m>
                  <m:oMath xmlns:m="http://schemas.openxmlformats.org/officeDocument/2006/math">
                    <m:r>
                      <a:rPr lang="zh-CN" altLang="en-US" sz="2000" i="1" smtClean="0">
                        <a:latin typeface="Cambria Math" panose="02040503050406030204" pitchFamily="18" charset="0"/>
                      </a:rPr>
                      <m:t>解</m:t>
                    </m:r>
                  </m:oMath>
                </a14:m>
                <a:r>
                  <a:rPr lang="zh-CN" altLang="en-US" sz="2000" dirty="0">
                    <a:latin typeface="楷体" panose="02010609060101010101" pitchFamily="49" charset="-122"/>
                    <a:ea typeface="楷体" panose="02010609060101010101" pitchFamily="49" charset="-122"/>
                  </a:rPr>
                  <a:t>：已知</a:t>
                </a:r>
                <a14:m>
                  <m:oMath xmlns:m="http://schemas.openxmlformats.org/officeDocument/2006/math">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𝑣</m:t>
                    </m:r>
                    <m:r>
                      <a:rPr lang="en-US" altLang="zh-CN" sz="2000" b="0" i="1" smtClean="0">
                        <a:latin typeface="Cambria Math" panose="02040503050406030204" pitchFamily="18" charset="0"/>
                      </a:rPr>
                      <m:t>)</m:t>
                    </m:r>
                    <m:r>
                      <a:rPr lang="zh-CN" altLang="en-US" sz="2000" i="1">
                        <a:latin typeface="Cambria Math" panose="02040503050406030204" pitchFamily="18" charset="0"/>
                      </a:rPr>
                      <m:t>为</m:t>
                    </m:r>
                  </m:oMath>
                </a14:m>
                <a:r>
                  <a:rPr lang="zh-CN" altLang="en-US" sz="2000" dirty="0">
                    <a:latin typeface="楷体" panose="02010609060101010101" pitchFamily="49" charset="-122"/>
                    <a:ea typeface="楷体" panose="02010609060101010101" pitchFamily="49" charset="-122"/>
                    <a:cs typeface="Times New Roman" panose="02020603050405020304" pitchFamily="18" charset="0"/>
                  </a:rPr>
                  <a:t>气体速率的分布函数</a:t>
                </a:r>
                <a:r>
                  <a:rPr lang="zh-CN" altLang="en-US" sz="2000" dirty="0">
                    <a:latin typeface="楷体" panose="02010609060101010101" pitchFamily="49" charset="-122"/>
                    <a:ea typeface="楷体" panose="02010609060101010101" pitchFamily="49" charset="-122"/>
                  </a:rPr>
                  <a:t>，设</a:t>
                </a:r>
                <a14:m>
                  <m:oMath xmlns:m="http://schemas.openxmlformats.org/officeDocument/2006/math">
                    <m:r>
                      <a:rPr lang="en-US" altLang="zh-CN" sz="2000" i="1" dirty="0">
                        <a:latin typeface="Cambria Math" panose="02040503050406030204" pitchFamily="18" charset="0"/>
                      </a:rPr>
                      <m:t>𝑁</m:t>
                    </m:r>
                    <m:r>
                      <a:rPr lang="zh-CN" altLang="en-US" sz="2000" i="1" dirty="0" smtClean="0">
                        <a:latin typeface="Cambria Math" panose="02040503050406030204" pitchFamily="18" charset="0"/>
                      </a:rPr>
                      <m:t>为</m:t>
                    </m:r>
                  </m:oMath>
                </a14:m>
                <a:r>
                  <a:rPr lang="zh-CN" altLang="en-US" sz="2000" dirty="0">
                    <a:latin typeface="楷体" panose="02010609060101010101" pitchFamily="49" charset="-122"/>
                    <a:ea typeface="楷体" panose="02010609060101010101" pitchFamily="49" charset="-122"/>
                  </a:rPr>
                  <a:t>分子总数，</a:t>
                </a:r>
                <a:endParaRPr lang="en-US" altLang="zh-CN" sz="2000" dirty="0">
                  <a:latin typeface="楷体" panose="02010609060101010101" pitchFamily="49" charset="-122"/>
                  <a:ea typeface="楷体" panose="02010609060101010101" pitchFamily="49" charset="-122"/>
                </a:endParaRPr>
              </a:p>
              <a:p>
                <a:pPr>
                  <a:lnSpc>
                    <a:spcPct val="150000"/>
                  </a:lnSpc>
                </a:pPr>
                <a:r>
                  <a:rPr lang="zh-CN" altLang="en-US" sz="2000" dirty="0">
                    <a:latin typeface="楷体" panose="02010609060101010101" pitchFamily="49" charset="-122"/>
                    <a:ea typeface="楷体" panose="02010609060101010101" pitchFamily="49" charset="-122"/>
                  </a:rPr>
                  <a:t>       处于一定温度下的气体，分布在速率</a:t>
                </a:r>
                <a:r>
                  <a:rPr lang="en-US" altLang="zh-CN" sz="2000" dirty="0">
                    <a:latin typeface="楷体" panose="02010609060101010101" pitchFamily="49" charset="-122"/>
                    <a:ea typeface="楷体" panose="02010609060101010101" pitchFamily="49" charset="-122"/>
                  </a:rPr>
                  <a:t>v</a:t>
                </a:r>
                <a:r>
                  <a:rPr lang="zh-CN" altLang="en-US" sz="2000" dirty="0">
                    <a:latin typeface="楷体" panose="02010609060101010101" pitchFamily="49" charset="-122"/>
                    <a:ea typeface="楷体" panose="02010609060101010101" pitchFamily="49" charset="-122"/>
                  </a:rPr>
                  <a:t>附近的单位速率间隔内的分子数占总分子数的百分比只是速率的函数，称为速率分布函数。</a:t>
                </a:r>
                <a:endParaRPr lang="en-US" altLang="zh-CN" sz="2000" dirty="0">
                  <a:latin typeface="楷体" panose="02010609060101010101" pitchFamily="49" charset="-122"/>
                  <a:ea typeface="楷体" panose="02010609060101010101" pitchFamily="49" charset="-122"/>
                </a:endParaRPr>
              </a:p>
              <a:p>
                <a:pPr>
                  <a:lnSpc>
                    <a:spcPct val="150000"/>
                  </a:lnSpc>
                </a:pP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     则在</a:t>
                </a:r>
                <a14:m>
                  <m:oMath xmlns:m="http://schemas.openxmlformats.org/officeDocument/2006/math">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2</m:t>
                        </m:r>
                      </m:sub>
                    </m:sSub>
                    <m:r>
                      <a:rPr lang="zh-CN" altLang="en-US" sz="2000">
                        <a:latin typeface="Cambria Math" panose="02040503050406030204" pitchFamily="18" charset="0"/>
                      </a:rPr>
                      <m:t>区间</m:t>
                    </m:r>
                  </m:oMath>
                </a14:m>
                <a:r>
                  <a:rPr lang="zh-CN" altLang="en-US" sz="2000" dirty="0">
                    <a:latin typeface="楷体" panose="02010609060101010101" pitchFamily="49" charset="-122"/>
                    <a:ea typeface="楷体" panose="02010609060101010101" pitchFamily="49" charset="-122"/>
                  </a:rPr>
                  <a:t>内分子的算术平均速率等于这个区间内分子速率之和除以该区间内分子总数</a:t>
                </a:r>
                <a:endParaRPr lang="en-US" altLang="zh-CN" sz="2000" dirty="0">
                  <a:latin typeface="楷体" panose="02010609060101010101" pitchFamily="49" charset="-122"/>
                  <a:ea typeface="楷体" panose="02010609060101010101" pitchFamily="49" charset="-122"/>
                </a:endParaRPr>
              </a:p>
              <a:p>
                <a:pPr>
                  <a:lnSpc>
                    <a:spcPct val="150000"/>
                  </a:lnSpc>
                </a:pPr>
                <a:r>
                  <a:rPr lang="en-US" altLang="zh-CN" sz="200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2</m:t>
                        </m:r>
                      </m:sub>
                    </m:sSub>
                  </m:oMath>
                </a14:m>
                <a:r>
                  <a:rPr lang="zh-CN" altLang="en-US" sz="2000" dirty="0">
                    <a:latin typeface="楷体" panose="02010609060101010101" pitchFamily="49" charset="-122"/>
                    <a:ea typeface="楷体" panose="02010609060101010101" pitchFamily="49" charset="-122"/>
                  </a:rPr>
                  <a:t>内分子速率之和：</a:t>
                </a:r>
                <a14:m>
                  <m:oMath xmlns:m="http://schemas.openxmlformats.org/officeDocument/2006/math">
                    <m:nary>
                      <m:naryPr>
                        <m:ctrlPr>
                          <a:rPr lang="zh-CN" altLang="en-US" sz="2000" i="1" smtClean="0">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b="0" i="1" smtClean="0">
                                <a:latin typeface="Cambria Math" panose="02040503050406030204" pitchFamily="18" charset="0"/>
                              </a:rPr>
                              <m:t>1</m:t>
                            </m:r>
                          </m:sub>
                        </m:sSub>
                      </m:sub>
                      <m:sup>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𝑉</m:t>
                            </m:r>
                          </m:e>
                          <m:sub>
                            <m:r>
                              <a:rPr lang="en-US" altLang="zh-CN" sz="2000" b="0" i="1" smtClean="0">
                                <a:latin typeface="Cambria Math" panose="02040503050406030204" pitchFamily="18" charset="0"/>
                              </a:rPr>
                              <m:t>2</m:t>
                            </m:r>
                          </m:sub>
                        </m:sSub>
                      </m:sup>
                      <m:e>
                        <m:r>
                          <a:rPr lang="en-US" altLang="zh-CN" sz="2000" b="0" i="1" smtClean="0">
                            <a:latin typeface="Cambria Math" panose="02040503050406030204" pitchFamily="18" charset="0"/>
                          </a:rPr>
                          <m:t>𝑣</m:t>
                        </m:r>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𝑁</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b="0" i="1" smtClean="0">
                            <a:latin typeface="Cambria Math" panose="02040503050406030204" pitchFamily="18" charset="0"/>
                          </a:rPr>
                          <m:t>𝑑𝑣</m:t>
                        </m:r>
                      </m:e>
                    </m:nary>
                  </m:oMath>
                </a14:m>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1</m:t>
                        </m:r>
                      </m:sub>
                    </m:sSub>
                    <m:r>
                      <a:rPr lang="en-US" altLang="zh-CN" sz="200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𝑉</m:t>
                        </m:r>
                      </m:e>
                      <m:sub>
                        <m:r>
                          <a:rPr lang="en-US" altLang="zh-CN" sz="2000">
                            <a:latin typeface="Cambria Math" panose="02040503050406030204" pitchFamily="18" charset="0"/>
                          </a:rPr>
                          <m:t>2</m:t>
                        </m:r>
                      </m:sub>
                    </m:sSub>
                  </m:oMath>
                </a14:m>
                <a:r>
                  <a:rPr lang="zh-CN" altLang="en-US" sz="2000" dirty="0">
                    <a:latin typeface="楷体" panose="02010609060101010101" pitchFamily="49" charset="-122"/>
                    <a:ea typeface="楷体" panose="02010609060101010101" pitchFamily="49" charset="-122"/>
                  </a:rPr>
                  <a:t>内分子总数为：</a:t>
                </a:r>
                <a14:m>
                  <m:oMath xmlns:m="http://schemas.openxmlformats.org/officeDocument/2006/math">
                    <m:nary>
                      <m:naryPr>
                        <m:ctrlPr>
                          <a:rPr lang="zh-CN" altLang="en-US" sz="2000" i="1">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1</m:t>
                            </m:r>
                          </m:sub>
                        </m:sSub>
                      </m:sub>
                      <m: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2</m:t>
                            </m:r>
                          </m:sub>
                        </m:sSub>
                      </m:sup>
                      <m:e>
                        <m:r>
                          <a:rPr lang="en-US" altLang="zh-CN" sz="2000" i="1">
                            <a:latin typeface="Cambria Math" panose="02040503050406030204" pitchFamily="18" charset="0"/>
                            <a:ea typeface="Cambria Math" panose="02040503050406030204" pitchFamily="18" charset="0"/>
                          </a:rPr>
                          <m:t>𝑁</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i="1">
                            <a:latin typeface="Cambria Math" panose="02040503050406030204" pitchFamily="18" charset="0"/>
                          </a:rPr>
                          <m:t>𝑑𝑣</m:t>
                        </m:r>
                      </m:e>
                    </m:nary>
                  </m:oMath>
                </a14:m>
                <a:r>
                  <a:rPr lang="zh-CN" altLang="en-US" sz="2000" dirty="0">
                    <a:latin typeface="楷体" panose="02010609060101010101" pitchFamily="49" charset="-122"/>
                    <a:ea typeface="楷体" panose="02010609060101010101" pitchFamily="49" charset="-122"/>
                  </a:rPr>
                  <a:t>    </a:t>
                </a:r>
                <a:endParaRPr lang="en-US" altLang="zh-CN" sz="2000" dirty="0">
                  <a:latin typeface="楷体" panose="02010609060101010101" pitchFamily="49" charset="-122"/>
                  <a:ea typeface="楷体" panose="02010609060101010101" pitchFamily="49" charset="-122"/>
                </a:endParaRPr>
              </a:p>
              <a:p>
                <a:endParaRPr lang="en-US" altLang="zh-CN" sz="2000" dirty="0">
                  <a:latin typeface="楷体" panose="02010609060101010101" pitchFamily="49" charset="-122"/>
                  <a:ea typeface="楷体" panose="02010609060101010101" pitchFamily="49" charset="-122"/>
                </a:endParaRPr>
              </a:p>
              <a:p>
                <a:r>
                  <a:rPr lang="zh-CN" altLang="en-US" sz="2000" dirty="0">
                    <a:latin typeface="楷体" panose="02010609060101010101" pitchFamily="49" charset="-122"/>
                    <a:ea typeface="楷体" panose="02010609060101010101" pitchFamily="49" charset="-122"/>
                  </a:rPr>
                  <a:t>则</a:t>
                </a:r>
                <a14:m>
                  <m:oMath xmlns:m="http://schemas.openxmlformats.org/officeDocument/2006/math">
                    <m:acc>
                      <m:accPr>
                        <m:chr m:val="̅"/>
                        <m:ctrlPr>
                          <a:rPr lang="zh-CN" altLang="en-US" sz="2000" i="1" smtClean="0">
                            <a:latin typeface="Cambria Math" panose="02040503050406030204" pitchFamily="18" charset="0"/>
                          </a:rPr>
                        </m:ctrlPr>
                      </m:accPr>
                      <m:e>
                        <m:r>
                          <a:rPr lang="en-US" altLang="zh-CN" sz="2000" b="0" i="1" smtClean="0">
                            <a:latin typeface="Cambria Math" panose="02040503050406030204" pitchFamily="18" charset="0"/>
                          </a:rPr>
                          <m:t>𝑣</m:t>
                        </m:r>
                      </m:e>
                    </m:acc>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nary>
                          <m:naryPr>
                            <m:ctrlPr>
                              <a:rPr lang="zh-CN" altLang="en-US" sz="2000" i="1">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1</m:t>
                                </m:r>
                              </m:sub>
                            </m:sSub>
                          </m:sub>
                          <m: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2</m:t>
                                </m:r>
                              </m:sub>
                            </m:sSub>
                          </m:sup>
                          <m:e>
                            <m:r>
                              <a:rPr lang="en-US" altLang="zh-CN" sz="2000" i="1">
                                <a:latin typeface="Cambria Math" panose="02040503050406030204" pitchFamily="18" charset="0"/>
                              </a:rPr>
                              <m:t>𝑣</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𝑁𝑓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i="1">
                                <a:latin typeface="Cambria Math" panose="02040503050406030204" pitchFamily="18" charset="0"/>
                              </a:rPr>
                              <m:t>𝑑𝑣</m:t>
                            </m:r>
                          </m:e>
                        </m:nary>
                      </m:num>
                      <m:den>
                        <m:r>
                          <a:rPr lang="en-US" altLang="zh-CN" sz="2000" b="0" i="1" smtClean="0">
                            <a:latin typeface="Cambria Math" panose="02040503050406030204" pitchFamily="18" charset="0"/>
                          </a:rPr>
                          <m:t>          </m:t>
                        </m:r>
                        <m:nary>
                          <m:naryPr>
                            <m:ctrlPr>
                              <a:rPr lang="zh-CN" altLang="en-US" sz="2000" i="1">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1</m:t>
                                </m:r>
                              </m:sub>
                            </m:sSub>
                          </m:sub>
                          <m: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2</m:t>
                                </m:r>
                              </m:sub>
                            </m:sSub>
                          </m:sup>
                          <m:e>
                            <m:r>
                              <a:rPr lang="en-US" altLang="zh-CN" sz="2000" i="1">
                                <a:latin typeface="Cambria Math" panose="02040503050406030204" pitchFamily="18" charset="0"/>
                                <a:ea typeface="Cambria Math" panose="02040503050406030204" pitchFamily="18" charset="0"/>
                              </a:rPr>
                              <m:t>𝑁</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i="1">
                                <a:latin typeface="Cambria Math" panose="02040503050406030204" pitchFamily="18" charset="0"/>
                              </a:rPr>
                              <m:t>𝑑𝑣</m:t>
                            </m:r>
                          </m:e>
                        </m:nary>
                        <m:r>
                          <m:rPr>
                            <m:nor/>
                          </m:rPr>
                          <a:rPr lang="zh-CN" altLang="en-US" sz="2000" dirty="0">
                            <a:latin typeface="楷体" panose="02010609060101010101" pitchFamily="49" charset="-122"/>
                            <a:ea typeface="楷体" panose="02010609060101010101" pitchFamily="49" charset="-122"/>
                          </a:rPr>
                          <m:t>    </m:t>
                        </m:r>
                        <m:r>
                          <m:rPr>
                            <m:nor/>
                          </m:rPr>
                          <a:rPr lang="en-US" altLang="zh-CN" sz="2000" dirty="0">
                            <a:latin typeface="楷体" panose="02010609060101010101" pitchFamily="49" charset="-122"/>
                            <a:ea typeface="楷体" panose="02010609060101010101" pitchFamily="49" charset="-122"/>
                          </a:rPr>
                          <m:t> </m:t>
                        </m:r>
                      </m:den>
                    </m:f>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nary>
                          <m:naryPr>
                            <m:ctrlPr>
                              <a:rPr lang="zh-CN" altLang="en-US" sz="2000" i="1">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1</m:t>
                                </m:r>
                              </m:sub>
                            </m:sSub>
                          </m:sub>
                          <m: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2</m:t>
                                </m:r>
                              </m:sub>
                            </m:sSub>
                          </m:sup>
                          <m:e>
                            <m:r>
                              <a:rPr lang="en-US" altLang="zh-CN" sz="2000" i="1">
                                <a:latin typeface="Cambria Math" panose="02040503050406030204" pitchFamily="18" charset="0"/>
                              </a:rPr>
                              <m:t>𝑣𝑓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i="1">
                                <a:latin typeface="Cambria Math" panose="02040503050406030204" pitchFamily="18" charset="0"/>
                              </a:rPr>
                              <m:t>𝑑𝑣</m:t>
                            </m:r>
                          </m:e>
                        </m:nary>
                      </m:num>
                      <m:den>
                        <m:r>
                          <a:rPr lang="en-US" altLang="zh-CN" sz="2000" i="1">
                            <a:latin typeface="Cambria Math" panose="02040503050406030204" pitchFamily="18" charset="0"/>
                          </a:rPr>
                          <m:t>          </m:t>
                        </m:r>
                        <m:nary>
                          <m:naryPr>
                            <m:ctrlPr>
                              <a:rPr lang="zh-CN" altLang="en-US" sz="2000" i="1">
                                <a:latin typeface="Cambria Math" panose="02040503050406030204" pitchFamily="18" charset="0"/>
                              </a:rPr>
                            </m:ctrlPr>
                          </m:naryPr>
                          <m: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1</m:t>
                                </m:r>
                              </m:sub>
                            </m:sSub>
                          </m:sub>
                          <m:sup>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𝑉</m:t>
                                </m:r>
                              </m:e>
                              <m:sub>
                                <m:r>
                                  <a:rPr lang="en-US" altLang="zh-CN" sz="2000" i="1">
                                    <a:latin typeface="Cambria Math" panose="02040503050406030204" pitchFamily="18" charset="0"/>
                                  </a:rPr>
                                  <m:t>2</m:t>
                                </m:r>
                              </m:sub>
                            </m:sSub>
                          </m:sup>
                          <m:e>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𝑣</m:t>
                                </m:r>
                              </m:e>
                            </m:d>
                            <m:r>
                              <a:rPr lang="en-US" altLang="zh-CN" sz="2000" i="1">
                                <a:latin typeface="Cambria Math" panose="02040503050406030204" pitchFamily="18" charset="0"/>
                              </a:rPr>
                              <m:t>𝑑𝑣</m:t>
                            </m:r>
                          </m:e>
                        </m:nary>
                        <m:r>
                          <m:rPr>
                            <m:nor/>
                          </m:rPr>
                          <a:rPr lang="zh-CN" altLang="en-US" sz="2000" dirty="0">
                            <a:latin typeface="楷体" panose="02010609060101010101" pitchFamily="49" charset="-122"/>
                            <a:ea typeface="楷体" panose="02010609060101010101" pitchFamily="49" charset="-122"/>
                          </a:rPr>
                          <m:t>    </m:t>
                        </m:r>
                        <m:r>
                          <m:rPr>
                            <m:nor/>
                          </m:rPr>
                          <a:rPr lang="en-US" altLang="zh-CN" sz="2000" dirty="0">
                            <a:latin typeface="楷体" panose="02010609060101010101" pitchFamily="49" charset="-122"/>
                            <a:ea typeface="楷体" panose="02010609060101010101" pitchFamily="49" charset="-122"/>
                          </a:rPr>
                          <m:t> </m:t>
                        </m:r>
                      </m:den>
                    </m:f>
                  </m:oMath>
                </a14:m>
                <a:endParaRPr lang="zh-CN" altLang="en-US" sz="2000" dirty="0">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F2E8CDE4-EAAC-5D80-1F04-2348E4B4BBAE}"/>
                  </a:ext>
                </a:extLst>
              </p:cNvPr>
              <p:cNvSpPr txBox="1">
                <a:spLocks noRot="1" noChangeAspect="1" noMove="1" noResize="1" noEditPoints="1" noAdjustHandles="1" noChangeArrowheads="1" noChangeShapeType="1" noTextEdit="1"/>
              </p:cNvSpPr>
              <p:nvPr/>
            </p:nvSpPr>
            <p:spPr>
              <a:xfrm>
                <a:off x="684444" y="1748169"/>
                <a:ext cx="11134465" cy="4033540"/>
              </a:xfrm>
              <a:prstGeom prst="rect">
                <a:avLst/>
              </a:prstGeom>
              <a:blipFill>
                <a:blip r:embed="rId3"/>
                <a:stretch>
                  <a:fillRect l="-13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CB040D5-563D-B19B-4C99-A702FA9D26BB}"/>
                  </a:ext>
                </a:extLst>
              </p:cNvPr>
              <p:cNvSpPr/>
              <p:nvPr/>
            </p:nvSpPr>
            <p:spPr>
              <a:xfrm>
                <a:off x="5466106" y="2507703"/>
                <a:ext cx="5227300" cy="535659"/>
              </a:xfrm>
              <a:prstGeom prst="rect">
                <a:avLst/>
              </a:prstGeom>
            </p:spPr>
            <p:txBody>
              <a:bodyPr wrap="square">
                <a:spAutoFit/>
              </a:bodyPr>
              <a:lstStyle/>
              <a:p>
                <a14:m>
                  <m:oMath xmlns:m="http://schemas.openxmlformats.org/officeDocument/2006/math">
                    <m:r>
                      <a:rPr lang="en-US" altLang="zh-CN" sz="2000" i="1" smtClean="0">
                        <a:latin typeface="Cambria Math" panose="02040503050406030204" pitchFamily="18" charset="0"/>
                        <a:cs typeface="Times New Roman" panose="02020603050405020304" pitchFamily="18" charset="0"/>
                      </a:rPr>
                      <m:t>𝑓</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𝑣</m:t>
                        </m:r>
                      </m:e>
                    </m:d>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CN" sz="200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𝑑𝑁</m:t>
                        </m:r>
                      </m:num>
                      <m:den>
                        <m:r>
                          <a:rPr lang="en-US" altLang="zh-CN" sz="2000" b="0" i="1" smtClean="0">
                            <a:latin typeface="Cambria Math" panose="02040503050406030204" pitchFamily="18" charset="0"/>
                            <a:ea typeface="Cambria Math" panose="02040503050406030204" pitchFamily="18" charset="0"/>
                            <a:cs typeface="Times New Roman" panose="02020603050405020304" pitchFamily="18" charset="0"/>
                          </a:rPr>
                          <m:t>𝑁𝑑𝑣</m:t>
                        </m:r>
                      </m:den>
                    </m:f>
                  </m:oMath>
                </a14:m>
                <a:r>
                  <a:rPr lang="en-US" altLang="zh-CN" sz="2000" dirty="0">
                    <a:latin typeface="+mn-ea"/>
                    <a:cs typeface="Times New Roman" panose="02020603050405020304" pitchFamily="18" charset="0"/>
                  </a:rPr>
                  <a:t> </a:t>
                </a:r>
                <a:r>
                  <a:rPr lang="zh-CN" altLang="en-US" sz="2000" dirty="0">
                    <a:latin typeface="+mn-ea"/>
                    <a:cs typeface="Times New Roman" panose="02020603050405020304" pitchFamily="18" charset="0"/>
                  </a:rPr>
                  <a:t>，</a:t>
                </a:r>
                <a:r>
                  <a:rPr lang="en-US" altLang="zh-CN" sz="2000" dirty="0">
                    <a:ea typeface="Cambria Math" panose="02040503050406030204" pitchFamily="18" charset="0"/>
                    <a:cs typeface="Times New Roman" panose="02020603050405020304" pitchFamily="18" charset="0"/>
                  </a:rPr>
                  <a:t> </a:t>
                </a:r>
                <a14:m>
                  <m:oMath xmlns:m="http://schemas.openxmlformats.org/officeDocument/2006/math">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𝑑𝑁</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𝑁𝑓</m:t>
                    </m:r>
                    <m:d>
                      <m:dPr>
                        <m:ctrlPr>
                          <a:rPr lang="en-US" altLang="zh-CN" sz="2000" i="1">
                            <a:latin typeface="Cambria Math" panose="02040503050406030204" pitchFamily="18" charset="0"/>
                            <a:cs typeface="Times New Roman" panose="02020603050405020304" pitchFamily="18" charset="0"/>
                          </a:rPr>
                        </m:ctrlPr>
                      </m:dPr>
                      <m:e>
                        <m:r>
                          <a:rPr lang="en-US" altLang="zh-CN" sz="2000" i="1">
                            <a:latin typeface="Cambria Math" panose="02040503050406030204" pitchFamily="18" charset="0"/>
                            <a:cs typeface="Times New Roman" panose="02020603050405020304" pitchFamily="18" charset="0"/>
                          </a:rPr>
                          <m:t>𝑣</m:t>
                        </m:r>
                      </m:e>
                    </m:d>
                    <m:r>
                      <a:rPr lang="en-US" altLang="zh-CN" sz="2000" i="1">
                        <a:latin typeface="Cambria Math" panose="02040503050406030204" pitchFamily="18" charset="0"/>
                        <a:ea typeface="Cambria Math" panose="02040503050406030204" pitchFamily="18" charset="0"/>
                        <a:cs typeface="Times New Roman" panose="02020603050405020304" pitchFamily="18" charset="0"/>
                      </a:rPr>
                      <m:t>𝑑</m:t>
                    </m:r>
                    <m:r>
                      <a:rPr lang="en-US" altLang="zh-CN" sz="2000" i="1">
                        <a:latin typeface="Cambria Math" panose="02040503050406030204" pitchFamily="18" charset="0"/>
                      </a:rPr>
                      <m:t>𝑣</m:t>
                    </m:r>
                  </m:oMath>
                </a14:m>
                <a:endParaRPr lang="zh-CN" altLang="en-US" sz="2000" dirty="0"/>
              </a:p>
            </p:txBody>
          </p:sp>
        </mc:Choice>
        <mc:Fallback xmlns="">
          <p:sp>
            <p:nvSpPr>
              <p:cNvPr id="8" name="矩形 7">
                <a:extLst>
                  <a:ext uri="{FF2B5EF4-FFF2-40B4-BE49-F238E27FC236}">
                    <a16:creationId xmlns:a16="http://schemas.microsoft.com/office/drawing/2014/main" id="{3CB040D5-563D-B19B-4C99-A702FA9D26BB}"/>
                  </a:ext>
                </a:extLst>
              </p:cNvPr>
              <p:cNvSpPr>
                <a:spLocks noRot="1" noChangeAspect="1" noMove="1" noResize="1" noEditPoints="1" noAdjustHandles="1" noChangeArrowheads="1" noChangeShapeType="1" noTextEdit="1"/>
              </p:cNvSpPr>
              <p:nvPr/>
            </p:nvSpPr>
            <p:spPr>
              <a:xfrm>
                <a:off x="5466106" y="2507703"/>
                <a:ext cx="5227300" cy="535659"/>
              </a:xfrm>
              <a:prstGeom prst="rect">
                <a:avLst/>
              </a:prstGeom>
              <a:blipFill>
                <a:blip r:embed="rId4"/>
                <a:stretch>
                  <a:fillRect b="-79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329342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852</TotalTime>
  <Words>2294</Words>
  <Application>Microsoft Office PowerPoint</Application>
  <PresentationFormat>宽屏</PresentationFormat>
  <Paragraphs>206</Paragraphs>
  <Slides>28</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39" baseType="lpstr">
      <vt:lpstr>等线</vt:lpstr>
      <vt:lpstr>等线 Light</vt:lpstr>
      <vt:lpstr>楷体</vt:lpstr>
      <vt:lpstr>宋体</vt:lpstr>
      <vt:lpstr>微软雅黑</vt:lpstr>
      <vt:lpstr>Arial</vt:lpstr>
      <vt:lpstr>Cambria Math</vt:lpstr>
      <vt:lpstr>Times New Roman</vt:lpstr>
      <vt:lpstr>Office 主题​​</vt:lpstr>
      <vt:lpstr>Equation</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一生有你</dc:creator>
  <cp:lastModifiedBy>yzhang</cp:lastModifiedBy>
  <cp:revision>38</cp:revision>
  <cp:lastPrinted>2025-11-25T07:30:12Z</cp:lastPrinted>
  <dcterms:created xsi:type="dcterms:W3CDTF">2018-09-11T02:25:20Z</dcterms:created>
  <dcterms:modified xsi:type="dcterms:W3CDTF">2025-11-25T10:08:23Z</dcterms:modified>
</cp:coreProperties>
</file>