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58" r:id="rId3"/>
    <p:sldId id="259" r:id="rId4"/>
    <p:sldId id="266" r:id="rId5"/>
    <p:sldId id="260" r:id="rId6"/>
    <p:sldId id="261" r:id="rId7"/>
    <p:sldId id="262" r:id="rId8"/>
    <p:sldId id="263" r:id="rId9"/>
    <p:sldId id="264" r:id="rId10"/>
    <p:sldId id="265"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79A28B10-386E-4CEE-9E2F-B50D6F0516D3}" type="datetimeFigureOut">
              <a:rPr lang="zh-CN" altLang="en-US" smtClean="0"/>
              <a:t>2021-10-15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3369AB-DAF3-4FD5-BE2F-0A21094853A9}" type="slidenum">
              <a:rPr lang="zh-CN" altLang="en-US" smtClean="0"/>
              <a:t>‹#›</a:t>
            </a:fld>
            <a:endParaRPr lang="zh-CN" altLang="en-US"/>
          </a:p>
        </p:txBody>
      </p:sp>
    </p:spTree>
    <p:extLst>
      <p:ext uri="{BB962C8B-B14F-4D97-AF65-F5344CB8AC3E}">
        <p14:creationId xmlns:p14="http://schemas.microsoft.com/office/powerpoint/2010/main" val="501452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9A28B10-386E-4CEE-9E2F-B50D6F0516D3}" type="datetimeFigureOut">
              <a:rPr lang="zh-CN" altLang="en-US" smtClean="0"/>
              <a:t>2021-10-15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3369AB-DAF3-4FD5-BE2F-0A21094853A9}" type="slidenum">
              <a:rPr lang="zh-CN" altLang="en-US" smtClean="0"/>
              <a:t>‹#›</a:t>
            </a:fld>
            <a:endParaRPr lang="zh-CN" altLang="en-US"/>
          </a:p>
        </p:txBody>
      </p:sp>
    </p:spTree>
    <p:extLst>
      <p:ext uri="{BB962C8B-B14F-4D97-AF65-F5344CB8AC3E}">
        <p14:creationId xmlns:p14="http://schemas.microsoft.com/office/powerpoint/2010/main" val="1592678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79A28B10-386E-4CEE-9E2F-B50D6F0516D3}" type="datetimeFigureOut">
              <a:rPr lang="zh-CN" altLang="en-US" smtClean="0"/>
              <a:t>2021-10-15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3369AB-DAF3-4FD5-BE2F-0A21094853A9}" type="slidenum">
              <a:rPr lang="zh-CN" altLang="en-US" smtClean="0"/>
              <a:t>‹#›</a:t>
            </a:fld>
            <a:endParaRPr lang="zh-CN" altLang="en-US"/>
          </a:p>
        </p:txBody>
      </p:sp>
    </p:spTree>
    <p:extLst>
      <p:ext uri="{BB962C8B-B14F-4D97-AF65-F5344CB8AC3E}">
        <p14:creationId xmlns:p14="http://schemas.microsoft.com/office/powerpoint/2010/main" val="471532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9A28B10-386E-4CEE-9E2F-B50D6F0516D3}" type="datetimeFigureOut">
              <a:rPr lang="zh-CN" altLang="en-US" smtClean="0"/>
              <a:t>2021-10-15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3369AB-DAF3-4FD5-BE2F-0A21094853A9}" type="slidenum">
              <a:rPr lang="zh-CN" altLang="en-US" smtClean="0"/>
              <a:t>‹#›</a:t>
            </a:fld>
            <a:endParaRPr lang="zh-CN" altLang="en-US"/>
          </a:p>
        </p:txBody>
      </p:sp>
    </p:spTree>
    <p:extLst>
      <p:ext uri="{BB962C8B-B14F-4D97-AF65-F5344CB8AC3E}">
        <p14:creationId xmlns:p14="http://schemas.microsoft.com/office/powerpoint/2010/main" val="3388356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9A28B10-386E-4CEE-9E2F-B50D6F0516D3}" type="datetimeFigureOut">
              <a:rPr lang="zh-CN" altLang="en-US" smtClean="0"/>
              <a:t>2021-10-15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D3369AB-DAF3-4FD5-BE2F-0A21094853A9}" type="slidenum">
              <a:rPr lang="zh-CN" altLang="en-US" smtClean="0"/>
              <a:t>‹#›</a:t>
            </a:fld>
            <a:endParaRPr lang="zh-CN" altLang="en-US"/>
          </a:p>
        </p:txBody>
      </p:sp>
    </p:spTree>
    <p:extLst>
      <p:ext uri="{BB962C8B-B14F-4D97-AF65-F5344CB8AC3E}">
        <p14:creationId xmlns:p14="http://schemas.microsoft.com/office/powerpoint/2010/main" val="2531954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9A28B10-386E-4CEE-9E2F-B50D6F0516D3}" type="datetimeFigureOut">
              <a:rPr lang="zh-CN" altLang="en-US" smtClean="0"/>
              <a:t>2021-10-15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D3369AB-DAF3-4FD5-BE2F-0A21094853A9}" type="slidenum">
              <a:rPr lang="zh-CN" altLang="en-US" smtClean="0"/>
              <a:t>‹#›</a:t>
            </a:fld>
            <a:endParaRPr lang="zh-CN" altLang="en-US"/>
          </a:p>
        </p:txBody>
      </p:sp>
    </p:spTree>
    <p:extLst>
      <p:ext uri="{BB962C8B-B14F-4D97-AF65-F5344CB8AC3E}">
        <p14:creationId xmlns:p14="http://schemas.microsoft.com/office/powerpoint/2010/main" val="1317551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9A28B10-386E-4CEE-9E2F-B50D6F0516D3}" type="datetimeFigureOut">
              <a:rPr lang="zh-CN" altLang="en-US" smtClean="0"/>
              <a:t>2021-10-15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D3369AB-DAF3-4FD5-BE2F-0A21094853A9}" type="slidenum">
              <a:rPr lang="zh-CN" altLang="en-US" smtClean="0"/>
              <a:t>‹#›</a:t>
            </a:fld>
            <a:endParaRPr lang="zh-CN" altLang="en-US"/>
          </a:p>
        </p:txBody>
      </p:sp>
    </p:spTree>
    <p:extLst>
      <p:ext uri="{BB962C8B-B14F-4D97-AF65-F5344CB8AC3E}">
        <p14:creationId xmlns:p14="http://schemas.microsoft.com/office/powerpoint/2010/main" val="3570542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9A28B10-386E-4CEE-9E2F-B50D6F0516D3}" type="datetimeFigureOut">
              <a:rPr lang="zh-CN" altLang="en-US" smtClean="0"/>
              <a:t>2021-10-15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3369AB-DAF3-4FD5-BE2F-0A21094853A9}" type="slidenum">
              <a:rPr lang="zh-CN" altLang="en-US" smtClean="0"/>
              <a:t>‹#›</a:t>
            </a:fld>
            <a:endParaRPr lang="zh-CN" altLang="en-US"/>
          </a:p>
        </p:txBody>
      </p:sp>
    </p:spTree>
    <p:extLst>
      <p:ext uri="{BB962C8B-B14F-4D97-AF65-F5344CB8AC3E}">
        <p14:creationId xmlns:p14="http://schemas.microsoft.com/office/powerpoint/2010/main" val="3389189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9A28B10-386E-4CEE-9E2F-B50D6F0516D3}" type="datetimeFigureOut">
              <a:rPr lang="zh-CN" altLang="en-US" smtClean="0"/>
              <a:t>2021-10-15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D3369AB-DAF3-4FD5-BE2F-0A21094853A9}" type="slidenum">
              <a:rPr lang="zh-CN" altLang="en-US" smtClean="0"/>
              <a:t>‹#›</a:t>
            </a:fld>
            <a:endParaRPr lang="zh-CN" altLang="en-US"/>
          </a:p>
        </p:txBody>
      </p:sp>
    </p:spTree>
    <p:extLst>
      <p:ext uri="{BB962C8B-B14F-4D97-AF65-F5344CB8AC3E}">
        <p14:creationId xmlns:p14="http://schemas.microsoft.com/office/powerpoint/2010/main" val="763045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9A28B10-386E-4CEE-9E2F-B50D6F0516D3}" type="datetimeFigureOut">
              <a:rPr lang="zh-CN" altLang="en-US" smtClean="0"/>
              <a:t>2021-10-15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3369AB-DAF3-4FD5-BE2F-0A21094853A9}" type="slidenum">
              <a:rPr lang="zh-CN" altLang="en-US" smtClean="0"/>
              <a:t>‹#›</a:t>
            </a:fld>
            <a:endParaRPr lang="zh-CN" altLang="en-US"/>
          </a:p>
        </p:txBody>
      </p:sp>
    </p:spTree>
    <p:extLst>
      <p:ext uri="{BB962C8B-B14F-4D97-AF65-F5344CB8AC3E}">
        <p14:creationId xmlns:p14="http://schemas.microsoft.com/office/powerpoint/2010/main" val="3195791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9A28B10-386E-4CEE-9E2F-B50D6F0516D3}" type="datetimeFigureOut">
              <a:rPr lang="zh-CN" altLang="en-US" smtClean="0"/>
              <a:t>2021-10-15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D3369AB-DAF3-4FD5-BE2F-0A21094853A9}" type="slidenum">
              <a:rPr lang="zh-CN" altLang="en-US" smtClean="0"/>
              <a:t>‹#›</a:t>
            </a:fld>
            <a:endParaRPr lang="zh-CN" altLang="en-US"/>
          </a:p>
        </p:txBody>
      </p:sp>
    </p:spTree>
    <p:extLst>
      <p:ext uri="{BB962C8B-B14F-4D97-AF65-F5344CB8AC3E}">
        <p14:creationId xmlns:p14="http://schemas.microsoft.com/office/powerpoint/2010/main" val="2742608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A28B10-386E-4CEE-9E2F-B50D6F0516D3}" type="datetimeFigureOut">
              <a:rPr lang="zh-CN" altLang="en-US" smtClean="0"/>
              <a:t>2021-10-15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3369AB-DAF3-4FD5-BE2F-0A21094853A9}" type="slidenum">
              <a:rPr lang="zh-CN" altLang="en-US" smtClean="0"/>
              <a:t>‹#›</a:t>
            </a:fld>
            <a:endParaRPr lang="zh-CN" altLang="en-US"/>
          </a:p>
        </p:txBody>
      </p:sp>
    </p:spTree>
    <p:extLst>
      <p:ext uri="{BB962C8B-B14F-4D97-AF65-F5344CB8AC3E}">
        <p14:creationId xmlns:p14="http://schemas.microsoft.com/office/powerpoint/2010/main" val="393749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C264628F-6752-4D64-A0FA-DC7C7C0AEDD2}"/>
              </a:ext>
            </a:extLst>
          </p:cNvPr>
          <p:cNvPicPr>
            <a:picLocks noChangeAspect="1"/>
          </p:cNvPicPr>
          <p:nvPr/>
        </p:nvPicPr>
        <p:blipFill rotWithShape="1">
          <a:blip r:embed="rId2"/>
          <a:srcRect l="70625" t="16656" b="25044"/>
          <a:stretch/>
        </p:blipFill>
        <p:spPr>
          <a:xfrm>
            <a:off x="7965056" y="2886227"/>
            <a:ext cx="3091943" cy="2061713"/>
          </a:xfrm>
          <a:prstGeom prst="rect">
            <a:avLst/>
          </a:prstGeom>
        </p:spPr>
      </p:pic>
      <p:sp>
        <p:nvSpPr>
          <p:cNvPr id="7" name="矩形 6">
            <a:extLst>
              <a:ext uri="{FF2B5EF4-FFF2-40B4-BE49-F238E27FC236}">
                <a16:creationId xmlns:a16="http://schemas.microsoft.com/office/drawing/2014/main" id="{DE70641D-F774-470A-AEAA-15EA65E57211}"/>
              </a:ext>
            </a:extLst>
          </p:cNvPr>
          <p:cNvSpPr/>
          <p:nvPr/>
        </p:nvSpPr>
        <p:spPr>
          <a:xfrm>
            <a:off x="638356" y="497495"/>
            <a:ext cx="10280534" cy="2269660"/>
          </a:xfrm>
          <a:prstGeom prst="rect">
            <a:avLst/>
          </a:prstGeom>
        </p:spPr>
        <p:txBody>
          <a:bodyPr wrap="square">
            <a:spAutoFit/>
          </a:bodyPr>
          <a:lstStyle/>
          <a:p>
            <a:pPr>
              <a:lnSpc>
                <a:spcPct val="120000"/>
              </a:lnSpc>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1.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双缝干涉实验装置如图所示，双缝与屏之间的距离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D</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=120cm</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，两缝之间的距离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d</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=0.50mm</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，用波长 </a:t>
            </a:r>
            <a:r>
              <a:rPr lang="el-GR"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λ</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 </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500nm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的单色光垂直照射双缝。</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求原点</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O</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上方的第五级明条纹的坐标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x</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400" b="1" dirty="0">
              <a:latin typeface="Times New Roman" panose="02020603050405020304" pitchFamily="18" charset="0"/>
              <a:ea typeface="华文中宋" panose="02010600040101010101" pitchFamily="2" charset="-122"/>
              <a:cs typeface="Times New Roman" panose="02020603050405020304" pitchFamily="18" charset="0"/>
            </a:endParaRP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(2) 如果用厚度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l</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=1.0*10</a:t>
            </a:r>
            <a:r>
              <a:rPr lang="en-US" altLang="zh-CN" sz="2400" b="1" baseline="30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mm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折射率为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1. 5</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8</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的透明薄膜覆盖在图中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缝的后面，求上述第五级明条纹的坐标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x'</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1202098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38356" y="497495"/>
            <a:ext cx="10280534" cy="2713628"/>
          </a:xfrm>
          <a:prstGeom prst="rect">
            <a:avLst/>
          </a:prstGeom>
        </p:spPr>
        <p:txBody>
          <a:bodyPr wrap="square">
            <a:spAutoFit/>
          </a:bodyPr>
          <a:lstStyle/>
          <a:p>
            <a:pPr>
              <a:lnSpc>
                <a:spcPct val="120000"/>
              </a:lnSpc>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2.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如果有一双缝被波长为 </a:t>
            </a:r>
            <a:r>
              <a:rPr lang="el-GR"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λ</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 600</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0Å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的平行单色光照射。入射角 </a:t>
            </a:r>
            <a:r>
              <a:rPr lang="el-GR"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θ</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el-GR"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π</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/6</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，双缝平面与幕之间的垂直距商 </a:t>
            </a:r>
            <a:r>
              <a:rPr lang="zh-CN" altLang="en-US"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D</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00m</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，两缝</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间距 </a:t>
            </a:r>
            <a:r>
              <a:rPr lang="zh-CN" altLang="en-US"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d</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 2mm</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，试求：</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中央明条纹落在屏上什么位置?</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(2) 这时 </a:t>
            </a:r>
            <a:r>
              <a:rPr lang="zh-CN" altLang="en-US"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x</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&lt;0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一侧的第K级明纹落在什么位置?</a:t>
            </a:r>
            <a:endParaRPr lang="en-US" altLang="zh-CN" sz="2400" b="1" dirty="0">
              <a:latin typeface="Times New Roman" panose="02020603050405020304" pitchFamily="18" charset="0"/>
              <a:ea typeface="华文中宋" panose="02010600040101010101" pitchFamily="2" charset="-122"/>
              <a:cs typeface="Times New Roman" panose="02020603050405020304" pitchFamily="18" charset="0"/>
            </a:endParaRP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(3) 若在一缝上盖一折射率为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1. 5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的云母片，恰好又使中央明纹落在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O</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点，则此云母片应盖在哪条缝上，其厚度应为多少?</a:t>
            </a:r>
          </a:p>
        </p:txBody>
      </p:sp>
      <p:pic>
        <p:nvPicPr>
          <p:cNvPr id="3" name="图片 2"/>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brightnessContrast bright="40000"/>
                    </a14:imgEffect>
                  </a14:imgLayer>
                </a14:imgProps>
              </a:ext>
            </a:extLst>
          </a:blip>
          <a:stretch>
            <a:fillRect/>
          </a:stretch>
        </p:blipFill>
        <p:spPr>
          <a:xfrm>
            <a:off x="5540988" y="3561767"/>
            <a:ext cx="5467350" cy="2628900"/>
          </a:xfrm>
          <a:prstGeom prst="rect">
            <a:avLst/>
          </a:prstGeom>
        </p:spPr>
      </p:pic>
    </p:spTree>
    <p:extLst>
      <p:ext uri="{BB962C8B-B14F-4D97-AF65-F5344CB8AC3E}">
        <p14:creationId xmlns:p14="http://schemas.microsoft.com/office/powerpoint/2010/main" val="83140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2467" y="566554"/>
            <a:ext cx="9973994" cy="3152338"/>
          </a:xfrm>
          <a:prstGeom prst="rect">
            <a:avLst/>
          </a:prstGeom>
        </p:spPr>
        <p:txBody>
          <a:bodyPr wrap="square">
            <a:spAutoFit/>
          </a:bodyPr>
          <a:lstStyle/>
          <a:p>
            <a:pPr>
              <a:lnSpc>
                <a:spcPct val="120000"/>
              </a:lnSpc>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3.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两块平板玻璃构成一个空气劈尖，如果用单色平行光垂直照射，在反射光中观察干涉条纹，条纹间距 </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0.35cm</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，若在空气劈尖中充入某种液体，条纹间距变为 </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0. 30</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m</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，试求:</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(1</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液体的折射率。</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(2) 距棱边 </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3.15cm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处，在充入液体前后条纹明暗变化。</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(3) 如果劈尖夹角 </a:t>
            </a:r>
            <a:r>
              <a:rPr lang="el-GR"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θ</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=10</a:t>
            </a:r>
            <a:r>
              <a:rPr lang="en-US" altLang="zh-CN" sz="2400" b="1" baseline="30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-4</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rad</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，那么用白光(波长范围 </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400</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7</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000</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Å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)垂直照射时，彩色条纹在第几级开始重叠?</a:t>
            </a:r>
          </a:p>
        </p:txBody>
      </p:sp>
    </p:spTree>
    <p:extLst>
      <p:ext uri="{BB962C8B-B14F-4D97-AF65-F5344CB8AC3E}">
        <p14:creationId xmlns:p14="http://schemas.microsoft.com/office/powerpoint/2010/main" val="3516221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018DADC-ACBC-4973-9A08-556F07445F93}"/>
              </a:ext>
            </a:extLst>
          </p:cNvPr>
          <p:cNvSpPr/>
          <p:nvPr/>
        </p:nvSpPr>
        <p:spPr>
          <a:xfrm>
            <a:off x="638356" y="497495"/>
            <a:ext cx="10280534" cy="1827231"/>
          </a:xfrm>
          <a:prstGeom prst="rect">
            <a:avLst/>
          </a:prstGeom>
        </p:spPr>
        <p:txBody>
          <a:bodyPr wrap="square">
            <a:spAutoFit/>
          </a:bodyPr>
          <a:lstStyle/>
          <a:p>
            <a:pPr>
              <a:lnSpc>
                <a:spcPct val="120000"/>
              </a:lnSpc>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4.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在折射率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1. 5</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的玻璃上，镀上</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’=1.35</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的透明介质薄膜。入射光垂直于介质表面照射，观察反射光的干涉，发现对 </a:t>
            </a:r>
            <a:r>
              <a:rPr lang="el-GR"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λ</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 </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600nm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的光波干涉相消对 </a:t>
            </a:r>
            <a:r>
              <a:rPr lang="el-GR"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λ</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 </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700nm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的光波干涉相长；且在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600nm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到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700nm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之间没有别的波长是最大限度相消或相长的情形。求所镀介质膜的厚度。</a:t>
            </a:r>
          </a:p>
        </p:txBody>
      </p:sp>
    </p:spTree>
    <p:extLst>
      <p:ext uri="{BB962C8B-B14F-4D97-AF65-F5344CB8AC3E}">
        <p14:creationId xmlns:p14="http://schemas.microsoft.com/office/powerpoint/2010/main" val="24471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65825" y="604147"/>
            <a:ext cx="10260350" cy="3152338"/>
          </a:xfrm>
          <a:prstGeom prst="rect">
            <a:avLst/>
          </a:prstGeom>
        </p:spPr>
        <p:txBody>
          <a:bodyPr wrap="square">
            <a:spAutoFit/>
          </a:bodyPr>
          <a:lstStyle/>
          <a:p>
            <a:pPr>
              <a:lnSpc>
                <a:spcPct val="120000"/>
              </a:lnSpc>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5.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一实验装置如图所示，一块平面玻璃片上放一油滴，当油滴展开成油膜时，在单色光(波长 </a:t>
            </a:r>
            <a:r>
              <a:rPr lang="zh-CN" altLang="en-US"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λ</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5760</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10</a:t>
            </a:r>
            <a:r>
              <a:rPr lang="en-US" altLang="zh-CN" sz="2400" b="1" baseline="30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-10</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m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)垂直入射情况下，从反射光中观察油膜所形成的干沙条纹(油的折射率为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1.60</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，玻璃的折射率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1.50</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(1) 当油膜最高点与玻璃片的上表面相距 </a:t>
            </a:r>
            <a:r>
              <a:rPr lang="zh-CN" altLang="en-US"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h</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 8640</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10</a:t>
            </a:r>
            <a:r>
              <a:rPr lang="zh-CN" altLang="en-US" sz="2400" b="1" baseline="30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baseline="30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10</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m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时，可看到几条明纹?明条纹所在处油膜的厚度各是多少?油膜最高处明暗程度如何?</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(2) 在油膜扩展过程中，所看到</a:t>
            </a:r>
            <a:endParaRPr lang="en-US" altLang="zh-CN" sz="2400" b="1" dirty="0">
              <a:latin typeface="Times New Roman" panose="02020603050405020304" pitchFamily="18" charset="0"/>
              <a:ea typeface="华文中宋" panose="02010600040101010101" pitchFamily="2" charset="-122"/>
              <a:cs typeface="Times New Roman" panose="02020603050405020304" pitchFamily="18" charset="0"/>
            </a:endParaRP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的干沙条纹如何变化?</a:t>
            </a:r>
          </a:p>
        </p:txBody>
      </p:sp>
      <p:pic>
        <p:nvPicPr>
          <p:cNvPr id="3" name="图片 2"/>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Lst>
          </a:blip>
          <a:stretch>
            <a:fillRect/>
          </a:stretch>
        </p:blipFill>
        <p:spPr>
          <a:xfrm>
            <a:off x="6543703" y="3341975"/>
            <a:ext cx="4391025" cy="2733675"/>
          </a:xfrm>
          <a:prstGeom prst="rect">
            <a:avLst/>
          </a:prstGeom>
        </p:spPr>
      </p:pic>
    </p:spTree>
    <p:extLst>
      <p:ext uri="{BB962C8B-B14F-4D97-AF65-F5344CB8AC3E}">
        <p14:creationId xmlns:p14="http://schemas.microsoft.com/office/powerpoint/2010/main" val="2012144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13434" y="860427"/>
            <a:ext cx="9711396" cy="1379545"/>
          </a:xfrm>
          <a:prstGeom prst="rect">
            <a:avLst/>
          </a:prstGeom>
        </p:spPr>
        <p:txBody>
          <a:bodyPr wrap="square">
            <a:spAutoFit/>
          </a:bodyPr>
          <a:lstStyle/>
          <a:p>
            <a:pPr>
              <a:lnSpc>
                <a:spcPct val="120000"/>
              </a:lnSpc>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6.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在夫琅禾费单缝衍射实验中，如果缝宽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与入射光波长 </a:t>
            </a:r>
            <a:r>
              <a:rPr lang="el-GR"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λ</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的比值分别为 (1)</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1</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(2) </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10</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(3) </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100</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，试分别计算中央明条纹边缘的衍射角，再讨论计算结果说明什么问题。</a:t>
            </a:r>
          </a:p>
        </p:txBody>
      </p:sp>
    </p:spTree>
    <p:extLst>
      <p:ext uri="{BB962C8B-B14F-4D97-AF65-F5344CB8AC3E}">
        <p14:creationId xmlns:p14="http://schemas.microsoft.com/office/powerpoint/2010/main" val="96557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94900" y="726372"/>
            <a:ext cx="10036692" cy="2713820"/>
          </a:xfrm>
          <a:prstGeom prst="rect">
            <a:avLst/>
          </a:prstGeom>
        </p:spPr>
        <p:txBody>
          <a:bodyPr wrap="square">
            <a:spAutoFit/>
          </a:bodyPr>
          <a:lstStyle/>
          <a:p>
            <a:pPr>
              <a:lnSpc>
                <a:spcPct val="120000"/>
              </a:lnSpc>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7.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波长为 </a:t>
            </a:r>
            <a:r>
              <a:rPr lang="el-GR"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λ</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600</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n</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m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的单色光垂直入射到一光栅上，第二级、第三级谱线分别出现在衍射角 </a:t>
            </a:r>
            <a:r>
              <a:rPr lang="zh-CN" altLang="en-US"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φ</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φ</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2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满足下式的方向上，即 </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sin</a:t>
            </a:r>
            <a:r>
              <a:rPr lang="zh-CN" altLang="en-US"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φ</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=0.20</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sinφ</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 30</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，第四级缺级，试求：</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(1) 光栅常数等于多少?</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(2) 光栅上狭缝宽度有多大?</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(3) 理论上可能出现的全部光谱线的条数。</a:t>
            </a:r>
          </a:p>
        </p:txBody>
      </p:sp>
    </p:spTree>
    <p:extLst>
      <p:ext uri="{BB962C8B-B14F-4D97-AF65-F5344CB8AC3E}">
        <p14:creationId xmlns:p14="http://schemas.microsoft.com/office/powerpoint/2010/main" val="2943058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88362" y="633272"/>
            <a:ext cx="10075878" cy="2270622"/>
          </a:xfrm>
          <a:prstGeom prst="rect">
            <a:avLst/>
          </a:prstGeom>
        </p:spPr>
        <p:txBody>
          <a:bodyPr wrap="square">
            <a:spAutoFit/>
          </a:bodyPr>
          <a:lstStyle/>
          <a:p>
            <a:pPr>
              <a:lnSpc>
                <a:spcPct val="120000"/>
              </a:lnSpc>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8.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波长为 </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500nm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的单色平行光以 </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30°</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入射角照射到光栅上，发现原来在垂直照射时中央明条纹的位置现在变为第二级谱线的位置，试求：</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(1) 光栅常数；</a:t>
            </a:r>
            <a:endParaRPr lang="en-US" altLang="zh-CN" sz="2400" b="1" dirty="0">
              <a:latin typeface="Times New Roman" panose="02020603050405020304" pitchFamily="18" charset="0"/>
              <a:ea typeface="华文中宋" panose="02010600040101010101" pitchFamily="2" charset="-122"/>
              <a:cs typeface="Times New Roman" panose="02020603050405020304" pitchFamily="18" charset="0"/>
            </a:endParaRP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(2) 现在最多能看到第几级明纹；</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用波长范围为600nm</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650nm的光垂直照射，谱线是否重叠?</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1352" y="3327796"/>
            <a:ext cx="2810410" cy="2272569"/>
          </a:xfrm>
          <a:prstGeom prst="rect">
            <a:avLst/>
          </a:prstGeom>
        </p:spPr>
      </p:pic>
    </p:spTree>
    <p:extLst>
      <p:ext uri="{BB962C8B-B14F-4D97-AF65-F5344CB8AC3E}">
        <p14:creationId xmlns:p14="http://schemas.microsoft.com/office/powerpoint/2010/main" val="1888590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04346" y="796952"/>
            <a:ext cx="9827137" cy="1827423"/>
          </a:xfrm>
          <a:prstGeom prst="rect">
            <a:avLst/>
          </a:prstGeom>
        </p:spPr>
        <p:txBody>
          <a:bodyPr wrap="square">
            <a:spAutoFit/>
          </a:bodyPr>
          <a:lstStyle/>
          <a:p>
            <a:pPr>
              <a:lnSpc>
                <a:spcPct val="120000"/>
              </a:lnSpc>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9.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两个偏振片</a:t>
            </a:r>
            <a:r>
              <a:rPr lang="zh-CN" altLang="en-US"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2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叠在一起，其偏振化方向之间的夹角为 </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30</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。一束强度为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的光垂直入射到偏振片上。已知该入射光由强度相同的自然光和线偏振光混合而成，现测得连续透过两个偏振片后的出射光强与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0</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之比为 9/16，试求入射光中线偏振光的光矢量方向。</a:t>
            </a:r>
          </a:p>
        </p:txBody>
      </p:sp>
    </p:spTree>
    <p:extLst>
      <p:ext uri="{BB962C8B-B14F-4D97-AF65-F5344CB8AC3E}">
        <p14:creationId xmlns:p14="http://schemas.microsoft.com/office/powerpoint/2010/main" val="4112314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02257" y="582756"/>
            <a:ext cx="10489325" cy="2645404"/>
          </a:xfrm>
          <a:prstGeom prst="rect">
            <a:avLst/>
          </a:prstGeom>
        </p:spPr>
        <p:txBody>
          <a:bodyPr wrap="square">
            <a:spAutoFit/>
          </a:bodyPr>
          <a:lstStyle/>
          <a:p>
            <a:pPr>
              <a:lnSpc>
                <a:spcPct val="120000"/>
              </a:lnSpc>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10.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如图安排的三种透光媒质 </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Ⅰ</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Ⅱ</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Ⅲ</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，其折射率分别为 </a:t>
            </a:r>
            <a:r>
              <a:rPr lang="zh-CN" altLang="en-US"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33</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=1.50</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。两个交界面相互平行。一束自然光自媒质</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Ⅰ</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中入射到 </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Ⅰ</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与 </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Ⅱ</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的交界面上，若反射光为线偏振光，</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(1) 求入射角 </a:t>
            </a:r>
            <a:r>
              <a:rPr lang="en-US" altLang="zh-CN" sz="2400" b="1" i="1" dirty="0" err="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i</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p>
          <a:p>
            <a:pPr>
              <a:lnSpc>
                <a:spcPct val="120000"/>
              </a:lnSpc>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(2) 媒质 </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Ⅱ</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Ⅲ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界面上的反射光是不是线偏振光? 为什么?</a:t>
            </a:r>
          </a:p>
          <a:p>
            <a:pPr>
              <a:lnSpc>
                <a:spcPct val="120000"/>
              </a:lnSpc>
            </a:pPr>
            <a:endParaRPr lang="zh-CN" altLang="en-US" sz="2000" b="1" dirty="0">
              <a:latin typeface="Times New Roman" panose="02020603050405020304" pitchFamily="18" charset="0"/>
              <a:ea typeface="华文中宋" panose="02010600040101010101" pitchFamily="2" charset="-122"/>
              <a:cs typeface="Times New Roman" panose="02020603050405020304" pitchFamily="18" charset="0"/>
            </a:endParaRPr>
          </a:p>
        </p:txBody>
      </p:sp>
      <p:pic>
        <p:nvPicPr>
          <p:cNvPr id="3" name="图片 2"/>
          <p:cNvPicPr>
            <a:picLocks noChangeAspect="1"/>
          </p:cNvPicPr>
          <p:nvPr/>
        </p:nvPicPr>
        <p:blipFill>
          <a:blip r:embed="rId2"/>
          <a:stretch>
            <a:fillRect/>
          </a:stretch>
        </p:blipFill>
        <p:spPr>
          <a:xfrm>
            <a:off x="7676328" y="2974406"/>
            <a:ext cx="3026422" cy="3300838"/>
          </a:xfrm>
          <a:prstGeom prst="rect">
            <a:avLst/>
          </a:prstGeom>
        </p:spPr>
      </p:pic>
    </p:spTree>
    <p:extLst>
      <p:ext uri="{BB962C8B-B14F-4D97-AF65-F5344CB8AC3E}">
        <p14:creationId xmlns:p14="http://schemas.microsoft.com/office/powerpoint/2010/main" val="224567177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TotalTime>
  <Words>1008</Words>
  <Application>Microsoft Office PowerPoint</Application>
  <PresentationFormat>宽屏</PresentationFormat>
  <Paragraphs>29</Paragraphs>
  <Slides>10</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10</vt:i4>
      </vt:variant>
    </vt:vector>
  </HeadingPairs>
  <TitlesOfParts>
    <vt:vector size="15" baseType="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一生有你</dc:creator>
  <cp:lastModifiedBy>ZHANG Erhu</cp:lastModifiedBy>
  <cp:revision>31</cp:revision>
  <dcterms:created xsi:type="dcterms:W3CDTF">2018-11-08T10:23:45Z</dcterms:created>
  <dcterms:modified xsi:type="dcterms:W3CDTF">2021-10-15T03:17:26Z</dcterms:modified>
</cp:coreProperties>
</file>