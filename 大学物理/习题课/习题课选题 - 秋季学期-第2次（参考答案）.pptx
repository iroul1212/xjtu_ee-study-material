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ink/ink1.xml" ContentType="application/inkml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77" r:id="rId2"/>
    <p:sldId id="278" r:id="rId3"/>
    <p:sldId id="279" r:id="rId4"/>
    <p:sldId id="264" r:id="rId5"/>
    <p:sldId id="267" r:id="rId6"/>
    <p:sldId id="268" r:id="rId7"/>
    <p:sldId id="269" r:id="rId8"/>
    <p:sldId id="258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59" r:id="rId17"/>
    <p:sldId id="261" r:id="rId18"/>
    <p:sldId id="262" r:id="rId19"/>
    <p:sldId id="263" r:id="rId20"/>
    <p:sldId id="256" r:id="rId21"/>
    <p:sldId id="257" r:id="rId22"/>
    <p:sldId id="260" r:id="rId23"/>
    <p:sldId id="270" r:id="rId24"/>
    <p:sldId id="271" r:id="rId25"/>
    <p:sldId id="272" r:id="rId26"/>
    <p:sldId id="276" r:id="rId27"/>
    <p:sldId id="280" r:id="rId28"/>
    <p:sldId id="281" r:id="rId29"/>
    <p:sldId id="282" r:id="rId30"/>
    <p:sldId id="283" r:id="rId31"/>
    <p:sldId id="265" r:id="rId32"/>
    <p:sldId id="504" r:id="rId33"/>
    <p:sldId id="506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1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18" y="108"/>
      </p:cViewPr>
      <p:guideLst>
        <p:guide orient="horz" pos="2081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Relationship Id="rId4" Type="http://schemas.openxmlformats.org/officeDocument/2006/relationships/image" Target="../media/image36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5" Type="http://schemas.openxmlformats.org/officeDocument/2006/relationships/image" Target="../media/image5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Relationship Id="rId14" Type="http://schemas.openxmlformats.org/officeDocument/2006/relationships/image" Target="../media/image50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14:30:51.98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2,'50'0,"687"26,-381-1,478-26,-657 9,-10 1,47-11,133 5,-198 12,14 1,-10-13,84 5,268 0,-313-10,-114-1,84-15,-51 3,350-26,-312 22,21-1,295 18,-233 4,1671-2,-1869 2,33 5,30 2,437-10,-434 9,-3 1,-80-9,1 1,0 1,-1 0,1 2,26 8,-20-5,1-1,0 0,0-2,1-1,47-1,-54-1,-1 1,1 0,33 10,-33-7,0-1,0 0,31 0,31-5,-67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68213-8FD9-4FF1-BB53-40E85E51FB48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8AA81-4F3F-44A4-AA8D-435EEF524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04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2024/11/5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NULL"/><Relationship Id="rId5" Type="http://schemas.openxmlformats.org/officeDocument/2006/relationships/image" Target="../media/image4.png"/><Relationship Id="rId10" Type="http://schemas.openxmlformats.org/officeDocument/2006/relationships/customXml" Target="../ink/ink1.xml"/><Relationship Id="rId4" Type="http://schemas.openxmlformats.org/officeDocument/2006/relationships/image" Target="../media/image3.png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9.wmf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tags" Target="../tags/tag7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2.png"/><Relationship Id="rId7" Type="http://schemas.openxmlformats.org/officeDocument/2006/relationships/image" Target="../media/image7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0.png"/><Relationship Id="rId5" Type="http://schemas.openxmlformats.org/officeDocument/2006/relationships/image" Target="../media/image50.png"/><Relationship Id="rId10" Type="http://schemas.openxmlformats.org/officeDocument/2006/relationships/image" Target="../media/image100.png"/><Relationship Id="rId4" Type="http://schemas.openxmlformats.org/officeDocument/2006/relationships/image" Target="../media/image28.png"/><Relationship Id="rId9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36.e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7.bin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.bin"/><Relationship Id="rId18" Type="http://schemas.openxmlformats.org/officeDocument/2006/relationships/image" Target="../media/image43.wmf"/><Relationship Id="rId26" Type="http://schemas.openxmlformats.org/officeDocument/2006/relationships/oleObject" Target="../embeddings/oleObject21.bin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8.bin"/><Relationship Id="rId34" Type="http://schemas.openxmlformats.org/officeDocument/2006/relationships/oleObject" Target="../embeddings/oleObject25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0.bin"/><Relationship Id="rId33" Type="http://schemas.openxmlformats.org/officeDocument/2006/relationships/image" Target="../media/image50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5.bin"/><Relationship Id="rId20" Type="http://schemas.openxmlformats.org/officeDocument/2006/relationships/image" Target="../media/image44.wmf"/><Relationship Id="rId29" Type="http://schemas.openxmlformats.org/officeDocument/2006/relationships/image" Target="../media/image4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46.wmf"/><Relationship Id="rId32" Type="http://schemas.openxmlformats.org/officeDocument/2006/relationships/oleObject" Target="../embeddings/oleObject24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9.bin"/><Relationship Id="rId28" Type="http://schemas.openxmlformats.org/officeDocument/2006/relationships/oleObject" Target="../embeddings/oleObject22.bin"/><Relationship Id="rId36" Type="http://schemas.openxmlformats.org/officeDocument/2006/relationships/oleObject" Target="../embeddings/oleObject26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17.bin"/><Relationship Id="rId31" Type="http://schemas.openxmlformats.org/officeDocument/2006/relationships/image" Target="../media/image49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42.wmf"/><Relationship Id="rId22" Type="http://schemas.openxmlformats.org/officeDocument/2006/relationships/image" Target="../media/image45.wmf"/><Relationship Id="rId27" Type="http://schemas.openxmlformats.org/officeDocument/2006/relationships/image" Target="../media/image47.wmf"/><Relationship Id="rId30" Type="http://schemas.openxmlformats.org/officeDocument/2006/relationships/oleObject" Target="../embeddings/oleObject23.bin"/><Relationship Id="rId35" Type="http://schemas.openxmlformats.org/officeDocument/2006/relationships/image" Target="../media/image51.wmf"/><Relationship Id="rId8" Type="http://schemas.openxmlformats.org/officeDocument/2006/relationships/image" Target="../media/image3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6596" y="691819"/>
            <a:ext cx="10340484" cy="10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如图所示，BC为波密介质的反射面，波由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点反射，已知入射波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时刻的波形曲线，则反射波为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075" y="2295761"/>
            <a:ext cx="8175359" cy="2788650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A46C6DD4-1DCF-6B09-0A05-2C408B7C3CEB}"/>
              </a:ext>
            </a:extLst>
          </p:cNvPr>
          <p:cNvSpPr/>
          <p:nvPr/>
        </p:nvSpPr>
        <p:spPr>
          <a:xfrm>
            <a:off x="3410712" y="766360"/>
            <a:ext cx="1389888" cy="62352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13F6DB-4B9B-22B9-FD1E-75F4A7425528}"/>
              </a:ext>
            </a:extLst>
          </p:cNvPr>
          <p:cNvSpPr txBox="1"/>
          <p:nvPr/>
        </p:nvSpPr>
        <p:spPr>
          <a:xfrm>
            <a:off x="4800600" y="461818"/>
            <a:ext cx="121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半波损失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4D24E60-EB97-C5E3-88BE-9E6580A8F3DB}"/>
              </a:ext>
            </a:extLst>
          </p:cNvPr>
          <p:cNvCxnSpPr>
            <a:stCxn id="3" idx="7"/>
          </p:cNvCxnSpPr>
          <p:nvPr/>
        </p:nvCxnSpPr>
        <p:spPr>
          <a:xfrm flipV="1">
            <a:off x="4597056" y="766360"/>
            <a:ext cx="307453" cy="91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637532EC-8B05-7EF1-86D0-43BE1DD297D7}"/>
              </a:ext>
            </a:extLst>
          </p:cNvPr>
          <p:cNvSpPr/>
          <p:nvPr/>
        </p:nvSpPr>
        <p:spPr>
          <a:xfrm>
            <a:off x="7730836" y="766359"/>
            <a:ext cx="738909" cy="5683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FAB99C-F5C1-2F04-217B-44C5E57E3C40}"/>
              </a:ext>
            </a:extLst>
          </p:cNvPr>
          <p:cNvSpPr txBox="1"/>
          <p:nvPr/>
        </p:nvSpPr>
        <p:spPr>
          <a:xfrm>
            <a:off x="6074009" y="106203"/>
            <a:ext cx="4052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当一列波由波疏介质射向波密介质时，反射波会发生半波损失</a:t>
            </a:r>
          </a:p>
        </p:txBody>
      </p:sp>
    </p:spTree>
    <p:extLst>
      <p:ext uri="{BB962C8B-B14F-4D97-AF65-F5344CB8AC3E}">
        <p14:creationId xmlns:p14="http://schemas.microsoft.com/office/powerpoint/2010/main" val="231047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8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55B1BEE-A259-605A-18FE-3419D500E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93"/>
          <a:stretch/>
        </p:blipFill>
        <p:spPr>
          <a:xfrm>
            <a:off x="583130" y="1722290"/>
            <a:ext cx="3633260" cy="3413420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FF3F0F9-31F0-CF7D-ECD5-89A6C5B3AEDB}"/>
              </a:ext>
            </a:extLst>
          </p:cNvPr>
          <p:cNvSpPr txBox="1"/>
          <p:nvPr/>
        </p:nvSpPr>
        <p:spPr>
          <a:xfrm>
            <a:off x="711190" y="526246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方法一：通过反射波在</a:t>
            </a:r>
            <a:r>
              <a:rPr lang="en-US" altLang="zh-CN" sz="2400" b="1" dirty="0"/>
              <a:t>t</a:t>
            </a:r>
            <a:r>
              <a:rPr lang="zh-CN" altLang="en-US" sz="2400" b="1" dirty="0"/>
              <a:t>时刻的运动状态来判断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77807F9-2E37-4936-F213-A3518B2B42DC}"/>
              </a:ext>
            </a:extLst>
          </p:cNvPr>
          <p:cNvCxnSpPr>
            <a:cxnSpLocks/>
          </p:cNvCxnSpPr>
          <p:nvPr/>
        </p:nvCxnSpPr>
        <p:spPr>
          <a:xfrm>
            <a:off x="3429656" y="3430044"/>
            <a:ext cx="0" cy="4733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21132F1-2605-DF7B-2A8E-045CFD82DD37}"/>
              </a:ext>
            </a:extLst>
          </p:cNvPr>
          <p:cNvSpPr txBox="1"/>
          <p:nvPr/>
        </p:nvSpPr>
        <p:spPr>
          <a:xfrm>
            <a:off x="3429656" y="3602436"/>
            <a:ext cx="480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v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E5DADC-2381-A48A-A443-90357347D18F}"/>
              </a:ext>
            </a:extLst>
          </p:cNvPr>
          <p:cNvSpPr txBox="1"/>
          <p:nvPr/>
        </p:nvSpPr>
        <p:spPr>
          <a:xfrm>
            <a:off x="4724298" y="1165043"/>
            <a:ext cx="71532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反射波在</a:t>
            </a:r>
            <a:r>
              <a:rPr lang="en-US" altLang="zh-CN" sz="2000" dirty="0"/>
              <a:t>P</a:t>
            </a:r>
            <a:r>
              <a:rPr lang="zh-CN" altLang="en-US" sz="2000" dirty="0"/>
              <a:t>点处发生半波损失，这意味着反射波有额外的附加相位差</a:t>
            </a:r>
            <a:r>
              <a:rPr lang="el-GR" altLang="zh-CN" sz="2000" dirty="0"/>
              <a:t>π</a:t>
            </a:r>
            <a:r>
              <a:rPr lang="zh-CN" altLang="en-US" sz="2000" dirty="0"/>
              <a:t>，所以</a:t>
            </a:r>
            <a:r>
              <a:rPr lang="en-US" altLang="zh-CN" sz="2000" dirty="0"/>
              <a:t>P</a:t>
            </a:r>
            <a:r>
              <a:rPr lang="zh-CN" altLang="en-US" sz="2000" dirty="0"/>
              <a:t>点的振动是反相的。表现在速度与位移上均是大小相等，方向相反。</a:t>
            </a:r>
            <a:endParaRPr lang="en-US" altLang="zh-CN" sz="2000" dirty="0"/>
          </a:p>
          <a:p>
            <a:r>
              <a:rPr lang="zh-CN" altLang="en-US" sz="2000" dirty="0"/>
              <a:t>对于题目中的的反射波：</a:t>
            </a:r>
            <a:endParaRPr lang="en-US" altLang="zh-CN" sz="2000" dirty="0"/>
          </a:p>
          <a:p>
            <a:r>
              <a:rPr lang="en-US" altLang="zh-CN" sz="2000" dirty="0"/>
              <a:t>1.</a:t>
            </a:r>
            <a:r>
              <a:rPr lang="zh-CN" altLang="en-US" sz="2000" dirty="0"/>
              <a:t>此处的质点应当向上运动</a:t>
            </a:r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此处的质点位移应当与之前的相同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6A76091-E276-3205-917F-C58C8C0E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1"/>
          <a:stretch/>
        </p:blipFill>
        <p:spPr>
          <a:xfrm>
            <a:off x="5381119" y="3543104"/>
            <a:ext cx="5017184" cy="2788650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B3A0141-6C5A-89C2-0BFD-9B28B6366BE5}"/>
              </a:ext>
            </a:extLst>
          </p:cNvPr>
          <p:cNvCxnSpPr>
            <a:cxnSpLocks/>
          </p:cNvCxnSpPr>
          <p:nvPr/>
        </p:nvCxnSpPr>
        <p:spPr>
          <a:xfrm>
            <a:off x="7238823" y="4187220"/>
            <a:ext cx="0" cy="4733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296564A-F2CA-7E4A-1086-8002B55AC98E}"/>
              </a:ext>
            </a:extLst>
          </p:cNvPr>
          <p:cNvCxnSpPr>
            <a:cxnSpLocks/>
          </p:cNvCxnSpPr>
          <p:nvPr/>
        </p:nvCxnSpPr>
        <p:spPr>
          <a:xfrm>
            <a:off x="7258529" y="5284038"/>
            <a:ext cx="0" cy="4733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82A6FBC-0AE1-701C-4157-5E32C3C4A88D}"/>
              </a:ext>
            </a:extLst>
          </p:cNvPr>
          <p:cNvCxnSpPr>
            <a:cxnSpLocks/>
          </p:cNvCxnSpPr>
          <p:nvPr/>
        </p:nvCxnSpPr>
        <p:spPr>
          <a:xfrm flipV="1">
            <a:off x="9592155" y="3813729"/>
            <a:ext cx="0" cy="3734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5061618-33F3-27A5-167D-77120B4F05EF}"/>
              </a:ext>
            </a:extLst>
          </p:cNvPr>
          <p:cNvCxnSpPr>
            <a:cxnSpLocks/>
          </p:cNvCxnSpPr>
          <p:nvPr/>
        </p:nvCxnSpPr>
        <p:spPr>
          <a:xfrm flipV="1">
            <a:off x="9677880" y="5284038"/>
            <a:ext cx="0" cy="4568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07CEE36-7AF8-DC19-A997-0948A4BABA65}"/>
              </a:ext>
            </a:extLst>
          </p:cNvPr>
          <p:cNvCxnSpPr>
            <a:cxnSpLocks/>
          </p:cNvCxnSpPr>
          <p:nvPr/>
        </p:nvCxnSpPr>
        <p:spPr>
          <a:xfrm flipV="1">
            <a:off x="10187709" y="1970672"/>
            <a:ext cx="886691" cy="35098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E856FE1-2B4D-84F0-1909-1F20AA8CEC19}"/>
              </a:ext>
            </a:extLst>
          </p:cNvPr>
          <p:cNvCxnSpPr>
            <a:cxnSpLocks/>
          </p:cNvCxnSpPr>
          <p:nvPr/>
        </p:nvCxnSpPr>
        <p:spPr>
          <a:xfrm rot="10800000" flipV="1">
            <a:off x="9301018" y="2321655"/>
            <a:ext cx="886691" cy="35098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B5064E4-E457-961B-9A70-F23994E20D1A}"/>
              </a:ext>
            </a:extLst>
          </p:cNvPr>
          <p:cNvCxnSpPr>
            <a:cxnSpLocks/>
          </p:cNvCxnSpPr>
          <p:nvPr/>
        </p:nvCxnSpPr>
        <p:spPr>
          <a:xfrm>
            <a:off x="9107055" y="2321654"/>
            <a:ext cx="21890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EE82CA0-43D6-D689-F88B-DC89E0F910DE}"/>
              </a:ext>
            </a:extLst>
          </p:cNvPr>
          <p:cNvSpPr txBox="1"/>
          <p:nvPr/>
        </p:nvSpPr>
        <p:spPr>
          <a:xfrm>
            <a:off x="11028218" y="2284092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y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C84C0C2-2BB3-7B50-4C22-745AF07BA492}"/>
              </a:ext>
            </a:extLst>
          </p:cNvPr>
          <p:cNvCxnSpPr/>
          <p:nvPr/>
        </p:nvCxnSpPr>
        <p:spPr>
          <a:xfrm>
            <a:off x="11074400" y="1970672"/>
            <a:ext cx="0" cy="35098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68DD173-3460-20E9-9E87-D11F92E0EC72}"/>
              </a:ext>
            </a:extLst>
          </p:cNvPr>
          <p:cNvCxnSpPr>
            <a:cxnSpLocks/>
          </p:cNvCxnSpPr>
          <p:nvPr/>
        </p:nvCxnSpPr>
        <p:spPr>
          <a:xfrm>
            <a:off x="10187709" y="2321654"/>
            <a:ext cx="88669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769C476-5162-A3A8-55B4-CE8B6804D2CD}"/>
              </a:ext>
            </a:extLst>
          </p:cNvPr>
          <p:cNvSpPr txBox="1"/>
          <p:nvPr/>
        </p:nvSpPr>
        <p:spPr>
          <a:xfrm>
            <a:off x="10839519" y="2243512"/>
            <a:ext cx="165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D836CCC-9092-3C8A-95E8-84E511089BB2}"/>
              </a:ext>
            </a:extLst>
          </p:cNvPr>
          <p:cNvCxnSpPr/>
          <p:nvPr/>
        </p:nvCxnSpPr>
        <p:spPr>
          <a:xfrm flipV="1">
            <a:off x="9301018" y="2321654"/>
            <a:ext cx="0" cy="35098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ACEED3D-68CB-06DC-1C0D-678241CF4B74}"/>
              </a:ext>
            </a:extLst>
          </p:cNvPr>
          <p:cNvCxnSpPr>
            <a:cxnSpLocks/>
          </p:cNvCxnSpPr>
          <p:nvPr/>
        </p:nvCxnSpPr>
        <p:spPr>
          <a:xfrm flipH="1">
            <a:off x="9301017" y="2319622"/>
            <a:ext cx="891867" cy="203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B861A81A-CF45-23ED-8434-6C3C17E0CEE0}"/>
              </a:ext>
            </a:extLst>
          </p:cNvPr>
          <p:cNvSpPr txBox="1"/>
          <p:nvPr/>
        </p:nvSpPr>
        <p:spPr>
          <a:xfrm>
            <a:off x="9290811" y="1911219"/>
            <a:ext cx="4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y’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7103B75-C827-9599-BC2D-289303780DCB}"/>
              </a:ext>
            </a:extLst>
          </p:cNvPr>
          <p:cNvCxnSpPr/>
          <p:nvPr/>
        </p:nvCxnSpPr>
        <p:spPr>
          <a:xfrm flipH="1">
            <a:off x="10398303" y="1970672"/>
            <a:ext cx="67609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7133575-4764-1F57-31C8-4646BA2D48D4}"/>
              </a:ext>
            </a:extLst>
          </p:cNvPr>
          <p:cNvSpPr txBox="1"/>
          <p:nvPr/>
        </p:nvSpPr>
        <p:spPr>
          <a:xfrm>
            <a:off x="10169559" y="1881784"/>
            <a:ext cx="516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v</a:t>
            </a:r>
            <a:endParaRPr lang="zh-CN" altLang="en-US" dirty="0">
              <a:solidFill>
                <a:srgbClr val="7030A0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E8C736A-F98E-1D68-4C89-0E4A4AD94662}"/>
              </a:ext>
            </a:extLst>
          </p:cNvPr>
          <p:cNvCxnSpPr>
            <a:cxnSpLocks/>
          </p:cNvCxnSpPr>
          <p:nvPr/>
        </p:nvCxnSpPr>
        <p:spPr>
          <a:xfrm>
            <a:off x="9301017" y="2672637"/>
            <a:ext cx="67609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539BD11D-FF09-79EB-8B41-79075FCF6739}"/>
              </a:ext>
            </a:extLst>
          </p:cNvPr>
          <p:cNvSpPr txBox="1"/>
          <p:nvPr/>
        </p:nvSpPr>
        <p:spPr>
          <a:xfrm>
            <a:off x="9798202" y="2654286"/>
            <a:ext cx="516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v’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43" name="弧形 42">
            <a:extLst>
              <a:ext uri="{FF2B5EF4-FFF2-40B4-BE49-F238E27FC236}">
                <a16:creationId xmlns:a16="http://schemas.microsoft.com/office/drawing/2014/main" id="{D6A6D857-6995-1B1B-7C21-7A4E82A405F9}"/>
              </a:ext>
            </a:extLst>
          </p:cNvPr>
          <p:cNvSpPr/>
          <p:nvPr/>
        </p:nvSpPr>
        <p:spPr>
          <a:xfrm>
            <a:off x="10743348" y="1752321"/>
            <a:ext cx="662106" cy="784801"/>
          </a:xfrm>
          <a:prstGeom prst="arc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96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8" grpId="0"/>
      <p:bldP spid="13" grpId="0"/>
      <p:bldP spid="29" grpId="0"/>
      <p:bldP spid="32" grpId="0"/>
      <p:bldP spid="34" grpId="0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E18C2-96C6-AB61-6982-78D50D52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ADA96AF-6EC2-887D-DDF8-699FA49D1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29"/>
          <a:stretch/>
        </p:blipFill>
        <p:spPr>
          <a:xfrm>
            <a:off x="619542" y="903842"/>
            <a:ext cx="2826304" cy="2788650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00E8AD4-14E9-9EB9-8509-501C5994B2F6}"/>
              </a:ext>
            </a:extLst>
          </p:cNvPr>
          <p:cNvSpPr txBox="1"/>
          <p:nvPr/>
        </p:nvSpPr>
        <p:spPr>
          <a:xfrm>
            <a:off x="711190" y="526246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方法二：画图模拟反射以及半波损失的过程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56F2016-27C9-8B38-CDB1-7B103AEB3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7" t="40475" r="82130" b="39851"/>
          <a:stretch/>
        </p:blipFill>
        <p:spPr>
          <a:xfrm>
            <a:off x="2926080" y="2023847"/>
            <a:ext cx="837398" cy="548640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28AEC87-5FF6-9C3F-03A7-AA3BAB6A0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7" t="40475" r="82130" b="39851"/>
          <a:stretch/>
        </p:blipFill>
        <p:spPr>
          <a:xfrm>
            <a:off x="3763478" y="2023847"/>
            <a:ext cx="837398" cy="548640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AEF7F0B1-3213-1967-AA07-854652FCCFB5}"/>
              </a:ext>
            </a:extLst>
          </p:cNvPr>
          <p:cNvGrpSpPr/>
          <p:nvPr/>
        </p:nvGrpSpPr>
        <p:grpSpPr>
          <a:xfrm>
            <a:off x="6049478" y="1513707"/>
            <a:ext cx="1674796" cy="1414913"/>
            <a:chOff x="6049478" y="1513707"/>
            <a:chExt cx="1674796" cy="1414913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C297238A-FB2F-3B62-9112-E85CEFEB3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27" t="40475" r="82130" b="39851"/>
            <a:stretch/>
          </p:blipFill>
          <p:spPr>
            <a:xfrm>
              <a:off x="6049478" y="1959010"/>
              <a:ext cx="837398" cy="548640"/>
            </a:xfrm>
            <a:prstGeom prst="rect">
              <a:avLst/>
            </a:prstGeom>
            <a:ln w="228600" cap="sq" cmpd="thickThin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996C3AF-C22C-87E7-828F-04A059732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27" t="40475" r="82130" b="39851"/>
            <a:stretch/>
          </p:blipFill>
          <p:spPr>
            <a:xfrm>
              <a:off x="6886876" y="1946842"/>
              <a:ext cx="837398" cy="548640"/>
            </a:xfrm>
            <a:prstGeom prst="rect">
              <a:avLst/>
            </a:prstGeom>
            <a:ln w="228600" cap="sq" cmpd="thickThin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pic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F9073CC-C97D-791C-A5C3-67B5F525D6F2}"/>
                </a:ext>
              </a:extLst>
            </p:cNvPr>
            <p:cNvCxnSpPr/>
            <p:nvPr/>
          </p:nvCxnSpPr>
          <p:spPr>
            <a:xfrm>
              <a:off x="6049478" y="1513707"/>
              <a:ext cx="0" cy="1414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12CA791-39AA-480E-37ED-437B7EFFE17A}"/>
              </a:ext>
            </a:extLst>
          </p:cNvPr>
          <p:cNvGrpSpPr/>
          <p:nvPr/>
        </p:nvGrpSpPr>
        <p:grpSpPr>
          <a:xfrm flipH="1">
            <a:off x="8972348" y="1509161"/>
            <a:ext cx="1674796" cy="1414913"/>
            <a:chOff x="6049478" y="1513707"/>
            <a:chExt cx="1674796" cy="1414913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907F375-02B3-1AFA-DC94-5E848E008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27" t="40475" r="82130" b="39851"/>
            <a:stretch/>
          </p:blipFill>
          <p:spPr>
            <a:xfrm>
              <a:off x="6049478" y="1959010"/>
              <a:ext cx="837398" cy="548640"/>
            </a:xfrm>
            <a:prstGeom prst="rect">
              <a:avLst/>
            </a:prstGeom>
            <a:ln w="228600" cap="sq" cmpd="thickThin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ACF28210-7CEF-2D6D-4D0B-DC0D13194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27" t="40475" r="82130" b="39851"/>
            <a:stretch/>
          </p:blipFill>
          <p:spPr>
            <a:xfrm>
              <a:off x="6886876" y="1946842"/>
              <a:ext cx="837398" cy="548640"/>
            </a:xfrm>
            <a:prstGeom prst="rect">
              <a:avLst/>
            </a:prstGeom>
            <a:ln w="228600" cap="sq" cmpd="thickThin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pic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D6F3FCF6-C4A9-796B-ECB5-359B5ECC8154}"/>
                </a:ext>
              </a:extLst>
            </p:cNvPr>
            <p:cNvCxnSpPr/>
            <p:nvPr/>
          </p:nvCxnSpPr>
          <p:spPr>
            <a:xfrm>
              <a:off x="6049478" y="1513707"/>
              <a:ext cx="0" cy="1414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F456814-8CF9-6219-2729-8EAA522A391D}"/>
              </a:ext>
            </a:extLst>
          </p:cNvPr>
          <p:cNvGrpSpPr/>
          <p:nvPr/>
        </p:nvGrpSpPr>
        <p:grpSpPr>
          <a:xfrm>
            <a:off x="1669983" y="3692492"/>
            <a:ext cx="1674796" cy="1414913"/>
            <a:chOff x="1482288" y="4030597"/>
            <a:chExt cx="1674796" cy="1414913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46B7798-4AD3-7FBB-DA1A-E50EC4F94D1F}"/>
                </a:ext>
              </a:extLst>
            </p:cNvPr>
            <p:cNvGrpSpPr/>
            <p:nvPr/>
          </p:nvGrpSpPr>
          <p:grpSpPr>
            <a:xfrm>
              <a:off x="1482288" y="4540734"/>
              <a:ext cx="1674796" cy="560808"/>
              <a:chOff x="1511165" y="4454106"/>
              <a:chExt cx="1674796" cy="560808"/>
            </a:xfrm>
          </p:grpSpPr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568D65EC-6B16-C9E0-4186-6F763DACE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7" t="40475" r="82130" b="39851"/>
              <a:stretch/>
            </p:blipFill>
            <p:spPr>
              <a:xfrm flipH="1">
                <a:off x="2348563" y="4466274"/>
                <a:ext cx="837398" cy="548640"/>
              </a:xfrm>
              <a:prstGeom prst="rect">
                <a:avLst/>
              </a:prstGeom>
              <a:ln w="228600" cap="sq" cmpd="thickThin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8CE779C6-E601-DC40-5828-DDA8126D8B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7" t="40475" r="82130" b="39851"/>
              <a:stretch/>
            </p:blipFill>
            <p:spPr>
              <a:xfrm flipH="1">
                <a:off x="1511165" y="4454106"/>
                <a:ext cx="837398" cy="548640"/>
              </a:xfrm>
              <a:prstGeom prst="rect">
                <a:avLst/>
              </a:prstGeom>
              <a:ln w="228600" cap="sq" cmpd="thickThin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</p:pic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A490B37-2333-C96F-9556-B9A6B38F3FB0}"/>
                </a:ext>
              </a:extLst>
            </p:cNvPr>
            <p:cNvCxnSpPr/>
            <p:nvPr/>
          </p:nvCxnSpPr>
          <p:spPr>
            <a:xfrm flipH="1">
              <a:off x="2743198" y="4030597"/>
              <a:ext cx="0" cy="1414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6F2B9AF7-DD62-A5CB-194B-DC7E73465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1"/>
          <a:stretch/>
        </p:blipFill>
        <p:spPr>
          <a:xfrm>
            <a:off x="5323367" y="3429000"/>
            <a:ext cx="5017184" cy="2788650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78878AD-2ED0-4D67-DFDE-ECE5E56F1F1C}"/>
              </a:ext>
            </a:extLst>
          </p:cNvPr>
          <p:cNvSpPr txBox="1"/>
          <p:nvPr/>
        </p:nvSpPr>
        <p:spPr>
          <a:xfrm>
            <a:off x="5691842" y="1464181"/>
            <a:ext cx="2079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B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P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C</a:t>
            </a:r>
            <a:endParaRPr lang="zh-CN" altLang="en-US" sz="20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BB84360-01FD-C4B7-4F7B-DE3DB7278EC7}"/>
              </a:ext>
            </a:extLst>
          </p:cNvPr>
          <p:cNvSpPr txBox="1"/>
          <p:nvPr/>
        </p:nvSpPr>
        <p:spPr>
          <a:xfrm>
            <a:off x="10647143" y="1413176"/>
            <a:ext cx="2079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B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P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C</a:t>
            </a:r>
            <a:endParaRPr lang="zh-CN" altLang="en-US" sz="20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10A048F-C898-8F9F-42F0-0693A63A012E}"/>
              </a:ext>
            </a:extLst>
          </p:cNvPr>
          <p:cNvSpPr txBox="1"/>
          <p:nvPr/>
        </p:nvSpPr>
        <p:spPr>
          <a:xfrm>
            <a:off x="2926080" y="3584340"/>
            <a:ext cx="2079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B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P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C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7800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6099" y="969024"/>
            <a:ext cx="10593901" cy="1609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一起声波探测器，在海水中发出一束频率为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0000Hz 的超声波，刚好被向着探测器驶来的潜艇反射回来，两列波合成后得到频率为 341Hz 的拍，则潜艇的速率为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________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。(设超声波在海水中的波速为 1500m/s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613AF1E-F2D1-3D65-7724-47DB9AEFE111}"/>
                  </a:ext>
                </a:extLst>
              </p:cNvPr>
              <p:cNvSpPr txBox="1"/>
              <p:nvPr/>
            </p:nvSpPr>
            <p:spPr>
              <a:xfrm flipH="1">
                <a:off x="7708888" y="3177424"/>
                <a:ext cx="2774516" cy="5031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613AF1E-F2D1-3D65-7724-47DB9AEFE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08888" y="3177424"/>
                <a:ext cx="2774516" cy="5031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86319614-44A4-1B32-4A99-4331ADE8926C}"/>
              </a:ext>
            </a:extLst>
          </p:cNvPr>
          <p:cNvSpPr txBox="1"/>
          <p:nvPr/>
        </p:nvSpPr>
        <p:spPr>
          <a:xfrm>
            <a:off x="4103154" y="3244334"/>
            <a:ext cx="4215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潜艇作为观察者接收到的频率为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BA2DC90-4803-2385-ABE6-EC0F4C9209FE}"/>
              </a:ext>
            </a:extLst>
          </p:cNvPr>
          <p:cNvSpPr txBox="1"/>
          <p:nvPr/>
        </p:nvSpPr>
        <p:spPr>
          <a:xfrm>
            <a:off x="3781383" y="4343966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探测器接收到来自潜艇作为波源的频率为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CE2F4F66-65C2-DE43-5B2A-9E5D4A5C36C0}"/>
                  </a:ext>
                </a:extLst>
              </p:cNvPr>
              <p:cNvSpPr txBox="1"/>
              <p:nvPr/>
            </p:nvSpPr>
            <p:spPr>
              <a:xfrm>
                <a:off x="6593989" y="4184118"/>
                <a:ext cx="6094926" cy="595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8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𝑣𝑠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8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1800" b="0" i="1" baseline="-2500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𝑣𝑠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CE2F4F66-65C2-DE43-5B2A-9E5D4A5C3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989" y="4184118"/>
                <a:ext cx="6094926" cy="595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4" name="图片 123">
            <a:extLst>
              <a:ext uri="{FF2B5EF4-FFF2-40B4-BE49-F238E27FC236}">
                <a16:creationId xmlns:a16="http://schemas.microsoft.com/office/drawing/2014/main" id="{C5F3E605-1A27-55CA-6A25-C43DAC7AB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63" y="4232357"/>
            <a:ext cx="749873" cy="499915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:a16="http://schemas.microsoft.com/office/drawing/2014/main" id="{320A3FEC-88C4-C024-9AAC-5F1CD6791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754" y="2874084"/>
            <a:ext cx="2267067" cy="806491"/>
          </a:xfrm>
          <a:prstGeom prst="rect">
            <a:avLst/>
          </a:prstGeom>
        </p:spPr>
      </p:pic>
      <p:pic>
        <p:nvPicPr>
          <p:cNvPr id="128" name="图片 127">
            <a:extLst>
              <a:ext uri="{FF2B5EF4-FFF2-40B4-BE49-F238E27FC236}">
                <a16:creationId xmlns:a16="http://schemas.microsoft.com/office/drawing/2014/main" id="{AA4838CC-CF1E-5749-70BA-B8947A7C3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795" y="4053277"/>
            <a:ext cx="2330570" cy="857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4AE35BB-FAB4-309C-3F39-246A7E5ADC18}"/>
                  </a:ext>
                </a:extLst>
              </p:cNvPr>
              <p:cNvSpPr txBox="1"/>
              <p:nvPr/>
            </p:nvSpPr>
            <p:spPr>
              <a:xfrm>
                <a:off x="1209795" y="4850013"/>
                <a:ext cx="63460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i="1" baseline="-25000">
                        <a:latin typeface="Cambria Math" panose="02040503050406030204" pitchFamily="18" charset="0"/>
                      </a:rPr>
                      <m:t>潜艇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𝑣𝑠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E4AE35BB-FAB4-309C-3F39-246A7E5AD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795" y="4850013"/>
                <a:ext cx="6346064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文本框 131">
            <a:extLst>
              <a:ext uri="{FF2B5EF4-FFF2-40B4-BE49-F238E27FC236}">
                <a16:creationId xmlns:a16="http://schemas.microsoft.com/office/drawing/2014/main" id="{AA8C2F2B-529F-B600-6B49-88A011F51AB3}"/>
              </a:ext>
            </a:extLst>
          </p:cNvPr>
          <p:cNvSpPr txBox="1"/>
          <p:nvPr/>
        </p:nvSpPr>
        <p:spPr>
          <a:xfrm>
            <a:off x="2922968" y="4848871"/>
            <a:ext cx="6346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C7EC29C-6879-5D02-725D-DA8DCF9A7BC3}"/>
                  </a:ext>
                </a:extLst>
              </p:cNvPr>
              <p:cNvSpPr txBox="1"/>
              <p:nvPr/>
            </p:nvSpPr>
            <p:spPr>
              <a:xfrm>
                <a:off x="1182712" y="5350182"/>
                <a:ext cx="6346064" cy="485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 baseline="-25000">
                        <a:latin typeface="Cambria Math" panose="02040503050406030204" pitchFamily="18" charset="0"/>
                      </a:rPr>
                      <m:t>拍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C7EC29C-6879-5D02-725D-DA8DCF9A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712" y="5350182"/>
                <a:ext cx="6346064" cy="485518"/>
              </a:xfrm>
              <a:prstGeom prst="rect">
                <a:avLst/>
              </a:prstGeom>
              <a:blipFill>
                <a:blip r:embed="rId8"/>
                <a:stretch>
                  <a:fillRect l="-288" b="-7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文本框 135">
            <a:extLst>
              <a:ext uri="{FF2B5EF4-FFF2-40B4-BE49-F238E27FC236}">
                <a16:creationId xmlns:a16="http://schemas.microsoft.com/office/drawing/2014/main" id="{8DF0998F-AC1B-544D-5B26-C0F079247B7A}"/>
              </a:ext>
            </a:extLst>
          </p:cNvPr>
          <p:cNvSpPr txBox="1"/>
          <p:nvPr/>
        </p:nvSpPr>
        <p:spPr>
          <a:xfrm>
            <a:off x="4137340" y="5436017"/>
            <a:ext cx="6346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③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48F645CC-561C-3E89-99AE-7FA9484E0838}"/>
              </a:ext>
            </a:extLst>
          </p:cNvPr>
          <p:cNvSpPr txBox="1"/>
          <p:nvPr/>
        </p:nvSpPr>
        <p:spPr>
          <a:xfrm>
            <a:off x="1166754" y="6013573"/>
            <a:ext cx="6346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由①②③式得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B101B92E-BA70-8A21-649E-FBD778FAD5F9}"/>
                  </a:ext>
                </a:extLst>
              </p:cNvPr>
              <p:cNvSpPr txBox="1"/>
              <p:nvPr/>
            </p:nvSpPr>
            <p:spPr>
              <a:xfrm>
                <a:off x="3037626" y="5921535"/>
                <a:ext cx="6346064" cy="525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1800" i="1" baseline="-25000">
                        <a:latin typeface="Cambria Math" panose="02040503050406030204" pitchFamily="18" charset="0"/>
                      </a:rPr>
                      <m:t>潜艇</m:t>
                    </m:r>
                  </m:oMath>
                </a14:m>
                <a:r>
                  <a:rPr lang="en-US" altLang="zh-CN" sz="1800" dirty="0"/>
                  <a:t>=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800" b="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l-GR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1500∗341</m:t>
                        </m:r>
                      </m:num>
                      <m:den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2∗30000+341</m:t>
                        </m:r>
                      </m:den>
                    </m:f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=8.48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B101B92E-BA70-8A21-649E-FBD778FAD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626" y="5921535"/>
                <a:ext cx="6346064" cy="525272"/>
              </a:xfrm>
              <a:prstGeom prst="rect">
                <a:avLst/>
              </a:prstGeom>
              <a:blipFill>
                <a:blip r:embed="rId9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463B70C1-2827-892F-01B6-FCB5DD2CF903}"/>
                  </a:ext>
                </a:extLst>
              </p14:cNvPr>
              <p14:cNvContentPartPr/>
              <p14:nvPr/>
            </p14:nvContentPartPr>
            <p14:xfrm>
              <a:off x="7653450" y="1822007"/>
              <a:ext cx="3449520" cy="43200"/>
            </p14:xfrm>
          </p:contentPart>
        </mc:Choice>
        <mc:Fallback xmlns=""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463B70C1-2827-892F-01B6-FCB5DD2CF9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81450" y="1678007"/>
                <a:ext cx="3593160" cy="3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39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21" grpId="0"/>
      <p:bldP spid="123" grpId="0"/>
      <p:bldP spid="130" grpId="0"/>
      <p:bldP spid="132" grpId="0"/>
      <p:bldP spid="134" grpId="0"/>
      <p:bldP spid="136" grpId="0"/>
      <p:bldP spid="138" grpId="0"/>
      <p:bldP spid="1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70625" t="16656" b="25044"/>
          <a:stretch>
            <a:fillRect/>
          </a:stretch>
        </p:blipFill>
        <p:spPr>
          <a:xfrm>
            <a:off x="7965056" y="2886227"/>
            <a:ext cx="3091943" cy="206171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8356" y="497495"/>
            <a:ext cx="10280534" cy="22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双缝干涉实验装置如图所示，双缝与屏之间的距离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=120cm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，两缝之间的距离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=0.50mm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，用波长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500nm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的单色光垂直照射双缝。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求原点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上方的第五级明条纹的坐标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如果用厚度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=1.0*10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1. 5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的透明薄膜覆盖在图中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缝的后面，求上述第五级明条纹的坐标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x'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23565" y="2886227"/>
                <a:ext cx="8041876" cy="3382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zh-CN" altLang="en-US" sz="18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8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18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</a:t>
                </a:r>
                <a:endParaRPr lang="en-US" altLang="zh-CN" sz="18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US" altLang="zh-CN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19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杨氏双缝干涉中，光程差</a:t>
                </a:r>
              </a:p>
              <a:p>
                <a:pPr marL="457200"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𝑥𝑑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133350" algn="just"/>
                <a:r>
                  <a:rPr lang="zh-CN" altLang="zh-CN" sz="19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明条纹产生条件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=0,1,2⋯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19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9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由此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=0,1,2⋯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19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9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代入</a:t>
                </a:r>
                <a:r>
                  <a:rPr lang="en-US" altLang="zh-CN" sz="19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k=5</a:t>
                </a:r>
                <a:r>
                  <a:rPr lang="zh-CN" altLang="zh-CN" sz="19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=6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65" y="2886227"/>
                <a:ext cx="8041876" cy="3382721"/>
              </a:xfrm>
              <a:prstGeom prst="rect">
                <a:avLst/>
              </a:prstGeom>
              <a:blipFill rotWithShape="1">
                <a:blip r:embed="rId3"/>
                <a:stretch>
                  <a:fillRect l="-8" t="-4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38356" y="497495"/>
            <a:ext cx="10280534" cy="22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双缝干涉实验装置如图所示，双缝与屏之间的距离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=120cm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，两缝之间的距离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=0.50mm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，用波长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500nm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的单色光垂直照射双缝。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求原点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上方的第五级明条纹的坐标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如果用厚度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=1.0*10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1. 5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的透明薄膜覆盖在图中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缝的后面，求上述第五级明条纹的坐标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x'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47522" y="2753513"/>
                <a:ext cx="8041876" cy="394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zh-CN" altLang="en-US" sz="18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(2)</a:t>
                </a:r>
                <a:endParaRPr lang="en-US" altLang="zh-CN" sz="18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US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加上透明薄膜后，光程差</a:t>
                </a: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     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8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𝑛𝑙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US" altLang="zh-CN" sz="1800" i="1" kern="100" dirty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  </m:t>
                    </m:r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1800" i="1" kern="10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zh-CN" altLang="en-US" sz="1800" i="1" kern="10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−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zh-CN" altLang="en-US" sz="1800" i="1" kern="10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   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此时，明条纹产生条件仍为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</m:t>
                      </m:r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=0,1,2⋯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由此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          </m:t>
                      </m:r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=0,1,2⋯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代入</a:t>
                </a:r>
                <a:r>
                  <a:rPr lang="en-US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k=5</a:t>
                </a:r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=19.9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22" y="2753513"/>
                <a:ext cx="8041876" cy="3949700"/>
              </a:xfrm>
              <a:prstGeom prst="rect">
                <a:avLst/>
              </a:prstGeom>
              <a:blipFill rotWithShape="1">
                <a:blip r:embed="rId2"/>
                <a:stretch>
                  <a:fillRect l="-2" t="-4" r="5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922" y="2677557"/>
            <a:ext cx="4533501" cy="30747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699CDE2-C704-69A4-7434-9A6B581BC56E}"/>
                  </a:ext>
                </a:extLst>
              </p:cNvPr>
              <p:cNvSpPr txBox="1"/>
              <p:nvPr/>
            </p:nvSpPr>
            <p:spPr>
              <a:xfrm>
                <a:off x="690342" y="605563"/>
                <a:ext cx="6643025" cy="5587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由于此时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900" b="1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‘</m:t>
                        </m:r>
                      </m:sup>
                    </m:sSup>
                  </m:oMath>
                </a14:m>
                <a:r>
                  <a:rPr lang="en-US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=19.9mm</a:t>
                </a:r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的值较大，而在计算</a:t>
                </a:r>
                <a14:m>
                  <m:oMath xmlns:m="http://schemas.openxmlformats.org/officeDocument/2006/math"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过程中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900" b="1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1900" b="1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900" b="1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𝑥𝑑</m:t>
                        </m:r>
                      </m:num>
                      <m:den>
                        <m:sSub>
                          <m:sSubPr>
                            <m:ctrlPr>
                              <a:rPr lang="zh-CN" altLang="zh-CN" sz="1900" b="1" i="1" kern="1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b="1" kern="1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900" b="1" kern="1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1900" b="1" i="1" kern="1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b="1" kern="1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900" b="1" kern="1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zh-CN" altLang="zh-CN" sz="1900" b="1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𝑥𝑑</m:t>
                        </m:r>
                      </m:num>
                      <m:den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900" b="1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𝑥𝑑</m:t>
                        </m:r>
                      </m:num>
                      <m:den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是在</a:t>
                </a:r>
                <a14:m>
                  <m:oMath xmlns:m="http://schemas.openxmlformats.org/officeDocument/2006/math"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≪</m:t>
                    </m:r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才近似有的，因此我们通过计算出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900" b="1" i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zh-CN" sz="1900" b="1" kern="1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‘</m:t>
                        </m:r>
                      </m:sup>
                    </m:sSup>
                  </m:oMath>
                </a14:m>
                <a:r>
                  <a:rPr lang="en-US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=19.9mm</a:t>
                </a:r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处光程差的准确值，并与近似值进行比较，以判断我们上述计算的合理性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‘</m:t>
                                      </m:r>
                                    </m:sup>
                                  </m:s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num>
                                    <m:den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=1200.16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‘</m:t>
                                      </m:r>
                                    </m:sup>
                                  </m:s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num>
                                    <m:den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=1200.17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𝑥𝑑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CN" sz="1800" i="1" kern="1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=2.49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而前面计算得</a:t>
                </a:r>
                <a14:m>
                  <m:oMath xmlns:m="http://schemas.openxmlformats.org/officeDocument/2006/math">
                    <m:r>
                      <a:rPr lang="en-US" altLang="zh-CN" sz="1900" b="1" kern="1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zh-CN" altLang="zh-CN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的近似值为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=2.50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2.50−2.49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2.49</m:t>
                          </m:r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×100%=0.4%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900" b="1" kern="1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由此可见，我们的估算是合理的。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699CDE2-C704-69A4-7434-9A6B581BC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42" y="605563"/>
                <a:ext cx="6643025" cy="5587812"/>
              </a:xfrm>
              <a:prstGeom prst="rect">
                <a:avLst/>
              </a:prstGeom>
              <a:blipFill>
                <a:blip r:embed="rId2"/>
                <a:stretch>
                  <a:fillRect l="-826" t="-545" r="-917" b="-1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3C3186A5-478F-20FF-E560-1D6D13415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" t="42028" r="11076" b="1580"/>
          <a:stretch/>
        </p:blipFill>
        <p:spPr>
          <a:xfrm>
            <a:off x="7030586" y="1810633"/>
            <a:ext cx="5044964" cy="49292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8356" y="497495"/>
            <a:ext cx="10280534" cy="2713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如果有一双缝被波长为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600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0Å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的平行单色光照射。入射角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l-GR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π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/6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，双缝平面与幕之间的垂直距商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，两缝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间距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2mm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，试求：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中央明条纹落在屏上什么位置?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这时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&lt;0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一侧的第K级明纹落在什么位置?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(3) 若在一缝上盖一折射率为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1. 5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的云母片，恰好又使中央明纹落在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点，则此云母片应盖在哪条缝上，其厚度应为多少?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0988" y="3561767"/>
            <a:ext cx="546735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8175" y="497205"/>
                <a:ext cx="10853420" cy="3404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如果有一双缝被波长为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λ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= 600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0Å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的平行单色光照射。入射角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l-GR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π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/6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，双缝平面与幕之间的垂直距商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=1.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00m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，两缝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间距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0. 2mm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，试求：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(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 中央明条纹落在屏上什么位置?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解：中央明条纹？————光程差为零</a:t>
                </a:r>
              </a:p>
              <a:p>
                <a:pPr>
                  <a:lnSpc>
                    <a:spcPct val="120000"/>
                  </a:lnSpc>
                </a:pP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        入射角影响？——到达双缝的时间不同——两个次波源的初相位不同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x-none" sz="2400" b="1" i="1" dirty="0">
                        <a:latin typeface="DejaVu Math TeX Gyre" panose="02000503000000000000" charset="0"/>
                        <a:ea typeface="华文中宋" panose="02010600040101010101" pitchFamily="2" charset="-122"/>
                        <a:cs typeface="DejaVu Math TeX Gyre" panose="02000503000000000000" charset="0"/>
                      </a:rPr>
                      <m:t>𝒅</m:t>
                    </m:r>
                    <m:func>
                      <m:funcPr>
                        <m:ctrlPr>
                          <a:rPr lang="en-US" altLang="x-none" sz="2400" b="1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uncPr>
                      <m:fName>
                        <m:r>
                          <a:rPr lang="en-US" altLang="x-none" sz="2400" b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𝐬𝐢𝐧</m:t>
                        </m:r>
                      </m:fName>
                      <m:e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𝑥𝑑</m:t>
                        </m:r>
                      </m:num>
                      <m:den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𝐷</m:t>
                        </m:r>
                      </m:den>
                    </m:f>
                  </m:oMath>
                </a14:m>
                <a:endParaRPr lang="en-US" altLang="x-none" sz="2400" i="1" dirty="0">
                  <a:latin typeface="DejaVu Math TeX Gyre" panose="02000503000000000000" charset="0"/>
                  <a:ea typeface="华文中宋" panose="02010600040101010101" pitchFamily="2" charset="-122"/>
                  <a:cs typeface="DejaVu Math TeX Gyre" panose="02000503000000000000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得到x＝0.5m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5" y="497205"/>
                <a:ext cx="10853420" cy="34042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0988" y="3561767"/>
            <a:ext cx="5467350" cy="2628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8356" y="497495"/>
                <a:ext cx="10280534" cy="31210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如果有一双缝被波长为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λ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= 600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0Å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的平行单色光照射。入射角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l-GR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π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/6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，双缝平面与幕之间的垂直距商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=1.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00m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，两缝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间距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0. 2mm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，试求：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(2) 这时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&lt;0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一侧的第K级明纹落在什么位置?</a:t>
                </a:r>
              </a:p>
              <a:p>
                <a:pPr>
                  <a:lnSpc>
                    <a:spcPct val="120000"/>
                  </a:lnSpc>
                </a:pP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解：x＜0？——第K级明纹在中央明条纹下方——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b="1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𝜹</m:t>
                        </m:r>
                      </m:e>
                      <m:sub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b="1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400" b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zh-CN" altLang="en-US" sz="2400" b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4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x-none" sz="2400" i="1" dirty="0">
                        <a:latin typeface="DejaVu Math TeX Gyre" panose="02000503000000000000" charset="0"/>
                        <a:ea typeface="华文中宋" panose="02010600040101010101" pitchFamily="2" charset="-122"/>
                        <a:cs typeface="DejaVu Math TeX Gyre" panose="02000503000000000000" charset="0"/>
                      </a:rPr>
                      <m:t>𝑑</m:t>
                    </m:r>
                    <m:func>
                      <m:func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x-none" sz="2400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sin</m:t>
                        </m:r>
                      </m:fName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𝜃</m:t>
                        </m:r>
                      </m:e>
                    </m:func>
                    <m:r>
                      <a:rPr lang="en-US" altLang="x-none" sz="2400" i="1" dirty="0">
                        <a:latin typeface="DejaVu Math TeX Gyre" panose="02000503000000000000" charset="0"/>
                        <a:ea typeface="华文中宋" panose="02010600040101010101" pitchFamily="2" charset="-122"/>
                        <a:cs typeface="DejaVu Math TeX Gyre" panose="02000503000000000000" charset="0"/>
                      </a:rPr>
                      <m:t>+</m:t>
                    </m:r>
                    <m:f>
                      <m:f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（</m:t>
                        </m:r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𝑥</m:t>
                        </m:r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）</m:t>
                        </m:r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𝑑</m:t>
                        </m:r>
                      </m:num>
                      <m:den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＝</a:t>
                </a:r>
                <a14:m>
                  <m:oMath xmlns:m="http://schemas.openxmlformats.org/officeDocument/2006/math">
                    <m:r>
                      <a:rPr lang="en-US" altLang="x-none" sz="2400" i="1" dirty="0">
                        <a:latin typeface="DejaVu Math TeX Gyre" panose="02000503000000000000" charset="0"/>
                        <a:ea typeface="华文中宋" panose="02010600040101010101" pitchFamily="2" charset="-122"/>
                        <a:cs typeface="DejaVu Math TeX Gyre" panose="02000503000000000000" charset="0"/>
                      </a:rPr>
                      <m:t>𝑘</m:t>
                    </m:r>
                  </m:oMath>
                </a14:m>
                <a:r>
                  <a:rPr lang="en-US" altLang="x-none" sz="2400" i="1" dirty="0">
                    <a:latin typeface="文泉驿微米黑" panose="020B0606030804020204" charset="-122"/>
                    <a:ea typeface="文泉驿微米黑" panose="020B0606030804020204" charset="-122"/>
                    <a:cs typeface="DejaVu Math TeX Gyre" panose="02000503000000000000" charset="0"/>
                  </a:rPr>
                  <a:t>λ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x-none" altLang="en-US" sz="2400" i="1" dirty="0">
                    <a:latin typeface="文泉驿微米黑" panose="020B0606030804020204" charset="-122"/>
                    <a:ea typeface="文泉驿微米黑" panose="020B0606030804020204" charset="-122"/>
                    <a:cs typeface="DejaVu Math TeX Gyre" panose="02000503000000000000" charset="0"/>
                  </a:rPr>
                  <a:t>x＝（500-6k）mm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56" y="497495"/>
                <a:ext cx="10280534" cy="3121025"/>
              </a:xfrm>
              <a:prstGeom prst="rect">
                <a:avLst/>
              </a:prstGeom>
              <a:blipFill rotWithShape="1">
                <a:blip r:embed="rId2"/>
                <a:stretch>
                  <a:fillRect l="-2" t="-9" r="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0988" y="3561767"/>
            <a:ext cx="5467350" cy="2628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8175" y="497205"/>
                <a:ext cx="11203940" cy="3192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如果有一双缝被波长为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λ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= 600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0Å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的平行单色光照射。入射角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l-GR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π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/6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，双缝平面与幕之间的垂直距商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=1.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00m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，两缝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间距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0. 2mm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，试求：</a:t>
                </a:r>
                <a:endParaRPr lang="en-US" altLang="zh-CN" sz="24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(3) 若在一缝上盖一折射率为 </a:t>
                </a:r>
                <a:r>
                  <a:rPr lang="en-US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1. 5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的云母片，恰好又使中央明纹落在 </a:t>
                </a:r>
                <a:r>
                  <a:rPr lang="en-US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O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点，则此云母片应盖在哪条缝上，其厚度应为多少?</a:t>
                </a:r>
              </a:p>
              <a:p>
                <a:pPr>
                  <a:lnSpc>
                    <a:spcPct val="120000"/>
                  </a:lnSpc>
                </a:pP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解：云母作用？——由于n＞1，所以云母片能增强光程差，因此应放在下缝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设云母片厚度为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b="1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𝒅</m:t>
                        </m:r>
                      </m:e>
                      <m:sub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         d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x-none" sz="2400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sin</m:t>
                        </m:r>
                      </m:fName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＝（n-1）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x-none" sz="2400" i="1" dirty="0">
                  <a:latin typeface="DejaVu Math TeX Gyre" panose="02000503000000000000" charset="0"/>
                  <a:ea typeface="华文中宋" panose="02010600040101010101" pitchFamily="2" charset="-122"/>
                  <a:cs typeface="DejaVu Math TeX Gyre" panose="02000503000000000000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=0.2mm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5" y="497205"/>
                <a:ext cx="11203940" cy="31927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0988" y="3561767"/>
            <a:ext cx="5467350" cy="2628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420"/>
          </a:xfrm>
        </p:spPr>
        <p:txBody>
          <a:bodyPr/>
          <a:lstStyle/>
          <a:p>
            <a:pPr algn="ctr"/>
            <a:r>
              <a:rPr lang="x-none" altLang="zh-CN"/>
              <a:t>答案真的是这样吗？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8175" y="497205"/>
                <a:ext cx="10853420" cy="3404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如果有一双缝被波长为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λ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= 600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0Å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的平行单色光照射。入射角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l-GR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π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/6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，双缝平面与幕之间的垂直距商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=1.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00m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，两缝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间距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0. 2mm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，试求：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(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 中央明条纹落在屏上什么位置?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解：中央明条纹？————光程差为零</a:t>
                </a:r>
              </a:p>
              <a:p>
                <a:pPr>
                  <a:lnSpc>
                    <a:spcPct val="120000"/>
                  </a:lnSpc>
                </a:pP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        入射角影响？——到达双缝的时间不同——两个次波源的初相位不同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x-none" sz="2400" b="1" i="1" dirty="0">
                        <a:latin typeface="DejaVu Math TeX Gyre" panose="02000503000000000000" charset="0"/>
                        <a:ea typeface="华文中宋" panose="02010600040101010101" pitchFamily="2" charset="-122"/>
                        <a:cs typeface="DejaVu Math TeX Gyre" panose="02000503000000000000" charset="0"/>
                      </a:rPr>
                      <m:t>𝒅</m:t>
                    </m:r>
                    <m:func>
                      <m:funcPr>
                        <m:ctrlPr>
                          <a:rPr lang="en-US" altLang="x-none" sz="2400" b="1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uncPr>
                      <m:fName>
                        <m:r>
                          <a:rPr lang="en-US" altLang="x-none" sz="2400" b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𝐬𝐢𝐧</m:t>
                        </m:r>
                      </m:fName>
                      <m:e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𝑥𝑑</m:t>
                        </m:r>
                      </m:num>
                      <m:den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𝐷</m:t>
                        </m:r>
                      </m:den>
                    </m:f>
                  </m:oMath>
                </a14:m>
                <a:endParaRPr lang="en-US" altLang="x-none" sz="2400" i="1" dirty="0">
                  <a:latin typeface="DejaVu Math TeX Gyre" panose="02000503000000000000" charset="0"/>
                  <a:ea typeface="华文中宋" panose="02010600040101010101" pitchFamily="2" charset="-122"/>
                  <a:cs typeface="DejaVu Math TeX Gyre" panose="02000503000000000000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得到x＝0.5m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5" y="497205"/>
                <a:ext cx="10853420" cy="34042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0988" y="3561767"/>
            <a:ext cx="5467350" cy="2628900"/>
          </a:xfrm>
          <a:prstGeom prst="rect">
            <a:avLst/>
          </a:prstGeom>
        </p:spPr>
      </p:pic>
      <p:sp>
        <p:nvSpPr>
          <p:cNvPr id="4" name="乘号 3"/>
          <p:cNvSpPr/>
          <p:nvPr/>
        </p:nvSpPr>
        <p:spPr>
          <a:xfrm>
            <a:off x="7239635" y="3064510"/>
            <a:ext cx="1115060" cy="116649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IMG_20241029_1952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" y="2773045"/>
            <a:ext cx="4135120" cy="4022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8175" y="556895"/>
                <a:ext cx="10280650" cy="364109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如果有一双缝被波长为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λ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= 600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0Å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的平行单色光照射。入射角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l-GR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π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/6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，双缝平面与幕之间的垂直距商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=1.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00m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，两缝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间距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0. 2mm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，试求：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(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) 中央明条纹落在屏上什么位置?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解：该如何计算？——运用光程差做精确计算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b="1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𝜹</m:t>
                        </m:r>
                      </m:e>
                      <m:sub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=d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x-none" sz="2400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sin</m:t>
                        </m:r>
                      </m:fName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𝛿</m:t>
                        </m:r>
                      </m:e>
                      <m:sub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x-none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x-none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（</m:t>
                            </m:r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𝑥</m:t>
                            </m:r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x-none" sz="2400" i="1" dirty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x-none" sz="2400" i="1" dirty="0">
                                    <a:latin typeface="DejaVu Math TeX Gyre" panose="02000503000000000000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x-none" sz="2400" i="1" dirty="0">
                                    <a:latin typeface="DejaVu Math TeX Gyre" panose="02000503000000000000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x-none" sz="2400" i="1" dirty="0">
                        <a:latin typeface="DejaVu Math TeX Gyre" panose="02000503000000000000" charset="0"/>
                        <a:ea typeface="华文中宋" panose="02010600040101010101" pitchFamily="2" charset="-122"/>
                        <a:cs typeface="DejaVu Math TeX Gyre" panose="02000503000000000000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x-none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x-none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（</m:t>
                            </m:r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𝑥</m:t>
                            </m:r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x-none" sz="2400" i="1" dirty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x-none" sz="2400" i="1" dirty="0">
                                    <a:latin typeface="DejaVu Math TeX Gyre" panose="02000503000000000000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x-none" sz="2400" i="1" dirty="0">
                                    <a:latin typeface="DejaVu Math TeX Gyre" panose="02000503000000000000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x-none" sz="2400" i="1" dirty="0">
                  <a:latin typeface="DejaVu Math TeX Gyre" panose="02000503000000000000" charset="0"/>
                  <a:ea typeface="华文中宋" panose="02010600040101010101" pitchFamily="2" charset="-122"/>
                  <a:cs typeface="DejaVu Math TeX Gyre" panose="02000503000000000000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𝛿</m:t>
                        </m:r>
                      </m:e>
                      <m:sub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𝛿</m:t>
                        </m:r>
                      </m:e>
                      <m:sub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x-none" sz="2400" i="1" dirty="0">
                  <a:latin typeface="DejaVu Math TeX Gyre" panose="02000503000000000000" charset="0"/>
                  <a:ea typeface="华文中宋" panose="02010600040101010101" pitchFamily="2" charset="-122"/>
                  <a:cs typeface="DejaVu Math TeX Gyre" panose="02000503000000000000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</a:rPr>
                  <a:t>解得x=0.57735m≈0.58m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5" y="556895"/>
                <a:ext cx="10280650" cy="364109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15408" y="4143427"/>
            <a:ext cx="5467350" cy="2628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8356" y="497495"/>
                <a:ext cx="10280534" cy="3176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如果有一双缝被波长为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λ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= 600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0Å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的平行单色光照射。入射角 </a:t>
                </a:r>
                <a:r>
                  <a:rPr lang="el-GR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l-GR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π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/6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，双缝平面与幕之间的垂直距商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=1.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00m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，两缝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间距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0. 2mm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，试求：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(2) 这时 </a:t>
                </a:r>
                <a:r>
                  <a:rPr lang="zh-CN" alt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&lt;0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一侧的第K级明纹落在什么位置?</a:t>
                </a:r>
              </a:p>
              <a:p>
                <a:pPr>
                  <a:lnSpc>
                    <a:spcPct val="120000"/>
                  </a:lnSpc>
                </a:pP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解：                                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x-none" altLang="zh-CN" sz="24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x-none" sz="2400" b="1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𝜹</m:t>
                        </m:r>
                      </m:e>
                      <m:sub>
                        <m:r>
                          <a:rPr lang="en-US" altLang="x-none" sz="2400" b="1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𝟏</m:t>
                        </m:r>
                      </m:sub>
                    </m:sSub>
                    <m:r>
                      <a:rPr lang="en-US" altLang="x-none" sz="2400" b="1" i="1" dirty="0">
                        <a:latin typeface="DejaVu Math TeX Gyre" panose="02000503000000000000" charset="0"/>
                        <a:ea typeface="华文中宋" panose="02010600040101010101" pitchFamily="2" charset="-122"/>
                        <a:cs typeface="DejaVu Math TeX Gyre" panose="02000503000000000000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b="1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400" b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zh-CN" altLang="en-US" sz="2400" b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x-none" altLang="zh-CN" sz="2400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=k</a:t>
                </a:r>
                <a:r>
                  <a:rPr lang="x-none" altLang="zh-CN" sz="2400" dirty="0">
                    <a:latin typeface="文泉驿微米黑" panose="020B0606030804020204" charset="-122"/>
                    <a:ea typeface="文泉驿微米黑" panose="020B0606030804020204" charset="-122"/>
                    <a:cs typeface="Times New Roman" panose="02020603050405020304" pitchFamily="18" charset="0"/>
                  </a:rPr>
                  <a:t>λ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x-none" altLang="en-US" sz="2400" dirty="0">
                    <a:latin typeface="DejaVu Math TeX Gyre" panose="02000503000000000000" charset="0"/>
                    <a:ea typeface="华文中宋" panose="02010600040101010101" pitchFamily="2" charset="-122"/>
                    <a:cs typeface="DejaVu Math TeX Gyre" panose="02000503000000000000" charset="0"/>
                    <a:sym typeface="+mn-ea"/>
                  </a:rPr>
                  <a:t>d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x-none" sz="2400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sin</m:t>
                        </m:r>
                      </m:fName>
                      <m:e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altLang="x-none" sz="2400" dirty="0">
                    <a:latin typeface="文泉驿微米黑" panose="020B0606030804020204" charset="-122"/>
                    <a:ea typeface="文泉驿微米黑" panose="020B0606030804020204" charset="-122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x-none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x-none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（</m:t>
                            </m:r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𝑥</m:t>
                            </m:r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x-none" sz="2400" i="1" dirty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x-none" sz="2400" i="1" dirty="0">
                                    <a:latin typeface="DejaVu Math TeX Gyre" panose="02000503000000000000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x-none" sz="2400" i="1" dirty="0">
                                    <a:latin typeface="DejaVu Math TeX Gyre" panose="02000503000000000000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x-none" sz="2400" i="1" dirty="0">
                        <a:latin typeface="DejaVu Math TeX Gyre" panose="02000503000000000000" charset="0"/>
                        <a:ea typeface="华文中宋" panose="02010600040101010101" pitchFamily="2" charset="-122"/>
                        <a:cs typeface="DejaVu Math TeX Gyre" panose="02000503000000000000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x-none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x-none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x-none" sz="2400" i="1" dirty="0">
                            <a:latin typeface="DejaVu Math TeX Gyre" panose="02000503000000000000" charset="0"/>
                            <a:ea typeface="华文中宋" panose="02010600040101010101" pitchFamily="2" charset="-122"/>
                            <a:cs typeface="DejaVu Math TeX Gyre" panose="02000503000000000000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x-none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（</m:t>
                            </m:r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𝑥</m:t>
                            </m:r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x-none" sz="2400" i="1" dirty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x-none" sz="2400" i="1" dirty="0">
                                    <a:latin typeface="DejaVu Math TeX Gyre" panose="02000503000000000000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x-none" sz="2400" i="1" dirty="0">
                                    <a:latin typeface="DejaVu Math TeX Gyre" panose="02000503000000000000" charset="0"/>
                                    <a:ea typeface="华文中宋" panose="02010600040101010101" pitchFamily="2" charset="-122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x-none" sz="2400" i="1" dirty="0">
                                <a:latin typeface="DejaVu Math TeX Gyre" panose="02000503000000000000" charset="0"/>
                                <a:ea typeface="华文中宋" panose="02010600040101010101" pitchFamily="2" charset="-122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x-none" sz="2400" i="1" dirty="0">
                        <a:latin typeface="Cambria Math" panose="02040503050406030204" charset="0"/>
                        <a:ea typeface="文泉驿微米黑" panose="020B0606030804020204" charset="-122"/>
                        <a:cs typeface="Cambria Math" panose="02040503050406030204" charset="0"/>
                      </a:rPr>
                      <m:t>=</m:t>
                    </m:r>
                  </m:oMath>
                </a14:m>
                <a:r>
                  <a:rPr lang="en-US" altLang="x-none" sz="2400" dirty="0">
                    <a:latin typeface="Cambria Math" panose="02040503050406030204" charset="0"/>
                    <a:ea typeface="文泉驿微米黑" panose="020B0606030804020204" charset="-122"/>
                    <a:cs typeface="Cambria Math" panose="02040503050406030204" charset="0"/>
                  </a:rPr>
                  <a:t>k</a:t>
                </a:r>
                <a:r>
                  <a:rPr lang="x-none" altLang="zh-CN" sz="2400" dirty="0">
                    <a:latin typeface="文泉驿微米黑" panose="020B0606030804020204" charset="-122"/>
                    <a:ea typeface="文泉驿微米黑" panose="020B0606030804020204" charset="-122"/>
                    <a:cs typeface="Times New Roman" panose="02020603050405020304" pitchFamily="18" charset="0"/>
                    <a:sym typeface="+mn-ea"/>
                  </a:rPr>
                  <a:t>λ</a:t>
                </a:r>
                <a:endParaRPr lang="en-US" altLang="x-none" sz="2400" dirty="0">
                  <a:latin typeface="Cambria Math" panose="02040503050406030204" charset="0"/>
                  <a:ea typeface="文泉驿微米黑" panose="020B0606030804020204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56" y="497495"/>
                <a:ext cx="10280534" cy="3176270"/>
              </a:xfrm>
              <a:prstGeom prst="rect">
                <a:avLst/>
              </a:prstGeom>
              <a:blipFill rotWithShape="1">
                <a:blip r:embed="rId2"/>
                <a:stretch>
                  <a:fillRect l="-2" t="-9" r="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0988" y="3561767"/>
            <a:ext cx="5467350" cy="2628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2467" y="566554"/>
            <a:ext cx="9973994" cy="3152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两块平板玻璃构成一个空气劈尖，如果用单色平行光垂直照射，在反射光中观察干涉条纹，条纹间距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0.35cm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，若在空气劈尖中充入某种液体，条纹间距变为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0. 30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(1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液体的折射率。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(2) 距棱边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3.15cm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处，在充入液体前后条纹明暗变化。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(3) 如果劈尖夹角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rad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，那么用白光(波长范围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Å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)垂直照射时，彩色条纹在第几级开始重叠?</a:t>
            </a:r>
          </a:p>
        </p:txBody>
      </p:sp>
      <p:sp>
        <p:nvSpPr>
          <p:cNvPr id="3" name="矩形 2"/>
          <p:cNvSpPr/>
          <p:nvPr/>
        </p:nvSpPr>
        <p:spPr>
          <a:xfrm>
            <a:off x="1357630" y="5220335"/>
            <a:ext cx="2297430" cy="357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20220000">
            <a:off x="1209040" y="4428490"/>
            <a:ext cx="2297430" cy="357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481070" y="4331335"/>
            <a:ext cx="0" cy="87503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01720" y="463486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1382395" y="5795010"/>
            <a:ext cx="210248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266950" y="5871845"/>
            <a:ext cx="332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</a:t>
            </a:r>
          </a:p>
        </p:txBody>
      </p:sp>
      <p:sp>
        <p:nvSpPr>
          <p:cNvPr id="9" name="弧形 8"/>
          <p:cNvSpPr/>
          <p:nvPr/>
        </p:nvSpPr>
        <p:spPr>
          <a:xfrm>
            <a:off x="1684655" y="4880610"/>
            <a:ext cx="400050" cy="753110"/>
          </a:xfrm>
          <a:prstGeom prst="arc">
            <a:avLst>
              <a:gd name="adj1" fmla="val 17136188"/>
              <a:gd name="adj2" fmla="val 2113513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84705" y="4852035"/>
            <a:ext cx="402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2467" y="566554"/>
            <a:ext cx="9973994" cy="186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两块平板玻璃构成一个空气劈尖，如果用单色平行光垂直照射，在反射光中观察干涉条纹，条纹间距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0.35cm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，若在空气劈尖中充入某种液体，条纹间距变为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0. 30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(1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液体的折射率。</a:t>
            </a:r>
          </a:p>
        </p:txBody>
      </p:sp>
      <p:sp>
        <p:nvSpPr>
          <p:cNvPr id="3" name="矩形 2"/>
          <p:cNvSpPr/>
          <p:nvPr/>
        </p:nvSpPr>
        <p:spPr>
          <a:xfrm>
            <a:off x="1357630" y="4130675"/>
            <a:ext cx="2297430" cy="357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20220000">
            <a:off x="1209040" y="3338830"/>
            <a:ext cx="2297430" cy="357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481070" y="3241675"/>
            <a:ext cx="0" cy="87503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01720" y="354520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1382395" y="4705350"/>
            <a:ext cx="210248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266950" y="4782185"/>
            <a:ext cx="332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</a:t>
            </a:r>
          </a:p>
        </p:txBody>
      </p:sp>
      <p:sp>
        <p:nvSpPr>
          <p:cNvPr id="9" name="弧形 8"/>
          <p:cNvSpPr/>
          <p:nvPr/>
        </p:nvSpPr>
        <p:spPr>
          <a:xfrm>
            <a:off x="1684655" y="3790950"/>
            <a:ext cx="400050" cy="753110"/>
          </a:xfrm>
          <a:prstGeom prst="arc">
            <a:avLst>
              <a:gd name="adj1" fmla="val 17136188"/>
              <a:gd name="adj2" fmla="val 2113513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84705" y="3762375"/>
            <a:ext cx="402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906645" y="22917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(1) </a:t>
            </a:r>
            <a:r>
              <a:rPr lang="zh-CN" altLang="en-US"/>
              <a:t>设条纹间距为</a:t>
            </a:r>
            <a:r>
              <a:rPr lang="en-US" altLang="zh-CN"/>
              <a:t>a</a:t>
            </a:r>
            <a:r>
              <a:rPr lang="zh-CN" altLang="en-US"/>
              <a:t>，则有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769995" y="2731135"/>
                <a:ext cx="4064000" cy="610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𝐿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altLang="zh-CN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995" y="2731135"/>
                <a:ext cx="4064000" cy="6108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5249545" y="3343910"/>
                <a:ext cx="4064000" cy="489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𝑎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sin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den>
                        </m:f>
                      </m:e>
                    </m:func>
                  </m:oMath>
                </a14:m>
                <a:endParaRPr lang="en-US" altLang="zh-CN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545" y="3343910"/>
                <a:ext cx="4064000" cy="4895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249545" y="3975100"/>
                <a:ext cx="4064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对于空气薄层，有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sin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</m:func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545" y="3975100"/>
                <a:ext cx="4064000" cy="5219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249545" y="4610735"/>
                <a:ext cx="4064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对于液体介质，有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sin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</m:func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545" y="4610735"/>
                <a:ext cx="4064000" cy="5219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5249545" y="5246370"/>
                <a:ext cx="4064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=0.35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𝑐𝑚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=0.30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𝑐𝑚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=1</m:t>
                    </m:r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545" y="5246370"/>
                <a:ext cx="406400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249545" y="5812155"/>
                <a:ext cx="4671060" cy="485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≈1.17</m:t>
                    </m:r>
                  </m:oMath>
                </a14:m>
                <a:r>
                  <a:rPr lang="en-US" altLang="zh-CN"/>
                  <a:t> , </a:t>
                </a:r>
                <a:r>
                  <a:rPr lang="zh-CN" altLang="en-US"/>
                  <a:t>即液体的折射率为</a:t>
                </a:r>
                <a:r>
                  <a:rPr lang="en-US" altLang="zh-CN"/>
                  <a:t>1.17</a:t>
                </a: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545" y="5812155"/>
                <a:ext cx="4671060" cy="4851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2467" y="566554"/>
            <a:ext cx="9973994" cy="230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两块平板玻璃构成一个空气劈尖，如果用单色平行光垂直照射，在反射光中观察干涉条纹，条纹间距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0.35cm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，若在空气劈尖中充入某种液体，条纹间距变为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0. 30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(2) 距棱边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3.15cm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处，在充入液体前后条纹明暗变化。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" name="矩形 2"/>
          <p:cNvSpPr/>
          <p:nvPr/>
        </p:nvSpPr>
        <p:spPr>
          <a:xfrm>
            <a:off x="1357630" y="3970020"/>
            <a:ext cx="2297430" cy="357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20220000">
            <a:off x="1209040" y="3178175"/>
            <a:ext cx="2297430" cy="357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481070" y="3081020"/>
            <a:ext cx="0" cy="87503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01720" y="338455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1382395" y="4544695"/>
            <a:ext cx="210248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266950" y="4621530"/>
            <a:ext cx="332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</a:t>
            </a:r>
          </a:p>
        </p:txBody>
      </p:sp>
      <p:sp>
        <p:nvSpPr>
          <p:cNvPr id="9" name="弧形 8"/>
          <p:cNvSpPr/>
          <p:nvPr/>
        </p:nvSpPr>
        <p:spPr>
          <a:xfrm>
            <a:off x="1684655" y="3630295"/>
            <a:ext cx="400050" cy="753110"/>
          </a:xfrm>
          <a:prstGeom prst="arc">
            <a:avLst>
              <a:gd name="adj1" fmla="val 17136188"/>
              <a:gd name="adj2" fmla="val 2113513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84705" y="3601720"/>
            <a:ext cx="402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984750" y="2743835"/>
                <a:ext cx="4064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(2) </a:t>
                </a:r>
                <a:r>
                  <a:rPr lang="zh-CN" altLang="en-US"/>
                  <a:t>如图，由题可知</a:t>
                </a:r>
                <a:r>
                  <a:rPr lang="en-US" altLang="zh-CN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=3.15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𝑐𝑚</m:t>
                    </m:r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750" y="2743835"/>
                <a:ext cx="406400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/>
          <p:cNvCxnSpPr/>
          <p:nvPr/>
        </p:nvCxnSpPr>
        <p:spPr>
          <a:xfrm flipV="1">
            <a:off x="1156970" y="2929255"/>
            <a:ext cx="1442085" cy="615315"/>
          </a:xfrm>
          <a:prstGeom prst="straightConnector1">
            <a:avLst/>
          </a:prstGeom>
          <a:ln>
            <a:solidFill>
              <a:srgbClr val="00B05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 rot="20280000">
            <a:off x="1134110" y="2268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l=3.15cm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313680" y="3233420"/>
                <a:ext cx="4064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先确定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内含了几个条纹间距：</a:t>
                </a: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680" y="3233420"/>
                <a:ext cx="406400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5313680" y="3752850"/>
            <a:ext cx="1902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对于空气薄层时：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5864225" y="3601720"/>
                <a:ext cx="4064000" cy="657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=9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225" y="3601720"/>
                <a:ext cx="4064000" cy="6578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5313680" y="4410710"/>
            <a:ext cx="1902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对于液体介质时：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6012815" y="4259580"/>
                <a:ext cx="4064000" cy="657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=10.5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815" y="4259580"/>
                <a:ext cx="4064000" cy="65786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8575675" y="3746500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→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675" y="3746500"/>
                <a:ext cx="76200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9337675" y="3746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整数倍，暗纹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337675" y="4410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非整数倍，明纹（第十级）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8615680" y="4390390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→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680" y="4390390"/>
                <a:ext cx="76200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5313680" y="4888865"/>
            <a:ext cx="4163695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>
                <a:sym typeface="+mn-ea"/>
              </a:rPr>
              <a:t>因此，距棱边 3.15cm 处</a:t>
            </a:r>
            <a:r>
              <a:rPr lang="zh-CN" altLang="en-US"/>
              <a:t>充入液体前后，条纹明暗变化：</a:t>
            </a:r>
            <a:r>
              <a:rPr lang="zh-CN" altLang="en-US">
                <a:solidFill>
                  <a:srgbClr val="FF0000"/>
                </a:solidFill>
              </a:rPr>
              <a:t>由暗变明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2467" y="566554"/>
            <a:ext cx="9973994" cy="230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两块平板玻璃构成一个空气劈尖，如果用单色平行光垂直照射，在反射光中观察干涉条纹，条纹间距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0.35cm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，若在空气劈尖中充入某种液体，条纹间距变为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0. 30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(3) 如果劈尖夹角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rad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，那么用白光(波长范围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Å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)垂直照射时，彩色条纹在第几级开始重叠?</a:t>
            </a:r>
          </a:p>
        </p:txBody>
      </p:sp>
      <p:sp>
        <p:nvSpPr>
          <p:cNvPr id="3" name="矩形 2"/>
          <p:cNvSpPr/>
          <p:nvPr/>
        </p:nvSpPr>
        <p:spPr>
          <a:xfrm>
            <a:off x="1357630" y="4361180"/>
            <a:ext cx="2297430" cy="357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20220000">
            <a:off x="1209040" y="3569335"/>
            <a:ext cx="2297430" cy="357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481070" y="3472180"/>
            <a:ext cx="0" cy="87503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01720" y="3775710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1382395" y="4935855"/>
            <a:ext cx="210248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266950" y="4985385"/>
            <a:ext cx="332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</a:t>
            </a:r>
          </a:p>
        </p:txBody>
      </p:sp>
      <p:sp>
        <p:nvSpPr>
          <p:cNvPr id="9" name="弧形 8"/>
          <p:cNvSpPr/>
          <p:nvPr/>
        </p:nvSpPr>
        <p:spPr>
          <a:xfrm>
            <a:off x="1684655" y="4021455"/>
            <a:ext cx="400050" cy="753110"/>
          </a:xfrm>
          <a:prstGeom prst="arc">
            <a:avLst>
              <a:gd name="adj1" fmla="val 17136188"/>
              <a:gd name="adj2" fmla="val 2113513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84705" y="3992880"/>
            <a:ext cx="402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083175" y="3060700"/>
                <a:ext cx="5124450" cy="393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(3) </a:t>
                </a:r>
                <a:r>
                  <a:rPr lang="zh-CN" altLang="en-US"/>
                  <a:t>由题可知，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=4000</m:t>
                    </m:r>
                    <m:r>
                      <a:rPr lang="en-US" altLang="zh-CN" b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Å      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=7000</m:t>
                    </m:r>
                    <m:r>
                      <a:rPr lang="en-US" altLang="zh-CN" b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Å  </m:t>
                    </m:r>
                  </m:oMath>
                </a14:m>
                <a:endParaRPr lang="en-US" altLang="zh-CN" b="1" dirty="0">
                  <a:solidFill>
                    <a:schemeClr val="tx1"/>
                  </a:solidFill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175" y="3060700"/>
                <a:ext cx="5124450" cy="3937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5401310" y="3590925"/>
            <a:ext cx="491172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/>
              <a:t>若彩色条纹开始重叠，则说明</a:t>
            </a:r>
            <a:r>
              <a:rPr lang="zh-CN" altLang="en-US">
                <a:solidFill>
                  <a:schemeClr val="accent1"/>
                </a:solidFill>
              </a:rPr>
              <a:t>第</a:t>
            </a:r>
            <a:r>
              <a:rPr lang="en-US" altLang="zh-CN">
                <a:solidFill>
                  <a:schemeClr val="accent1"/>
                </a:solidFill>
              </a:rPr>
              <a:t>k</a:t>
            </a:r>
            <a:r>
              <a:rPr lang="zh-CN" altLang="en-US">
                <a:solidFill>
                  <a:schemeClr val="accent1"/>
                </a:solidFill>
              </a:rPr>
              <a:t>级的最长波长的眀纹与第</a:t>
            </a:r>
            <a:r>
              <a:rPr lang="en-US" altLang="zh-CN">
                <a:solidFill>
                  <a:schemeClr val="accent1"/>
                </a:solidFill>
              </a:rPr>
              <a:t>k+1</a:t>
            </a:r>
            <a:r>
              <a:rPr lang="zh-CN" altLang="en-US">
                <a:solidFill>
                  <a:schemeClr val="accent1"/>
                </a:solidFill>
              </a:rPr>
              <a:t>级的最短波长的明纹刚好重叠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0312971" y="3811841"/>
                <a:ext cx="133921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临界条件</a:t>
                </a: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971" y="3811841"/>
                <a:ext cx="1339215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43" t="-155" r="43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471731" y="4401121"/>
                <a:ext cx="1818640" cy="6108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731" y="4401121"/>
                <a:ext cx="1818640" cy="610870"/>
              </a:xfrm>
              <a:prstGeom prst="rect">
                <a:avLst/>
              </a:prstGeom>
              <a:blipFill rotWithShape="1">
                <a:blip r:embed="rId4"/>
                <a:stretch>
                  <a:fillRect l="-31" t="-93" r="-492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7793926" y="4401121"/>
                <a:ext cx="2675890" cy="6108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=（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+1）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926" y="4401121"/>
                <a:ext cx="2675890" cy="610870"/>
              </a:xfrm>
              <a:prstGeom prst="rect">
                <a:avLst/>
              </a:prstGeom>
              <a:blipFill rotWithShape="1">
                <a:blip r:embed="rId5"/>
                <a:stretch>
                  <a:fillRect l="-21" t="-93" r="-335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5471731" y="5119306"/>
                <a:ext cx="143446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由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731" y="5119306"/>
                <a:ext cx="1434465" cy="368300"/>
              </a:xfrm>
              <a:prstGeom prst="rect">
                <a:avLst/>
              </a:prstGeom>
              <a:blipFill rotWithShape="1">
                <a:blip r:embed="rId6"/>
                <a:stretch>
                  <a:fillRect l="-40" t="-155" r="-624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7793990" y="5060950"/>
                <a:ext cx="4064000" cy="485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得</a:t>
                </a:r>
                <a:r>
                  <a:rPr lang="en-US" altLang="zh-CN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</m:oMath>
                </a14:m>
                <a:endParaRPr lang="en-US" altLang="zh-CN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990" y="5060950"/>
                <a:ext cx="4064000" cy="4857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5471795" y="5728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故</a:t>
            </a:r>
            <a:r>
              <a:rPr lang="zh-CN" altLang="en-US">
                <a:solidFill>
                  <a:srgbClr val="FF0000"/>
                </a:solidFill>
              </a:rPr>
              <a:t>彩色条纹在第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级开始重叠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" y="401955"/>
            <a:ext cx="11572875" cy="5881370"/>
          </a:xfrm>
          <a:prstGeom prst="rect">
            <a:avLst/>
          </a:prstGeom>
        </p:spPr>
      </p:pic>
      <p:sp>
        <p:nvSpPr>
          <p:cNvPr id="6" name="Text Box 40">
            <a:extLst>
              <a:ext uri="{FF2B5EF4-FFF2-40B4-BE49-F238E27FC236}">
                <a16:creationId xmlns:a16="http://schemas.microsoft.com/office/drawing/2014/main" id="{65B7373C-ED1E-472A-8BB1-CDD13F1B8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" y="452735"/>
            <a:ext cx="4154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/>
              <a:t>4.</a:t>
            </a:r>
            <a:endParaRPr kumimoji="0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2401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260600" y="333375"/>
            <a:ext cx="810260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0">
                <a:solidFill>
                  <a:schemeClr val="tx1"/>
                </a:solidFill>
                <a:latin typeface="宋体" panose="02010600030101010101" pitchFamily="2" charset="-122"/>
              </a:rPr>
              <a:t>一平面单色光波垂直照射在厚度均匀的薄油膜上，油膜覆盖在玻璃板上，所用光源波长可连续变化，观察到</a:t>
            </a:r>
            <a:r>
              <a:rPr lang="en-US" altLang="zh-CN" b="0">
                <a:solidFill>
                  <a:schemeClr val="tx1"/>
                </a:solidFill>
              </a:rPr>
              <a:t>500</a:t>
            </a:r>
            <a:r>
              <a:rPr lang="en-US" altLang="zh-CN" b="0">
                <a:solidFill>
                  <a:schemeClr val="tx1"/>
                </a:solidFill>
                <a:latin typeface="宋体" panose="02010600030101010101" pitchFamily="2" charset="-122"/>
              </a:rPr>
              <a:t>nm</a:t>
            </a:r>
            <a:r>
              <a:rPr lang="zh-CN" altLang="en-US" b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0">
                <a:solidFill>
                  <a:schemeClr val="tx1"/>
                </a:solidFill>
              </a:rPr>
              <a:t>700</a:t>
            </a:r>
            <a:r>
              <a:rPr lang="en-US" altLang="zh-CN" b="0">
                <a:solidFill>
                  <a:schemeClr val="tx1"/>
                </a:solidFill>
                <a:latin typeface="宋体" panose="02010600030101010101" pitchFamily="2" charset="-122"/>
              </a:rPr>
              <a:t>nm</a:t>
            </a:r>
            <a:r>
              <a:rPr lang="zh-CN" altLang="en-US" b="0">
                <a:solidFill>
                  <a:schemeClr val="tx1"/>
                </a:solidFill>
                <a:latin typeface="宋体" panose="02010600030101010101" pitchFamily="2" charset="-122"/>
              </a:rPr>
              <a:t>这两个波长的光在反射中连续消失。油的折射率</a:t>
            </a:r>
            <a:r>
              <a:rPr lang="en-US" altLang="zh-CN" b="0">
                <a:solidFill>
                  <a:schemeClr val="tx1"/>
                </a:solidFill>
              </a:rPr>
              <a:t>1.30</a:t>
            </a:r>
            <a:r>
              <a:rPr lang="zh-CN" altLang="en-US" b="0">
                <a:solidFill>
                  <a:schemeClr val="tx1"/>
                </a:solidFill>
                <a:latin typeface="宋体" panose="02010600030101010101" pitchFamily="2" charset="-122"/>
              </a:rPr>
              <a:t>，玻璃的折射率为</a:t>
            </a:r>
            <a:r>
              <a:rPr lang="en-US" altLang="zh-CN" b="0">
                <a:solidFill>
                  <a:schemeClr val="tx1"/>
                </a:solidFill>
              </a:rPr>
              <a:t>1.50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809750" y="2908300"/>
            <a:ext cx="838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解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247900" y="2890838"/>
            <a:ext cx="6705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根据题意，反射光均有半波损失，暗纹的条件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5365" name="Object 2"/>
          <p:cNvGraphicFramePr/>
          <p:nvPr/>
        </p:nvGraphicFramePr>
        <p:xfrm>
          <a:off x="4273550" y="3304540"/>
          <a:ext cx="168465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公式" r:id="rId3" imgW="1066800" imgH="393700" progId="Equation.3">
                  <p:embed/>
                </p:oleObj>
              </mc:Choice>
              <mc:Fallback>
                <p:oleObj name="公式" r:id="rId3" imgW="1066800" imgH="393700" progId="Equation.3">
                  <p:embed/>
                  <p:pic>
                    <p:nvPicPr>
                      <p:cNvPr id="1536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3304540"/>
                        <a:ext cx="168465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3"/>
          <p:cNvGraphicFramePr/>
          <p:nvPr/>
        </p:nvGraphicFramePr>
        <p:xfrm>
          <a:off x="4273550" y="4046220"/>
          <a:ext cx="193548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公式" r:id="rId5" imgW="1358900" imgH="393700" progId="Equation.3">
                  <p:embed/>
                </p:oleObj>
              </mc:Choice>
              <mc:Fallback>
                <p:oleObj name="公式" r:id="rId5" imgW="1358900" imgH="393700" progId="Equation.3">
                  <p:embed/>
                  <p:pic>
                    <p:nvPicPr>
                      <p:cNvPr id="1536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4046220"/>
                        <a:ext cx="193548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4"/>
          <p:cNvGraphicFramePr/>
          <p:nvPr/>
        </p:nvGraphicFramePr>
        <p:xfrm>
          <a:off x="4273550" y="4914900"/>
          <a:ext cx="3379470" cy="1223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公式" r:id="rId7" imgW="3444240" imgH="1294765" progId="Equation.3">
                  <p:embed/>
                </p:oleObj>
              </mc:Choice>
              <mc:Fallback>
                <p:oleObj name="公式" r:id="rId7" imgW="3444240" imgH="1294765" progId="Equation.3">
                  <p:embed/>
                  <p:pic>
                    <p:nvPicPr>
                      <p:cNvPr id="15367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4914900"/>
                        <a:ext cx="3379470" cy="1223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1774825" y="357188"/>
            <a:ext cx="576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1782763" y="2295525"/>
            <a:ext cx="417512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求  油膜的厚度</a:t>
            </a:r>
            <a:r>
              <a:rPr lang="en-US" altLang="zh-CN">
                <a:solidFill>
                  <a:schemeClr val="tx1"/>
                </a:solidFill>
              </a:rPr>
              <a:t>?</a:t>
            </a:r>
            <a:r>
              <a:rPr lang="zh-CN" altLang="en-US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20492" name="灯片编号占位符 1"/>
          <p:cNvSpPr txBox="1"/>
          <p:nvPr/>
        </p:nvSpPr>
        <p:spPr bwMode="auto">
          <a:xfrm>
            <a:off x="152400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b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0641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3" grpId="0" autoUpdateAnimBg="0"/>
      <p:bldP spid="15364" grpId="0" autoUpdateAnimBg="0"/>
      <p:bldP spid="15370" grpId="0"/>
      <p:bldP spid="1537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65825" y="604147"/>
            <a:ext cx="10260350" cy="3192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一实验装置如图所示，一块平面玻璃片上放一油滴，当油滴展开成油膜时，在单色光(波长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5760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-10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)垂直入射情况下，从反射光中观察油膜所形成的干涉条纹(油的折射率为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1.60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，玻璃的折射率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1.50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(1) 当油膜最高点与玻璃片的上表面相距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8640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时，可看到几条明纹?明条纹所在处油膜的厚度各是多少?油膜最高处明暗程度如何?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(2) 在油膜扩展过程中，所看到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的干涉条纹如何变化?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3703" y="3341975"/>
            <a:ext cx="4391025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560705"/>
            <a:ext cx="10800080" cy="864870"/>
          </a:xfrm>
        </p:spPr>
        <p:txBody>
          <a:bodyPr/>
          <a:lstStyle/>
          <a:p>
            <a:r>
              <a:rPr lang="zh-CN" altLang="en-US" sz="4000"/>
              <a:t>题目分析：</a:t>
            </a: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3048000"/>
            <a:ext cx="12192000" cy="38100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701040" y="1828800"/>
            <a:ext cx="10800715" cy="382397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chemeClr val="dk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kumimoji="1" lang="zh-CN" altLang="en-US" sz="1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914400" y="2133617"/>
            <a:ext cx="10363276" cy="33528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6195" lvl="2" indent="0" algn="l" fontAlgn="ctr">
              <a:lnSpc>
                <a:spcPct val="130000"/>
              </a:lnSpc>
              <a:buClr>
                <a:schemeClr val="accent1"/>
              </a:buClr>
              <a:buSzPct val="90000"/>
              <a:buFont typeface="WPS-Bullets" pitchFamily="2" charset="0"/>
              <a:buNone/>
            </a:pP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）这道题目主要考察的是光的薄膜干涉。当单色光垂直入射到油膜上时，会在油膜的前后两个表面分别反射出两束光线。这两束光线为相干光，在相遇时会产生干涉现象，形成明暗相间的干涉条纹。</a:t>
            </a:r>
          </a:p>
          <a:p>
            <a:pPr marL="36195" lvl="2" indent="0" algn="l" fontAlgn="ctr">
              <a:lnSpc>
                <a:spcPct val="130000"/>
              </a:lnSpc>
              <a:buClr>
                <a:schemeClr val="accent1"/>
              </a:buClr>
              <a:buSzPct val="90000"/>
              <a:buFont typeface="WPS-Bullets" pitchFamily="2" charset="0"/>
              <a:buNone/>
            </a:pP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在不同高度处，两束光的光程差也不同，所以会形成明暗交替的条纹亮度的变化，根据最高处</a:t>
            </a: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的大小，可以求出油膜上明暗条纹的分布情况。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866eda5a8c4738299c6081bacb2e54a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325" y="2360930"/>
            <a:ext cx="3043555" cy="41421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9395" y="229235"/>
            <a:ext cx="30753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题目类比：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5605" y="889635"/>
            <a:ext cx="9455785" cy="3528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    </a:t>
            </a:r>
            <a:r>
              <a:rPr lang="zh-CN" altLang="en-US" sz="2000"/>
              <a:t>此题目类似于牛顿环，油膜下方的玻璃板折射率</a:t>
            </a:r>
            <a:r>
              <a:rPr lang="en-US" altLang="zh-CN" sz="2000"/>
              <a:t> n2=1.5 &lt; </a:t>
            </a:r>
            <a:r>
              <a:rPr lang="zh-CN" altLang="en-US" sz="2000"/>
              <a:t>油膜折射率</a:t>
            </a:r>
            <a:r>
              <a:rPr lang="en-US" altLang="zh-CN" sz="2000"/>
              <a:t> n1 =1.6</a:t>
            </a:r>
          </a:p>
          <a:p>
            <a:r>
              <a:rPr lang="zh-CN" altLang="en-US" sz="2000"/>
              <a:t>而玻璃板在此处起反射作用，故可将其看作牛顿环下方折射率同样小于凸透镜的空气。</a:t>
            </a:r>
          </a:p>
          <a:p>
            <a:r>
              <a:rPr lang="en-US" altLang="zh-CN" sz="2000"/>
              <a:t>    </a:t>
            </a:r>
            <a:r>
              <a:rPr lang="zh-CN" altLang="en-US" sz="2000"/>
              <a:t>但不同的是，牛顿环光程差发生在空气中，本题的光程差发生在油滴中，这</a:t>
            </a:r>
          </a:p>
          <a:p>
            <a:r>
              <a:rPr lang="zh-CN" altLang="en-US" sz="2000"/>
              <a:t>意味着</a:t>
            </a:r>
            <a:r>
              <a:rPr lang="zh-CN" altLang="en-US" sz="2000" b="1"/>
              <a:t>光在油滴中的波长会变小</a:t>
            </a:r>
            <a:r>
              <a:rPr lang="zh-CN" altLang="en-US" sz="2000"/>
              <a:t>，不能凭感觉或者偷懒，直接用原波长和</a:t>
            </a:r>
          </a:p>
          <a:p>
            <a:r>
              <a:rPr lang="zh-CN" altLang="en-US" sz="2000"/>
              <a:t>油滴高度</a:t>
            </a:r>
            <a:r>
              <a:rPr lang="en-US" altLang="zh-CN" sz="2000"/>
              <a:t> h</a:t>
            </a:r>
            <a:r>
              <a:rPr lang="zh-CN" altLang="en-US" sz="2000"/>
              <a:t>进行运算。</a:t>
            </a:r>
          </a:p>
          <a:p>
            <a:r>
              <a:rPr lang="zh-CN" altLang="en-US" sz="2000"/>
              <a:t> </a:t>
            </a:r>
            <a:r>
              <a:rPr lang="en-US" altLang="zh-CN" sz="2000"/>
              <a:t>   </a:t>
            </a:r>
            <a:r>
              <a:rPr lang="zh-CN" altLang="en-US" sz="2000"/>
              <a:t>此外还应考虑由空气（光疏）反射至油滴（光密）的</a:t>
            </a:r>
            <a:r>
              <a:rPr lang="zh-CN" altLang="en-US" sz="2000" b="1"/>
              <a:t>半波损失。</a:t>
            </a:r>
            <a:endParaRPr lang="en-US" altLang="zh-CN" sz="2000" b="1"/>
          </a:p>
          <a:p>
            <a:endParaRPr lang="zh-CN" altLang="en-US" sz="2000" b="1"/>
          </a:p>
        </p:txBody>
      </p:sp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45" y="3429000"/>
            <a:ext cx="4391025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2590" y="259715"/>
            <a:ext cx="5707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设第</a:t>
            </a:r>
            <a:r>
              <a:rPr lang="en-US" altLang="zh-CN" sz="2000"/>
              <a:t>k</a:t>
            </a:r>
            <a:r>
              <a:rPr lang="zh-CN" altLang="en-US" sz="2000"/>
              <a:t>级明纹所对应的油膜厚度为</a:t>
            </a:r>
            <a:r>
              <a:rPr lang="en-US" altLang="zh-CN" sz="2000"/>
              <a:t>dk</a:t>
            </a:r>
            <a:r>
              <a:rPr lang="zh-CN" altLang="en-US" sz="2000"/>
              <a:t>，有：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630285" y="1663065"/>
            <a:ext cx="3457575" cy="1765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因为</a:t>
            </a:r>
            <a:r>
              <a:rPr lang="en-US" altLang="zh-CN" sz="2400"/>
              <a:t> d5&lt;h&lt;d6 </a:t>
            </a:r>
            <a:r>
              <a:rPr lang="zh-CN" altLang="en-US" sz="2400"/>
              <a:t>，</a:t>
            </a:r>
          </a:p>
          <a:p>
            <a:r>
              <a:rPr lang="zh-CN" altLang="en-US" sz="2400"/>
              <a:t>所以只能看到前五条明条纹，油膜最高处介于明暗之间</a:t>
            </a:r>
          </a:p>
        </p:txBody>
      </p:sp>
      <p:pic>
        <p:nvPicPr>
          <p:cNvPr id="8" name="图片 7" descr="c92b7ec307bc36a1cd7132a96d4cd57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" y="721360"/>
            <a:ext cx="7498715" cy="5647055"/>
          </a:xfrm>
          <a:prstGeom prst="rect">
            <a:avLst/>
          </a:prstGeom>
        </p:spPr>
      </p:pic>
      <p:pic>
        <p:nvPicPr>
          <p:cNvPr id="2" name="图片 1" descr="Screenshot 2024-10-29 1918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542280"/>
            <a:ext cx="2222500" cy="8261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560705"/>
            <a:ext cx="10800080" cy="864870"/>
          </a:xfrm>
        </p:spPr>
        <p:txBody>
          <a:bodyPr/>
          <a:lstStyle/>
          <a:p>
            <a:r>
              <a:rPr lang="zh-CN" altLang="en-US" sz="4000"/>
              <a:t>题目分析：</a:t>
            </a: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3048000"/>
            <a:ext cx="12192000" cy="38100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701040" y="1828800"/>
            <a:ext cx="10800715" cy="446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chemeClr val="dk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kumimoji="1" lang="zh-CN" altLang="en-US" sz="1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790575" y="1828800"/>
            <a:ext cx="10363200" cy="423735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6195" lvl="2" indent="0" algn="l" fontAlgn="ctr">
              <a:lnSpc>
                <a:spcPct val="130000"/>
              </a:lnSpc>
              <a:buClr>
                <a:schemeClr val="accent1"/>
              </a:buClr>
              <a:buSzPct val="90000"/>
              <a:buFont typeface="WPS-Bullets" pitchFamily="2" charset="0"/>
              <a:buNone/>
            </a:pP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）在油膜扩展过程中，油滴的</a:t>
            </a: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球形</a:t>
            </a: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逐渐减弱，在玻璃板上平铺开。容易想象，过程中油膜的最高高度、厚度都在减小，生成条纹的位置因此而后移，间距也变大。 </a:t>
            </a: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</a:p>
          <a:p>
            <a:pPr marL="36195" lvl="2" indent="0" algn="l" fontAlgn="ctr">
              <a:lnSpc>
                <a:spcPct val="130000"/>
              </a:lnSpc>
              <a:buClr>
                <a:schemeClr val="accent1"/>
              </a:buClr>
              <a:buSzPct val="90000"/>
              <a:buFont typeface="WPS-Bullets" pitchFamily="2" charset="0"/>
              <a:buNone/>
            </a:pP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想要到达半波长整数倍的位置，就需要走过更多的横向距离，俯视视角下会看到条纹向中心坍缩的景象。</a:t>
            </a:r>
          </a:p>
          <a:p>
            <a:pPr marL="36195" lvl="2" indent="0" algn="l" fontAlgn="ctr">
              <a:lnSpc>
                <a:spcPct val="130000"/>
              </a:lnSpc>
              <a:buClr>
                <a:schemeClr val="accent1"/>
              </a:buClr>
              <a:buSzPct val="90000"/>
              <a:buFont typeface="WPS-Bullets" pitchFamily="2" charset="0"/>
              <a:buNone/>
            </a:pPr>
            <a:endParaRPr lang="zh-CN" altLang="en-US" sz="2000" spc="150" dirty="0">
              <a:ln w="3175">
                <a:noFill/>
                <a:prstDash val="dash"/>
              </a:ln>
              <a:solidFill>
                <a:srgbClr val="262626"/>
              </a:solidFill>
              <a:uFillTx/>
              <a:latin typeface="+mn-ea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195" lvl="2" indent="0" algn="l" fontAlgn="ctr">
              <a:lnSpc>
                <a:spcPct val="130000"/>
              </a:lnSpc>
              <a:buClr>
                <a:schemeClr val="accent1"/>
              </a:buClr>
              <a:buSzPct val="90000"/>
              <a:buFont typeface="WPS-Bullets" pitchFamily="2" charset="0"/>
              <a:buNone/>
            </a:pP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因此：</a:t>
            </a:r>
          </a:p>
          <a:p>
            <a:pPr marL="36195" lvl="2" indent="0" algn="l" fontAlgn="ctr">
              <a:lnSpc>
                <a:spcPct val="130000"/>
              </a:lnSpc>
              <a:buClr>
                <a:schemeClr val="accent1"/>
              </a:buClr>
              <a:buSzPct val="90000"/>
              <a:buFont typeface="WPS-Bullets" pitchFamily="2" charset="0"/>
              <a:buNone/>
            </a:pPr>
            <a:r>
              <a:rPr lang="en-US" altLang="zh-CN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2000" spc="150" dirty="0">
                <a:ln w="3175">
                  <a:noFill/>
                  <a:prstDash val="dash"/>
                </a:ln>
                <a:solidFill>
                  <a:srgbClr val="262626"/>
                </a:solidFill>
                <a:uFillTx/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油膜扩展过程中，条纹间距变大，干涉条纹向中心坍缩，数量减少</a:t>
            </a:r>
          </a:p>
        </p:txBody>
      </p:sp>
      <p:pic>
        <p:nvPicPr>
          <p:cNvPr id="2" name="图片 1" descr="5cbeac879472d9da15548bc6230fa8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4840" y="3572510"/>
            <a:ext cx="2677160" cy="30156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2001" y="693501"/>
            <a:ext cx="4724400" cy="1248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1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在夫琅禾费单缝衍射实验中，如果缝宽 </a:t>
            </a:r>
            <a:r>
              <a:rPr lang="en-US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与入射光波长 </a:t>
            </a:r>
            <a:r>
              <a:rPr lang="el-GR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的比值分别为 (1)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1</a:t>
            </a:r>
            <a:r>
              <a:rPr lang="zh-CN" altLang="en-US" sz="1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 (2)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1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 (3)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en-US" sz="1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，试分别计算中央明条纹边缘的衍射角，再讨论计算结果说明什么问题。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1AE870-818C-CE03-4018-B39AE7F8CB03}"/>
              </a:ext>
            </a:extLst>
          </p:cNvPr>
          <p:cNvSpPr txBox="1"/>
          <p:nvPr/>
        </p:nvSpPr>
        <p:spPr>
          <a:xfrm>
            <a:off x="760910" y="2203033"/>
            <a:ext cx="40035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缝宽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=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入射光波长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由菲涅耳半波带法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中央明纹的边缘可以由第一级暗纹的位置得到 </a:t>
            </a:r>
            <a:r>
              <a:rPr kumimoji="1" lang="en-US" altLang="zh-CN" dirty="0" err="1">
                <a:latin typeface="SimHei" panose="02010609060101010101" pitchFamily="49" charset="-122"/>
                <a:ea typeface="SimHei" panose="02010609060101010101" pitchFamily="49" charset="-122"/>
              </a:rPr>
              <a:t>asinθ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 = 2k * </a:t>
            </a:r>
            <a:r>
              <a:rPr kumimoji="1" lang="en-US" altLang="zh-CN" dirty="0" err="1">
                <a:latin typeface="SimHei" panose="02010609060101010101" pitchFamily="49" charset="-122"/>
                <a:ea typeface="SimHei" panose="02010609060101010101" pitchFamily="49" charset="-122"/>
              </a:rPr>
              <a:t>λ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/2    (k=1)</a:t>
            </a: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解得 </a:t>
            </a:r>
            <a:r>
              <a:rPr kumimoji="1" lang="en-US" altLang="zh-CN" dirty="0" err="1">
                <a:latin typeface="SimHei" panose="02010609060101010101" pitchFamily="49" charset="-122"/>
                <a:ea typeface="SimHei" panose="02010609060101010101" pitchFamily="49" charset="-122"/>
              </a:rPr>
              <a:t>θ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=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pi/2</a:t>
            </a: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得到衍射角为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90°</a:t>
            </a:r>
          </a:p>
          <a:p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同理 可以得到比值为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10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100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时的衍射角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l-GR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θ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=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5.37°</a:t>
            </a:r>
          </a:p>
          <a:p>
            <a:r>
              <a:rPr kumimoji="1" lang="el-GR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θ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=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0.57°</a:t>
            </a:r>
          </a:p>
          <a:p>
            <a:endParaRPr kumimoji="1"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DE6A3D-1DBF-089F-961F-1FD1CB2D44AD}"/>
              </a:ext>
            </a:extLst>
          </p:cNvPr>
          <p:cNvSpPr txBox="1"/>
          <p:nvPr/>
        </p:nvSpPr>
        <p:spPr>
          <a:xfrm>
            <a:off x="5598701" y="2360096"/>
            <a:ext cx="58323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讨论：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当缝宽与波长接近或者相等的时候，衍射现象最明显第一级暗纹衍射角接近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90°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，形成宽大的衍射图样，此时只能看到中央明纹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indent="-342900">
              <a:buAutoNum type="arabicPeriod" startAt="2"/>
            </a:pP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当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a/</a:t>
            </a:r>
            <a:r>
              <a:rPr kumimoji="1" lang="en-US" altLang="zh-CN" dirty="0" err="1">
                <a:latin typeface="SimHei" panose="02010609060101010101" pitchFamily="49" charset="-122"/>
                <a:ea typeface="SimHei" panose="02010609060101010101" pitchFamily="49" charset="-122"/>
              </a:rPr>
              <a:t>λ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=10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时，第一级暗纹衍射角减小至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5.37 ° 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，衍射现象没有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中显著，中央明纹宽度减小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indent="-342900">
              <a:buAutoNum type="arabicPeriod" startAt="2"/>
            </a:pP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indent="-342900">
              <a:buAutoNum type="arabicPeriod" startAt="2"/>
            </a:pP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当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a/</a:t>
            </a:r>
            <a:r>
              <a:rPr kumimoji="1" lang="en-US" altLang="zh-CN" dirty="0" err="1">
                <a:latin typeface="SimHei" panose="02010609060101010101" pitchFamily="49" charset="-122"/>
                <a:ea typeface="SimHei" panose="02010609060101010101" pitchFamily="49" charset="-122"/>
              </a:rPr>
              <a:t>λ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=100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时，第一级暗纹衍射角到</a:t>
            </a:r>
            <a:r>
              <a:rPr kumimoji="1"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0.57°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，衍射现象非常微弱，明纹暗纹间距很小，当无法分辨时，衍射现象消失，光的波动性几乎消失，退化成几何光学的情况。</a:t>
            </a:r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dirty="0">
                <a:highlight>
                  <a:srgbClr val="FFFF00"/>
                </a:highlight>
                <a:latin typeface="SimHei" panose="02010609060101010101" pitchFamily="49" charset="-122"/>
                <a:ea typeface="SimHei" panose="02010609060101010101" pitchFamily="49" charset="-122"/>
              </a:rPr>
              <a:t>出现显著衍射现象的条件：缝宽小于或等于波长</a:t>
            </a:r>
            <a:endParaRPr kumimoji="1" lang="en-US" altLang="zh-CN" dirty="0">
              <a:highlight>
                <a:srgbClr val="FFFF00"/>
              </a:highlight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90EF8E6-D82A-5DF0-B294-CF2BF24F4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0730"/>
            <a:ext cx="4837793" cy="191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 descr="e7d195523061f1c0deeec63e560781cfd59afb0ea006f2a87ABB68BF51EA6619813959095094C18C62A12F549504892A4AAA8C1554C6663626E05CA27F281A14E6983772AFC3FB97135759321DEA3D701A7FD70DFD1E07E2EDAF9C7B88FD31F98202803C8D5368337DFCA4498CB83257DFB68EE79A5C6B92EB2ACFD16081733741CEDF195FD50A89E767243617B30BFF"/>
          <p:cNvSpPr/>
          <p:nvPr/>
        </p:nvSpPr>
        <p:spPr>
          <a:xfrm>
            <a:off x="1225639" y="-2369126"/>
            <a:ext cx="1164271" cy="1870364"/>
          </a:xfrm>
          <a:prstGeom prst="rect">
            <a:avLst/>
          </a:prstGeom>
          <a:solidFill>
            <a:srgbClr val="C09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e7d195523061f1c0deeec63e560781cfd59afb0ea006f2a87ABB68BF51EA6619813959095094C18C62A12F549504892A4AAA8C1554C6663626E05CA27F281A14E6983772AFC3FB97135759321DEA3D701A7FD70DFD1E07E2EDAF9C7B88FD31F98202803C8D5368337DFCA4498CB83257DFB68EE79A5C6B92EB2ACFD16081733741CEDF195FD50A89E767243617B30BFF"/>
          <p:cNvSpPr/>
          <p:nvPr/>
        </p:nvSpPr>
        <p:spPr>
          <a:xfrm>
            <a:off x="2389910" y="-2340709"/>
            <a:ext cx="1164271" cy="1870364"/>
          </a:xfrm>
          <a:prstGeom prst="rect">
            <a:avLst/>
          </a:prstGeom>
          <a:solidFill>
            <a:srgbClr val="3E6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C2796A-1C68-E95C-9056-D1E706847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71" y="330653"/>
            <a:ext cx="8262257" cy="6196694"/>
          </a:xfrm>
          <a:prstGeom prst="rect">
            <a:avLst/>
          </a:prstGeom>
        </p:spPr>
      </p:pic>
      <p:sp>
        <p:nvSpPr>
          <p:cNvPr id="5" name="Text Box 40">
            <a:extLst>
              <a:ext uri="{FF2B5EF4-FFF2-40B4-BE49-F238E27FC236}">
                <a16:creationId xmlns:a16="http://schemas.microsoft.com/office/drawing/2014/main" id="{AB2B81A7-81A4-4668-9AE5-C795EE201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276" y="487953"/>
            <a:ext cx="4154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/>
              <a:t>7.</a:t>
            </a:r>
            <a:endParaRPr kumimoji="0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B743-2A0B-B0A3-7D13-3FA73EE6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 descr="e7d195523061f1c0deeec63e560781cfd59afb0ea006f2a87ABB68BF51EA6619813959095094C18C62A12F549504892A4AAA8C1554C6663626E05CA27F281A14E6983772AFC3FB97135759321DEA3D701A7FD70DFD1E07E2EDAF9C7B88FD31F98202803C8D5368337DFCA4498CB83257DFB68EE79A5C6B92EB2ACFD16081733741CEDF195FD50A89E767243617B30BFF">
            <a:extLst>
              <a:ext uri="{FF2B5EF4-FFF2-40B4-BE49-F238E27FC236}">
                <a16:creationId xmlns:a16="http://schemas.microsoft.com/office/drawing/2014/main" id="{86429B80-3C86-8CEA-BD2A-7DC02A73B2FA}"/>
              </a:ext>
            </a:extLst>
          </p:cNvPr>
          <p:cNvSpPr/>
          <p:nvPr/>
        </p:nvSpPr>
        <p:spPr>
          <a:xfrm>
            <a:off x="1225639" y="-2369126"/>
            <a:ext cx="1164271" cy="1870364"/>
          </a:xfrm>
          <a:prstGeom prst="rect">
            <a:avLst/>
          </a:prstGeom>
          <a:solidFill>
            <a:srgbClr val="C09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e7d195523061f1c0deeec63e560781cfd59afb0ea006f2a87ABB68BF51EA6619813959095094C18C62A12F549504892A4AAA8C1554C6663626E05CA27F281A14E6983772AFC3FB97135759321DEA3D701A7FD70DFD1E07E2EDAF9C7B88FD31F98202803C8D5368337DFCA4498CB83257DFB68EE79A5C6B92EB2ACFD16081733741CEDF195FD50A89E767243617B30BFF">
            <a:extLst>
              <a:ext uri="{FF2B5EF4-FFF2-40B4-BE49-F238E27FC236}">
                <a16:creationId xmlns:a16="http://schemas.microsoft.com/office/drawing/2014/main" id="{0654A078-A3C3-5560-8BC2-A3B44770743E}"/>
              </a:ext>
            </a:extLst>
          </p:cNvPr>
          <p:cNvSpPr/>
          <p:nvPr/>
        </p:nvSpPr>
        <p:spPr>
          <a:xfrm>
            <a:off x="2389910" y="-2340709"/>
            <a:ext cx="1164271" cy="1870364"/>
          </a:xfrm>
          <a:prstGeom prst="rect">
            <a:avLst/>
          </a:prstGeom>
          <a:solidFill>
            <a:srgbClr val="3E6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0ECF9A-D016-7BA1-BC4F-7C5A21C80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958" y="329219"/>
            <a:ext cx="8266083" cy="619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2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 descr="e7d195523061f1c0deeec63e560781cfd59afb0ea006f2a87ABB68BF51EA6619813959095094C18C62A12F549504892A4AAA8C1554C6663626E05CA27F281A14E6983772AFC3FB97135759321DEA3D701A7FD70DFD1E07E2EDAF9C7B88FD31F98202803C8D5368337DFCA4498CB83257DFB68EE79A5C6B92EB2ACFD16081733741CEDF195FD50A89E767243617B30BFF"/>
          <p:cNvSpPr/>
          <p:nvPr/>
        </p:nvSpPr>
        <p:spPr>
          <a:xfrm>
            <a:off x="1225639" y="-2369126"/>
            <a:ext cx="1164271" cy="1870364"/>
          </a:xfrm>
          <a:prstGeom prst="rect">
            <a:avLst/>
          </a:prstGeom>
          <a:solidFill>
            <a:srgbClr val="C09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e7d195523061f1c0deeec63e560781cfd59afb0ea006f2a87ABB68BF51EA6619813959095094C18C62A12F549504892A4AAA8C1554C6663626E05CA27F281A14E6983772AFC3FB97135759321DEA3D701A7FD70DFD1E07E2EDAF9C7B88FD31F98202803C8D5368337DFCA4498CB83257DFB68EE79A5C6B92EB2ACFD16081733741CEDF195FD50A89E767243617B30BFF"/>
          <p:cNvSpPr/>
          <p:nvPr/>
        </p:nvSpPr>
        <p:spPr>
          <a:xfrm>
            <a:off x="2389910" y="-2340709"/>
            <a:ext cx="1164271" cy="1870364"/>
          </a:xfrm>
          <a:prstGeom prst="rect">
            <a:avLst/>
          </a:prstGeom>
          <a:solidFill>
            <a:srgbClr val="3E6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02BCE7-E8E4-D05F-C4ED-B2165D92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283" y="336961"/>
            <a:ext cx="8270174" cy="62026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8" t="20485" r="13645" b="19820"/>
          <a:stretch>
            <a:fillRect/>
          </a:stretch>
        </p:blipFill>
        <p:spPr>
          <a:xfrm rot="5400000">
            <a:off x="3486348" y="821881"/>
            <a:ext cx="5161826" cy="5161826"/>
          </a:xfrm>
          <a:custGeom>
            <a:avLst/>
            <a:gdLst>
              <a:gd name="connsiteX0" fmla="*/ 0 w 5161826"/>
              <a:gd name="connsiteY0" fmla="*/ 2580913 h 5161826"/>
              <a:gd name="connsiteX1" fmla="*/ 2580913 w 5161826"/>
              <a:gd name="connsiteY1" fmla="*/ 0 h 5161826"/>
              <a:gd name="connsiteX2" fmla="*/ 5161826 w 5161826"/>
              <a:gd name="connsiteY2" fmla="*/ 2580913 h 5161826"/>
              <a:gd name="connsiteX3" fmla="*/ 2580913 w 5161826"/>
              <a:gd name="connsiteY3" fmla="*/ 5161826 h 5161826"/>
              <a:gd name="connsiteX4" fmla="*/ 0 w 5161826"/>
              <a:gd name="connsiteY4" fmla="*/ 2580913 h 516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61826" h="5161826">
                <a:moveTo>
                  <a:pt x="0" y="2580913"/>
                </a:moveTo>
                <a:cubicBezTo>
                  <a:pt x="0" y="1155514"/>
                  <a:pt x="1155514" y="0"/>
                  <a:pt x="2580913" y="0"/>
                </a:cubicBezTo>
                <a:cubicBezTo>
                  <a:pt x="4006312" y="0"/>
                  <a:pt x="5161826" y="1155514"/>
                  <a:pt x="5161826" y="2580913"/>
                </a:cubicBezTo>
                <a:cubicBezTo>
                  <a:pt x="5161826" y="4006312"/>
                  <a:pt x="4006312" y="5161826"/>
                  <a:pt x="2580913" y="5161826"/>
                </a:cubicBezTo>
                <a:cubicBezTo>
                  <a:pt x="1155514" y="5161826"/>
                  <a:pt x="0" y="4006312"/>
                  <a:pt x="0" y="2580913"/>
                </a:cubicBezTo>
                <a:close/>
              </a:path>
            </a:pathLst>
          </a:custGeom>
          <a:ln w="44450">
            <a:gradFill>
              <a:gsLst>
                <a:gs pos="0">
                  <a:srgbClr val="C09361"/>
                </a:gs>
                <a:gs pos="50000">
                  <a:srgbClr val="ECD9C2"/>
                </a:gs>
                <a:gs pos="100000">
                  <a:srgbClr val="C09361"/>
                </a:gs>
              </a:gsLst>
              <a:lin ang="0" scaled="0"/>
            </a:gradFill>
          </a:ln>
        </p:spPr>
      </p:pic>
      <p:sp>
        <p:nvSpPr>
          <p:cNvPr id="2" name="同心圆 1"/>
          <p:cNvSpPr/>
          <p:nvPr/>
        </p:nvSpPr>
        <p:spPr>
          <a:xfrm>
            <a:off x="3193733" y="525779"/>
            <a:ext cx="5744527" cy="5744527"/>
          </a:xfrm>
          <a:prstGeom prst="donut">
            <a:avLst>
              <a:gd name="adj" fmla="val 1755"/>
            </a:avLst>
          </a:prstGeom>
          <a:gradFill>
            <a:gsLst>
              <a:gs pos="15000">
                <a:srgbClr val="C09361"/>
              </a:gs>
              <a:gs pos="50000">
                <a:srgbClr val="ECD9C2"/>
              </a:gs>
              <a:gs pos="100000">
                <a:srgbClr val="C0936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文本框 21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flipH="1">
            <a:off x="4532066" y="2192657"/>
            <a:ext cx="3127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rgbClr val="C09361"/>
                </a:solidFill>
                <a:latin typeface="Arial" panose="020B0604020202020204" pitchFamily="34" charset="0"/>
                <a:ea typeface="方正兰亭超细黑简体" panose="02000000000000000000" pitchFamily="2" charset="-122"/>
                <a:cs typeface="Arial" panose="020B0604020202020204" pitchFamily="34" charset="0"/>
              </a:rPr>
              <a:t>PART   03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742557" y="300335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3E6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题目解答</a:t>
            </a:r>
            <a:endParaRPr lang="en-US" altLang="zh-CN" sz="4800" dirty="0">
              <a:solidFill>
                <a:srgbClr val="3E688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3" t="1878" r="17763" b="1784"/>
          <a:stretch>
            <a:fillRect/>
          </a:stretch>
        </p:blipFill>
        <p:spPr>
          <a:xfrm rot="5400000">
            <a:off x="2667000" y="-2677152"/>
            <a:ext cx="6858000" cy="12192000"/>
          </a:xfrm>
          <a:custGeom>
            <a:avLst/>
            <a:gdLst>
              <a:gd name="connsiteX0" fmla="*/ 0 w 4643640"/>
              <a:gd name="connsiteY0" fmla="*/ 8255360 h 8255360"/>
              <a:gd name="connsiteX1" fmla="*/ 0 w 4643640"/>
              <a:gd name="connsiteY1" fmla="*/ 0 h 8255360"/>
              <a:gd name="connsiteX2" fmla="*/ 4643640 w 4643640"/>
              <a:gd name="connsiteY2" fmla="*/ 0 h 8255360"/>
              <a:gd name="connsiteX3" fmla="*/ 4643640 w 4643640"/>
              <a:gd name="connsiteY3" fmla="*/ 8255360 h 825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3640" h="8255360">
                <a:moveTo>
                  <a:pt x="0" y="8255360"/>
                </a:moveTo>
                <a:lnTo>
                  <a:pt x="0" y="0"/>
                </a:lnTo>
                <a:lnTo>
                  <a:pt x="4643640" y="0"/>
                </a:lnTo>
                <a:lnTo>
                  <a:pt x="4643640" y="8255360"/>
                </a:lnTo>
                <a:close/>
              </a:path>
            </a:pathLst>
          </a:cu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0D6874F-C30C-A141-F43C-3A335AB55AAC}"/>
              </a:ext>
            </a:extLst>
          </p:cNvPr>
          <p:cNvSpPr txBox="1"/>
          <p:nvPr/>
        </p:nvSpPr>
        <p:spPr>
          <a:xfrm>
            <a:off x="734717" y="434648"/>
            <a:ext cx="10662557" cy="59890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612081-7579-E96C-3201-779A9AB6E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21" y="434453"/>
            <a:ext cx="5072742" cy="380455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6307C75-5EAA-222A-23A9-BD3C97297F3F}"/>
              </a:ext>
            </a:extLst>
          </p:cNvPr>
          <p:cNvSpPr txBox="1"/>
          <p:nvPr/>
        </p:nvSpPr>
        <p:spPr>
          <a:xfrm>
            <a:off x="6743859" y="2418247"/>
            <a:ext cx="415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由等倾干涉知识，两条光线的光程差</a:t>
            </a: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8">
                <a:extLst>
                  <a:ext uri="{FF2B5EF4-FFF2-40B4-BE49-F238E27FC236}">
                    <a16:creationId xmlns:a16="http://schemas.microsoft.com/office/drawing/2014/main" id="{BB78293B-443A-EE8F-F397-BACEA0E47FE6}"/>
                  </a:ext>
                </a:extLst>
              </p:cNvPr>
              <p:cNvSpPr txBox="1"/>
              <p:nvPr/>
            </p:nvSpPr>
            <p:spPr bwMode="auto">
              <a:xfrm>
                <a:off x="7681462" y="2915538"/>
                <a:ext cx="1914295" cy="4446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𝒅𝒄𝒐𝒔</m:t>
                      </m:r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</m:oMath>
                  </m:oMathPara>
                </a14:m>
                <a:endParaRPr lang="zh-CN" altLang="en-US" sz="2000" b="1" dirty="0"/>
              </a:p>
              <a:p>
                <a:endParaRPr lang="zh-CN" altLang="en-US" sz="2000" b="1" dirty="0"/>
              </a:p>
            </p:txBody>
          </p:sp>
        </mc:Choice>
        <mc:Fallback xmlns="">
          <p:sp>
            <p:nvSpPr>
              <p:cNvPr id="7" name="Object 18">
                <a:extLst>
                  <a:ext uri="{FF2B5EF4-FFF2-40B4-BE49-F238E27FC236}">
                    <a16:creationId xmlns:a16="http://schemas.microsoft.com/office/drawing/2014/main" id="{BB78293B-443A-EE8F-F397-BACEA0E47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1462" y="2915538"/>
                <a:ext cx="1914295" cy="444605"/>
              </a:xfrm>
              <a:prstGeom prst="rect">
                <a:avLst/>
              </a:prstGeom>
              <a:blipFill>
                <a:blip r:embed="rId5"/>
                <a:stretch>
                  <a:fillRect b="-13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BEB67A3-FF9C-3418-0808-32C1FE1BF6D6}"/>
                  </a:ext>
                </a:extLst>
              </p:cNvPr>
              <p:cNvSpPr txBox="1"/>
              <p:nvPr/>
            </p:nvSpPr>
            <p:spPr>
              <a:xfrm>
                <a:off x="6752671" y="498269"/>
                <a:ext cx="4007858" cy="1712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/>
                  <a:t>解：</a:t>
                </a:r>
                <a:endParaRPr lang="en-US" altLang="zh-CN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𝟑𝟖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𝟓𝟓</m:t>
                    </m:r>
                  </m:oMath>
                </a14:m>
                <a:endParaRPr lang="en-US" altLang="zh-CN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b="1" dirty="0"/>
                  <a:t> 因此两束反射光之间均有半波损失，光程差计算中抵消。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BEB67A3-FF9C-3418-0808-32C1FE1B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671" y="498269"/>
                <a:ext cx="4007858" cy="1712135"/>
              </a:xfrm>
              <a:prstGeom prst="rect">
                <a:avLst/>
              </a:prstGeom>
              <a:blipFill>
                <a:blip r:embed="rId6"/>
                <a:stretch>
                  <a:fillRect l="-1370" r="-2740" b="-4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8">
                <a:extLst>
                  <a:ext uri="{FF2B5EF4-FFF2-40B4-BE49-F238E27FC236}">
                    <a16:creationId xmlns:a16="http://schemas.microsoft.com/office/drawing/2014/main" id="{3F292CEE-67B6-9912-6021-72D43B228126}"/>
                  </a:ext>
                </a:extLst>
              </p:cNvPr>
              <p:cNvSpPr txBox="1"/>
              <p:nvPr/>
            </p:nvSpPr>
            <p:spPr bwMode="auto">
              <a:xfrm>
                <a:off x="7741788" y="4057890"/>
                <a:ext cx="1812771" cy="4446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zh-CN" altLang="en-US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000" b="1" dirty="0"/>
                  <a:t>λ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15" name="Object 18">
                <a:extLst>
                  <a:ext uri="{FF2B5EF4-FFF2-40B4-BE49-F238E27FC236}">
                    <a16:creationId xmlns:a16="http://schemas.microsoft.com/office/drawing/2014/main" id="{3F292CEE-67B6-9912-6021-72D43B228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1788" y="4057890"/>
                <a:ext cx="1812771" cy="444605"/>
              </a:xfrm>
              <a:prstGeom prst="rect">
                <a:avLst/>
              </a:prstGeom>
              <a:blipFill>
                <a:blip r:embed="rId7"/>
                <a:stretch>
                  <a:fillRect b="-3150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850B4CC-1F5A-D19B-66B1-7880E61D9754}"/>
              </a:ext>
            </a:extLst>
          </p:cNvPr>
          <p:cNvSpPr txBox="1"/>
          <p:nvPr/>
        </p:nvSpPr>
        <p:spPr>
          <a:xfrm>
            <a:off x="6752671" y="3371929"/>
            <a:ext cx="415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因为照相机镜头要对此波长的光反射小，则两束反射光需干涉相消，则</a:t>
            </a: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8">
                <a:extLst>
                  <a:ext uri="{FF2B5EF4-FFF2-40B4-BE49-F238E27FC236}">
                    <a16:creationId xmlns:a16="http://schemas.microsoft.com/office/drawing/2014/main" id="{E2BCADB2-5745-1F8A-DEDB-8067BC489900}"/>
                  </a:ext>
                </a:extLst>
              </p:cNvPr>
              <p:cNvSpPr txBox="1"/>
              <p:nvPr/>
            </p:nvSpPr>
            <p:spPr bwMode="auto">
              <a:xfrm>
                <a:off x="7707742" y="4662540"/>
                <a:ext cx="1812771" cy="6463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zh-CN" altLang="en-US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sSub>
                          <m:sSubPr>
                            <m:ctrlP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  <m:r>
                          <m:rPr>
                            <m:nor/>
                          </m:rPr>
                          <a:rPr lang="zh-CN" altLang="en-US" sz="2000" b="1" dirty="0"/>
                          <m:t> </m:t>
                        </m:r>
                      </m:den>
                    </m:f>
                  </m:oMath>
                </a14:m>
                <a:r>
                  <a:rPr lang="en-US" altLang="zh-CN" sz="2000" b="1" dirty="0"/>
                  <a:t>λ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17" name="Object 18">
                <a:extLst>
                  <a:ext uri="{FF2B5EF4-FFF2-40B4-BE49-F238E27FC236}">
                    <a16:creationId xmlns:a16="http://schemas.microsoft.com/office/drawing/2014/main" id="{E2BCADB2-5745-1F8A-DEDB-8067BC489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07742" y="4662540"/>
                <a:ext cx="1812771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5456246E-2092-45FA-2212-B2AA75D37971}"/>
              </a:ext>
            </a:extLst>
          </p:cNvPr>
          <p:cNvSpPr txBox="1"/>
          <p:nvPr/>
        </p:nvSpPr>
        <p:spPr>
          <a:xfrm>
            <a:off x="6752671" y="4724361"/>
            <a:ext cx="90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8">
                <a:extLst>
                  <a:ext uri="{FF2B5EF4-FFF2-40B4-BE49-F238E27FC236}">
                    <a16:creationId xmlns:a16="http://schemas.microsoft.com/office/drawing/2014/main" id="{2FC3D753-7B65-C3B1-39D0-BFF5A040ED15}"/>
                  </a:ext>
                </a:extLst>
              </p:cNvPr>
              <p:cNvSpPr txBox="1"/>
              <p:nvPr/>
            </p:nvSpPr>
            <p:spPr bwMode="auto">
              <a:xfrm>
                <a:off x="8416226" y="5328059"/>
                <a:ext cx="2276666" cy="4446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/>
                  <a:t> </a:t>
                </a:r>
              </a:p>
              <a:p>
                <a:endParaRPr lang="zh-CN" altLang="en-US" sz="2000" b="1" dirty="0"/>
              </a:p>
            </p:txBody>
          </p:sp>
        </mc:Choice>
        <mc:Fallback xmlns="">
          <p:sp>
            <p:nvSpPr>
              <p:cNvPr id="19" name="Object 18">
                <a:extLst>
                  <a:ext uri="{FF2B5EF4-FFF2-40B4-BE49-F238E27FC236}">
                    <a16:creationId xmlns:a16="http://schemas.microsoft.com/office/drawing/2014/main" id="{2FC3D753-7B65-C3B1-39D0-BFF5A040E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16226" y="5328059"/>
                <a:ext cx="2276666" cy="444605"/>
              </a:xfrm>
              <a:prstGeom prst="rect">
                <a:avLst/>
              </a:prstGeom>
              <a:blipFill>
                <a:blip r:embed="rId9"/>
                <a:stretch>
                  <a:fillRect l="-2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EE1005E0-A14B-EE57-333F-951FB71F645A}"/>
              </a:ext>
            </a:extLst>
          </p:cNvPr>
          <p:cNvSpPr txBox="1"/>
          <p:nvPr/>
        </p:nvSpPr>
        <p:spPr>
          <a:xfrm>
            <a:off x="6797711" y="5326615"/>
            <a:ext cx="1820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若使</a:t>
            </a:r>
            <a:r>
              <a:rPr lang="en-US" altLang="zh-CN" b="1" dirty="0"/>
              <a:t>d</a:t>
            </a:r>
            <a:r>
              <a:rPr lang="zh-CN" altLang="en-US" b="1" dirty="0"/>
              <a:t>最小，则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8">
                <a:extLst>
                  <a:ext uri="{FF2B5EF4-FFF2-40B4-BE49-F238E27FC236}">
                    <a16:creationId xmlns:a16="http://schemas.microsoft.com/office/drawing/2014/main" id="{4CECA562-D65C-9A95-FFA7-4A1E2C112C2B}"/>
                  </a:ext>
                </a:extLst>
              </p:cNvPr>
              <p:cNvSpPr txBox="1"/>
              <p:nvPr/>
            </p:nvSpPr>
            <p:spPr bwMode="auto">
              <a:xfrm>
                <a:off x="7112114" y="5672327"/>
                <a:ext cx="3362206" cy="6463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</m:sub>
                      </m:sSub>
                      <m:r>
                        <a:rPr lang="zh-CN" alt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sSub>
                            <m:sSubPr>
                              <m:ctrlP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altLang="zh-CN" sz="2000" b="1" dirty="0"/>
                        <m:t>λ</m:t>
                      </m:r>
                      <m:r>
                        <m:rPr>
                          <m:nor/>
                        </m:rPr>
                        <a:rPr lang="en-US" altLang="zh-CN" sz="2000" b="1" i="0" dirty="0" smtClean="0"/>
                        <m:t>=99.65 </m:t>
                      </m:r>
                      <m:r>
                        <m:rPr>
                          <m:nor/>
                        </m:rPr>
                        <a:rPr lang="en-US" altLang="zh-CN" sz="2000" b="1" i="0" dirty="0" smtClean="0"/>
                        <m:t>nm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5" name="Object 18">
                <a:extLst>
                  <a:ext uri="{FF2B5EF4-FFF2-40B4-BE49-F238E27FC236}">
                    <a16:creationId xmlns:a16="http://schemas.microsoft.com/office/drawing/2014/main" id="{4CECA562-D65C-9A95-FFA7-4A1E2C112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2114" y="5672327"/>
                <a:ext cx="3362206" cy="646331"/>
              </a:xfrm>
              <a:prstGeom prst="rect">
                <a:avLst/>
              </a:prstGeom>
              <a:blipFill>
                <a:blip r:embed="rId10"/>
                <a:stretch>
                  <a:fillRect b="-37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91AD5C9-06A6-32FE-8C18-0B524EEDD78B}"/>
                  </a:ext>
                </a:extLst>
              </p:cNvPr>
              <p:cNvSpPr txBox="1"/>
              <p:nvPr/>
            </p:nvSpPr>
            <p:spPr>
              <a:xfrm>
                <a:off x="3441120" y="5120998"/>
                <a:ext cx="303711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/>
                </a:lvl1pPr>
              </a:lstStyle>
              <a:p>
                <a:r>
                  <a:rPr lang="zh-CN" altLang="en-US" dirty="0"/>
                  <a:t>照相机通常应用情况下物体处于“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位”，光线垂直入射，则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91AD5C9-06A6-32FE-8C18-0B524EEDD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120" y="5120998"/>
                <a:ext cx="3037114" cy="923330"/>
              </a:xfrm>
              <a:prstGeom prst="rect">
                <a:avLst/>
              </a:prstGeom>
              <a:blipFill>
                <a:blip r:embed="rId11"/>
                <a:stretch>
                  <a:fillRect l="-1603" t="-3289" r="-160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41492B4-CE0E-10C3-F488-E69BD396F591}"/>
              </a:ext>
            </a:extLst>
          </p:cNvPr>
          <p:cNvSpPr txBox="1"/>
          <p:nvPr/>
        </p:nvSpPr>
        <p:spPr>
          <a:xfrm>
            <a:off x="3118757" y="3309257"/>
            <a:ext cx="215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不要被题目所给光路图所迷惑！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8054AC3-F849-6737-86E6-06FF39482943}"/>
              </a:ext>
            </a:extLst>
          </p:cNvPr>
          <p:cNvCxnSpPr/>
          <p:nvPr/>
        </p:nvCxnSpPr>
        <p:spPr>
          <a:xfrm>
            <a:off x="3946071" y="4057890"/>
            <a:ext cx="1013606" cy="92781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15" grpId="0"/>
      <p:bldP spid="16" grpId="0"/>
      <p:bldP spid="17" grpId="0"/>
      <p:bldP spid="18" grpId="0"/>
      <p:bldP spid="19" grpId="0"/>
      <p:bldP spid="21" grpId="0"/>
      <p:bldP spid="25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2279651" y="319089"/>
            <a:ext cx="2259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zh-CN" altLang="en-US">
                <a:latin typeface="仿宋_GB2312"/>
              </a:rPr>
              <a:t>用波长为             </a:t>
            </a:r>
            <a:endParaRPr lang="zh-CN" altLang="en-US" i="1"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2241551" y="869951"/>
            <a:ext cx="4202113" cy="513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latin typeface="仿宋_GB2312"/>
              </a:rPr>
              <a:t>屏上观察衍射条纹，如果</a:t>
            </a:r>
          </a:p>
        </p:txBody>
      </p:sp>
      <p:graphicFrame>
        <p:nvGraphicFramePr>
          <p:cNvPr id="77828" name="Object 2"/>
          <p:cNvGraphicFramePr/>
          <p:nvPr>
            <p:extLst>
              <p:ext uri="{D42A27DB-BD31-4B8C-83A1-F6EECF244321}">
                <p14:modId xmlns:p14="http://schemas.microsoft.com/office/powerpoint/2010/main" val="4109897110"/>
              </p:ext>
            </p:extLst>
          </p:nvPr>
        </p:nvGraphicFramePr>
        <p:xfrm>
          <a:off x="3603626" y="485775"/>
          <a:ext cx="27622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公式" r:id="rId3" imgW="267335" imgH="401320" progId="Equation.3">
                  <p:embed/>
                </p:oleObj>
              </mc:Choice>
              <mc:Fallback>
                <p:oleObj name="公式" r:id="rId3" imgW="267335" imgH="401320" progId="Equation.3">
                  <p:embed/>
                  <p:pic>
                    <p:nvPicPr>
                      <p:cNvPr id="77828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6" y="485775"/>
                        <a:ext cx="27622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3"/>
          <p:cNvGraphicFramePr/>
          <p:nvPr>
            <p:extLst>
              <p:ext uri="{D42A27DB-BD31-4B8C-83A1-F6EECF244321}">
                <p14:modId xmlns:p14="http://schemas.microsoft.com/office/powerpoint/2010/main" val="3550995533"/>
              </p:ext>
            </p:extLst>
          </p:nvPr>
        </p:nvGraphicFramePr>
        <p:xfrm>
          <a:off x="4295776" y="492125"/>
          <a:ext cx="2968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公式" r:id="rId5" imgW="300990" imgH="401320" progId="Equation.3">
                  <p:embed/>
                </p:oleObj>
              </mc:Choice>
              <mc:Fallback>
                <p:oleObj name="公式" r:id="rId5" imgW="300990" imgH="401320" progId="Equation.3">
                  <p:embed/>
                  <p:pic>
                    <p:nvPicPr>
                      <p:cNvPr id="77829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492125"/>
                        <a:ext cx="296863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3844926" y="374650"/>
            <a:ext cx="1177925" cy="5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/>
              <a:t>和  </a:t>
            </a:r>
            <a:endParaRPr lang="zh-CN" altLang="en-US" i="1">
              <a:cs typeface="Times New Roman" panose="02020603050405020304" pitchFamily="18" charset="0"/>
            </a:endParaRPr>
          </a:p>
        </p:txBody>
      </p:sp>
      <p:sp>
        <p:nvSpPr>
          <p:cNvPr id="77831" name="Text Box 7"/>
          <p:cNvSpPr txBox="1">
            <a:spLocks noChangeArrowheads="1"/>
          </p:cNvSpPr>
          <p:nvPr/>
        </p:nvSpPr>
        <p:spPr bwMode="auto">
          <a:xfrm>
            <a:off x="4535488" y="342900"/>
            <a:ext cx="5905500" cy="5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latin typeface="仿宋_GB2312"/>
              </a:rPr>
              <a:t>的平行光垂直照射一单缝，在距缝很</a:t>
            </a:r>
            <a:r>
              <a:rPr lang="zh-CN" altLang="en-US"/>
              <a:t>远的</a:t>
            </a:r>
          </a:p>
        </p:txBody>
      </p:sp>
      <p:sp>
        <p:nvSpPr>
          <p:cNvPr id="77832" name="Text Box 8"/>
          <p:cNvSpPr txBox="1">
            <a:spLocks noChangeArrowheads="1"/>
          </p:cNvSpPr>
          <p:nvPr/>
        </p:nvSpPr>
        <p:spPr bwMode="auto">
          <a:xfrm>
            <a:off x="6042025" y="896939"/>
            <a:ext cx="3697288" cy="513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latin typeface="仿宋_GB2312"/>
              </a:rPr>
              <a:t>的第一级衍射暗纹与 </a:t>
            </a:r>
            <a:endParaRPr lang="zh-CN" altLang="en-US" i="1">
              <a:latin typeface="仿宋_GB2312"/>
              <a:cs typeface="Times New Roman" panose="02020603050405020304" pitchFamily="18" charset="0"/>
            </a:endParaRPr>
          </a:p>
        </p:txBody>
      </p:sp>
      <p:graphicFrame>
        <p:nvGraphicFramePr>
          <p:cNvPr id="77833" name="Object 4"/>
          <p:cNvGraphicFramePr/>
          <p:nvPr>
            <p:extLst>
              <p:ext uri="{D42A27DB-BD31-4B8C-83A1-F6EECF244321}">
                <p14:modId xmlns:p14="http://schemas.microsoft.com/office/powerpoint/2010/main" val="1068656851"/>
              </p:ext>
            </p:extLst>
          </p:nvPr>
        </p:nvGraphicFramePr>
        <p:xfrm>
          <a:off x="5770564" y="1014414"/>
          <a:ext cx="2762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公式" r:id="rId7" imgW="267335" imgH="401320" progId="Equation.3">
                  <p:embed/>
                </p:oleObj>
              </mc:Choice>
              <mc:Fallback>
                <p:oleObj name="公式" r:id="rId7" imgW="267335" imgH="401320" progId="Equation.3">
                  <p:embed/>
                  <p:pic>
                    <p:nvPicPr>
                      <p:cNvPr id="77833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564" y="1014414"/>
                        <a:ext cx="27622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4" name="Object 5"/>
          <p:cNvGraphicFramePr/>
          <p:nvPr>
            <p:extLst>
              <p:ext uri="{D42A27DB-BD31-4B8C-83A1-F6EECF244321}">
                <p14:modId xmlns:p14="http://schemas.microsoft.com/office/powerpoint/2010/main" val="226956008"/>
              </p:ext>
            </p:extLst>
          </p:nvPr>
        </p:nvGraphicFramePr>
        <p:xfrm>
          <a:off x="8942388" y="1052514"/>
          <a:ext cx="29686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公式" r:id="rId9" imgW="300990" imgH="401320" progId="Equation.3">
                  <p:embed/>
                </p:oleObj>
              </mc:Choice>
              <mc:Fallback>
                <p:oleObj name="公式" r:id="rId9" imgW="300990" imgH="401320" progId="Equation.3">
                  <p:embed/>
                  <p:pic>
                    <p:nvPicPr>
                      <p:cNvPr id="77834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2388" y="1052514"/>
                        <a:ext cx="29686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5" name="Text Box 11"/>
          <p:cNvSpPr txBox="1">
            <a:spLocks noChangeArrowheads="1"/>
          </p:cNvSpPr>
          <p:nvPr/>
        </p:nvSpPr>
        <p:spPr bwMode="auto">
          <a:xfrm>
            <a:off x="2228850" y="1374776"/>
            <a:ext cx="2617788" cy="513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latin typeface="仿宋_GB2312"/>
              </a:rPr>
              <a:t>级衍射暗纹重合</a:t>
            </a:r>
          </a:p>
        </p:txBody>
      </p:sp>
      <p:sp>
        <p:nvSpPr>
          <p:cNvPr id="77837" name="Text Box 13"/>
          <p:cNvSpPr txBox="1">
            <a:spLocks noChangeArrowheads="1"/>
          </p:cNvSpPr>
          <p:nvPr/>
        </p:nvSpPr>
        <p:spPr bwMode="auto">
          <a:xfrm>
            <a:off x="2246313" y="1916114"/>
            <a:ext cx="4248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/>
              <a:t>(1) </a:t>
            </a:r>
            <a:r>
              <a:rPr lang="zh-CN" altLang="en-US"/>
              <a:t>两种波长之间的关系；</a:t>
            </a:r>
          </a:p>
        </p:txBody>
      </p:sp>
      <p:sp>
        <p:nvSpPr>
          <p:cNvPr id="77838" name="Text Box 14"/>
          <p:cNvSpPr txBox="1">
            <a:spLocks noChangeArrowheads="1"/>
          </p:cNvSpPr>
          <p:nvPr/>
        </p:nvSpPr>
        <p:spPr bwMode="auto">
          <a:xfrm>
            <a:off x="2241550" y="2443164"/>
            <a:ext cx="8388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/>
              <a:t>(2) </a:t>
            </a:r>
            <a:r>
              <a:rPr lang="zh-CN" altLang="en-US"/>
              <a:t>这两种波长的衍射图样中是否还有其它级的</a:t>
            </a:r>
            <a:r>
              <a:rPr lang="zh-CN" altLang="en-US">
                <a:latin typeface="Arial" panose="020B0604020202020204" pitchFamily="34" charset="0"/>
              </a:rPr>
              <a:t>暗纹</a:t>
            </a:r>
            <a:r>
              <a:rPr lang="zh-CN" altLang="en-US"/>
              <a:t>重合</a:t>
            </a:r>
          </a:p>
        </p:txBody>
      </p:sp>
      <p:sp>
        <p:nvSpPr>
          <p:cNvPr id="77862" name="Rectangle 38"/>
          <p:cNvSpPr>
            <a:spLocks noChangeArrowheads="1"/>
          </p:cNvSpPr>
          <p:nvPr/>
        </p:nvSpPr>
        <p:spPr bwMode="auto">
          <a:xfrm>
            <a:off x="1722439" y="2008188"/>
            <a:ext cx="642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r>
              <a:rPr lang="zh-CN" altLang="en-US"/>
              <a:t>求 </a:t>
            </a:r>
          </a:p>
        </p:txBody>
      </p:sp>
      <p:sp>
        <p:nvSpPr>
          <p:cNvPr id="77864" name="Text Box 40"/>
          <p:cNvSpPr txBox="1">
            <a:spLocks noChangeArrowheads="1"/>
          </p:cNvSpPr>
          <p:nvPr/>
        </p:nvSpPr>
        <p:spPr bwMode="auto">
          <a:xfrm>
            <a:off x="1793875" y="409575"/>
            <a:ext cx="4154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/>
              <a:t>8.</a:t>
            </a:r>
            <a:endParaRPr kumimoji="0" lang="zh-CN" altLang="en-US" dirty="0"/>
          </a:p>
        </p:txBody>
      </p:sp>
      <p:sp>
        <p:nvSpPr>
          <p:cNvPr id="77865" name="Rectangle 41"/>
          <p:cNvSpPr>
            <a:spLocks noChangeArrowheads="1"/>
          </p:cNvSpPr>
          <p:nvPr/>
        </p:nvSpPr>
        <p:spPr bwMode="auto">
          <a:xfrm>
            <a:off x="9136063" y="971550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的第二</a:t>
            </a:r>
          </a:p>
        </p:txBody>
      </p:sp>
      <p:sp>
        <p:nvSpPr>
          <p:cNvPr id="14363" name="灯片编号占位符 1"/>
          <p:cNvSpPr txBox="1"/>
          <p:nvPr/>
        </p:nvSpPr>
        <p:spPr bwMode="auto">
          <a:xfrm>
            <a:off x="1524000" y="638111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DC31C5-48F6-4FB0-97E7-C844E2A61466}" type="slidenum">
              <a:rPr lang="en-US" altLang="zh-CN" b="0">
                <a:solidFill>
                  <a:srgbClr val="FF00FF"/>
                </a:solidFill>
              </a:rPr>
              <a:t>32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6050" y="1326833"/>
            <a:ext cx="1550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设缝宽为</a:t>
            </a:r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81095" y="1373505"/>
          <a:ext cx="26797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r:id="rId3" imgW="127000" imgH="139700" progId="Equation.KSEE3">
                  <p:embed/>
                </p:oleObj>
              </mc:Choice>
              <mc:Fallback>
                <p:oleObj r:id="rId3" imgW="127000" imgH="139700" progId="Equation.KSEE3">
                  <p:embed/>
                  <p:pic>
                    <p:nvPicPr>
                      <p:cNvPr id="6" name="对象 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1095" y="1373505"/>
                        <a:ext cx="267970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930242" y="1326833"/>
            <a:ext cx="7558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5571" y="1329214"/>
            <a:ext cx="2510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衍射角为</a:t>
            </a: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943476" y="1366520"/>
          <a:ext cx="32194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r:id="rId5" imgW="139700" imgH="165100" progId="Equation.KSEE3">
                  <p:embed/>
                </p:oleObj>
              </mc:Choice>
              <mc:Fallback>
                <p:oleObj r:id="rId5" imgW="139700" imgH="165100" progId="Equation.KSEE3">
                  <p:embed/>
                  <p:pic>
                    <p:nvPicPr>
                      <p:cNvPr id="9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3476" y="1366520"/>
                        <a:ext cx="321945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686050" y="1787843"/>
            <a:ext cx="466391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/>
              <a:t>在单缝的夫琅禾费衍射中出现暗纹的条件为</a:t>
            </a: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214711" y="1674495"/>
          <a:ext cx="2652236" cy="609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2" r:id="rId7" imgW="1714500" imgH="393700" progId="Equation.KSEE3">
                  <p:embed/>
                </p:oleObj>
              </mc:Choice>
              <mc:Fallback>
                <p:oleObj r:id="rId7" imgW="1714500" imgH="393700" progId="Equation.KSEE3">
                  <p:embed/>
                  <p:pic>
                    <p:nvPicPr>
                      <p:cNvPr id="11" name="对象 1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14711" y="1674495"/>
                        <a:ext cx="2652236" cy="6091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101340" y="2234565"/>
            <a:ext cx="243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的第一级衍射暗纹与</a:t>
            </a:r>
          </a:p>
        </p:txBody>
      </p:sp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927350" y="2287906"/>
          <a:ext cx="247650" cy="291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3" r:id="rId9" imgW="215900" imgH="254000" progId="Equation.KSEE3">
                  <p:embed/>
                </p:oleObj>
              </mc:Choice>
              <mc:Fallback>
                <p:oleObj r:id="rId9" imgW="215900" imgH="254000" progId="Equation.KSEE3">
                  <p:embed/>
                  <p:pic>
                    <p:nvPicPr>
                      <p:cNvPr id="20" name="对象 1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7350" y="2287906"/>
                        <a:ext cx="247650" cy="291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50895" y="2247266"/>
          <a:ext cx="262414" cy="291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" r:id="rId11" imgW="228600" imgH="254000" progId="Equation.KSEE3">
                  <p:embed/>
                </p:oleObj>
              </mc:Choice>
              <mc:Fallback>
                <p:oleObj r:id="rId11" imgW="228600" imgH="254000" progId="Equation.KSEE3">
                  <p:embed/>
                  <p:pic>
                    <p:nvPicPr>
                      <p:cNvPr id="21" name="对象 2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50895" y="2247266"/>
                        <a:ext cx="262414" cy="291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5512911" y="2235200"/>
            <a:ext cx="464010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的第二级衍射暗纹重合</a:t>
            </a:r>
          </a:p>
        </p:txBody>
      </p:sp>
      <p:graphicFrame>
        <p:nvGraphicFramePr>
          <p:cNvPr id="24" name="对象 2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943238" y="2636520"/>
          <a:ext cx="2707005" cy="313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r:id="rId13" imgW="1866900" imgH="215900" progId="Equation.KSEE3">
                  <p:embed/>
                </p:oleObj>
              </mc:Choice>
              <mc:Fallback>
                <p:oleObj r:id="rId13" imgW="1866900" imgH="215900" progId="Equation.KSEE3">
                  <p:embed/>
                  <p:pic>
                    <p:nvPicPr>
                      <p:cNvPr id="24" name="对象 2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43238" y="2636520"/>
                        <a:ext cx="2707005" cy="313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1765300" y="3449955"/>
            <a:ext cx="942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（2）</a:t>
            </a:r>
          </a:p>
        </p:txBody>
      </p:sp>
      <p:graphicFrame>
        <p:nvGraphicFramePr>
          <p:cNvPr id="26" name="对象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686050" y="3449956"/>
          <a:ext cx="247650" cy="291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6" r:id="rId15" imgW="215900" imgH="254000" progId="Equation.KSEE3">
                  <p:embed/>
                </p:oleObj>
              </mc:Choice>
              <mc:Fallback>
                <p:oleObj r:id="rId15" imgW="215900" imgH="254000" progId="Equation.KSEE3">
                  <p:embed/>
                  <p:pic>
                    <p:nvPicPr>
                      <p:cNvPr id="26" name="对象 2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86050" y="3449956"/>
                        <a:ext cx="247650" cy="291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219212" y="3449956"/>
          <a:ext cx="262414" cy="291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7" r:id="rId16" imgW="228600" imgH="254000" progId="Equation.KSEE3">
                  <p:embed/>
                </p:oleObj>
              </mc:Choice>
              <mc:Fallback>
                <p:oleObj r:id="rId16" imgW="228600" imgH="254000" progId="Equation.KSEE3">
                  <p:embed/>
                  <p:pic>
                    <p:nvPicPr>
                      <p:cNvPr id="28" name="对象 2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19212" y="3449956"/>
                        <a:ext cx="262414" cy="291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2853690" y="3423285"/>
            <a:ext cx="4127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和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435191" y="3423285"/>
            <a:ext cx="2711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的光，其暗纹位置分别为</a:t>
            </a:r>
          </a:p>
        </p:txBody>
      </p:sp>
      <p:graphicFrame>
        <p:nvGraphicFramePr>
          <p:cNvPr id="32" name="对象 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21676" y="3769916"/>
          <a:ext cx="2852420" cy="31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r:id="rId17" imgW="1955800" imgH="215900" progId="Equation.KSEE3">
                  <p:embed/>
                </p:oleObj>
              </mc:Choice>
              <mc:Fallback>
                <p:oleObj r:id="rId17" imgW="1955800" imgH="215900" progId="Equation.KSEE3">
                  <p:embed/>
                  <p:pic>
                    <p:nvPicPr>
                      <p:cNvPr id="32" name="对象 3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21676" y="3769916"/>
                        <a:ext cx="2852420" cy="31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2686050" y="4160520"/>
            <a:ext cx="20218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当暗纹重叠时，有</a:t>
            </a:r>
          </a:p>
        </p:txBody>
      </p:sp>
      <p:graphicFrame>
        <p:nvGraphicFramePr>
          <p:cNvPr id="35" name="对象 3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660584" y="4160521"/>
          <a:ext cx="751523" cy="345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r:id="rId19" imgW="469900" imgH="215900" progId="Equation.KSEE3">
                  <p:embed/>
                </p:oleObj>
              </mc:Choice>
              <mc:Fallback>
                <p:oleObj r:id="rId19" imgW="469900" imgH="215900" progId="Equation.KSEE3">
                  <p:embed/>
                  <p:pic>
                    <p:nvPicPr>
                      <p:cNvPr id="35" name="对象 3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60584" y="4160521"/>
                        <a:ext cx="751523" cy="3452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5468779" y="4160520"/>
            <a:ext cx="6426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所以</a:t>
            </a:r>
          </a:p>
        </p:txBody>
      </p:sp>
      <p:graphicFrame>
        <p:nvGraphicFramePr>
          <p:cNvPr id="38" name="对象 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63140" y="4160520"/>
          <a:ext cx="1209199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0" r:id="rId21" imgW="685800" imgH="215900" progId="Equation.KSEE3">
                  <p:embed/>
                </p:oleObj>
              </mc:Choice>
              <mc:Fallback>
                <p:oleObj r:id="rId21" imgW="685800" imgH="215900" progId="Equation.KSEE3">
                  <p:embed/>
                  <p:pic>
                    <p:nvPicPr>
                      <p:cNvPr id="38" name="对象 3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63140" y="4160520"/>
                        <a:ext cx="1209199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2686050" y="471392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将（1）中的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4660583" y="4714399"/>
            <a:ext cx="8724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代入得</a:t>
            </a:r>
          </a:p>
        </p:txBody>
      </p:sp>
      <p:graphicFrame>
        <p:nvGraphicFramePr>
          <p:cNvPr id="45" name="对象 4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83543" y="4732020"/>
          <a:ext cx="715804" cy="29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r:id="rId23" imgW="520700" imgH="215900" progId="Equation.KSEE3">
                  <p:embed/>
                </p:oleObj>
              </mc:Choice>
              <mc:Fallback>
                <p:oleObj r:id="rId23" imgW="520700" imgH="215900" progId="Equation.KSEE3">
                  <p:embed/>
                  <p:pic>
                    <p:nvPicPr>
                      <p:cNvPr id="45" name="对象 4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83543" y="4732020"/>
                        <a:ext cx="715804" cy="29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2718911" y="5219700"/>
            <a:ext cx="4127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即</a:t>
            </a:r>
          </a:p>
        </p:txBody>
      </p:sp>
      <p:graphicFrame>
        <p:nvGraphicFramePr>
          <p:cNvPr id="47" name="对象 4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52763" y="5219701"/>
          <a:ext cx="247650" cy="291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2" r:id="rId25" imgW="215900" imgH="254000" progId="Equation.KSEE3">
                  <p:embed/>
                </p:oleObj>
              </mc:Choice>
              <mc:Fallback>
                <p:oleObj r:id="rId25" imgW="215900" imgH="254000" progId="Equation.KSEE3">
                  <p:embed/>
                  <p:pic>
                    <p:nvPicPr>
                      <p:cNvPr id="47" name="对象 4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52763" y="5219701"/>
                        <a:ext cx="247650" cy="291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3278981" y="5219700"/>
            <a:ext cx="8724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光线的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4191953" y="5219700"/>
            <a:ext cx="15621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级衍射暗纹与</a:t>
            </a:r>
          </a:p>
        </p:txBody>
      </p:sp>
      <p:graphicFrame>
        <p:nvGraphicFramePr>
          <p:cNvPr id="62" name="对象 6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89521" y="5219701"/>
          <a:ext cx="262414" cy="291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3" r:id="rId26" imgW="228600" imgH="254000" progId="Equation.KSEE3">
                  <p:embed/>
                </p:oleObj>
              </mc:Choice>
              <mc:Fallback>
                <p:oleObj r:id="rId26" imgW="228600" imgH="254000" progId="Equation.KSEE3">
                  <p:embed/>
                  <p:pic>
                    <p:nvPicPr>
                      <p:cNvPr id="62" name="对象 6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689521" y="5219701"/>
                        <a:ext cx="262414" cy="291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63"/>
          <p:cNvSpPr txBox="1"/>
          <p:nvPr/>
        </p:nvSpPr>
        <p:spPr>
          <a:xfrm>
            <a:off x="5973128" y="5218271"/>
            <a:ext cx="8724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光线的</a:t>
            </a:r>
          </a:p>
        </p:txBody>
      </p:sp>
      <p:graphicFrame>
        <p:nvGraphicFramePr>
          <p:cNvPr id="66" name="对象 65"/>
          <p:cNvGraphicFramePr/>
          <p:nvPr/>
        </p:nvGraphicFramePr>
        <p:xfrm>
          <a:off x="4058604" y="4757262"/>
          <a:ext cx="637223" cy="271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4" r:id="rId28" imgW="533400" imgH="215900" progId="Equation.KSEE3">
                  <p:embed/>
                </p:oleObj>
              </mc:Choice>
              <mc:Fallback>
                <p:oleObj r:id="rId28" imgW="533400" imgH="215900" progId="Equation.KSEE3">
                  <p:embed/>
                  <p:pic>
                    <p:nvPicPr>
                      <p:cNvPr id="66" name="对象 6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058604" y="4757262"/>
                        <a:ext cx="637223" cy="2719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59080" y="5248275"/>
          <a:ext cx="215741" cy="30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5" r:id="rId30" imgW="127000" imgH="177165" progId="Equation.KSEE3">
                  <p:embed/>
                </p:oleObj>
              </mc:Choice>
              <mc:Fallback>
                <p:oleObj r:id="rId30" imgW="127000" imgH="177165" progId="Equation.KSEE3">
                  <p:embed/>
                  <p:pic>
                    <p:nvPicPr>
                      <p:cNvPr id="68" name="对象 6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059080" y="5248275"/>
                        <a:ext cx="215741" cy="300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743384" y="5251291"/>
          <a:ext cx="345281" cy="30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6" r:id="rId32" imgW="203200" imgH="177165" progId="Equation.KSEE3">
                  <p:embed/>
                </p:oleObj>
              </mc:Choice>
              <mc:Fallback>
                <p:oleObj r:id="rId32" imgW="203200" imgH="177165" progId="Equation.KSEE3">
                  <p:embed/>
                  <p:pic>
                    <p:nvPicPr>
                      <p:cNvPr id="69" name="对象 6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743384" y="5251291"/>
                        <a:ext cx="345281" cy="300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文本框 69"/>
          <p:cNvSpPr txBox="1"/>
          <p:nvPr/>
        </p:nvSpPr>
        <p:spPr>
          <a:xfrm>
            <a:off x="7018496" y="5219700"/>
            <a:ext cx="17919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级衍射暗纹重合</a:t>
            </a:r>
          </a:p>
        </p:txBody>
      </p:sp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96225" y="2204721"/>
          <a:ext cx="880110" cy="40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7" r:id="rId34" imgW="469900" imgH="215900" progId="Equation.KSEE3">
                  <p:embed/>
                </p:oleObj>
              </mc:Choice>
              <mc:Fallback>
                <p:oleObj r:id="rId34" imgW="469900" imgH="215900" progId="Equation.KSEE3">
                  <p:embed/>
                  <p:pic>
                    <p:nvPicPr>
                      <p:cNvPr id="13" name="对象 1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896225" y="2204721"/>
                        <a:ext cx="880110" cy="404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927350" y="2996565"/>
            <a:ext cx="6426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所以</a:t>
            </a:r>
          </a:p>
        </p:txBody>
      </p:sp>
      <p:graphicFrame>
        <p:nvGraphicFramePr>
          <p:cNvPr id="16" name="对象 15"/>
          <p:cNvGraphicFramePr/>
          <p:nvPr/>
        </p:nvGraphicFramePr>
        <p:xfrm>
          <a:off x="3503930" y="3039745"/>
          <a:ext cx="770890" cy="309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8" r:id="rId36" imgW="533400" imgH="215900" progId="Equation.KSEE3">
                  <p:embed/>
                </p:oleObj>
              </mc:Choice>
              <mc:Fallback>
                <p:oleObj r:id="rId36" imgW="533400" imgH="215900" progId="Equation.KSEE3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503930" y="3039745"/>
                        <a:ext cx="770890" cy="309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/>
      <p:bldP spid="8" grpId="1"/>
      <p:bldP spid="10" grpId="0"/>
      <p:bldP spid="10" grpId="1"/>
      <p:bldP spid="17" grpId="0"/>
      <p:bldP spid="17" grpId="1"/>
      <p:bldP spid="23" grpId="0"/>
      <p:bldP spid="23" grpId="1"/>
      <p:bldP spid="30" grpId="0"/>
      <p:bldP spid="30" grpId="1"/>
      <p:bldP spid="31" grpId="0"/>
      <p:bldP spid="31" grpId="1"/>
      <p:bldP spid="33" grpId="0"/>
      <p:bldP spid="33" grpId="1"/>
      <p:bldP spid="36" grpId="0"/>
      <p:bldP spid="36" grpId="1"/>
      <p:bldP spid="39" grpId="0"/>
      <p:bldP spid="39" grpId="1"/>
      <p:bldP spid="43" grpId="0"/>
      <p:bldP spid="43" grpId="1"/>
      <p:bldP spid="46" grpId="0"/>
      <p:bldP spid="46" grpId="1"/>
      <p:bldP spid="49" grpId="0"/>
      <p:bldP spid="49" grpId="1"/>
      <p:bldP spid="60" grpId="0"/>
      <p:bldP spid="60" grpId="1"/>
      <p:bldP spid="64" grpId="0"/>
      <p:bldP spid="64" grpId="1"/>
      <p:bldP spid="70" grpId="0"/>
      <p:bldP spid="70" grpId="1"/>
      <p:bldP spid="14" grpId="0"/>
      <p:bldP spid="1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I0OGIzNzVmNmNlYTk3YzYzYTgyMTNiZjExZjQyMj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440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SLIDE_LAYOUT_INFO" val="{&quot;backgroundInfo&quot;:[{&quot;bottom&quot;:0,&quot;bottomAbs&quot;:false,&quot;left&quot;:0,&quot;leftAbs&quot;:false,&quot;right&quot;:0,&quot;rightAbs&quot;:false,&quot;top&quot;:0.44444444799999999,&quot;topAbs&quot;:false,&quot;type&quot;:&quot;bottomTop&quot;},{&quot;bottom&quot;:0,&quot;bottomAbs&quot;:false,&quot;left&quot;:0,&quot;leftAbs&quot;:false,&quot;right&quot;:0,&quot;rightAbs&quot;:false,&quot;top&quot;:0,&quot;topAbs&quot;:false,&quot;type&quot;:&quot;general&quot;}],&quot;id&quot;:&quot;2022-11-17T17:36:38&quot;,&quot;maxSize&quot;:{&quot;size1&quot;:26.699999999999999},&quot;minSize&quot;:{&quot;size1&quot;:20},&quot;normalSize&quot;:{&quot;size1&quot;:20},&quot;subLayout&quot;:[{&quot;id&quot;:&quot;2022-11-17T17:36:38&quot;,&quot;margin&quot;:{&quot;bottom&quot;:0,&quot;left&quot;:1.6929999589920044,&quot;right&quot;:1.6929999589920044,&quot;top&quot;:1.6929999589920044},&quot;type&quot;:0},{&quot;id&quot;:&quot;2022-11-17T17:36:38&quot;,&quot;margin&quot;:{&quot;bottom&quot;:2.5399999618530273,&quot;left&quot;:2.5399999618530273,&quot;right&quot;:2.5399999618530273,&quot;top&quot;:2.1170001029968262},&quot;type&quot;:0}],&quot;type&quot;:0}"/>
  <p:tag name="KSO_WM_SLIDE_BACKGROUND" val="[&quot;bottomTop&quot;,&quot;general&quot;]"/>
  <p:tag name="KSO_WM_SLIDE_RATIO" val="1.777778"/>
  <p:tag name="KSO_WM_SLIDE_ID" val="custom20238440_1"/>
  <p:tag name="KSO_WM_TEMPLATE_SUBCATEGORY" val="0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1"/>
  <p:tag name="KSO_WM_SLIDE_SIZE" val="960*496"/>
  <p:tag name="KSO_WM_SLIDE_POSITION" val="0*44"/>
  <p:tag name="KSO_WM_TAG_VERSION" val="3.0"/>
  <p:tag name="KSO_WM_SLIDE_LAYOUT" val="a_f"/>
  <p:tag name="KSO_WM_SLIDE_LAYOUT_CNT" val="1_1"/>
  <p:tag name="KSO_WM_CHIP_FILLPROP" val="[[{&quot;text_align&quot;:&quot;lt&quot;,&quot;text_direction&quot;:&quot;horizontal&quot;,&quot;support_big_font&quot;:false,&quot;picture_toward&quot;:0,&quot;picture_dockside&quot;:[],&quot;fill_id&quot;:&quot;fbc1d1c81b9c4bca8f09873cfc4ac6db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862a40b1085942b3ac37b2627f08a9a8&quot;,&quot;fill_align&quot;:&quot;cm&quot;,&quot;chip_types&quot;:[&quot;diagram&quot;,&quot;pictext&quot;,&quot;text&quot;,&quot;picture&quot;,&quot;chart&quot;,&quot;table&quot;,&quot;video&quot;]}],[{&quot;text_align&quot;:&quot;ct&quot;,&quot;text_direction&quot;:&quot;horizontal&quot;,&quot;support_big_font&quot;:false,&quot;picture_toward&quot;:0,&quot;picture_dockside&quot;:[],&quot;fill_id&quot;:&quot;fbc1d1c81b9c4bca8f09873cfc4ac6db&quot;,&quot;fill_align&quot;:&quot;c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862a40b1085942b3ac37b2627f08a9a8&quot;,&quot;fill_align&quot;:&quot;cm&quot;,&quot;chip_types&quot;:[&quot;diagram&quot;,&quot;pictext&quot;,&quot;text&quot;,&quot;picture&quot;,&quot;chart&quot;,&quot;table&quot;,&quot;video&quot;]}]]"/>
  <p:tag name="KSO_WM_CHIP_GROUPID" val="5eda18a25860357932c55e72"/>
  <p:tag name="KSO_WM_CHIP_XID" val="5eda18ef5860357932c55e83"/>
  <p:tag name="KSO_WM_CHIP_DECFILLPROP" val="[]"/>
  <p:tag name="KSO_WM_SLIDE_BK_DARK_LIGHT" val="2"/>
  <p:tag name="KSO_WM_SLIDE_BACKGROUND_TYPE" val="bottomTop"/>
  <p:tag name="KSO_WM_SLIDE_SUPPORT_FEATURE_TYPE" val="0"/>
  <p:tag name="KSO_WM_TEMPLATE_ASSEMBLE_XID" val="637600a50c9383becde15bb6"/>
  <p:tag name="KSO_WM_TEMPLATE_ASSEMBLE_GROUPID" val="637600a50c9383becde15bb6"/>
  <p:tag name="KSO_WM_UNIT_SHOW_EDIT_AREA_INDICATION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440_1*a*1"/>
  <p:tag name="KSO_WM_TEMPLATE_CATEGORY" val="custom"/>
  <p:tag name="KSO_WM_TEMPLATE_INDEX" val="20238440"/>
  <p:tag name="KSO_WM_UNIT_LAYERLEVEL" val="1"/>
  <p:tag name="KSO_WM_TAG_VERSION" val="3.0"/>
  <p:tag name="KSO_WM_BEAUTIFY_FLAG" val="#wm#"/>
  <p:tag name="KSO_WM_UNIT_PRESET_TEXT" val="单击此处添加大标题内容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0_1*i*1"/>
  <p:tag name="KSO_WM_UNIT_LAYERLEVEL" val="1"/>
  <p:tag name="KSO_WM_TAG_VERSION" val="3.0"/>
  <p:tag name="KSO_WM_BEAUTIFY_FLAG" val="#wm#"/>
  <p:tag name="KSO_WM_UNIT_TYPE" val="i"/>
  <p:tag name="KSO_WM_UNIT_INDEX" val="1"/>
  <p:tag name="KSO_WM_SLIDE_BACKGROUND_TYPE" val="bottomTop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custom"/>
  <p:tag name="KSO_WM_TEMPLATE_INDEX" val="20238440"/>
  <p:tag name="KSO_WM_TEMPLATE_ASSEMBLE_XID" val="637600a50c9383becde15bb6"/>
  <p:tag name="KSO_WM_TEMPLATE_ASSEMBLE_GROUPID" val="637600a50c9383becde15bb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8440_1*i*2"/>
  <p:tag name="KSO_WM_TEMPLATE_CATEGORY" val="custom"/>
  <p:tag name="KSO_WM_TEMPLATE_INDEX" val="20238440"/>
  <p:tag name="KSO_WM_UNIT_LAYERLEVEL" val="1"/>
  <p:tag name="KSO_WM_TAG_VERSION" val="3.0"/>
  <p:tag name="KSO_WM_BEAUTIFY_FLAG" val="#wm#"/>
  <p:tag name="KSO_WM_CHIP_GROUPID" val="5eda18a25860357932c55e72"/>
  <p:tag name="KSO_WM_UNIT_SM_LIMIT_TYPE" val="2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72e7dc758fee4e6db4f5488c2d49ac62&quot;,&quot;X&quot;:{&quot;Pos&quot;:1},&quot;Y&quot;:{&quot;Pos&quot;:1}},&quot;whChangeMode&quot;:0}"/>
  <p:tag name="KSO_WM_UNIT_DEC_AREA_ID" val="0a8fc41e3c7145f98573150470e3ff5e"/>
  <p:tag name="KSO_WM_CHIP_XID" val="5eda18ef5860357932c55e83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VALUE" val="864"/>
  <p:tag name="KSO_WM_TEMPLATE_ASSEMBLE_XID" val="637600a50c9383becde15bb6"/>
  <p:tag name="KSO_WM_TEMPLATE_ASSEMBLE_GROUPID" val="637600a50c9383becde15bb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440_1*f*1"/>
  <p:tag name="KSO_WM_TEMPLATE_CATEGORY" val="custom"/>
  <p:tag name="KSO_WM_TEMPLATE_INDEX" val="20238440"/>
  <p:tag name="KSO_WM_UNIT_LAYERLEVEL" val="1"/>
  <p:tag name="KSO_WM_TAG_VERSION" val="3.0"/>
  <p:tag name="KSO_WM_BEAUTIFY_FLAG" val="#wm#"/>
  <p:tag name="KSO_WM_UNIT_DEFAULT_FONT" val="14;20;2"/>
  <p:tag name="KSO_WM_UNIT_BLOCK" val="0"/>
  <p:tag name="KSO_WM_UNIT_VALUE" val="360"/>
  <p:tag name="KSO_WM_UNIT_SHOW_EDIT_AREA_INDICATION" val="1"/>
  <p:tag name="KSO_WM_CHIP_GROUPID" val="5e6b05596848fb12bee65ac8"/>
  <p:tag name="KSO_WM_CHIP_XID" val="5e6b05596848fb12bee65aca"/>
  <p:tag name="KSO_WM_UNIT_DEC_AREA_ID" val="72e7dc758fee4e6db4f5488c2d49ac6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b17411da71340d4ac2df0c9ec6c7fb4"/>
  <p:tag name="KSO_WM_UNIT_SUPPORT_UNIT_TYPE" val="[&quot;d&quot;,&quot;l&quot;,&quot;m&quot;,&quot;n&quot;,&quot;o&quot;,&quot;p&quot;,&quot;q&quot;,&quot;r&quot;,&quot;α&quot;,&quot;β&quot;,&quot;δ&quot;,&quot;ε&quot;,&quot;ζ&quot;,&quot;η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7600a50c9383becde15bb6"/>
  <p:tag name="KSO_WM_TEMPLATE_ASSEMBLE_GROUPID" val="637600a50c9383becde15bb6"/>
  <p:tag name="KSO_WM_UNIT_PRESET_TEXT" val="点击此处添加正文，文字是您思想的提炼，请言简意赅的阐述您的观点。根据需要您可以酌情增减文字，以便观者可以准确的理解您所传达的完整信息。为了最终演示发布的良好效果，请您尽量提炼思想的精髓。点击此处添加正文，文字是您思想的提炼，请言简意赅的阐述您的观点。根据需要您可以酌情增减文字，以便观者可以准确的理解您所传达的完整信息。为了最终演示发布的良好效果，请您尽量提炼思想的精髓。点击此处添加正文，文字是您思想的提炼，请言简意赅的阐述您的观点。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440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SLIDE_LAYOUT_INFO" val="{&quot;backgroundInfo&quot;:[{&quot;bottom&quot;:0,&quot;bottomAbs&quot;:false,&quot;left&quot;:0,&quot;leftAbs&quot;:false,&quot;right&quot;:0,&quot;rightAbs&quot;:false,&quot;top&quot;:0.44444444799999999,&quot;topAbs&quot;:false,&quot;type&quot;:&quot;bottomTop&quot;},{&quot;bottom&quot;:0,&quot;bottomAbs&quot;:false,&quot;left&quot;:0,&quot;leftAbs&quot;:false,&quot;right&quot;:0,&quot;rightAbs&quot;:false,&quot;top&quot;:0,&quot;topAbs&quot;:false,&quot;type&quot;:&quot;general&quot;}],&quot;id&quot;:&quot;2022-11-17T17:36:38&quot;,&quot;maxSize&quot;:{&quot;size1&quot;:26.699999999999999},&quot;minSize&quot;:{&quot;size1&quot;:20},&quot;normalSize&quot;:{&quot;size1&quot;:20},&quot;subLayout&quot;:[{&quot;id&quot;:&quot;2022-11-17T17:36:38&quot;,&quot;margin&quot;:{&quot;bottom&quot;:0,&quot;left&quot;:1.6929999589920044,&quot;right&quot;:1.6929999589920044,&quot;top&quot;:1.6929999589920044},&quot;type&quot;:0},{&quot;id&quot;:&quot;2022-11-17T17:36:38&quot;,&quot;margin&quot;:{&quot;bottom&quot;:2.5399999618530273,&quot;left&quot;:2.5399999618530273,&quot;right&quot;:2.5399999618530273,&quot;top&quot;:2.1170001029968262},&quot;type&quot;:0}],&quot;type&quot;:0}"/>
  <p:tag name="KSO_WM_SLIDE_BACKGROUND" val="[&quot;bottomTop&quot;,&quot;general&quot;]"/>
  <p:tag name="KSO_WM_SLIDE_RATIO" val="1.777778"/>
  <p:tag name="KSO_WM_SLIDE_ID" val="custom20238440_1"/>
  <p:tag name="KSO_WM_TEMPLATE_SUBCATEGORY" val="0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1"/>
  <p:tag name="KSO_WM_SLIDE_SIZE" val="960*496"/>
  <p:tag name="KSO_WM_SLIDE_POSITION" val="0*44"/>
  <p:tag name="KSO_WM_TAG_VERSION" val="3.0"/>
  <p:tag name="KSO_WM_SLIDE_LAYOUT" val="a_f"/>
  <p:tag name="KSO_WM_SLIDE_LAYOUT_CNT" val="1_1"/>
  <p:tag name="KSO_WM_CHIP_FILLPROP" val="[[{&quot;text_align&quot;:&quot;lt&quot;,&quot;text_direction&quot;:&quot;horizontal&quot;,&quot;support_big_font&quot;:false,&quot;picture_toward&quot;:0,&quot;picture_dockside&quot;:[],&quot;fill_id&quot;:&quot;fbc1d1c81b9c4bca8f09873cfc4ac6db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862a40b1085942b3ac37b2627f08a9a8&quot;,&quot;fill_align&quot;:&quot;cm&quot;,&quot;chip_types&quot;:[&quot;diagram&quot;,&quot;pictext&quot;,&quot;text&quot;,&quot;picture&quot;,&quot;chart&quot;,&quot;table&quot;,&quot;video&quot;]}],[{&quot;text_align&quot;:&quot;ct&quot;,&quot;text_direction&quot;:&quot;horizontal&quot;,&quot;support_big_font&quot;:false,&quot;picture_toward&quot;:0,&quot;picture_dockside&quot;:[],&quot;fill_id&quot;:&quot;fbc1d1c81b9c4bca8f09873cfc4ac6db&quot;,&quot;fill_align&quot;:&quot;c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862a40b1085942b3ac37b2627f08a9a8&quot;,&quot;fill_align&quot;:&quot;cm&quot;,&quot;chip_types&quot;:[&quot;diagram&quot;,&quot;pictext&quot;,&quot;text&quot;,&quot;picture&quot;,&quot;chart&quot;,&quot;table&quot;,&quot;video&quot;]}]]"/>
  <p:tag name="KSO_WM_CHIP_GROUPID" val="5eda18a25860357932c55e72"/>
  <p:tag name="KSO_WM_CHIP_XID" val="5eda18ef5860357932c55e83"/>
  <p:tag name="KSO_WM_CHIP_DECFILLPROP" val="[]"/>
  <p:tag name="KSO_WM_SLIDE_BK_DARK_LIGHT" val="2"/>
  <p:tag name="KSO_WM_SLIDE_BACKGROUND_TYPE" val="bottomTop"/>
  <p:tag name="KSO_WM_SLIDE_SUPPORT_FEATURE_TYPE" val="0"/>
  <p:tag name="KSO_WM_TEMPLATE_ASSEMBLE_XID" val="637600a50c9383becde15bb6"/>
  <p:tag name="KSO_WM_TEMPLATE_ASSEMBLE_GROUPID" val="637600a50c9383becde15bb6"/>
  <p:tag name="KSO_WM_UNIT_SHOW_EDIT_AREA_INDICATION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440_1*a*1"/>
  <p:tag name="KSO_WM_TEMPLATE_CATEGORY" val="custom"/>
  <p:tag name="KSO_WM_TEMPLATE_INDEX" val="20238440"/>
  <p:tag name="KSO_WM_UNIT_LAYERLEVEL" val="1"/>
  <p:tag name="KSO_WM_TAG_VERSION" val="3.0"/>
  <p:tag name="KSO_WM_BEAUTIFY_FLAG" val="#wm#"/>
  <p:tag name="KSO_WM_UNIT_PRESET_TEXT" val="单击此处添加大标题内容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0_1*i*1"/>
  <p:tag name="KSO_WM_UNIT_LAYERLEVEL" val="1"/>
  <p:tag name="KSO_WM_TAG_VERSION" val="3.0"/>
  <p:tag name="KSO_WM_BEAUTIFY_FLAG" val="#wm#"/>
  <p:tag name="KSO_WM_UNIT_TYPE" val="i"/>
  <p:tag name="KSO_WM_UNIT_INDEX" val="1"/>
  <p:tag name="KSO_WM_SLIDE_BACKGROUND_TYPE" val="bottomTop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custom"/>
  <p:tag name="KSO_WM_TEMPLATE_INDEX" val="20238440"/>
  <p:tag name="KSO_WM_TEMPLATE_ASSEMBLE_XID" val="637600a50c9383becde15bb6"/>
  <p:tag name="KSO_WM_TEMPLATE_ASSEMBLE_GROUPID" val="637600a50c9383becde15bb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8440_1*i*2"/>
  <p:tag name="KSO_WM_TEMPLATE_CATEGORY" val="custom"/>
  <p:tag name="KSO_WM_TEMPLATE_INDEX" val="20238440"/>
  <p:tag name="KSO_WM_UNIT_LAYERLEVEL" val="1"/>
  <p:tag name="KSO_WM_TAG_VERSION" val="3.0"/>
  <p:tag name="KSO_WM_BEAUTIFY_FLAG" val="#wm#"/>
  <p:tag name="KSO_WM_CHIP_GROUPID" val="5eda18a25860357932c55e72"/>
  <p:tag name="KSO_WM_UNIT_SM_LIMIT_TYPE" val="2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72e7dc758fee4e6db4f5488c2d49ac62&quot;,&quot;X&quot;:{&quot;Pos&quot;:1},&quot;Y&quot;:{&quot;Pos&quot;:1}},&quot;whChangeMode&quot;:0}"/>
  <p:tag name="KSO_WM_UNIT_DEC_AREA_ID" val="0a8fc41e3c7145f98573150470e3ff5e"/>
  <p:tag name="KSO_WM_CHIP_XID" val="5eda18ef5860357932c55e83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VALUE" val="864"/>
  <p:tag name="KSO_WM_TEMPLATE_ASSEMBLE_XID" val="637600a50c9383becde15bb6"/>
  <p:tag name="KSO_WM_TEMPLATE_ASSEMBLE_GROUPID" val="637600a50c9383becde15bb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440_1*f*1"/>
  <p:tag name="KSO_WM_TEMPLATE_CATEGORY" val="custom"/>
  <p:tag name="KSO_WM_TEMPLATE_INDEX" val="20238440"/>
  <p:tag name="KSO_WM_UNIT_LAYERLEVEL" val="1"/>
  <p:tag name="KSO_WM_TAG_VERSION" val="3.0"/>
  <p:tag name="KSO_WM_BEAUTIFY_FLAG" val="#wm#"/>
  <p:tag name="KSO_WM_UNIT_DEFAULT_FONT" val="14;20;2"/>
  <p:tag name="KSO_WM_UNIT_BLOCK" val="0"/>
  <p:tag name="KSO_WM_UNIT_VALUE" val="360"/>
  <p:tag name="KSO_WM_UNIT_SHOW_EDIT_AREA_INDICATION" val="1"/>
  <p:tag name="KSO_WM_CHIP_GROUPID" val="5e6b05596848fb12bee65ac8"/>
  <p:tag name="KSO_WM_CHIP_XID" val="5e6b05596848fb12bee65aca"/>
  <p:tag name="KSO_WM_UNIT_DEC_AREA_ID" val="72e7dc758fee4e6db4f5488c2d49ac6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b17411da71340d4ac2df0c9ec6c7fb4"/>
  <p:tag name="KSO_WM_UNIT_SUPPORT_UNIT_TYPE" val="[&quot;d&quot;,&quot;l&quot;,&quot;m&quot;,&quot;n&quot;,&quot;o&quot;,&quot;p&quot;,&quot;q&quot;,&quot;r&quot;,&quot;α&quot;,&quot;β&quot;,&quot;δ&quot;,&quot;ε&quot;,&quot;ζ&quot;,&quot;η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7600a50c9383becde15bb6"/>
  <p:tag name="KSO_WM_TEMPLATE_ASSEMBLE_GROUPID" val="637600a50c9383becde15bb6"/>
  <p:tag name="KSO_WM_UNIT_PRESET_TEXT" val="点击此处添加正文，文字是您思想的提炼，请言简意赅的阐述您的观点。根据需要您可以酌情增减文字，以便观者可以准确的理解您所传达的完整信息。为了最终演示发布的良好效果，请您尽量提炼思想的精髓。点击此处添加正文，文字是您思想的提炼，请言简意赅的阐述您的观点。根据需要您可以酌情增减文字，以便观者可以准确的理解您所传达的完整信息。为了最终演示发布的良好效果，请您尽量提炼思想的精髓。点击此处添加正文，文字是您思想的提炼，请言简意赅的阐述您的观点。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3217</Words>
  <Application>Microsoft Office PowerPoint</Application>
  <PresentationFormat>宽屏</PresentationFormat>
  <Paragraphs>260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WPS-Bullets</vt:lpstr>
      <vt:lpstr>等线</vt:lpstr>
      <vt:lpstr>方正兰亭超细黑简体</vt:lpstr>
      <vt:lpstr>仿宋_GB2312</vt:lpstr>
      <vt:lpstr>SimHei</vt:lpstr>
      <vt:lpstr>SimHei</vt:lpstr>
      <vt:lpstr>华文中宋</vt:lpstr>
      <vt:lpstr>宋体</vt:lpstr>
      <vt:lpstr>微软雅黑</vt:lpstr>
      <vt:lpstr>文泉驿微米黑</vt:lpstr>
      <vt:lpstr>Arial</vt:lpstr>
      <vt:lpstr>Cambria Math</vt:lpstr>
      <vt:lpstr>DejaVu Math TeX Gyre</vt:lpstr>
      <vt:lpstr>Times New Roman</vt:lpstr>
      <vt:lpstr>Wingdings</vt:lpstr>
      <vt:lpstr>WPS</vt:lpstr>
      <vt:lpstr>公式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答案真的是这样吗？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题目分析：</vt:lpstr>
      <vt:lpstr>PowerPoint 演示文稿</vt:lpstr>
      <vt:lpstr>PowerPoint 演示文稿</vt:lpstr>
      <vt:lpstr>题目分析：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yzhang</dc:creator>
  <cp:lastModifiedBy>yzhang</cp:lastModifiedBy>
  <cp:revision>161</cp:revision>
  <dcterms:created xsi:type="dcterms:W3CDTF">2019-06-19T02:08:00Z</dcterms:created>
  <dcterms:modified xsi:type="dcterms:W3CDTF">2024-11-05T08:25:41Z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3EC7B7832EC24E159638AD360125A6FE_11</vt:lpwstr>
  </property>
</Properties>
</file>